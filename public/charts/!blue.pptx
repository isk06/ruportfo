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0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1.xml" ContentType="application/vnd.openxmlformats-officedocument.drawingml.chartshapes+xml"/>
  <Override PartName="/ppt/charts/chart11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2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3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4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5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rawings/drawing2.xml" ContentType="application/vnd.openxmlformats-officedocument.drawingml.chartshapes+xml"/>
  <Override PartName="/ppt/charts/chart16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3.xml" ContentType="application/vnd.openxmlformats-officedocument.drawingml.chartshapes+xml"/>
  <Override PartName="/ppt/charts/chart17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8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9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Ex1.xml" ContentType="application/vnd.ms-office.chartex+xml"/>
  <Override PartName="/ppt/charts/style16.xml" ContentType="application/vnd.ms-office.chartstyle+xml"/>
  <Override PartName="/ppt/charts/colors16.xml" ContentType="application/vnd.ms-office.chartcolorstyle+xml"/>
  <Override PartName="/ppt/charts/chart20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21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9" r:id="rId1"/>
  </p:sldMasterIdLst>
  <p:notesMasterIdLst>
    <p:notesMasterId r:id="rId28"/>
  </p:notesMasterIdLst>
  <p:handoutMasterIdLst>
    <p:handoutMasterId r:id="rId29"/>
  </p:handoutMasterIdLst>
  <p:sldIdLst>
    <p:sldId id="371" r:id="rId2"/>
    <p:sldId id="291" r:id="rId3"/>
    <p:sldId id="429" r:id="rId4"/>
    <p:sldId id="555" r:id="rId5"/>
    <p:sldId id="528" r:id="rId6"/>
    <p:sldId id="425" r:id="rId7"/>
    <p:sldId id="306" r:id="rId8"/>
    <p:sldId id="315" r:id="rId9"/>
    <p:sldId id="438" r:id="rId10"/>
    <p:sldId id="538" r:id="rId11"/>
    <p:sldId id="410" r:id="rId12"/>
    <p:sldId id="518" r:id="rId13"/>
    <p:sldId id="509" r:id="rId14"/>
    <p:sldId id="506" r:id="rId15"/>
    <p:sldId id="520" r:id="rId16"/>
    <p:sldId id="311" r:id="rId17"/>
    <p:sldId id="300" r:id="rId18"/>
    <p:sldId id="524" r:id="rId19"/>
    <p:sldId id="430" r:id="rId20"/>
    <p:sldId id="369" r:id="rId21"/>
    <p:sldId id="492" r:id="rId22"/>
    <p:sldId id="319" r:id="rId23"/>
    <p:sldId id="318" r:id="rId24"/>
    <p:sldId id="551" r:id="rId25"/>
    <p:sldId id="552" r:id="rId26"/>
    <p:sldId id="556" r:id="rId27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127C07D-BCD9-45DF-B75A-AA49B804C950}">
          <p14:sldIdLst>
            <p14:sldId id="371"/>
            <p14:sldId id="291"/>
            <p14:sldId id="429"/>
            <p14:sldId id="555"/>
            <p14:sldId id="528"/>
            <p14:sldId id="425"/>
            <p14:sldId id="306"/>
            <p14:sldId id="315"/>
            <p14:sldId id="438"/>
            <p14:sldId id="538"/>
            <p14:sldId id="410"/>
            <p14:sldId id="518"/>
            <p14:sldId id="509"/>
            <p14:sldId id="506"/>
            <p14:sldId id="520"/>
            <p14:sldId id="311"/>
            <p14:sldId id="300"/>
            <p14:sldId id="524"/>
            <p14:sldId id="430"/>
            <p14:sldId id="369"/>
            <p14:sldId id="492"/>
            <p14:sldId id="319"/>
            <p14:sldId id="318"/>
            <p14:sldId id="551"/>
            <p14:sldId id="552"/>
            <p14:sldId id="556"/>
          </p14:sldIdLst>
        </p14:section>
        <p14:section name="Untitled Section" id="{EC7D3EE6-9082-4AA0-8A5A-9364A21A2AC5}">
          <p14:sldIdLst/>
        </p14:section>
      </p14:sectionLst>
    </p:ext>
    <p:ext uri="{EFAFB233-063F-42B5-8137-9DF3F51BA10A}">
      <p15:sldGuideLst xmlns:p15="http://schemas.microsoft.com/office/powerpoint/2012/main">
        <p15:guide id="6" orient="horz" pos="2047" userDrawn="1">
          <p15:clr>
            <a:srgbClr val="000000"/>
          </p15:clr>
        </p15:guide>
        <p15:guide id="9" orient="horz" pos="4224" userDrawn="1">
          <p15:clr>
            <a:srgbClr val="000000"/>
          </p15:clr>
        </p15:guide>
        <p15:guide id="11" orient="horz" pos="1003" userDrawn="1">
          <p15:clr>
            <a:srgbClr val="000000"/>
          </p15:clr>
        </p15:guide>
        <p15:guide id="12" orient="horz" pos="1944" userDrawn="1">
          <p15:clr>
            <a:srgbClr val="000000"/>
          </p15:clr>
        </p15:guide>
        <p15:guide id="13" pos="2312" userDrawn="1">
          <p15:clr>
            <a:srgbClr val="F26B43"/>
          </p15:clr>
        </p15:guide>
        <p15:guide id="14" orient="horz" pos="2352" userDrawn="1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yasoedov, Mikhail" initials="MM" lastIdx="21" clrIdx="1">
    <p:extLst>
      <p:ext uri="{19B8F6BF-5375-455C-9EA6-DF929625EA0E}">
        <p15:presenceInfo xmlns:p15="http://schemas.microsoft.com/office/powerpoint/2012/main" userId="Myasoedov, Mikhail" providerId="None"/>
      </p:ext>
    </p:extLst>
  </p:cmAuthor>
  <p:cmAuthor id="2" name="Lelikov, Yury" initials="LY" lastIdx="14" clrIdx="2">
    <p:extLst>
      <p:ext uri="{19B8F6BF-5375-455C-9EA6-DF929625EA0E}">
        <p15:presenceInfo xmlns:p15="http://schemas.microsoft.com/office/powerpoint/2012/main" userId="Lelikov, Yury" providerId="None"/>
      </p:ext>
    </p:extLst>
  </p:cmAuthor>
  <p:cmAuthor id="5" name="Osadchaya, Olga" initials="OO" lastIdx="63" clrIdx="0">
    <p:extLst>
      <p:ext uri="{19B8F6BF-5375-455C-9EA6-DF929625EA0E}">
        <p15:presenceInfo xmlns:p15="http://schemas.microsoft.com/office/powerpoint/2012/main" userId="S-1-5-21-216888472-4088727242-185559981-25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1FF"/>
    <a:srgbClr val="75B2D1"/>
    <a:srgbClr val="008BBC"/>
    <a:srgbClr val="71CCFF"/>
    <a:srgbClr val="F9F9F9"/>
    <a:srgbClr val="24252C"/>
    <a:srgbClr val="F7F7F7"/>
    <a:srgbClr val="E2E5FE"/>
    <a:srgbClr val="92B1CE"/>
    <a:srgbClr val="6F99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95065" autoAdjust="0"/>
  </p:normalViewPr>
  <p:slideViewPr>
    <p:cSldViewPr snapToGrid="0">
      <p:cViewPr>
        <p:scale>
          <a:sx n="91" d="100"/>
          <a:sy n="91" d="100"/>
        </p:scale>
        <p:origin x="418" y="-235"/>
      </p:cViewPr>
      <p:guideLst>
        <p:guide orient="horz" pos="2047"/>
        <p:guide orient="horz" pos="4224"/>
        <p:guide orient="horz" pos="1003"/>
        <p:guide orient="horz" pos="1944"/>
        <p:guide pos="2312"/>
        <p:guide orient="horz" pos="23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5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q2364\Desktop\PORTFOLIO%202024\Mekko\mekko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1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q2364\Desktop\Joyplo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chartUserShapes" Target="../drawings/drawing2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11.xlsx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3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1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5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7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empty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996-4A93-B394-74F1FD5EBA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Sheet1!$A$2:$A$21</c:f>
              <c:strCache>
                <c:ptCount val="20"/>
                <c:pt idx="0">
                  <c:v>NET SALES</c:v>
                </c:pt>
                <c:pt idx="1">
                  <c:v>Other revenues</c:v>
                </c:pt>
                <c:pt idx="2">
                  <c:v>Cost of sales</c:v>
                </c:pt>
                <c:pt idx="3">
                  <c:v>GROSS PROFIT</c:v>
                </c:pt>
                <c:pt idx="4">
                  <c:v>R&amp;D expenses</c:v>
                </c:pt>
                <c:pt idx="5">
                  <c:v>Selling and general expenses</c:v>
                </c:pt>
                <c:pt idx="6">
                  <c:v>Other operating income</c:v>
                </c:pt>
                <c:pt idx="7">
                  <c:v>Other operating expenses</c:v>
                </c:pt>
                <c:pt idx="8">
                  <c:v>Amortization of intangible assets</c:v>
                </c:pt>
                <c:pt idx="9">
                  <c:v>Impairment of intangible assets</c:v>
                </c:pt>
                <c:pt idx="10">
                  <c:v>Fair value remeasurement of contingent consideration</c:v>
                </c:pt>
                <c:pt idx="11">
                  <c:v>Restructuring costs and similar items</c:v>
                </c:pt>
                <c:pt idx="12">
                  <c:v>Other gains and losses, and litigation</c:v>
                </c:pt>
                <c:pt idx="13">
                  <c:v>OPERATING INCOME</c:v>
                </c:pt>
                <c:pt idx="14">
                  <c:v>Financial expenses</c:v>
                </c:pt>
                <c:pt idx="15">
                  <c:v>Financial income</c:v>
                </c:pt>
                <c:pt idx="16">
                  <c:v>INCOME BEFORE TAX AND INVESTMENTS ACCOUNTED FOR USING THE EQUITY METHOD</c:v>
                </c:pt>
                <c:pt idx="17">
                  <c:v>Income tax expense</c:v>
                </c:pt>
                <c:pt idx="18">
                  <c:v>Share of profit/loss from investments accounted for using the equity method</c:v>
                </c:pt>
                <c:pt idx="19">
                  <c:v>NET INCOME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43070</c:v>
                </c:pt>
                <c:pt idx="2">
                  <c:v>32208</c:v>
                </c:pt>
                <c:pt idx="4" formatCode="#,##0">
                  <c:v>25480</c:v>
                </c:pt>
                <c:pt idx="5">
                  <c:v>14788</c:v>
                </c:pt>
                <c:pt idx="6">
                  <c:v>14788</c:v>
                </c:pt>
                <c:pt idx="7">
                  <c:v>12564</c:v>
                </c:pt>
                <c:pt idx="8">
                  <c:v>10392</c:v>
                </c:pt>
                <c:pt idx="9">
                  <c:v>9496</c:v>
                </c:pt>
                <c:pt idx="10">
                  <c:v>9403</c:v>
                </c:pt>
                <c:pt idx="11">
                  <c:v>7913</c:v>
                </c:pt>
                <c:pt idx="12">
                  <c:v>7875</c:v>
                </c:pt>
                <c:pt idx="14" formatCode="#,##0">
                  <c:v>6562</c:v>
                </c:pt>
                <c:pt idx="15">
                  <c:v>6562</c:v>
                </c:pt>
                <c:pt idx="17" formatCode="#,##0">
                  <c:v>5551</c:v>
                </c:pt>
                <c:pt idx="18">
                  <c:v>5436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96-4A93-B394-74F1FD5EBA1C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UP</c:v>
                </c:pt>
              </c:strCache>
            </c:strRef>
          </c:tx>
          <c:spPr>
            <a:solidFill>
              <a:srgbClr val="43B02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4252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996-4A93-B394-74F1FD5EBA1C}"/>
              </c:ext>
            </c:extLst>
          </c:dPt>
          <c:dPt>
            <c:idx val="1"/>
            <c:invertIfNegative val="0"/>
            <c:bubble3D val="0"/>
            <c:spPr>
              <a:solidFill>
                <a:srgbClr val="00A3E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996-4A93-B394-74F1FD5EBA1C}"/>
              </c:ext>
            </c:extLst>
          </c:dPt>
          <c:dPt>
            <c:idx val="6"/>
            <c:invertIfNegative val="0"/>
            <c:bubble3D val="0"/>
            <c:spPr>
              <a:solidFill>
                <a:srgbClr val="00A3E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6996-4A93-B394-74F1FD5EBA1C}"/>
              </c:ext>
            </c:extLst>
          </c:dPt>
          <c:dPt>
            <c:idx val="15"/>
            <c:invertIfNegative val="0"/>
            <c:bubble3D val="0"/>
            <c:spPr>
              <a:solidFill>
                <a:srgbClr val="00A3E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6996-4A93-B394-74F1FD5EBA1C}"/>
              </c:ext>
            </c:extLst>
          </c:dPt>
          <c:dLbls>
            <c:dLbl>
              <c:idx val="0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6996-4A93-B394-74F1FD5EBA1C}"/>
                </c:ext>
              </c:extLst>
            </c:dLbl>
            <c:dLbl>
              <c:idx val="1"/>
              <c:layout>
                <c:manualLayout>
                  <c:x val="7.8064399759122632E-2"/>
                  <c:y val="-2.548762112993459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996-4A93-B394-74F1FD5EBA1C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996-4A93-B394-74F1FD5EBA1C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996-4A93-B394-74F1FD5EBA1C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996-4A93-B394-74F1FD5EBA1C}"/>
                </c:ext>
              </c:extLst>
            </c:dLbl>
            <c:dLbl>
              <c:idx val="6"/>
              <c:layout>
                <c:manualLayout>
                  <c:x val="5.8092902372983639E-2"/>
                  <c:y val="-2.548762112993447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996-4A93-B394-74F1FD5EBA1C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996-4A93-B394-74F1FD5EBA1C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996-4A93-B394-74F1FD5EBA1C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996-4A93-B394-74F1FD5EBA1C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996-4A93-B394-74F1FD5EBA1C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996-4A93-B394-74F1FD5EBA1C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6996-4A93-B394-74F1FD5EBA1C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996-4A93-B394-74F1FD5EBA1C}"/>
                </c:ext>
              </c:extLst>
            </c:dLbl>
            <c:dLbl>
              <c:idx val="15"/>
              <c:layout>
                <c:manualLayout>
                  <c:x val="3.8055466150376645E-2"/>
                  <c:y val="-2.549364325038732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6996-4A93-B394-74F1FD5EBA1C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6996-4A93-B394-74F1FD5EBA1C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996-4A93-B394-74F1FD5EBA1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Sheet1!$A$2:$A$21</c:f>
              <c:strCache>
                <c:ptCount val="20"/>
                <c:pt idx="0">
                  <c:v>NET SALES</c:v>
                </c:pt>
                <c:pt idx="1">
                  <c:v>Other revenues</c:v>
                </c:pt>
                <c:pt idx="2">
                  <c:v>Cost of sales</c:v>
                </c:pt>
                <c:pt idx="3">
                  <c:v>GROSS PROFIT</c:v>
                </c:pt>
                <c:pt idx="4">
                  <c:v>R&amp;D expenses</c:v>
                </c:pt>
                <c:pt idx="5">
                  <c:v>Selling and general expenses</c:v>
                </c:pt>
                <c:pt idx="6">
                  <c:v>Other operating income</c:v>
                </c:pt>
                <c:pt idx="7">
                  <c:v>Other operating expenses</c:v>
                </c:pt>
                <c:pt idx="8">
                  <c:v>Amortization of intangible assets</c:v>
                </c:pt>
                <c:pt idx="9">
                  <c:v>Impairment of intangible assets</c:v>
                </c:pt>
                <c:pt idx="10">
                  <c:v>Fair value remeasurement of contingent consideration</c:v>
                </c:pt>
                <c:pt idx="11">
                  <c:v>Restructuring costs and similar items</c:v>
                </c:pt>
                <c:pt idx="12">
                  <c:v>Other gains and losses, and litigation</c:v>
                </c:pt>
                <c:pt idx="13">
                  <c:v>OPERATING INCOME</c:v>
                </c:pt>
                <c:pt idx="14">
                  <c:v>Financial expenses</c:v>
                </c:pt>
                <c:pt idx="15">
                  <c:v>Financial income</c:v>
                </c:pt>
                <c:pt idx="16">
                  <c:v>INCOME BEFORE TAX AND INVESTMENTS ACCOUNTED FOR USING THE EQUITY METHOD</c:v>
                </c:pt>
                <c:pt idx="17">
                  <c:v>Income tax expense</c:v>
                </c:pt>
                <c:pt idx="18">
                  <c:v>Share of profit/loss from investments accounted for using the equity method</c:v>
                </c:pt>
                <c:pt idx="19">
                  <c:v>NET INCOME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43070</c:v>
                </c:pt>
                <c:pt idx="1">
                  <c:v>3374</c:v>
                </c:pt>
                <c:pt idx="2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1292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4">
                  <c:v>0</c:v>
                </c:pt>
                <c:pt idx="15">
                  <c:v>591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6996-4A93-B394-74F1FD5EBA1C}"/>
            </c:ext>
          </c:extLst>
        </c:ser>
        <c:ser>
          <c:idx val="3"/>
          <c:order val="2"/>
          <c:tx>
            <c:strRef>
              <c:f>Sheet1!$E$1</c:f>
              <c:strCache>
                <c:ptCount val="1"/>
                <c:pt idx="0">
                  <c:v>DOWN</c:v>
                </c:pt>
              </c:strCache>
            </c:strRef>
          </c:tx>
          <c:spPr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996-4A93-B394-74F1FD5EBA1C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6996-4A93-B394-74F1FD5EBA1C}"/>
                </c:ext>
              </c:extLst>
            </c:dLbl>
            <c:dLbl>
              <c:idx val="2"/>
              <c:numFmt formatCode="\(#,###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6996-4A93-B394-74F1FD5EBA1C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6996-4A93-B394-74F1FD5EBA1C}"/>
                </c:ext>
              </c:extLst>
            </c:dLbl>
            <c:dLbl>
              <c:idx val="4"/>
              <c:layout>
                <c:manualLayout>
                  <c:x val="-1.1324445093132951E-3"/>
                  <c:y val="2.5499665370840637E-3"/>
                </c:manualLayout>
              </c:layout>
              <c:numFmt formatCode="\(#,###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6996-4A93-B394-74F1FD5EBA1C}"/>
                </c:ext>
              </c:extLst>
            </c:dLbl>
            <c:dLbl>
              <c:idx val="5"/>
              <c:numFmt formatCode="\(#,###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6996-4A93-B394-74F1FD5EBA1C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6996-4A93-B394-74F1FD5EBA1C}"/>
                </c:ext>
              </c:extLst>
            </c:dLbl>
            <c:dLbl>
              <c:idx val="7"/>
              <c:layout>
                <c:manualLayout>
                  <c:x val="8.112194817720686E-2"/>
                  <c:y val="2.5497657997355888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6996-4A93-B394-74F1FD5EBA1C}"/>
                </c:ext>
              </c:extLst>
            </c:dLbl>
            <c:dLbl>
              <c:idx val="8"/>
              <c:layout>
                <c:manualLayout>
                  <c:x val="7.2576339725071659E-2"/>
                  <c:y val="2.549765799735635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6996-4A93-B394-74F1FD5EBA1C}"/>
                </c:ext>
              </c:extLst>
            </c:dLbl>
            <c:dLbl>
              <c:idx val="9"/>
              <c:layout>
                <c:manualLayout>
                  <c:x val="6.2574028772268156E-2"/>
                  <c:y val="7.648494449813053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6996-4A93-B394-74F1FD5EBA1C}"/>
                </c:ext>
              </c:extLst>
            </c:dLbl>
            <c:dLbl>
              <c:idx val="10"/>
              <c:layout>
                <c:manualLayout>
                  <c:x val="4.2800502147012309E-2"/>
                  <c:y val="2.549565062387253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6996-4A93-B394-74F1FD5EBA1C}"/>
                </c:ext>
              </c:extLst>
            </c:dLbl>
            <c:dLbl>
              <c:idx val="11"/>
              <c:layout>
                <c:manualLayout>
                  <c:x val="7.6834393188563624E-2"/>
                  <c:y val="5.09913012477432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6996-4A93-B394-74F1FD5EBA1C}"/>
                </c:ext>
              </c:extLst>
            </c:dLbl>
            <c:dLbl>
              <c:idx val="12"/>
              <c:layout>
                <c:manualLayout>
                  <c:x val="4.601327129299395E-2"/>
                  <c:y val="2.0073734842824665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6996-4A93-B394-74F1FD5EBA1C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6996-4A93-B394-74F1FD5EBA1C}"/>
                </c:ext>
              </c:extLst>
            </c:dLbl>
            <c:dLbl>
              <c:idx val="14"/>
              <c:layout>
                <c:manualLayout>
                  <c:x val="6.4115095283456602E-2"/>
                  <c:y val="2.549966537084110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6996-4A93-B394-74F1FD5EBA1C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6996-4A93-B394-74F1FD5EBA1C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6996-4A93-B394-74F1FD5EBA1C}"/>
                </c:ext>
              </c:extLst>
            </c:dLbl>
            <c:dLbl>
              <c:idx val="17"/>
              <c:layout>
                <c:manualLayout>
                  <c:x val="7.3215798221989634E-2"/>
                  <c:y val="6.0221204537821556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6996-4A93-B394-74F1FD5EBA1C}"/>
                </c:ext>
              </c:extLst>
            </c:dLbl>
            <c:dLbl>
              <c:idx val="18"/>
              <c:layout>
                <c:manualLayout>
                  <c:x val="4.0260978753903977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6996-4A93-B394-74F1FD5EBA1C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6996-4A93-B394-74F1FD5EBA1C}"/>
                </c:ext>
              </c:extLst>
            </c:dLbl>
            <c:numFmt formatCode="\(#,###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NET SALES</c:v>
                </c:pt>
                <c:pt idx="1">
                  <c:v>Other revenues</c:v>
                </c:pt>
                <c:pt idx="2">
                  <c:v>Cost of sales</c:v>
                </c:pt>
                <c:pt idx="3">
                  <c:v>GROSS PROFIT</c:v>
                </c:pt>
                <c:pt idx="4">
                  <c:v>R&amp;D expenses</c:v>
                </c:pt>
                <c:pt idx="5">
                  <c:v>Selling and general expenses</c:v>
                </c:pt>
                <c:pt idx="6">
                  <c:v>Other operating income</c:v>
                </c:pt>
                <c:pt idx="7">
                  <c:v>Other operating expenses</c:v>
                </c:pt>
                <c:pt idx="8">
                  <c:v>Amortization of intangible assets</c:v>
                </c:pt>
                <c:pt idx="9">
                  <c:v>Impairment of intangible assets</c:v>
                </c:pt>
                <c:pt idx="10">
                  <c:v>Fair value remeasurement of contingent consideration</c:v>
                </c:pt>
                <c:pt idx="11">
                  <c:v>Restructuring costs and similar items</c:v>
                </c:pt>
                <c:pt idx="12">
                  <c:v>Other gains and losses, and litigation</c:v>
                </c:pt>
                <c:pt idx="13">
                  <c:v>OPERATING INCOME</c:v>
                </c:pt>
                <c:pt idx="14">
                  <c:v>Financial expenses</c:v>
                </c:pt>
                <c:pt idx="15">
                  <c:v>Financial income</c:v>
                </c:pt>
                <c:pt idx="16">
                  <c:v>INCOME BEFORE TAX AND INVESTMENTS ACCOUNTED FOR USING THE EQUITY METHOD</c:v>
                </c:pt>
                <c:pt idx="17">
                  <c:v>Income tax expense</c:v>
                </c:pt>
                <c:pt idx="18">
                  <c:v>Share of profit/loss from investments accounted for using the equity method</c:v>
                </c:pt>
                <c:pt idx="19">
                  <c:v>NET INCOME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14236</c:v>
                </c:pt>
                <c:pt idx="4">
                  <c:v>6728</c:v>
                </c:pt>
                <c:pt idx="5">
                  <c:v>10692</c:v>
                </c:pt>
                <c:pt idx="6">
                  <c:v>0</c:v>
                </c:pt>
                <c:pt idx="7">
                  <c:v>3516</c:v>
                </c:pt>
                <c:pt idx="8">
                  <c:v>2172</c:v>
                </c:pt>
                <c:pt idx="9">
                  <c:v>896</c:v>
                </c:pt>
                <c:pt idx="10">
                  <c:v>93</c:v>
                </c:pt>
                <c:pt idx="11">
                  <c:v>1490</c:v>
                </c:pt>
                <c:pt idx="12">
                  <c:v>38</c:v>
                </c:pt>
                <c:pt idx="14">
                  <c:v>1313</c:v>
                </c:pt>
                <c:pt idx="15">
                  <c:v>0</c:v>
                </c:pt>
                <c:pt idx="17">
                  <c:v>1602</c:v>
                </c:pt>
                <c:pt idx="18">
                  <c:v>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6996-4A93-B394-74F1FD5EBA1C}"/>
            </c:ext>
          </c:extLst>
        </c:ser>
        <c:ser>
          <c:idx val="0"/>
          <c:order val="3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4252C"/>
            </a:solidFill>
            <a:ln>
              <a:noFill/>
            </a:ln>
            <a:effectLst/>
          </c:spPr>
          <c:invertIfNegative val="0"/>
          <c:dLbls>
            <c:dLbl>
              <c:idx val="11"/>
              <c:layout>
                <c:manualLayout>
                  <c:x val="5.1241245686786875E-2"/>
                  <c:y val="5.09872865007746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6996-4A93-B394-74F1FD5EBA1C}"/>
                </c:ext>
              </c:extLst>
            </c:dLbl>
            <c:dLbl>
              <c:idx val="1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spc="-3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B-6996-4A93-B394-74F1FD5EBA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Sheet1!$A$2:$A$21</c:f>
              <c:strCache>
                <c:ptCount val="20"/>
                <c:pt idx="0">
                  <c:v>NET SALES</c:v>
                </c:pt>
                <c:pt idx="1">
                  <c:v>Other revenues</c:v>
                </c:pt>
                <c:pt idx="2">
                  <c:v>Cost of sales</c:v>
                </c:pt>
                <c:pt idx="3">
                  <c:v>GROSS PROFIT</c:v>
                </c:pt>
                <c:pt idx="4">
                  <c:v>R&amp;D expenses</c:v>
                </c:pt>
                <c:pt idx="5">
                  <c:v>Selling and general expenses</c:v>
                </c:pt>
                <c:pt idx="6">
                  <c:v>Other operating income</c:v>
                </c:pt>
                <c:pt idx="7">
                  <c:v>Other operating expenses</c:v>
                </c:pt>
                <c:pt idx="8">
                  <c:v>Amortization of intangible assets</c:v>
                </c:pt>
                <c:pt idx="9">
                  <c:v>Impairment of intangible assets</c:v>
                </c:pt>
                <c:pt idx="10">
                  <c:v>Fair value remeasurement of contingent consideration</c:v>
                </c:pt>
                <c:pt idx="11">
                  <c:v>Restructuring costs and similar items</c:v>
                </c:pt>
                <c:pt idx="12">
                  <c:v>Other gains and losses, and litigation</c:v>
                </c:pt>
                <c:pt idx="13">
                  <c:v>OPERATING INCOME</c:v>
                </c:pt>
                <c:pt idx="14">
                  <c:v>Financial expenses</c:v>
                </c:pt>
                <c:pt idx="15">
                  <c:v>Financial income</c:v>
                </c:pt>
                <c:pt idx="16">
                  <c:v>INCOME BEFORE TAX AND INVESTMENTS ACCOUNTED FOR USING THE EQUITY METHOD</c:v>
                </c:pt>
                <c:pt idx="17">
                  <c:v>Income tax expense</c:v>
                </c:pt>
                <c:pt idx="18">
                  <c:v>Share of profit/loss from investments accounted for using the equity method</c:v>
                </c:pt>
                <c:pt idx="19">
                  <c:v>NET INCOME</c:v>
                </c:pt>
              </c:strCache>
            </c:strRef>
          </c:cat>
          <c:val>
            <c:numRef>
              <c:f>Sheet1!$F$2:$F$21</c:f>
              <c:numCache>
                <c:formatCode>General</c:formatCode>
                <c:ptCount val="20"/>
                <c:pt idx="3" formatCode="#,##0">
                  <c:v>32208</c:v>
                </c:pt>
                <c:pt idx="13" formatCode="#,##0">
                  <c:v>7875</c:v>
                </c:pt>
                <c:pt idx="16" formatCode="#,##0">
                  <c:v>7153</c:v>
                </c:pt>
                <c:pt idx="19" formatCode="#,##0">
                  <c:v>5436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6996-4A93-B394-74F1FD5EBA1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"/>
        <c:overlap val="100"/>
        <c:axId val="1640669087"/>
        <c:axId val="1720739583"/>
      </c:barChart>
      <c:catAx>
        <c:axId val="1640669087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720739583"/>
        <c:crosses val="autoZero"/>
        <c:auto val="1"/>
        <c:lblAlgn val="ctr"/>
        <c:lblOffset val="100"/>
        <c:noMultiLvlLbl val="0"/>
      </c:catAx>
      <c:valAx>
        <c:axId val="1720739583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6406690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+mj-lt"/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9266949768758068"/>
          <c:y val="2.8938839040468779E-2"/>
          <c:w val="0.73644129733949859"/>
          <c:h val="0.82086386961040581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4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6.3335021984404896E-2"/>
                  <c:y val="0"/>
                </c:manualLayout>
              </c:layout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B84-4DDA-B6EE-98F23008B439}"/>
                </c:ext>
              </c:extLst>
            </c:dLbl>
            <c:dLbl>
              <c:idx val="1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l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24ED-4296-AF1D-CE4224A1902C}"/>
                </c:ext>
              </c:extLst>
            </c:dLbl>
            <c:dLbl>
              <c:idx val="4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l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24ED-4296-AF1D-CE4224A1902C}"/>
                </c:ext>
              </c:extLst>
            </c:dLbl>
            <c:dLbl>
              <c:idx val="6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l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4ED-4296-AF1D-CE4224A190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l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Dir val="x"/>
            <c:errBarType val="plus"/>
            <c:errValType val="cust"/>
            <c:noEndCap val="0"/>
            <c:plus>
              <c:numRef>
                <c:f>Sheet1!$I$2:$I$8</c:f>
                <c:numCache>
                  <c:formatCode>General</c:formatCode>
                  <c:ptCount val="7"/>
                  <c:pt idx="0">
                    <c:v>0.44</c:v>
                  </c:pt>
                  <c:pt idx="1">
                    <c:v>0.4</c:v>
                  </c:pt>
                  <c:pt idx="2">
                    <c:v>0.41</c:v>
                  </c:pt>
                  <c:pt idx="3">
                    <c:v>0.21999999999999997</c:v>
                  </c:pt>
                  <c:pt idx="4">
                    <c:v>0.31999999999999995</c:v>
                  </c:pt>
                  <c:pt idx="5">
                    <c:v>0.43000000000000005</c:v>
                  </c:pt>
                  <c:pt idx="6">
                    <c:v>0.56999999999999995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190500" cap="flat" cmpd="sng" algn="ctr">
                <a:solidFill>
                  <a:schemeClr val="bg1">
                    <a:lumMod val="95000"/>
                    <a:alpha val="70000"/>
                  </a:schemeClr>
                </a:solidFill>
                <a:round/>
              </a:ln>
              <a:effectLst/>
            </c:spPr>
          </c:errBars>
          <c:xVal>
            <c:numRef>
              <c:f>Sheet1!$B$2:$B$8</c:f>
              <c:numCache>
                <c:formatCode>0%</c:formatCode>
                <c:ptCount val="7"/>
                <c:pt idx="0">
                  <c:v>0.05</c:v>
                </c:pt>
                <c:pt idx="1">
                  <c:v>0.04</c:v>
                </c:pt>
                <c:pt idx="2">
                  <c:v>7.0000000000000007E-2</c:v>
                </c:pt>
                <c:pt idx="3">
                  <c:v>0.08</c:v>
                </c:pt>
                <c:pt idx="4">
                  <c:v>0.03</c:v>
                </c:pt>
                <c:pt idx="5">
                  <c:v>0.09</c:v>
                </c:pt>
                <c:pt idx="6">
                  <c:v>0.02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B84-4DDA-B6EE-98F23008B4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2019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4"/>
            <c:spPr>
              <a:solidFill>
                <a:schemeClr val="bg1">
                  <a:lumMod val="65000"/>
                </a:schemeClr>
              </a:solidFill>
              <a:ln w="9525">
                <a:noFill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B9D87AFF-D224-4BAC-B3C6-E9B50C10F770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B84-4DDA-B6EE-98F23008B43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06B58CC-0123-492E-AA98-1758ABBA02CC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6B84-4DDA-B6EE-98F23008B43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FD475F9-BBB5-4F49-8D10-429147729A3E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6B84-4DDA-B6EE-98F23008B43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F606BE9B-B2FF-441A-A45A-3CDC052115BD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6B84-4DDA-B6EE-98F23008B439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DC736D32-44B1-4D9B-B4E1-46C60810F349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6B84-4DDA-B6EE-98F23008B439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48DC5B62-6E9B-48FC-B2E2-7C011244D841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6B84-4DDA-B6EE-98F23008B439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E06F658C-2853-4739-9E61-2E43CEC10B85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6B84-4DDA-B6EE-98F23008B4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Dir val="x"/>
            <c:errBarType val="plus"/>
            <c:errValType val="cust"/>
            <c:noEndCap val="1"/>
            <c:plus>
              <c:numRef>
                <c:f>Sheet1!$J$2:$J$8</c:f>
                <c:numCache>
                  <c:formatCode>General</c:formatCode>
                  <c:ptCount val="7"/>
                  <c:pt idx="0">
                    <c:v>0.42000000000000004</c:v>
                  </c:pt>
                  <c:pt idx="1">
                    <c:v>0.49999999999999994</c:v>
                  </c:pt>
                  <c:pt idx="2">
                    <c:v>0.42000000000000004</c:v>
                  </c:pt>
                  <c:pt idx="3">
                    <c:v>0.7</c:v>
                  </c:pt>
                  <c:pt idx="4">
                    <c:v>0.61</c:v>
                  </c:pt>
                  <c:pt idx="5">
                    <c:v>0.48</c:v>
                  </c:pt>
                  <c:pt idx="6">
                    <c:v>0.41000000000000003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190500" cap="flat" cmpd="sng" algn="ctr">
                <a:solidFill>
                  <a:schemeClr val="bg1">
                    <a:lumMod val="95000"/>
                    <a:alpha val="70000"/>
                  </a:schemeClr>
                </a:solidFill>
                <a:round/>
              </a:ln>
              <a:effectLst/>
            </c:spPr>
          </c:errBars>
          <c:xVal>
            <c:numRef>
              <c:f>Sheet1!$C$2:$C$8</c:f>
              <c:numCache>
                <c:formatCode>0%</c:formatCode>
                <c:ptCount val="7"/>
                <c:pt idx="0">
                  <c:v>0.49</c:v>
                </c:pt>
                <c:pt idx="1">
                  <c:v>0.44</c:v>
                </c:pt>
                <c:pt idx="2">
                  <c:v>0.48</c:v>
                </c:pt>
                <c:pt idx="3">
                  <c:v>0.3</c:v>
                </c:pt>
                <c:pt idx="4">
                  <c:v>0.35</c:v>
                </c:pt>
                <c:pt idx="5">
                  <c:v>0.52</c:v>
                </c:pt>
                <c:pt idx="6">
                  <c:v>0.59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Sheet1!$G$2:$G$8</c15:f>
                <c15:dlblRangeCache>
                  <c:ptCount val="7"/>
                  <c:pt idx="0">
                    <c:v>+44%</c:v>
                  </c:pt>
                  <c:pt idx="1">
                    <c:v>+40%</c:v>
                  </c:pt>
                  <c:pt idx="2">
                    <c:v>+41%</c:v>
                  </c:pt>
                  <c:pt idx="3">
                    <c:v>+22%</c:v>
                  </c:pt>
                  <c:pt idx="4">
                    <c:v>+32%</c:v>
                  </c:pt>
                  <c:pt idx="5">
                    <c:v>+43%</c:v>
                  </c:pt>
                  <c:pt idx="6">
                    <c:v>+57%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6B84-4DDA-B6EE-98F23008B43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2020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4"/>
            <c:spPr>
              <a:solidFill>
                <a:srgbClr val="00A3E0"/>
              </a:solidFill>
              <a:ln w="9525">
                <a:noFill/>
              </a:ln>
              <a:effectLst/>
            </c:spPr>
          </c:marker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4F083F3-9120-4A35-B8B8-73FAF026BB89}" type="CELLRANGE">
                      <a:rPr lang="ru-RU"/>
                      <a:pPr>
                        <a:defRPr sz="1197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6B84-4DDA-B6EE-98F23008B439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2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63C979AC-10B5-4EAD-B246-C5AB518FBE4C}" type="CELLRANGE">
                      <a:rPr lang="ru-RU"/>
                      <a:pPr>
                        <a:defRPr sz="12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solidFill>
                  <a:schemeClr val="bg1"/>
                </a:solidFill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6B84-4DDA-B6EE-98F23008B439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04E9854-C75A-4EA8-889E-A4D0FEE5FFC1}" type="CELLRANGE">
                      <a:rPr lang="ru-RU"/>
                      <a:pPr>
                        <a:defRPr sz="1197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6B84-4DDA-B6EE-98F23008B439}"/>
                </c:ext>
              </c:extLst>
            </c:dLbl>
            <c:dLbl>
              <c:idx val="3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FF14CAD-D1D6-4458-A3D6-D586B0421704}" type="CELLRANGE">
                      <a:rPr lang="ru-RU"/>
                      <a:pPr>
                        <a:defRPr sz="1197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6B84-4DDA-B6EE-98F23008B439}"/>
                </c:ext>
              </c:extLst>
            </c:dLbl>
            <c:dLbl>
              <c:idx val="4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CA55DC4-41E9-44E3-AC0D-D7B8EF1C9477}" type="CELLRANGE">
                      <a:rPr lang="ru-RU"/>
                      <a:pPr>
                        <a:defRPr sz="1197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solidFill>
                  <a:schemeClr val="bg1"/>
                </a:solidFill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6B84-4DDA-B6EE-98F23008B439}"/>
                </c:ext>
              </c:extLst>
            </c:dLbl>
            <c:dLbl>
              <c:idx val="5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645FECC0-9997-4591-B671-6D8B68615262}" type="CELLRANGE">
                      <a:rPr lang="ru-RU"/>
                      <a:pPr>
                        <a:defRPr sz="1197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6B84-4DDA-B6EE-98F23008B439}"/>
                </c:ext>
              </c:extLst>
            </c:dLbl>
            <c:dLbl>
              <c:idx val="6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43C3ECE-25D9-40B6-BE08-ADC7524525AF}" type="CELLRANGE">
                      <a:rPr lang="ru-RU"/>
                      <a:pPr>
                        <a:defRPr sz="1197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6B84-4DDA-B6EE-98F23008B4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Sheet1!$D$2:$D$8</c:f>
              <c:numCache>
                <c:formatCode>0%</c:formatCode>
                <c:ptCount val="7"/>
                <c:pt idx="0">
                  <c:v>0.91</c:v>
                </c:pt>
                <c:pt idx="1">
                  <c:v>0.94</c:v>
                </c:pt>
                <c:pt idx="2">
                  <c:v>0.9</c:v>
                </c:pt>
                <c:pt idx="3">
                  <c:v>1</c:v>
                </c:pt>
                <c:pt idx="4">
                  <c:v>0.96</c:v>
                </c:pt>
                <c:pt idx="5">
                  <c:v>1</c:v>
                </c:pt>
                <c:pt idx="6">
                  <c:v>1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Sheet1!$H$2:$H$8</c15:f>
                <c15:dlblRangeCache>
                  <c:ptCount val="7"/>
                  <c:pt idx="0">
                    <c:v>+42%</c:v>
                  </c:pt>
                  <c:pt idx="1">
                    <c:v>+50%</c:v>
                  </c:pt>
                  <c:pt idx="2">
                    <c:v>+42%</c:v>
                  </c:pt>
                  <c:pt idx="3">
                    <c:v>+70%</c:v>
                  </c:pt>
                  <c:pt idx="4">
                    <c:v>+61%</c:v>
                  </c:pt>
                  <c:pt idx="5">
                    <c:v>+48%</c:v>
                  </c:pt>
                  <c:pt idx="6">
                    <c:v>+41%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1-6B84-4DDA-B6EE-98F23008B439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labels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0.10504016125065614"/>
                  <c:y val="0"/>
                </c:manualLayout>
              </c:layout>
              <c:tx>
                <c:rich>
                  <a:bodyPr/>
                  <a:lstStyle/>
                  <a:p>
                    <a:fld id="{8483A8EA-49BF-49A5-9CAD-10E7CCC610FC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2-6B84-4DDA-B6EE-98F23008B439}"/>
                </c:ext>
              </c:extLst>
            </c:dLbl>
            <c:dLbl>
              <c:idx val="1"/>
              <c:layout>
                <c:manualLayout>
                  <c:x val="-0.13349566682450364"/>
                  <c:y val="0"/>
                </c:manualLayout>
              </c:layout>
              <c:tx>
                <c:rich>
                  <a:bodyPr/>
                  <a:lstStyle/>
                  <a:p>
                    <a:fld id="{4590D0C6-DD83-46C7-84C9-972CCEC1429B}" type="CELLRANGE">
                      <a:rPr lang="en-US" sz="1100" dirty="0">
                        <a:solidFill>
                          <a:schemeClr val="bg1"/>
                        </a:solidFill>
                        <a:latin typeface="+mn-lt"/>
                      </a:rPr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3-6B84-4DDA-B6EE-98F23008B439}"/>
                </c:ext>
              </c:extLst>
            </c:dLbl>
            <c:dLbl>
              <c:idx val="2"/>
              <c:layout>
                <c:manualLayout>
                  <c:x val="-8.42546607789805E-2"/>
                  <c:y val="0"/>
                </c:manualLayout>
              </c:layout>
              <c:tx>
                <c:rich>
                  <a:bodyPr/>
                  <a:lstStyle/>
                  <a:p>
                    <a:fld id="{88E6B71D-A96C-4298-A068-A0E0A7BCC436}" type="CELLRANGE">
                      <a:rPr lang="en-US" dirty="0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4-6B84-4DDA-B6EE-98F23008B439}"/>
                </c:ext>
              </c:extLst>
            </c:dLbl>
            <c:dLbl>
              <c:idx val="3"/>
              <c:layout>
                <c:manualLayout>
                  <c:x val="-6.5692642778224342E-2"/>
                  <c:y val="0"/>
                </c:manualLayout>
              </c:layout>
              <c:tx>
                <c:rich>
                  <a:bodyPr/>
                  <a:lstStyle/>
                  <a:p>
                    <a:fld id="{AAA939FC-D09B-4089-93DB-C557A1091A06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5-6B84-4DDA-B6EE-98F23008B439}"/>
                </c:ext>
              </c:extLst>
            </c:dLbl>
            <c:dLbl>
              <c:idx val="4"/>
              <c:layout>
                <c:manualLayout>
                  <c:x val="-0.11636003164080709"/>
                  <c:y val="0"/>
                </c:manualLayout>
              </c:layout>
              <c:tx>
                <c:rich>
                  <a:bodyPr/>
                  <a:lstStyle/>
                  <a:p>
                    <a:fld id="{CB3E6437-72E1-45A5-92A3-F5E62FDCF183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6-6B84-4DDA-B6EE-98F23008B439}"/>
                </c:ext>
              </c:extLst>
            </c:dLbl>
            <c:dLbl>
              <c:idx val="5"/>
              <c:layout>
                <c:manualLayout>
                  <c:x val="-6.4799189158435286E-2"/>
                  <c:y val="-1.0658791597412087E-16"/>
                </c:manualLayout>
              </c:layout>
              <c:tx>
                <c:rich>
                  <a:bodyPr/>
                  <a:lstStyle/>
                  <a:p>
                    <a:fld id="{8FFA016F-7DE0-464E-9770-267656FDBB20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7-6B84-4DDA-B6EE-98F23008B439}"/>
                </c:ext>
              </c:extLst>
            </c:dLbl>
            <c:dLbl>
              <c:idx val="6"/>
              <c:layout>
                <c:manualLayout>
                  <c:x val="-0.16751641688048072"/>
                  <c:y val="2.9069767441859398E-3"/>
                </c:manualLayout>
              </c:layout>
              <c:tx>
                <c:rich>
                  <a:bodyPr/>
                  <a:lstStyle/>
                  <a:p>
                    <a:fld id="{D1B13165-347C-401C-A88B-90FA1AA97AD9}" type="CELLRANGE">
                      <a:rPr lang="en-US" dirty="0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8-6B84-4DDA-B6EE-98F23008B4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216000" bIns="19050" anchor="ctr" anchorCtr="0">
                <a:spAutoFit/>
              </a:bodyPr>
              <a:lstStyle/>
              <a:p>
                <a:pPr algn="r">
                  <a:defRPr sz="11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l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DataLabelsRange val="1"/>
                <c15:showLeaderLines val="0"/>
              </c:ext>
            </c:extLst>
          </c:dLbls>
          <c:xVal>
            <c:numRef>
              <c:f>Sheet1!$F$2:$F$8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Sheet1!$A$2:$A$8</c15:f>
                <c15:dlblRangeCache>
                  <c:ptCount val="7"/>
                  <c:pt idx="0">
                    <c:v>Microsoft</c:v>
                  </c:pt>
                  <c:pt idx="1">
                    <c:v>Google</c:v>
                  </c:pt>
                  <c:pt idx="2">
                    <c:v>Oracle</c:v>
                  </c:pt>
                  <c:pt idx="3">
                    <c:v>SAP</c:v>
                  </c:pt>
                  <c:pt idx="4">
                    <c:v>Accenture</c:v>
                  </c:pt>
                  <c:pt idx="5">
                    <c:v>IBM</c:v>
                  </c:pt>
                  <c:pt idx="6">
                    <c:v>Amazon WS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9-6B84-4DDA-B6EE-98F23008B43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344843903"/>
        <c:axId val="1103298207"/>
        <c:extLst/>
      </c:scatterChart>
      <c:valAx>
        <c:axId val="1344843903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03298207"/>
        <c:crosses val="autoZero"/>
        <c:crossBetween val="midCat"/>
      </c:valAx>
      <c:valAx>
        <c:axId val="1103298207"/>
        <c:scaling>
          <c:orientation val="minMax"/>
          <c:min val="0.5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4484390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707844989953734E-2"/>
          <c:y val="1.3492824898192918E-2"/>
          <c:w val="0.9645841899970744"/>
          <c:h val="0.9556245424923053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0A3E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CD2C2E4A-DF3A-41E3-94FA-5F9F0CA64271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C-8CC6-4561-8BC8-44D177585D2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1BF86F0-CFA5-4C66-9B08-88CE0E83E2EA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D-8CC6-4561-8BC8-44D177585D2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2E53199-76A5-47DA-99E9-50F042EABEFC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E-8CC6-4561-8BC8-44D177585D2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21E8F32B-0027-4497-9C6D-46AAE0CA2B0E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F-8CC6-4561-8BC8-44D177585D2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0FE00FAD-A52E-4DC0-92AE-9CA1B4DD78A3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0-8CC6-4561-8BC8-44D177585D2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EEC71187-C266-49B0-BBB3-799E7A85EBA4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8CC6-4561-8BC8-44D177585D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Surface technologies</c:v>
                </c:pt>
                <c:pt idx="1">
                  <c:v>Materials</c:v>
                </c:pt>
                <c:pt idx="2">
                  <c:v>Chemicals</c:v>
                </c:pt>
                <c:pt idx="3">
                  <c:v>Agricultural solutions</c:v>
                </c:pt>
                <c:pt idx="4">
                  <c:v>Industrial solutions</c:v>
                </c:pt>
                <c:pt idx="5">
                  <c:v>Nutrition &amp; care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-21.3</c:v>
                </c:pt>
                <c:pt idx="1">
                  <c:v>-18.399999999999999</c:v>
                </c:pt>
                <c:pt idx="2">
                  <c:v>-14.9</c:v>
                </c:pt>
                <c:pt idx="3">
                  <c:v>-10.3</c:v>
                </c:pt>
                <c:pt idx="4">
                  <c:v>-10</c:v>
                </c:pt>
                <c:pt idx="5">
                  <c:v>-8.1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Sheet1!$B$2:$B$7</c15:f>
                <c15:dlblRangeCache>
                  <c:ptCount val="6"/>
                  <c:pt idx="0">
                    <c:v>21.3</c:v>
                  </c:pt>
                  <c:pt idx="1">
                    <c:v>18.4</c:v>
                  </c:pt>
                  <c:pt idx="2">
                    <c:v>14.9</c:v>
                  </c:pt>
                  <c:pt idx="3">
                    <c:v>10.3</c:v>
                  </c:pt>
                  <c:pt idx="4">
                    <c:v>10.0</c:v>
                  </c:pt>
                  <c:pt idx="5">
                    <c:v>8.1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8CC6-4561-8BC8-44D177585D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01216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3481968205424117E-4"/>
                  <c:y val="0"/>
                </c:manualLayout>
              </c:layout>
              <c:tx>
                <c:rich>
                  <a:bodyPr/>
                  <a:lstStyle/>
                  <a:p>
                    <a:fld id="{CDBD4D86-B587-4529-BE7A-E64EAFE28BF3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CC6-4561-8BC8-44D177585D28}"/>
                </c:ext>
              </c:extLst>
            </c:dLbl>
            <c:dLbl>
              <c:idx val="1"/>
              <c:layout>
                <c:manualLayout>
                  <c:x val="1.1152904958598333E-3"/>
                  <c:y val="0"/>
                </c:manualLayout>
              </c:layout>
              <c:tx>
                <c:rich>
                  <a:bodyPr/>
                  <a:lstStyle/>
                  <a:p>
                    <a:fld id="{32E71235-0C4E-4975-8B8C-9EDDCD47C1A2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4-8CC6-4561-8BC8-44D177585D28}"/>
                </c:ext>
              </c:extLst>
            </c:dLbl>
            <c:dLbl>
              <c:idx val="2"/>
              <c:layout>
                <c:manualLayout>
                  <c:x val="5.7437633022165864E-4"/>
                  <c:y val="-1.2368279943918169E-17"/>
                </c:manualLayout>
              </c:layout>
              <c:tx>
                <c:rich>
                  <a:bodyPr/>
                  <a:lstStyle/>
                  <a:p>
                    <a:fld id="{CC17969A-AF77-4B4B-A1ED-9366C8EA593C}" type="CELLRANGE">
                      <a:rPr lang="en-US" dirty="0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5-8CC6-4561-8BC8-44D177585D2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8D0ED823-CA97-47A9-9CE6-1AAF18D38F3E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8CC6-4561-8BC8-44D177585D28}"/>
                </c:ext>
              </c:extLst>
            </c:dLbl>
            <c:dLbl>
              <c:idx val="4"/>
              <c:layout>
                <c:manualLayout>
                  <c:x val="4.952630338868236E-4"/>
                  <c:y val="-4.9473119775672677E-17"/>
                </c:manualLayout>
              </c:layout>
              <c:tx>
                <c:rich>
                  <a:bodyPr/>
                  <a:lstStyle/>
                  <a:p>
                    <a:fld id="{FC312982-5739-402D-B67A-2A24537D3FF0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CC6-4561-8BC8-44D177585D28}"/>
                </c:ext>
              </c:extLst>
            </c:dLbl>
            <c:dLbl>
              <c:idx val="5"/>
              <c:layout>
                <c:manualLayout>
                  <c:x val="-7.3628261109294903E-4"/>
                  <c:y val="-9.8946239551345354E-17"/>
                </c:manualLayout>
              </c:layout>
              <c:tx>
                <c:rich>
                  <a:bodyPr/>
                  <a:lstStyle/>
                  <a:p>
                    <a:fld id="{D3E2D0EF-ACCD-479C-883D-0309D435B24F}" type="CELLRANGE">
                      <a:rPr lang="en-US">
                        <a:solidFill>
                          <a:schemeClr val="bg1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8CC6-4561-8BC8-44D177585D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Surface technologies</c:v>
                </c:pt>
                <c:pt idx="1">
                  <c:v>Materials</c:v>
                </c:pt>
                <c:pt idx="2">
                  <c:v>Chemicals</c:v>
                </c:pt>
                <c:pt idx="3">
                  <c:v>Agricultural solutions</c:v>
                </c:pt>
                <c:pt idx="4">
                  <c:v>Industrial solutions</c:v>
                </c:pt>
                <c:pt idx="5">
                  <c:v>Nutrition &amp; care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-1.5</c:v>
                </c:pt>
                <c:pt idx="1">
                  <c:v>-2.7</c:v>
                </c:pt>
                <c:pt idx="2">
                  <c:v>-2.8</c:v>
                </c:pt>
                <c:pt idx="3">
                  <c:v>-1.9</c:v>
                </c:pt>
                <c:pt idx="4">
                  <c:v>-1.4</c:v>
                </c:pt>
                <c:pt idx="5" formatCode="#;#">
                  <c:v>-1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Sheet1!$C$2:$C$7</c15:f>
                <c15:dlblRangeCache>
                  <c:ptCount val="6"/>
                  <c:pt idx="0">
                    <c:v>1.5</c:v>
                  </c:pt>
                  <c:pt idx="1">
                    <c:v>2.7</c:v>
                  </c:pt>
                  <c:pt idx="2">
                    <c:v>2.8</c:v>
                  </c:pt>
                  <c:pt idx="3">
                    <c:v>1.9</c:v>
                  </c:pt>
                  <c:pt idx="4">
                    <c:v>1.4</c:v>
                  </c:pt>
                  <c:pt idx="5">
                    <c:v>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7-8CC6-4561-8BC8-44D177585D2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axis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Surface technologies</c:v>
                </c:pt>
                <c:pt idx="1">
                  <c:v>Materials</c:v>
                </c:pt>
                <c:pt idx="2">
                  <c:v>Chemicals</c:v>
                </c:pt>
                <c:pt idx="3">
                  <c:v>Agricultural solutions</c:v>
                </c:pt>
                <c:pt idx="4">
                  <c:v>Industrial solutions</c:v>
                </c:pt>
                <c:pt idx="5">
                  <c:v>Nutrition &amp; care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CC6-4561-8BC8-44D177585D2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ebitda2</c:v>
                </c:pt>
              </c:strCache>
            </c:strRef>
          </c:tx>
          <c:spPr>
            <a:solidFill>
              <a:srgbClr val="00A3E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16.2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E77-4BE2-95AF-6748B327163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14.1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E77-4BE2-95AF-6748B327163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10.4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E77-4BE2-95AF-6748B327163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10.1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E77-4BE2-95AF-6748B327163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8CC6-4561-8BC8-44D177585D2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6.9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8CC6-4561-8BC8-44D177585D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Surface technologies</c:v>
                </c:pt>
                <c:pt idx="1">
                  <c:v>Materials</c:v>
                </c:pt>
                <c:pt idx="2">
                  <c:v>Chemicals</c:v>
                </c:pt>
                <c:pt idx="3">
                  <c:v>Agricultural solutions</c:v>
                </c:pt>
                <c:pt idx="4">
                  <c:v>Industrial solutions</c:v>
                </c:pt>
                <c:pt idx="5">
                  <c:v>Nutrition &amp; care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16.2</c:v>
                </c:pt>
                <c:pt idx="1">
                  <c:v>14.1</c:v>
                </c:pt>
                <c:pt idx="2">
                  <c:v>10.4</c:v>
                </c:pt>
                <c:pt idx="3">
                  <c:v>10.1</c:v>
                </c:pt>
                <c:pt idx="4">
                  <c:v>8</c:v>
                </c:pt>
                <c:pt idx="5">
                  <c:v>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8CC6-4561-8BC8-44D177585D2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sales2</c:v>
                </c:pt>
              </c:strCache>
            </c:strRef>
          </c:tx>
          <c:spPr>
            <a:solidFill>
              <a:srgbClr val="01216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709302155359868E-16"/>
                  <c:y val="8.4994172587042001E-7"/>
                </c:manualLayout>
              </c:layout>
              <c:tx>
                <c:rich>
                  <a:bodyPr/>
                  <a:lstStyle/>
                  <a:p>
                    <a:r>
                      <a:rPr lang="en-US">
                        <a:solidFill>
                          <a:schemeClr val="bg1"/>
                        </a:solidFill>
                      </a:rPr>
                      <a:t>1.5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E77-4BE2-95AF-6748B327163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1.7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E77-4BE2-95AF-6748B327163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1.2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E77-4BE2-95AF-6748B327163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2.3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E77-4BE2-95AF-6748B3271630}"/>
                </c:ext>
              </c:extLst>
            </c:dLbl>
            <c:dLbl>
              <c:idx val="4"/>
              <c:layout>
                <c:manualLayout>
                  <c:x val="2.1905643825270465E-2"/>
                  <c:y val="4.9473119775672677E-1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defRPr>
                    </a:pPr>
                    <a:r>
                      <a:rPr lang="en-US">
                        <a:solidFill>
                          <a:schemeClr val="tx1"/>
                        </a:solidFill>
                      </a:rPr>
                      <a:t>0.9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8CC6-4561-8BC8-44D177585D28}"/>
                </c:ext>
              </c:extLst>
            </c:dLbl>
            <c:dLbl>
              <c:idx val="5"/>
              <c:layout>
                <c:manualLayout>
                  <c:x val="2.4880326765511416E-2"/>
                  <c:y val="1.4873980203721812E-6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defRPr>
                    </a:pPr>
                    <a:r>
                      <a:rPr lang="en-US">
                        <a:solidFill>
                          <a:schemeClr val="tx1"/>
                        </a:solidFill>
                      </a:rPr>
                      <a:t>0.6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E77-4BE2-95AF-6748B327163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Surface technologies</c:v>
                </c:pt>
                <c:pt idx="1">
                  <c:v>Materials</c:v>
                </c:pt>
                <c:pt idx="2">
                  <c:v>Chemicals</c:v>
                </c:pt>
                <c:pt idx="3">
                  <c:v>Agricultural solutions</c:v>
                </c:pt>
                <c:pt idx="4">
                  <c:v>Industrial solutions</c:v>
                </c:pt>
                <c:pt idx="5">
                  <c:v>Nutrition &amp; care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1.5</c:v>
                </c:pt>
                <c:pt idx="1">
                  <c:v>1.7</c:v>
                </c:pt>
                <c:pt idx="2">
                  <c:v>1.2</c:v>
                </c:pt>
                <c:pt idx="3">
                  <c:v>2.2999999999999998</c:v>
                </c:pt>
                <c:pt idx="4">
                  <c:v>0.9</c:v>
                </c:pt>
                <c:pt idx="5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8CC6-4561-8BC8-44D177585D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0"/>
        <c:overlap val="100"/>
        <c:axId val="1996905952"/>
        <c:axId val="2023359568"/>
      </c:barChart>
      <c:catAx>
        <c:axId val="1996905952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2023359568"/>
        <c:crosses val="autoZero"/>
        <c:auto val="1"/>
        <c:lblAlgn val="ctr"/>
        <c:lblOffset val="100"/>
        <c:noMultiLvlLbl val="0"/>
      </c:catAx>
      <c:valAx>
        <c:axId val="2023359568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996905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2439618820095518E-2"/>
          <c:y val="1.7930233534118833E-2"/>
          <c:w val="0.90428361599030893"/>
          <c:h val="0.95947732962424015"/>
        </c:manualLayout>
      </c:layout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solidFill>
              <a:srgbClr val="5E6166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19.8%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273-4BC1-ACB4-CFA29C30734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21.5%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273-4BC1-ACB4-CFA29C307344}"/>
                </c:ext>
              </c:extLst>
            </c:dLbl>
            <c:dLbl>
              <c:idx val="2"/>
              <c:layout>
                <c:manualLayout>
                  <c:x val="-0.31349566633031256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15.2%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layout>
                    <c:manualLayout>
                      <c:w val="0.26421597786324436"/>
                      <c:h val="7.215187480110499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6273-4BC1-ACB4-CFA29C307344}"/>
                </c:ext>
              </c:extLst>
            </c:dLbl>
            <c:dLbl>
              <c:idx val="3"/>
              <c:layout>
                <c:manualLayout>
                  <c:x val="-0.35269948246423127"/>
                  <c:y val="1.1389835574055685E-7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29.6%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layout>
                    <c:manualLayout>
                      <c:w val="0.29305673627350159"/>
                      <c:h val="7.28564500297160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6273-4BC1-ACB4-CFA29C30734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12.6%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273-4BC1-ACB4-CFA29C307344}"/>
                </c:ext>
              </c:extLst>
            </c:dLbl>
            <c:dLbl>
              <c:idx val="5"/>
              <c:layout>
                <c:manualLayout>
                  <c:x val="-0.2346880440097302"/>
                  <c:y val="-1.1056591501737676E-16"/>
                </c:manualLayout>
              </c:layout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chemeClr val="bg1"/>
                        </a:solidFill>
                      </a:rPr>
                      <a:t>7.4%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273-4BC1-ACB4-CFA29C307344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19050" rIns="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xVal>
            <c:numRef>
              <c:f>Sheet1!$A$2:$A$7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</c:numCache>
            </c:numRef>
          </c:yVal>
          <c:bubbleSize>
            <c:numRef>
              <c:f>Sheet1!$C$2:$C$7</c:f>
              <c:numCache>
                <c:formatCode>General</c:formatCode>
                <c:ptCount val="6"/>
                <c:pt idx="0">
                  <c:v>0.19800000000000001</c:v>
                </c:pt>
                <c:pt idx="1">
                  <c:v>0.215</c:v>
                </c:pt>
                <c:pt idx="2">
                  <c:v>0.152</c:v>
                </c:pt>
                <c:pt idx="3">
                  <c:v>0.29599999999999999</c:v>
                </c:pt>
                <c:pt idx="4">
                  <c:v>0.126</c:v>
                </c:pt>
                <c:pt idx="5">
                  <c:v>7.3999999999999996E-2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6-6273-4BC1-ACB4-CFA29C3073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260"/>
        <c:showNegBubbles val="0"/>
        <c:axId val="1152402431"/>
        <c:axId val="1046170863"/>
      </c:bubbleChart>
      <c:valAx>
        <c:axId val="1152402431"/>
        <c:scaling>
          <c:orientation val="minMax"/>
          <c:max val="4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1046170863"/>
        <c:crosses val="autoZero"/>
        <c:crossBetween val="midCat"/>
        <c:majorUnit val="1"/>
        <c:minorUnit val="1"/>
      </c:valAx>
      <c:valAx>
        <c:axId val="1046170863"/>
        <c:scaling>
          <c:orientation val="minMax"/>
          <c:max val="6.5"/>
          <c:min val="0.5"/>
        </c:scaling>
        <c:delete val="1"/>
        <c:axPos val="l"/>
        <c:numFmt formatCode="General" sourceLinked="1"/>
        <c:majorTickMark val="out"/>
        <c:minorTickMark val="none"/>
        <c:tickLblPos val="nextTo"/>
        <c:crossAx val="115240243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114135013685672"/>
          <c:y val="6.8692420735783855E-2"/>
          <c:w val="0.75420199878861294"/>
          <c:h val="0.88515370342567357"/>
        </c:manualLayout>
      </c:layout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solidFill>
              <a:srgbClr val="43B02A"/>
            </a:solidFill>
            <a:ln w="63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7F56-4CFD-A12A-05E3F711E2D4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F56-4CFD-A12A-05E3F711E2D4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7F56-4CFD-A12A-05E3F711E2D4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C-7F56-4CFD-A12A-05E3F711E2D4}"/>
              </c:ext>
            </c:extLst>
          </c:dPt>
          <c:dPt>
            <c:idx val="4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7F56-4CFD-A12A-05E3F711E2D4}"/>
              </c:ext>
            </c:extLst>
          </c:dPt>
          <c:dPt>
            <c:idx val="5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E-7F56-4CFD-A12A-05E3F711E2D4}"/>
              </c:ext>
            </c:extLst>
          </c:dPt>
          <c:dPt>
            <c:idx val="6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7F56-4CFD-A12A-05E3F711E2D4}"/>
              </c:ext>
            </c:extLst>
          </c:dPt>
          <c:dPt>
            <c:idx val="7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0-7F56-4CFD-A12A-05E3F711E2D4}"/>
              </c:ext>
            </c:extLst>
          </c:dPt>
          <c:dPt>
            <c:idx val="8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7F56-4CFD-A12A-05E3F711E2D4}"/>
              </c:ext>
            </c:extLst>
          </c:dPt>
          <c:dPt>
            <c:idx val="9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2-7F56-4CFD-A12A-05E3F711E2D4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7F56-4CFD-A12A-05E3F711E2D4}"/>
              </c:ext>
            </c:extLst>
          </c:dPt>
          <c:dPt>
            <c:idx val="11"/>
            <c:invertIfNegative val="0"/>
            <c:bubble3D val="0"/>
            <c:spPr>
              <a:solidFill>
                <a:srgbClr val="00A3E0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7F56-4CFD-A12A-05E3F711E2D4}"/>
              </c:ext>
            </c:extLst>
          </c:dPt>
          <c:dPt>
            <c:idx val="12"/>
            <c:invertIfNegative val="0"/>
            <c:bubble3D val="0"/>
            <c:spPr>
              <a:solidFill>
                <a:srgbClr val="00A3E0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4-7F56-4CFD-A12A-05E3F711E2D4}"/>
              </c:ext>
            </c:extLst>
          </c:dPt>
          <c:dPt>
            <c:idx val="13"/>
            <c:invertIfNegative val="0"/>
            <c:bubble3D val="0"/>
            <c:spPr>
              <a:solidFill>
                <a:srgbClr val="00A3E0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7F56-4CFD-A12A-05E3F711E2D4}"/>
              </c:ext>
            </c:extLst>
          </c:dPt>
          <c:dPt>
            <c:idx val="15"/>
            <c:invertIfNegative val="0"/>
            <c:bubble3D val="0"/>
            <c:spPr>
              <a:solidFill>
                <a:srgbClr val="00A3E0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7F56-4CFD-A12A-05E3F711E2D4}"/>
              </c:ext>
            </c:extLst>
          </c:dPt>
          <c:dPt>
            <c:idx val="16"/>
            <c:invertIfNegative val="0"/>
            <c:bubble3D val="0"/>
            <c:spPr>
              <a:solidFill>
                <a:srgbClr val="00A3E0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7F56-4CFD-A12A-05E3F711E2D4}"/>
              </c:ext>
            </c:extLst>
          </c:dPt>
          <c:dPt>
            <c:idx val="17"/>
            <c:invertIfNegative val="0"/>
            <c:bubble3D val="0"/>
            <c:spPr>
              <a:solidFill>
                <a:srgbClr val="00A3E0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7F56-4CFD-A12A-05E3F711E2D4}"/>
              </c:ext>
            </c:extLst>
          </c:dPt>
          <c:dPt>
            <c:idx val="18"/>
            <c:invertIfNegative val="0"/>
            <c:bubble3D val="0"/>
            <c:spPr>
              <a:solidFill>
                <a:srgbClr val="00A3E0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7F56-4CFD-A12A-05E3F711E2D4}"/>
              </c:ext>
            </c:extLst>
          </c:dPt>
          <c:dPt>
            <c:idx val="19"/>
            <c:invertIfNegative val="0"/>
            <c:bubble3D val="0"/>
            <c:spPr>
              <a:solidFill>
                <a:srgbClr val="00A3E0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7F56-4CFD-A12A-05E3F711E2D4}"/>
              </c:ext>
            </c:extLst>
          </c:dPt>
          <c:dPt>
            <c:idx val="20"/>
            <c:invertIfNegative val="0"/>
            <c:bubble3D val="0"/>
            <c:spPr>
              <a:solidFill>
                <a:srgbClr val="00A3E0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F56-4CFD-A12A-05E3F711E2D4}"/>
              </c:ext>
            </c:extLst>
          </c:dPt>
          <c:dPt>
            <c:idx val="21"/>
            <c:invertIfNegative val="0"/>
            <c:bubble3D val="0"/>
            <c:spPr>
              <a:solidFill>
                <a:srgbClr val="00A3E0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7F56-4CFD-A12A-05E3F711E2D4}"/>
              </c:ext>
            </c:extLst>
          </c:dPt>
          <c:dPt>
            <c:idx val="22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7F56-4CFD-A12A-05E3F711E2D4}"/>
              </c:ext>
            </c:extLst>
          </c:dPt>
          <c:dPt>
            <c:idx val="23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7F56-4CFD-A12A-05E3F711E2D4}"/>
              </c:ext>
            </c:extLst>
          </c:dPt>
          <c:dPt>
            <c:idx val="24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7F56-4CFD-A12A-05E3F711E2D4}"/>
              </c:ext>
            </c:extLst>
          </c:dPt>
          <c:dPt>
            <c:idx val="26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7F56-4CFD-A12A-05E3F711E2D4}"/>
              </c:ext>
            </c:extLst>
          </c:dPt>
          <c:dPt>
            <c:idx val="27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6-7F56-4CFD-A12A-05E3F711E2D4}"/>
              </c:ext>
            </c:extLst>
          </c:dPt>
          <c:dPt>
            <c:idx val="28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7F56-4CFD-A12A-05E3F711E2D4}"/>
              </c:ext>
            </c:extLst>
          </c:dPt>
          <c:dPt>
            <c:idx val="29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7F56-4CFD-A12A-05E3F711E2D4}"/>
              </c:ext>
            </c:extLst>
          </c:dPt>
          <c:dPt>
            <c:idx val="30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7F56-4CFD-A12A-05E3F711E2D4}"/>
              </c:ext>
            </c:extLst>
          </c:dPt>
          <c:dPt>
            <c:idx val="31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F56-4CFD-A12A-05E3F711E2D4}"/>
              </c:ext>
            </c:extLst>
          </c:dPt>
          <c:dPt>
            <c:idx val="32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8-7F56-4CFD-A12A-05E3F711E2D4}"/>
              </c:ext>
            </c:extLst>
          </c:dPt>
          <c:dPt>
            <c:idx val="33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A-7F56-4CFD-A12A-05E3F711E2D4}"/>
              </c:ext>
            </c:extLst>
          </c:dPt>
          <c:dPt>
            <c:idx val="35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7F56-4CFD-A12A-05E3F711E2D4}"/>
              </c:ext>
            </c:extLst>
          </c:dPt>
          <c:dPt>
            <c:idx val="36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7F56-4CFD-A12A-05E3F711E2D4}"/>
              </c:ext>
            </c:extLst>
          </c:dPt>
          <c:dPt>
            <c:idx val="40"/>
            <c:invertIfNegative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7F56-4CFD-A12A-05E3F711E2D4}"/>
              </c:ext>
            </c:extLst>
          </c:dPt>
          <c:dPt>
            <c:idx val="42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C-7F56-4CFD-A12A-05E3F711E2D4}"/>
              </c:ext>
            </c:extLst>
          </c:dPt>
          <c:dPt>
            <c:idx val="43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7F56-4CFD-A12A-05E3F711E2D4}"/>
              </c:ext>
            </c:extLst>
          </c:dPt>
          <c:dPt>
            <c:idx val="44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E-7F56-4CFD-A12A-05E3F711E2D4}"/>
              </c:ext>
            </c:extLst>
          </c:dPt>
          <c:dPt>
            <c:idx val="45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7F56-4CFD-A12A-05E3F711E2D4}"/>
              </c:ext>
            </c:extLst>
          </c:dPt>
          <c:dPt>
            <c:idx val="46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0-7F56-4CFD-A12A-05E3F711E2D4}"/>
              </c:ext>
            </c:extLst>
          </c:dPt>
          <c:dPt>
            <c:idx val="47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7F56-4CFD-A12A-05E3F711E2D4}"/>
              </c:ext>
            </c:extLst>
          </c:dPt>
          <c:dPt>
            <c:idx val="48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2-7F56-4CFD-A12A-05E3F711E2D4}"/>
              </c:ext>
            </c:extLst>
          </c:dPt>
          <c:dPt>
            <c:idx val="49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7F56-4CFD-A12A-05E3F711E2D4}"/>
              </c:ext>
            </c:extLst>
          </c:dPt>
          <c:dPt>
            <c:idx val="51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4-7F56-4CFD-A12A-05E3F711E2D4}"/>
              </c:ext>
            </c:extLst>
          </c:dPt>
          <c:dPt>
            <c:idx val="53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7F56-4CFD-A12A-05E3F711E2D4}"/>
              </c:ext>
            </c:extLst>
          </c:dPt>
          <c:dPt>
            <c:idx val="54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A-7F56-4CFD-A12A-05E3F711E2D4}"/>
              </c:ext>
            </c:extLst>
          </c:dPt>
          <c:dPt>
            <c:idx val="55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7F56-4CFD-A12A-05E3F711E2D4}"/>
              </c:ext>
            </c:extLst>
          </c:dPt>
          <c:dPt>
            <c:idx val="56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6-7F56-4CFD-A12A-05E3F711E2D4}"/>
              </c:ext>
            </c:extLst>
          </c:dPt>
          <c:dPt>
            <c:idx val="61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7F56-4CFD-A12A-05E3F711E2D4}"/>
              </c:ext>
            </c:extLst>
          </c:dPt>
          <c:dPt>
            <c:idx val="64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7F56-4CFD-A12A-05E3F711E2D4}"/>
              </c:ext>
            </c:extLst>
          </c:dPt>
          <c:dPt>
            <c:idx val="65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8-7F56-4CFD-A12A-05E3F711E2D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F56-4CFD-A12A-05E3F711E2D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F56-4CFD-A12A-05E3F711E2D4}"/>
                </c:ext>
              </c:extLst>
            </c:dLbl>
            <c:dLbl>
              <c:idx val="2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7F56-4CFD-A12A-05E3F711E2D4}"/>
                </c:ext>
              </c:extLst>
            </c:dLbl>
            <c:dLbl>
              <c:idx val="3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7F56-4CFD-A12A-05E3F711E2D4}"/>
                </c:ext>
              </c:extLst>
            </c:dLbl>
            <c:dLbl>
              <c:idx val="4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7F56-4CFD-A12A-05E3F711E2D4}"/>
                </c:ext>
              </c:extLst>
            </c:dLbl>
            <c:dLbl>
              <c:idx val="5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7F56-4CFD-A12A-05E3F711E2D4}"/>
                </c:ext>
              </c:extLst>
            </c:dLbl>
            <c:dLbl>
              <c:idx val="6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7F56-4CFD-A12A-05E3F711E2D4}"/>
                </c:ext>
              </c:extLst>
            </c:dLbl>
            <c:dLbl>
              <c:idx val="7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7F56-4CFD-A12A-05E3F711E2D4}"/>
                </c:ext>
              </c:extLst>
            </c:dLbl>
            <c:dLbl>
              <c:idx val="8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7F56-4CFD-A12A-05E3F711E2D4}"/>
                </c:ext>
              </c:extLst>
            </c:dLbl>
            <c:dLbl>
              <c:idx val="9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7F56-4CFD-A12A-05E3F711E2D4}"/>
                </c:ext>
              </c:extLst>
            </c:dLbl>
            <c:dLbl>
              <c:idx val="10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7F56-4CFD-A12A-05E3F711E2D4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F56-4CFD-A12A-05E3F711E2D4}"/>
                </c:ext>
              </c:extLst>
            </c:dLbl>
            <c:dLbl>
              <c:idx val="1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7F56-4CFD-A12A-05E3F711E2D4}"/>
                </c:ext>
              </c:extLst>
            </c:dLbl>
            <c:dLbl>
              <c:idx val="13"/>
              <c:numFmt formatCode="0.0%" sourceLinked="0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F56-4CFD-A12A-05E3F711E2D4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7F56-4CFD-A12A-05E3F711E2D4}"/>
                </c:ext>
              </c:extLst>
            </c:dLbl>
            <c:dLbl>
              <c:idx val="16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7F56-4CFD-A12A-05E3F711E2D4}"/>
                </c:ext>
              </c:extLst>
            </c:dLbl>
            <c:dLbl>
              <c:idx val="17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F56-4CFD-A12A-05E3F711E2D4}"/>
                </c:ext>
              </c:extLst>
            </c:dLbl>
            <c:dLbl>
              <c:idx val="1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F56-4CFD-A12A-05E3F711E2D4}"/>
                </c:ext>
              </c:extLst>
            </c:dLbl>
            <c:dLbl>
              <c:idx val="1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F56-4CFD-A12A-05E3F711E2D4}"/>
                </c:ext>
              </c:extLst>
            </c:dLbl>
            <c:dLbl>
              <c:idx val="20"/>
              <c:numFmt formatCode="0.0%" sourceLinked="0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F56-4CFD-A12A-05E3F711E2D4}"/>
                </c:ext>
              </c:extLst>
            </c:dLbl>
            <c:dLbl>
              <c:idx val="21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7F56-4CFD-A12A-05E3F711E2D4}"/>
                </c:ext>
              </c:extLst>
            </c:dLbl>
            <c:dLbl>
              <c:idx val="2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7F56-4CFD-A12A-05E3F711E2D4}"/>
                </c:ext>
              </c:extLst>
            </c:dLbl>
            <c:dLbl>
              <c:idx val="23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7F56-4CFD-A12A-05E3F711E2D4}"/>
                </c:ext>
              </c:extLst>
            </c:dLbl>
            <c:dLbl>
              <c:idx val="2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F56-4CFD-A12A-05E3F711E2D4}"/>
                </c:ext>
              </c:extLst>
            </c:dLbl>
            <c:dLbl>
              <c:idx val="26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F56-4CFD-A12A-05E3F711E2D4}"/>
                </c:ext>
              </c:extLst>
            </c:dLbl>
            <c:dLbl>
              <c:idx val="2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7F56-4CFD-A12A-05E3F711E2D4}"/>
                </c:ext>
              </c:extLst>
            </c:dLbl>
            <c:dLbl>
              <c:idx val="2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7F56-4CFD-A12A-05E3F711E2D4}"/>
                </c:ext>
              </c:extLst>
            </c:dLbl>
            <c:dLbl>
              <c:idx val="2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F56-4CFD-A12A-05E3F711E2D4}"/>
                </c:ext>
              </c:extLst>
            </c:dLbl>
            <c:dLbl>
              <c:idx val="3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7F56-4CFD-A12A-05E3F711E2D4}"/>
                </c:ext>
              </c:extLst>
            </c:dLbl>
            <c:dLbl>
              <c:idx val="3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F56-4CFD-A12A-05E3F711E2D4}"/>
                </c:ext>
              </c:extLst>
            </c:dLbl>
            <c:dLbl>
              <c:idx val="32"/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7F56-4CFD-A12A-05E3F711E2D4}"/>
                </c:ext>
              </c:extLst>
            </c:dLbl>
            <c:dLbl>
              <c:idx val="33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7F56-4CFD-A12A-05E3F711E2D4}"/>
                </c:ext>
              </c:extLst>
            </c:dLbl>
            <c:dLbl>
              <c:idx val="35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7F56-4CFD-A12A-05E3F711E2D4}"/>
                </c:ext>
              </c:extLst>
            </c:dLbl>
            <c:dLbl>
              <c:idx val="3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F56-4CFD-A12A-05E3F711E2D4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F56-4CFD-A12A-05E3F711E2D4}"/>
                </c:ext>
              </c:extLst>
            </c:dLbl>
            <c:dLbl>
              <c:idx val="42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7F56-4CFD-A12A-05E3F711E2D4}"/>
                </c:ext>
              </c:extLst>
            </c:dLbl>
            <c:dLbl>
              <c:idx val="43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7F56-4CFD-A12A-05E3F711E2D4}"/>
                </c:ext>
              </c:extLst>
            </c:dLbl>
            <c:dLbl>
              <c:idx val="44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7F56-4CFD-A12A-05E3F711E2D4}"/>
                </c:ext>
              </c:extLst>
            </c:dLbl>
            <c:dLbl>
              <c:idx val="45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7F56-4CFD-A12A-05E3F711E2D4}"/>
                </c:ext>
              </c:extLst>
            </c:dLbl>
            <c:dLbl>
              <c:idx val="46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7F56-4CFD-A12A-05E3F711E2D4}"/>
                </c:ext>
              </c:extLst>
            </c:dLbl>
            <c:dLbl>
              <c:idx val="47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7F56-4CFD-A12A-05E3F711E2D4}"/>
                </c:ext>
              </c:extLst>
            </c:dLbl>
            <c:dLbl>
              <c:idx val="48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7F56-4CFD-A12A-05E3F711E2D4}"/>
                </c:ext>
              </c:extLst>
            </c:dLbl>
            <c:dLbl>
              <c:idx val="49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7F56-4CFD-A12A-05E3F711E2D4}"/>
                </c:ext>
              </c:extLst>
            </c:dLbl>
            <c:dLbl>
              <c:idx val="51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7F56-4CFD-A12A-05E3F711E2D4}"/>
                </c:ext>
              </c:extLst>
            </c:dLbl>
            <c:dLbl>
              <c:idx val="53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7F56-4CFD-A12A-05E3F711E2D4}"/>
                </c:ext>
              </c:extLst>
            </c:dLbl>
            <c:dLbl>
              <c:idx val="54"/>
              <c:layout>
                <c:manualLayout>
                  <c:x val="-3.5675049179601584E-3"/>
                  <c:y val="0"/>
                </c:manualLayout>
              </c:layout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7F56-4CFD-A12A-05E3F711E2D4}"/>
                </c:ext>
              </c:extLst>
            </c:dLbl>
            <c:dLbl>
              <c:idx val="55"/>
              <c:numFmt formatCode="0.0%" sourceLinked="0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F56-4CFD-A12A-05E3F711E2D4}"/>
                </c:ext>
              </c:extLst>
            </c:dLbl>
            <c:dLbl>
              <c:idx val="56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7F56-4CFD-A12A-05E3F711E2D4}"/>
                </c:ext>
              </c:extLst>
            </c:dLbl>
            <c:dLbl>
              <c:idx val="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F56-4CFD-A12A-05E3F711E2D4}"/>
                </c:ext>
              </c:extLst>
            </c:dLbl>
            <c:dLbl>
              <c:idx val="61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7F56-4CFD-A12A-05E3F711E2D4}"/>
                </c:ext>
              </c:extLst>
            </c:dLbl>
            <c:dLbl>
              <c:idx val="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F56-4CFD-A12A-05E3F711E2D4}"/>
                </c:ext>
              </c:extLst>
            </c:dLbl>
            <c:dLbl>
              <c:idx val="65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7F56-4CFD-A12A-05E3F711E2D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.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Sheet1!$A$2:$A$67</c:f>
              <c:numCache>
                <c:formatCode>General</c:formatCode>
                <c:ptCount val="6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4</c:v>
                </c:pt>
                <c:pt idx="34">
                  <c:v>4</c:v>
                </c:pt>
                <c:pt idx="35">
                  <c:v>4</c:v>
                </c:pt>
                <c:pt idx="36">
                  <c:v>4</c:v>
                </c:pt>
                <c:pt idx="37">
                  <c:v>4</c:v>
                </c:pt>
                <c:pt idx="38">
                  <c:v>4</c:v>
                </c:pt>
                <c:pt idx="39">
                  <c:v>4</c:v>
                </c:pt>
                <c:pt idx="40">
                  <c:v>4</c:v>
                </c:pt>
                <c:pt idx="41">
                  <c:v>4</c:v>
                </c:pt>
                <c:pt idx="42">
                  <c:v>4</c:v>
                </c:pt>
                <c:pt idx="43">
                  <c:v>4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6</c:v>
                </c:pt>
                <c:pt idx="56">
                  <c:v>6</c:v>
                </c:pt>
                <c:pt idx="57">
                  <c:v>6</c:v>
                </c:pt>
                <c:pt idx="58">
                  <c:v>6</c:v>
                </c:pt>
                <c:pt idx="59">
                  <c:v>6</c:v>
                </c:pt>
                <c:pt idx="60">
                  <c:v>6</c:v>
                </c:pt>
                <c:pt idx="61">
                  <c:v>6</c:v>
                </c:pt>
                <c:pt idx="62">
                  <c:v>6</c:v>
                </c:pt>
                <c:pt idx="63">
                  <c:v>6</c:v>
                </c:pt>
                <c:pt idx="64">
                  <c:v>6</c:v>
                </c:pt>
                <c:pt idx="65">
                  <c:v>6</c:v>
                </c:pt>
              </c:numCache>
            </c:numRef>
          </c:xVal>
          <c:yVal>
            <c:numRef>
              <c:f>Sheet1!$B$2:$B$67</c:f>
              <c:numCache>
                <c:formatCode>General</c:formatCode>
                <c:ptCount val="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</c:v>
                </c:pt>
                <c:pt idx="12">
                  <c:v>2</c:v>
                </c:pt>
                <c:pt idx="13">
                  <c:v>3</c:v>
                </c:pt>
                <c:pt idx="14">
                  <c:v>4</c:v>
                </c:pt>
                <c:pt idx="15">
                  <c:v>5</c:v>
                </c:pt>
                <c:pt idx="16">
                  <c:v>6</c:v>
                </c:pt>
                <c:pt idx="17">
                  <c:v>7</c:v>
                </c:pt>
                <c:pt idx="18">
                  <c:v>8</c:v>
                </c:pt>
                <c:pt idx="19">
                  <c:v>9</c:v>
                </c:pt>
                <c:pt idx="20">
                  <c:v>10</c:v>
                </c:pt>
                <c:pt idx="21">
                  <c:v>11</c:v>
                </c:pt>
                <c:pt idx="22">
                  <c:v>1</c:v>
                </c:pt>
                <c:pt idx="23">
                  <c:v>2</c:v>
                </c:pt>
                <c:pt idx="24">
                  <c:v>3</c:v>
                </c:pt>
                <c:pt idx="25">
                  <c:v>4</c:v>
                </c:pt>
                <c:pt idx="26">
                  <c:v>5</c:v>
                </c:pt>
                <c:pt idx="27">
                  <c:v>6</c:v>
                </c:pt>
                <c:pt idx="28">
                  <c:v>7</c:v>
                </c:pt>
                <c:pt idx="29">
                  <c:v>8</c:v>
                </c:pt>
                <c:pt idx="30">
                  <c:v>9</c:v>
                </c:pt>
                <c:pt idx="31">
                  <c:v>10</c:v>
                </c:pt>
                <c:pt idx="32">
                  <c:v>11</c:v>
                </c:pt>
                <c:pt idx="33">
                  <c:v>1</c:v>
                </c:pt>
                <c:pt idx="34">
                  <c:v>2</c:v>
                </c:pt>
                <c:pt idx="35">
                  <c:v>3</c:v>
                </c:pt>
                <c:pt idx="36">
                  <c:v>4</c:v>
                </c:pt>
                <c:pt idx="37">
                  <c:v>5</c:v>
                </c:pt>
                <c:pt idx="38">
                  <c:v>6</c:v>
                </c:pt>
                <c:pt idx="39">
                  <c:v>7</c:v>
                </c:pt>
                <c:pt idx="40">
                  <c:v>8</c:v>
                </c:pt>
                <c:pt idx="41">
                  <c:v>9</c:v>
                </c:pt>
                <c:pt idx="42">
                  <c:v>10</c:v>
                </c:pt>
                <c:pt idx="43">
                  <c:v>11</c:v>
                </c:pt>
                <c:pt idx="44">
                  <c:v>1</c:v>
                </c:pt>
                <c:pt idx="45">
                  <c:v>2</c:v>
                </c:pt>
                <c:pt idx="46">
                  <c:v>3</c:v>
                </c:pt>
                <c:pt idx="47">
                  <c:v>4</c:v>
                </c:pt>
                <c:pt idx="48">
                  <c:v>5</c:v>
                </c:pt>
                <c:pt idx="49">
                  <c:v>6</c:v>
                </c:pt>
                <c:pt idx="50">
                  <c:v>7</c:v>
                </c:pt>
                <c:pt idx="51">
                  <c:v>8</c:v>
                </c:pt>
                <c:pt idx="52">
                  <c:v>9</c:v>
                </c:pt>
                <c:pt idx="53">
                  <c:v>10</c:v>
                </c:pt>
                <c:pt idx="54">
                  <c:v>11</c:v>
                </c:pt>
                <c:pt idx="55">
                  <c:v>1</c:v>
                </c:pt>
                <c:pt idx="56">
                  <c:v>2</c:v>
                </c:pt>
                <c:pt idx="57">
                  <c:v>3</c:v>
                </c:pt>
                <c:pt idx="58">
                  <c:v>4</c:v>
                </c:pt>
                <c:pt idx="59">
                  <c:v>5</c:v>
                </c:pt>
                <c:pt idx="60">
                  <c:v>6</c:v>
                </c:pt>
                <c:pt idx="61">
                  <c:v>7</c:v>
                </c:pt>
                <c:pt idx="62">
                  <c:v>8</c:v>
                </c:pt>
                <c:pt idx="63">
                  <c:v>9</c:v>
                </c:pt>
                <c:pt idx="64">
                  <c:v>10</c:v>
                </c:pt>
                <c:pt idx="65">
                  <c:v>11</c:v>
                </c:pt>
              </c:numCache>
            </c:numRef>
          </c:yVal>
          <c:bubbleSize>
            <c:numRef>
              <c:f>Sheet1!$C$2:$C$67</c:f>
              <c:numCache>
                <c:formatCode>0%</c:formatCode>
                <c:ptCount val="66"/>
                <c:pt idx="0">
                  <c:v>1</c:v>
                </c:pt>
                <c:pt idx="1">
                  <c:v>0.59</c:v>
                </c:pt>
                <c:pt idx="2">
                  <c:v>0.1</c:v>
                </c:pt>
                <c:pt idx="3">
                  <c:v>0.09</c:v>
                </c:pt>
                <c:pt idx="4">
                  <c:v>7.0000000000000007E-2</c:v>
                </c:pt>
                <c:pt idx="5">
                  <c:v>0.06</c:v>
                </c:pt>
                <c:pt idx="6">
                  <c:v>0.03</c:v>
                </c:pt>
                <c:pt idx="7">
                  <c:v>0.03</c:v>
                </c:pt>
                <c:pt idx="8">
                  <c:v>0.02</c:v>
                </c:pt>
                <c:pt idx="9">
                  <c:v>0.02</c:v>
                </c:pt>
                <c:pt idx="10">
                  <c:v>0.03</c:v>
                </c:pt>
                <c:pt idx="11">
                  <c:v>0.5</c:v>
                </c:pt>
                <c:pt idx="12">
                  <c:v>0.72</c:v>
                </c:pt>
                <c:pt idx="13" formatCode="0.0%">
                  <c:v>7.0000000000000001E-3</c:v>
                </c:pt>
                <c:pt idx="14">
                  <c:v>0</c:v>
                </c:pt>
                <c:pt idx="15">
                  <c:v>0.86</c:v>
                </c:pt>
                <c:pt idx="16">
                  <c:v>0.03</c:v>
                </c:pt>
                <c:pt idx="17">
                  <c:v>0.05</c:v>
                </c:pt>
                <c:pt idx="18">
                  <c:v>0.45</c:v>
                </c:pt>
                <c:pt idx="19">
                  <c:v>0.61</c:v>
                </c:pt>
                <c:pt idx="20" formatCode="0.0%">
                  <c:v>4.0000000000000001E-3</c:v>
                </c:pt>
                <c:pt idx="21">
                  <c:v>0.02</c:v>
                </c:pt>
                <c:pt idx="22">
                  <c:v>0.33</c:v>
                </c:pt>
                <c:pt idx="23">
                  <c:v>0.19</c:v>
                </c:pt>
                <c:pt idx="24">
                  <c:v>0.94</c:v>
                </c:pt>
                <c:pt idx="25">
                  <c:v>0</c:v>
                </c:pt>
                <c:pt idx="26">
                  <c:v>0.02</c:v>
                </c:pt>
                <c:pt idx="27">
                  <c:v>0.95</c:v>
                </c:pt>
                <c:pt idx="28">
                  <c:v>0.93</c:v>
                </c:pt>
                <c:pt idx="29">
                  <c:v>0.5</c:v>
                </c:pt>
                <c:pt idx="30">
                  <c:v>0.39</c:v>
                </c:pt>
                <c:pt idx="31">
                  <c:v>0.81</c:v>
                </c:pt>
                <c:pt idx="32">
                  <c:v>0.11</c:v>
                </c:pt>
                <c:pt idx="33">
                  <c:v>0.1</c:v>
                </c:pt>
                <c:pt idx="34">
                  <c:v>0</c:v>
                </c:pt>
                <c:pt idx="35">
                  <c:v>0.01</c:v>
                </c:pt>
                <c:pt idx="36">
                  <c:v>0.99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4.0000000000000001E-3</c:v>
                </c:pt>
                <c:pt idx="41">
                  <c:v>0</c:v>
                </c:pt>
                <c:pt idx="42">
                  <c:v>0.13</c:v>
                </c:pt>
                <c:pt idx="43">
                  <c:v>0.08</c:v>
                </c:pt>
                <c:pt idx="44">
                  <c:v>0.06</c:v>
                </c:pt>
                <c:pt idx="45">
                  <c:v>0.08</c:v>
                </c:pt>
                <c:pt idx="46">
                  <c:v>0.04</c:v>
                </c:pt>
                <c:pt idx="47">
                  <c:v>0.01</c:v>
                </c:pt>
                <c:pt idx="48">
                  <c:v>0.12</c:v>
                </c:pt>
                <c:pt idx="49">
                  <c:v>0.01</c:v>
                </c:pt>
                <c:pt idx="50">
                  <c:v>0</c:v>
                </c:pt>
                <c:pt idx="51">
                  <c:v>0.04</c:v>
                </c:pt>
                <c:pt idx="52">
                  <c:v>0</c:v>
                </c:pt>
                <c:pt idx="53">
                  <c:v>0.05</c:v>
                </c:pt>
                <c:pt idx="54">
                  <c:v>0.16</c:v>
                </c:pt>
                <c:pt idx="55" formatCode="0.0%">
                  <c:v>6.0000000000000001E-3</c:v>
                </c:pt>
                <c:pt idx="56">
                  <c:v>0.01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1E-3</c:v>
                </c:pt>
                <c:pt idx="61">
                  <c:v>0.02</c:v>
                </c:pt>
                <c:pt idx="62">
                  <c:v>0</c:v>
                </c:pt>
                <c:pt idx="63">
                  <c:v>0</c:v>
                </c:pt>
                <c:pt idx="64">
                  <c:v>3.0000000000000001E-3</c:v>
                </c:pt>
                <c:pt idx="65">
                  <c:v>0.01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0F8F-472E-A92E-D5B1923A4EDB}"/>
            </c:ext>
          </c:extLst>
        </c:ser>
        <c:ser>
          <c:idx val="1"/>
          <c:order val="1"/>
          <c:tx>
            <c:v>продукты</c:v>
          </c:tx>
          <c:spPr>
            <a:noFill/>
            <a:ln w="2540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EB322670-649E-490C-8330-80C427FA81B9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E-0F8F-472E-A92E-D5B1923A4ED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892AB42-64E5-4EFC-8860-6AE668D9F13E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0F8F-472E-A92E-D5B1923A4ED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B2A0E4B-5458-4FD5-A9A0-B5A61DF2B74A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0F8F-472E-A92E-D5B1923A4ED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2767C098-B782-46F6-BB6E-1B4F01110DDA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0F8F-472E-A92E-D5B1923A4ED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84222444-D4C6-4426-9A4C-324B0DD70D96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0F8F-472E-A92E-D5B1923A4ED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4F04D2A0-21CE-43C5-9507-CAE5B027DB73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0F8F-472E-A92E-D5B1923A4EDB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E46E74B8-BFEA-4C2E-B5A6-1035710699B0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0F8F-472E-A92E-D5B1923A4EDB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A68AC9E2-8EA7-4772-8218-DCEF0956CE9C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7F56-4CFD-A12A-05E3F711E2D4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259006DF-AE28-4242-8A8A-9DFBA32C2191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7F56-4CFD-A12A-05E3F711E2D4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288358A2-01CE-45E8-9C13-58D2D3193BF6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7F56-4CFD-A12A-05E3F711E2D4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AB0E354F-1300-4069-B66C-0F816A71EF5D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7F56-4CFD-A12A-05E3F711E2D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19050" rIns="0" bIns="19050" anchor="ctr" anchorCtr="1">
                <a:spAutoFit/>
              </a:bodyPr>
              <a:lstStyle/>
              <a:p>
                <a:pPr algn="r"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l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xVal>
          <c:yVal>
            <c:numRef>
              <c:f>Sheet1!$F$2:$F$12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yVal>
          <c:bubbleSize>
            <c:numRef>
              <c:f>Sheet1!$H$2:$H$12</c:f>
              <c:numCache>
                <c:formatCode>0.00%</c:formatCode>
                <c:ptCount val="11"/>
                <c:pt idx="0">
                  <c:v>1E-4</c:v>
                </c:pt>
                <c:pt idx="1">
                  <c:v>1E-4</c:v>
                </c:pt>
                <c:pt idx="2">
                  <c:v>1E-4</c:v>
                </c:pt>
                <c:pt idx="3">
                  <c:v>1E-4</c:v>
                </c:pt>
                <c:pt idx="4">
                  <c:v>1E-4</c:v>
                </c:pt>
                <c:pt idx="5">
                  <c:v>1E-4</c:v>
                </c:pt>
                <c:pt idx="6">
                  <c:v>1E-4</c:v>
                </c:pt>
                <c:pt idx="7">
                  <c:v>1E-4</c:v>
                </c:pt>
                <c:pt idx="8">
                  <c:v>1E-4</c:v>
                </c:pt>
                <c:pt idx="9">
                  <c:v>1E-4</c:v>
                </c:pt>
                <c:pt idx="10">
                  <c:v>1E-4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Sheet1!$E$2:$E$12</c15:f>
                <c15:dlblRangeCache>
                  <c:ptCount val="11"/>
                  <c:pt idx="0">
                    <c:v>All world</c:v>
                  </c:pt>
                  <c:pt idx="1">
                    <c:v>China</c:v>
                  </c:pt>
                  <c:pt idx="2">
                    <c:v>Europe</c:v>
                  </c:pt>
                  <c:pt idx="3">
                    <c:v>Persian Gulf</c:v>
                  </c:pt>
                  <c:pt idx="4">
                    <c:v>Asia (exc. China)</c:v>
                  </c:pt>
                  <c:pt idx="5">
                    <c:v>North America</c:v>
                  </c:pt>
                  <c:pt idx="6">
                    <c:v>Russia</c:v>
                  </c:pt>
                  <c:pt idx="7">
                    <c:v>Oceania</c:v>
                  </c:pt>
                  <c:pt idx="8">
                    <c:v>Africa</c:v>
                  </c:pt>
                  <c:pt idx="9">
                    <c:v>South America</c:v>
                  </c:pt>
                  <c:pt idx="10">
                    <c:v>Other World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C-0F8F-472E-A92E-D5B1923A4E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40"/>
        <c:showNegBubbles val="0"/>
        <c:axId val="1151940544"/>
        <c:axId val="1022434336"/>
      </c:bubbleChart>
      <c:valAx>
        <c:axId val="1151940544"/>
        <c:scaling>
          <c:orientation val="minMax"/>
          <c:max val="7"/>
          <c:min val="0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022434336"/>
        <c:crosses val="autoZero"/>
        <c:crossBetween val="midCat"/>
        <c:majorUnit val="1"/>
      </c:valAx>
      <c:valAx>
        <c:axId val="1022434336"/>
        <c:scaling>
          <c:orientation val="maxMin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151940544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00A3E0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4119833192485749E-2"/>
                  <c:y val="-3.9238842766437541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37A-4347-8721-85F53B2BA6E8}"/>
                </c:ext>
              </c:extLst>
            </c:dLbl>
            <c:dLbl>
              <c:idx val="3"/>
              <c:layout>
                <c:manualLayout>
                  <c:x val="-5.1010122227563161E-2"/>
                  <c:y val="-4.9391229829791695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37A-4347-8721-85F53B2BA6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Sheet1!$A$2:$A$7</c:f>
              <c:numCache>
                <c:formatCode>0%</c:formatCode>
                <c:ptCount val="6"/>
                <c:pt idx="0">
                  <c:v>0.05</c:v>
                </c:pt>
                <c:pt idx="1">
                  <c:v>0.08</c:v>
                </c:pt>
                <c:pt idx="2">
                  <c:v>0.13</c:v>
                </c:pt>
                <c:pt idx="3">
                  <c:v>0.16</c:v>
                </c:pt>
                <c:pt idx="4">
                  <c:v>0.3</c:v>
                </c:pt>
                <c:pt idx="5">
                  <c:v>0.42</c:v>
                </c:pt>
              </c:numCache>
            </c:numRef>
          </c:xVal>
          <c:yVal>
            <c:numRef>
              <c:f>Sheet1!$B$2:$B$7</c:f>
              <c:numCache>
                <c:formatCode>0%</c:formatCode>
                <c:ptCount val="6"/>
                <c:pt idx="0">
                  <c:v>0.75</c:v>
                </c:pt>
                <c:pt idx="1">
                  <c:v>0.5</c:v>
                </c:pt>
                <c:pt idx="2">
                  <c:v>0.4</c:v>
                </c:pt>
                <c:pt idx="3">
                  <c:v>0.25</c:v>
                </c:pt>
                <c:pt idx="4">
                  <c:v>0.18</c:v>
                </c:pt>
                <c:pt idx="5">
                  <c:v>0.13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37A-4347-8721-85F53B2BA6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8624015"/>
        <c:axId val="176564799"/>
      </c:scatterChart>
      <c:valAx>
        <c:axId val="68624015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6564799"/>
        <c:crosses val="autoZero"/>
        <c:crossBetween val="midCat"/>
      </c:valAx>
      <c:valAx>
        <c:axId val="176564799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862401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Import-dependency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-1.0290181080853977E-2"/>
                  <c:y val="-6.954904030292555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532-4186-97CE-D96453338847}"/>
                </c:ext>
              </c:extLst>
            </c:dLbl>
            <c:dLbl>
              <c:idx val="5"/>
              <c:layout>
                <c:manualLayout>
                  <c:x val="-7.7176358106405066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532-4186-97CE-D9645333884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720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Light industry</c:v>
                </c:pt>
                <c:pt idx="1">
                  <c:v>Machinery</c:v>
                </c:pt>
                <c:pt idx="2">
                  <c:v>Chemicals</c:v>
                </c:pt>
                <c:pt idx="3">
                  <c:v>Timber industry</c:v>
                </c:pt>
                <c:pt idx="4">
                  <c:v>Ferrous metallurgy</c:v>
                </c:pt>
                <c:pt idx="5">
                  <c:v>Non-ferrous metallurgy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0.75</c:v>
                </c:pt>
                <c:pt idx="1">
                  <c:v>0.5</c:v>
                </c:pt>
                <c:pt idx="2">
                  <c:v>0.4</c:v>
                </c:pt>
                <c:pt idx="3">
                  <c:v>0.25</c:v>
                </c:pt>
                <c:pt idx="4">
                  <c:v>0.18</c:v>
                </c:pt>
                <c:pt idx="5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32-4186-97CE-D964533388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Profitability</c:v>
                </c:pt>
              </c:strCache>
            </c:strRef>
          </c:tx>
          <c:spPr>
            <a:solidFill>
              <a:srgbClr val="00A3E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1080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Light industry</c:v>
                </c:pt>
                <c:pt idx="1">
                  <c:v>Machinery</c:v>
                </c:pt>
                <c:pt idx="2">
                  <c:v>Chemicals</c:v>
                </c:pt>
                <c:pt idx="3">
                  <c:v>Timber industry</c:v>
                </c:pt>
                <c:pt idx="4">
                  <c:v>Ferrous metallurgy</c:v>
                </c:pt>
                <c:pt idx="5">
                  <c:v>Non-ferrous metallurgy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0.05</c:v>
                </c:pt>
                <c:pt idx="1">
                  <c:v>0.08</c:v>
                </c:pt>
                <c:pt idx="2">
                  <c:v>0.13</c:v>
                </c:pt>
                <c:pt idx="3">
                  <c:v>0.16</c:v>
                </c:pt>
                <c:pt idx="4">
                  <c:v>0.3</c:v>
                </c:pt>
                <c:pt idx="5">
                  <c:v>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32-4186-97CE-D964533388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1611904"/>
        <c:axId val="289091376"/>
      </c:barChart>
      <c:catAx>
        <c:axId val="181611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89091376"/>
        <c:crosses val="autoZero"/>
        <c:auto val="1"/>
        <c:lblAlgn val="ctr"/>
        <c:lblOffset val="100"/>
        <c:noMultiLvlLbl val="0"/>
      </c:catAx>
      <c:valAx>
        <c:axId val="28909137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1611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6479031880569071"/>
          <c:y val="0.92845128279882516"/>
          <c:w val="0.47041915341792467"/>
          <c:h val="7.15487172011748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894157085188878E-2"/>
          <c:y val="5.1552687991102089E-2"/>
          <c:w val="0.9083637189201772"/>
          <c:h val="0.82190889603073825"/>
        </c:manualLayout>
      </c:layout>
      <c:area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Параметр 1</c:v>
                </c:pt>
              </c:strCache>
            </c:strRef>
          </c:tx>
          <c:spPr>
            <a:solidFill>
              <a:srgbClr val="00A3E0"/>
            </a:solidFill>
            <a:ln>
              <a:noFill/>
            </a:ln>
            <a:effectLst/>
          </c:spPr>
          <c:cat>
            <c:multiLvlStrRef>
              <c:f>Sheet1!$A$2:$B$65</c:f>
              <c:multiLvlStrCache>
                <c:ptCount val="64"/>
                <c:lvl>
                  <c:pt idx="0">
                    <c:v>Aug-22</c:v>
                  </c:pt>
                  <c:pt idx="1">
                    <c:v>Nov-22</c:v>
                  </c:pt>
                  <c:pt idx="2">
                    <c:v>Feb-23</c:v>
                  </c:pt>
                  <c:pt idx="3">
                    <c:v>May-23</c:v>
                  </c:pt>
                  <c:pt idx="4">
                    <c:v>Aug-23</c:v>
                  </c:pt>
                  <c:pt idx="5">
                    <c:v>Nov-23</c:v>
                  </c:pt>
                  <c:pt idx="6">
                    <c:v>Feb-24</c:v>
                  </c:pt>
                  <c:pt idx="7">
                    <c:v>May-24</c:v>
                  </c:pt>
                  <c:pt idx="8">
                    <c:v>Aug-24</c:v>
                  </c:pt>
                  <c:pt idx="11">
                    <c:v>Aug-22</c:v>
                  </c:pt>
                  <c:pt idx="12">
                    <c:v>Nov-22</c:v>
                  </c:pt>
                  <c:pt idx="13">
                    <c:v>Feb-23</c:v>
                  </c:pt>
                  <c:pt idx="14">
                    <c:v>May-23</c:v>
                  </c:pt>
                  <c:pt idx="15">
                    <c:v>Aug-23</c:v>
                  </c:pt>
                  <c:pt idx="16">
                    <c:v>Nov-23</c:v>
                  </c:pt>
                  <c:pt idx="17">
                    <c:v>Feb-24</c:v>
                  </c:pt>
                  <c:pt idx="18">
                    <c:v>May-24</c:v>
                  </c:pt>
                  <c:pt idx="19">
                    <c:v>Aug-24</c:v>
                  </c:pt>
                  <c:pt idx="22">
                    <c:v>Aug-22</c:v>
                  </c:pt>
                  <c:pt idx="23">
                    <c:v>Nov-22</c:v>
                  </c:pt>
                  <c:pt idx="24">
                    <c:v>Feb-23</c:v>
                  </c:pt>
                  <c:pt idx="25">
                    <c:v>May-23</c:v>
                  </c:pt>
                  <c:pt idx="26">
                    <c:v>Aug-23</c:v>
                  </c:pt>
                  <c:pt idx="27">
                    <c:v>Nov-23</c:v>
                  </c:pt>
                  <c:pt idx="28">
                    <c:v>Feb-24</c:v>
                  </c:pt>
                  <c:pt idx="29">
                    <c:v>May-24</c:v>
                  </c:pt>
                  <c:pt idx="30">
                    <c:v>Aug-24</c:v>
                  </c:pt>
                  <c:pt idx="33">
                    <c:v>Aug-22</c:v>
                  </c:pt>
                  <c:pt idx="34">
                    <c:v>Nov-22</c:v>
                  </c:pt>
                  <c:pt idx="35">
                    <c:v>Feb-23</c:v>
                  </c:pt>
                  <c:pt idx="36">
                    <c:v>May-23</c:v>
                  </c:pt>
                  <c:pt idx="37">
                    <c:v>Aug-23</c:v>
                  </c:pt>
                  <c:pt idx="38">
                    <c:v>Nov-23</c:v>
                  </c:pt>
                  <c:pt idx="39">
                    <c:v>Feb-24</c:v>
                  </c:pt>
                  <c:pt idx="40">
                    <c:v>May-24</c:v>
                  </c:pt>
                  <c:pt idx="41">
                    <c:v>Aug-24</c:v>
                  </c:pt>
                  <c:pt idx="44">
                    <c:v>Aug-22</c:v>
                  </c:pt>
                  <c:pt idx="45">
                    <c:v>Nov-22</c:v>
                  </c:pt>
                  <c:pt idx="46">
                    <c:v>Feb-23</c:v>
                  </c:pt>
                  <c:pt idx="47">
                    <c:v>May-23</c:v>
                  </c:pt>
                  <c:pt idx="48">
                    <c:v>Aug-23</c:v>
                  </c:pt>
                  <c:pt idx="49">
                    <c:v>Nov-23</c:v>
                  </c:pt>
                  <c:pt idx="50">
                    <c:v>Feb-24</c:v>
                  </c:pt>
                  <c:pt idx="51">
                    <c:v>May-24</c:v>
                  </c:pt>
                  <c:pt idx="52">
                    <c:v>Aug-24</c:v>
                  </c:pt>
                  <c:pt idx="55">
                    <c:v>Aug-22</c:v>
                  </c:pt>
                  <c:pt idx="56">
                    <c:v>Nov-22</c:v>
                  </c:pt>
                  <c:pt idx="57">
                    <c:v>Feb-23</c:v>
                  </c:pt>
                  <c:pt idx="58">
                    <c:v>May-23</c:v>
                  </c:pt>
                  <c:pt idx="59">
                    <c:v>Aug-23</c:v>
                  </c:pt>
                  <c:pt idx="60">
                    <c:v>Nov-23</c:v>
                  </c:pt>
                  <c:pt idx="61">
                    <c:v>Feb-24</c:v>
                  </c:pt>
                  <c:pt idx="62">
                    <c:v>May-24</c:v>
                  </c:pt>
                  <c:pt idx="63">
                    <c:v>Aug-24</c:v>
                  </c:pt>
                </c:lvl>
                <c:lvl>
                  <c:pt idx="0">
                    <c:v>India</c:v>
                  </c:pt>
                  <c:pt idx="11">
                    <c:v>China</c:v>
                  </c:pt>
                  <c:pt idx="22">
                    <c:v>Japan</c:v>
                  </c:pt>
                  <c:pt idx="33">
                    <c:v>Euro area</c:v>
                  </c:pt>
                  <c:pt idx="44">
                    <c:v>Germany</c:v>
                  </c:pt>
                  <c:pt idx="55">
                    <c:v>US</c:v>
                  </c:pt>
                </c:lvl>
              </c:multiLvlStrCache>
            </c:multiLvlStrRef>
          </c:cat>
          <c:val>
            <c:numRef>
              <c:f>Sheet1!$C$2:$C$65</c:f>
              <c:numCache>
                <c:formatCode>General</c:formatCode>
                <c:ptCount val="64"/>
                <c:pt idx="0">
                  <c:v>58</c:v>
                </c:pt>
                <c:pt idx="1">
                  <c:v>56</c:v>
                </c:pt>
                <c:pt idx="2">
                  <c:v>58</c:v>
                </c:pt>
                <c:pt idx="3">
                  <c:v>62</c:v>
                </c:pt>
                <c:pt idx="4">
                  <c:v>61</c:v>
                </c:pt>
                <c:pt idx="5">
                  <c:v>58</c:v>
                </c:pt>
                <c:pt idx="6">
                  <c:v>61</c:v>
                </c:pt>
                <c:pt idx="7">
                  <c:v>61</c:v>
                </c:pt>
                <c:pt idx="8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2F8-4BFF-B781-9B5698851DF3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Параметр 2</c:v>
                </c:pt>
              </c:strCache>
            </c:strRef>
          </c:tx>
          <c:spPr>
            <a:solidFill>
              <a:srgbClr val="00A3E0"/>
            </a:solidFill>
            <a:ln w="25400">
              <a:noFill/>
            </a:ln>
            <a:effectLst/>
          </c:spPr>
          <c:cat>
            <c:multiLvlStrRef>
              <c:f>Sheet1!$A$2:$B$65</c:f>
              <c:multiLvlStrCache>
                <c:ptCount val="64"/>
                <c:lvl>
                  <c:pt idx="0">
                    <c:v>Aug-22</c:v>
                  </c:pt>
                  <c:pt idx="1">
                    <c:v>Nov-22</c:v>
                  </c:pt>
                  <c:pt idx="2">
                    <c:v>Feb-23</c:v>
                  </c:pt>
                  <c:pt idx="3">
                    <c:v>May-23</c:v>
                  </c:pt>
                  <c:pt idx="4">
                    <c:v>Aug-23</c:v>
                  </c:pt>
                  <c:pt idx="5">
                    <c:v>Nov-23</c:v>
                  </c:pt>
                  <c:pt idx="6">
                    <c:v>Feb-24</c:v>
                  </c:pt>
                  <c:pt idx="7">
                    <c:v>May-24</c:v>
                  </c:pt>
                  <c:pt idx="8">
                    <c:v>Aug-24</c:v>
                  </c:pt>
                  <c:pt idx="11">
                    <c:v>Aug-22</c:v>
                  </c:pt>
                  <c:pt idx="12">
                    <c:v>Nov-22</c:v>
                  </c:pt>
                  <c:pt idx="13">
                    <c:v>Feb-23</c:v>
                  </c:pt>
                  <c:pt idx="14">
                    <c:v>May-23</c:v>
                  </c:pt>
                  <c:pt idx="15">
                    <c:v>Aug-23</c:v>
                  </c:pt>
                  <c:pt idx="16">
                    <c:v>Nov-23</c:v>
                  </c:pt>
                  <c:pt idx="17">
                    <c:v>Feb-24</c:v>
                  </c:pt>
                  <c:pt idx="18">
                    <c:v>May-24</c:v>
                  </c:pt>
                  <c:pt idx="19">
                    <c:v>Aug-24</c:v>
                  </c:pt>
                  <c:pt idx="22">
                    <c:v>Aug-22</c:v>
                  </c:pt>
                  <c:pt idx="23">
                    <c:v>Nov-22</c:v>
                  </c:pt>
                  <c:pt idx="24">
                    <c:v>Feb-23</c:v>
                  </c:pt>
                  <c:pt idx="25">
                    <c:v>May-23</c:v>
                  </c:pt>
                  <c:pt idx="26">
                    <c:v>Aug-23</c:v>
                  </c:pt>
                  <c:pt idx="27">
                    <c:v>Nov-23</c:v>
                  </c:pt>
                  <c:pt idx="28">
                    <c:v>Feb-24</c:v>
                  </c:pt>
                  <c:pt idx="29">
                    <c:v>May-24</c:v>
                  </c:pt>
                  <c:pt idx="30">
                    <c:v>Aug-24</c:v>
                  </c:pt>
                  <c:pt idx="33">
                    <c:v>Aug-22</c:v>
                  </c:pt>
                  <c:pt idx="34">
                    <c:v>Nov-22</c:v>
                  </c:pt>
                  <c:pt idx="35">
                    <c:v>Feb-23</c:v>
                  </c:pt>
                  <c:pt idx="36">
                    <c:v>May-23</c:v>
                  </c:pt>
                  <c:pt idx="37">
                    <c:v>Aug-23</c:v>
                  </c:pt>
                  <c:pt idx="38">
                    <c:v>Nov-23</c:v>
                  </c:pt>
                  <c:pt idx="39">
                    <c:v>Feb-24</c:v>
                  </c:pt>
                  <c:pt idx="40">
                    <c:v>May-24</c:v>
                  </c:pt>
                  <c:pt idx="41">
                    <c:v>Aug-24</c:v>
                  </c:pt>
                  <c:pt idx="44">
                    <c:v>Aug-22</c:v>
                  </c:pt>
                  <c:pt idx="45">
                    <c:v>Nov-22</c:v>
                  </c:pt>
                  <c:pt idx="46">
                    <c:v>Feb-23</c:v>
                  </c:pt>
                  <c:pt idx="47">
                    <c:v>May-23</c:v>
                  </c:pt>
                  <c:pt idx="48">
                    <c:v>Aug-23</c:v>
                  </c:pt>
                  <c:pt idx="49">
                    <c:v>Nov-23</c:v>
                  </c:pt>
                  <c:pt idx="50">
                    <c:v>Feb-24</c:v>
                  </c:pt>
                  <c:pt idx="51">
                    <c:v>May-24</c:v>
                  </c:pt>
                  <c:pt idx="52">
                    <c:v>Aug-24</c:v>
                  </c:pt>
                  <c:pt idx="55">
                    <c:v>Aug-22</c:v>
                  </c:pt>
                  <c:pt idx="56">
                    <c:v>Nov-22</c:v>
                  </c:pt>
                  <c:pt idx="57">
                    <c:v>Feb-23</c:v>
                  </c:pt>
                  <c:pt idx="58">
                    <c:v>May-23</c:v>
                  </c:pt>
                  <c:pt idx="59">
                    <c:v>Aug-23</c:v>
                  </c:pt>
                  <c:pt idx="60">
                    <c:v>Nov-23</c:v>
                  </c:pt>
                  <c:pt idx="61">
                    <c:v>Feb-24</c:v>
                  </c:pt>
                  <c:pt idx="62">
                    <c:v>May-24</c:v>
                  </c:pt>
                  <c:pt idx="63">
                    <c:v>Aug-24</c:v>
                  </c:pt>
                </c:lvl>
                <c:lvl>
                  <c:pt idx="0">
                    <c:v>India</c:v>
                  </c:pt>
                  <c:pt idx="11">
                    <c:v>China</c:v>
                  </c:pt>
                  <c:pt idx="22">
                    <c:v>Japan</c:v>
                  </c:pt>
                  <c:pt idx="33">
                    <c:v>Euro area</c:v>
                  </c:pt>
                  <c:pt idx="44">
                    <c:v>Germany</c:v>
                  </c:pt>
                  <c:pt idx="55">
                    <c:v>US</c:v>
                  </c:pt>
                </c:lvl>
              </c:multiLvlStrCache>
            </c:multiLvlStrRef>
          </c:cat>
          <c:val>
            <c:numRef>
              <c:f>Sheet1!$D$2:$D$65</c:f>
              <c:numCache>
                <c:formatCode>General</c:formatCode>
                <c:ptCount val="64"/>
                <c:pt idx="11">
                  <c:v>53</c:v>
                </c:pt>
                <c:pt idx="12">
                  <c:v>47</c:v>
                </c:pt>
                <c:pt idx="13">
                  <c:v>53</c:v>
                </c:pt>
                <c:pt idx="14">
                  <c:v>55.8</c:v>
                </c:pt>
                <c:pt idx="15">
                  <c:v>52</c:v>
                </c:pt>
                <c:pt idx="16">
                  <c:v>50</c:v>
                </c:pt>
                <c:pt idx="17">
                  <c:v>51</c:v>
                </c:pt>
                <c:pt idx="18">
                  <c:v>53</c:v>
                </c:pt>
                <c:pt idx="19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2F8-4BFF-B781-9B5698851DF3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Параметр 3</c:v>
                </c:pt>
              </c:strCache>
            </c:strRef>
          </c:tx>
          <c:spPr>
            <a:solidFill>
              <a:srgbClr val="00A3E0"/>
            </a:solidFill>
            <a:ln w="25400">
              <a:noFill/>
            </a:ln>
            <a:effectLst/>
          </c:spPr>
          <c:cat>
            <c:multiLvlStrRef>
              <c:f>Sheet1!$A$2:$B$65</c:f>
              <c:multiLvlStrCache>
                <c:ptCount val="64"/>
                <c:lvl>
                  <c:pt idx="0">
                    <c:v>Aug-22</c:v>
                  </c:pt>
                  <c:pt idx="1">
                    <c:v>Nov-22</c:v>
                  </c:pt>
                  <c:pt idx="2">
                    <c:v>Feb-23</c:v>
                  </c:pt>
                  <c:pt idx="3">
                    <c:v>May-23</c:v>
                  </c:pt>
                  <c:pt idx="4">
                    <c:v>Aug-23</c:v>
                  </c:pt>
                  <c:pt idx="5">
                    <c:v>Nov-23</c:v>
                  </c:pt>
                  <c:pt idx="6">
                    <c:v>Feb-24</c:v>
                  </c:pt>
                  <c:pt idx="7">
                    <c:v>May-24</c:v>
                  </c:pt>
                  <c:pt idx="8">
                    <c:v>Aug-24</c:v>
                  </c:pt>
                  <c:pt idx="11">
                    <c:v>Aug-22</c:v>
                  </c:pt>
                  <c:pt idx="12">
                    <c:v>Nov-22</c:v>
                  </c:pt>
                  <c:pt idx="13">
                    <c:v>Feb-23</c:v>
                  </c:pt>
                  <c:pt idx="14">
                    <c:v>May-23</c:v>
                  </c:pt>
                  <c:pt idx="15">
                    <c:v>Aug-23</c:v>
                  </c:pt>
                  <c:pt idx="16">
                    <c:v>Nov-23</c:v>
                  </c:pt>
                  <c:pt idx="17">
                    <c:v>Feb-24</c:v>
                  </c:pt>
                  <c:pt idx="18">
                    <c:v>May-24</c:v>
                  </c:pt>
                  <c:pt idx="19">
                    <c:v>Aug-24</c:v>
                  </c:pt>
                  <c:pt idx="22">
                    <c:v>Aug-22</c:v>
                  </c:pt>
                  <c:pt idx="23">
                    <c:v>Nov-22</c:v>
                  </c:pt>
                  <c:pt idx="24">
                    <c:v>Feb-23</c:v>
                  </c:pt>
                  <c:pt idx="25">
                    <c:v>May-23</c:v>
                  </c:pt>
                  <c:pt idx="26">
                    <c:v>Aug-23</c:v>
                  </c:pt>
                  <c:pt idx="27">
                    <c:v>Nov-23</c:v>
                  </c:pt>
                  <c:pt idx="28">
                    <c:v>Feb-24</c:v>
                  </c:pt>
                  <c:pt idx="29">
                    <c:v>May-24</c:v>
                  </c:pt>
                  <c:pt idx="30">
                    <c:v>Aug-24</c:v>
                  </c:pt>
                  <c:pt idx="33">
                    <c:v>Aug-22</c:v>
                  </c:pt>
                  <c:pt idx="34">
                    <c:v>Nov-22</c:v>
                  </c:pt>
                  <c:pt idx="35">
                    <c:v>Feb-23</c:v>
                  </c:pt>
                  <c:pt idx="36">
                    <c:v>May-23</c:v>
                  </c:pt>
                  <c:pt idx="37">
                    <c:v>Aug-23</c:v>
                  </c:pt>
                  <c:pt idx="38">
                    <c:v>Nov-23</c:v>
                  </c:pt>
                  <c:pt idx="39">
                    <c:v>Feb-24</c:v>
                  </c:pt>
                  <c:pt idx="40">
                    <c:v>May-24</c:v>
                  </c:pt>
                  <c:pt idx="41">
                    <c:v>Aug-24</c:v>
                  </c:pt>
                  <c:pt idx="44">
                    <c:v>Aug-22</c:v>
                  </c:pt>
                  <c:pt idx="45">
                    <c:v>Nov-22</c:v>
                  </c:pt>
                  <c:pt idx="46">
                    <c:v>Feb-23</c:v>
                  </c:pt>
                  <c:pt idx="47">
                    <c:v>May-23</c:v>
                  </c:pt>
                  <c:pt idx="48">
                    <c:v>Aug-23</c:v>
                  </c:pt>
                  <c:pt idx="49">
                    <c:v>Nov-23</c:v>
                  </c:pt>
                  <c:pt idx="50">
                    <c:v>Feb-24</c:v>
                  </c:pt>
                  <c:pt idx="51">
                    <c:v>May-24</c:v>
                  </c:pt>
                  <c:pt idx="52">
                    <c:v>Aug-24</c:v>
                  </c:pt>
                  <c:pt idx="55">
                    <c:v>Aug-22</c:v>
                  </c:pt>
                  <c:pt idx="56">
                    <c:v>Nov-22</c:v>
                  </c:pt>
                  <c:pt idx="57">
                    <c:v>Feb-23</c:v>
                  </c:pt>
                  <c:pt idx="58">
                    <c:v>May-23</c:v>
                  </c:pt>
                  <c:pt idx="59">
                    <c:v>Aug-23</c:v>
                  </c:pt>
                  <c:pt idx="60">
                    <c:v>Nov-23</c:v>
                  </c:pt>
                  <c:pt idx="61">
                    <c:v>Feb-24</c:v>
                  </c:pt>
                  <c:pt idx="62">
                    <c:v>May-24</c:v>
                  </c:pt>
                  <c:pt idx="63">
                    <c:v>Aug-24</c:v>
                  </c:pt>
                </c:lvl>
                <c:lvl>
                  <c:pt idx="0">
                    <c:v>India</c:v>
                  </c:pt>
                  <c:pt idx="11">
                    <c:v>China</c:v>
                  </c:pt>
                  <c:pt idx="22">
                    <c:v>Japan</c:v>
                  </c:pt>
                  <c:pt idx="33">
                    <c:v>Euro area</c:v>
                  </c:pt>
                  <c:pt idx="44">
                    <c:v>Germany</c:v>
                  </c:pt>
                  <c:pt idx="55">
                    <c:v>US</c:v>
                  </c:pt>
                </c:lvl>
              </c:multiLvlStrCache>
            </c:multiLvlStrRef>
          </c:cat>
          <c:val>
            <c:numRef>
              <c:f>Sheet1!$E$2:$E$65</c:f>
              <c:numCache>
                <c:formatCode>General</c:formatCode>
                <c:ptCount val="64"/>
                <c:pt idx="22">
                  <c:v>49</c:v>
                </c:pt>
                <c:pt idx="23">
                  <c:v>51</c:v>
                </c:pt>
                <c:pt idx="24">
                  <c:v>51</c:v>
                </c:pt>
                <c:pt idx="25">
                  <c:v>53</c:v>
                </c:pt>
                <c:pt idx="26">
                  <c:v>52</c:v>
                </c:pt>
                <c:pt idx="27">
                  <c:v>50</c:v>
                </c:pt>
                <c:pt idx="28">
                  <c:v>51</c:v>
                </c:pt>
                <c:pt idx="29">
                  <c:v>53</c:v>
                </c:pt>
                <c:pt idx="30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2F8-4BFF-B781-9B5698851DF3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Параметр 4</c:v>
                </c:pt>
              </c:strCache>
            </c:strRef>
          </c:tx>
          <c:spPr>
            <a:solidFill>
              <a:srgbClr val="00A3E0"/>
            </a:solidFill>
            <a:ln w="25400">
              <a:noFill/>
            </a:ln>
            <a:effectLst/>
          </c:spPr>
          <c:cat>
            <c:multiLvlStrRef>
              <c:f>Sheet1!$A$2:$B$65</c:f>
              <c:multiLvlStrCache>
                <c:ptCount val="64"/>
                <c:lvl>
                  <c:pt idx="0">
                    <c:v>Aug-22</c:v>
                  </c:pt>
                  <c:pt idx="1">
                    <c:v>Nov-22</c:v>
                  </c:pt>
                  <c:pt idx="2">
                    <c:v>Feb-23</c:v>
                  </c:pt>
                  <c:pt idx="3">
                    <c:v>May-23</c:v>
                  </c:pt>
                  <c:pt idx="4">
                    <c:v>Aug-23</c:v>
                  </c:pt>
                  <c:pt idx="5">
                    <c:v>Nov-23</c:v>
                  </c:pt>
                  <c:pt idx="6">
                    <c:v>Feb-24</c:v>
                  </c:pt>
                  <c:pt idx="7">
                    <c:v>May-24</c:v>
                  </c:pt>
                  <c:pt idx="8">
                    <c:v>Aug-24</c:v>
                  </c:pt>
                  <c:pt idx="11">
                    <c:v>Aug-22</c:v>
                  </c:pt>
                  <c:pt idx="12">
                    <c:v>Nov-22</c:v>
                  </c:pt>
                  <c:pt idx="13">
                    <c:v>Feb-23</c:v>
                  </c:pt>
                  <c:pt idx="14">
                    <c:v>May-23</c:v>
                  </c:pt>
                  <c:pt idx="15">
                    <c:v>Aug-23</c:v>
                  </c:pt>
                  <c:pt idx="16">
                    <c:v>Nov-23</c:v>
                  </c:pt>
                  <c:pt idx="17">
                    <c:v>Feb-24</c:v>
                  </c:pt>
                  <c:pt idx="18">
                    <c:v>May-24</c:v>
                  </c:pt>
                  <c:pt idx="19">
                    <c:v>Aug-24</c:v>
                  </c:pt>
                  <c:pt idx="22">
                    <c:v>Aug-22</c:v>
                  </c:pt>
                  <c:pt idx="23">
                    <c:v>Nov-22</c:v>
                  </c:pt>
                  <c:pt idx="24">
                    <c:v>Feb-23</c:v>
                  </c:pt>
                  <c:pt idx="25">
                    <c:v>May-23</c:v>
                  </c:pt>
                  <c:pt idx="26">
                    <c:v>Aug-23</c:v>
                  </c:pt>
                  <c:pt idx="27">
                    <c:v>Nov-23</c:v>
                  </c:pt>
                  <c:pt idx="28">
                    <c:v>Feb-24</c:v>
                  </c:pt>
                  <c:pt idx="29">
                    <c:v>May-24</c:v>
                  </c:pt>
                  <c:pt idx="30">
                    <c:v>Aug-24</c:v>
                  </c:pt>
                  <c:pt idx="33">
                    <c:v>Aug-22</c:v>
                  </c:pt>
                  <c:pt idx="34">
                    <c:v>Nov-22</c:v>
                  </c:pt>
                  <c:pt idx="35">
                    <c:v>Feb-23</c:v>
                  </c:pt>
                  <c:pt idx="36">
                    <c:v>May-23</c:v>
                  </c:pt>
                  <c:pt idx="37">
                    <c:v>Aug-23</c:v>
                  </c:pt>
                  <c:pt idx="38">
                    <c:v>Nov-23</c:v>
                  </c:pt>
                  <c:pt idx="39">
                    <c:v>Feb-24</c:v>
                  </c:pt>
                  <c:pt idx="40">
                    <c:v>May-24</c:v>
                  </c:pt>
                  <c:pt idx="41">
                    <c:v>Aug-24</c:v>
                  </c:pt>
                  <c:pt idx="44">
                    <c:v>Aug-22</c:v>
                  </c:pt>
                  <c:pt idx="45">
                    <c:v>Nov-22</c:v>
                  </c:pt>
                  <c:pt idx="46">
                    <c:v>Feb-23</c:v>
                  </c:pt>
                  <c:pt idx="47">
                    <c:v>May-23</c:v>
                  </c:pt>
                  <c:pt idx="48">
                    <c:v>Aug-23</c:v>
                  </c:pt>
                  <c:pt idx="49">
                    <c:v>Nov-23</c:v>
                  </c:pt>
                  <c:pt idx="50">
                    <c:v>Feb-24</c:v>
                  </c:pt>
                  <c:pt idx="51">
                    <c:v>May-24</c:v>
                  </c:pt>
                  <c:pt idx="52">
                    <c:v>Aug-24</c:v>
                  </c:pt>
                  <c:pt idx="55">
                    <c:v>Aug-22</c:v>
                  </c:pt>
                  <c:pt idx="56">
                    <c:v>Nov-22</c:v>
                  </c:pt>
                  <c:pt idx="57">
                    <c:v>Feb-23</c:v>
                  </c:pt>
                  <c:pt idx="58">
                    <c:v>May-23</c:v>
                  </c:pt>
                  <c:pt idx="59">
                    <c:v>Aug-23</c:v>
                  </c:pt>
                  <c:pt idx="60">
                    <c:v>Nov-23</c:v>
                  </c:pt>
                  <c:pt idx="61">
                    <c:v>Feb-24</c:v>
                  </c:pt>
                  <c:pt idx="62">
                    <c:v>May-24</c:v>
                  </c:pt>
                  <c:pt idx="63">
                    <c:v>Aug-24</c:v>
                  </c:pt>
                </c:lvl>
                <c:lvl>
                  <c:pt idx="0">
                    <c:v>India</c:v>
                  </c:pt>
                  <c:pt idx="11">
                    <c:v>China</c:v>
                  </c:pt>
                  <c:pt idx="22">
                    <c:v>Japan</c:v>
                  </c:pt>
                  <c:pt idx="33">
                    <c:v>Euro area</c:v>
                  </c:pt>
                  <c:pt idx="44">
                    <c:v>Germany</c:v>
                  </c:pt>
                  <c:pt idx="55">
                    <c:v>US</c:v>
                  </c:pt>
                </c:lvl>
              </c:multiLvlStrCache>
            </c:multiLvlStrRef>
          </c:cat>
          <c:val>
            <c:numRef>
              <c:f>Sheet1!$F$2:$F$65</c:f>
              <c:numCache>
                <c:formatCode>General</c:formatCode>
                <c:ptCount val="64"/>
                <c:pt idx="33">
                  <c:v>49</c:v>
                </c:pt>
                <c:pt idx="34">
                  <c:v>48</c:v>
                </c:pt>
                <c:pt idx="35">
                  <c:v>51</c:v>
                </c:pt>
                <c:pt idx="36">
                  <c:v>54</c:v>
                </c:pt>
                <c:pt idx="37">
                  <c:v>48</c:v>
                </c:pt>
                <c:pt idx="38">
                  <c:v>47</c:v>
                </c:pt>
                <c:pt idx="39">
                  <c:v>49</c:v>
                </c:pt>
                <c:pt idx="40">
                  <c:v>52</c:v>
                </c:pt>
                <c:pt idx="41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52F8-4BFF-B781-9B5698851DF3}"/>
            </c:ext>
          </c:extLst>
        </c:ser>
        <c:ser>
          <c:idx val="4"/>
          <c:order val="4"/>
          <c:tx>
            <c:strRef>
              <c:f>Sheet1!$G$1</c:f>
              <c:strCache>
                <c:ptCount val="1"/>
                <c:pt idx="0">
                  <c:v>Параметр 5</c:v>
                </c:pt>
              </c:strCache>
            </c:strRef>
          </c:tx>
          <c:spPr>
            <a:solidFill>
              <a:srgbClr val="00A3E0"/>
            </a:solidFill>
            <a:ln w="25400">
              <a:noFill/>
            </a:ln>
            <a:effectLst/>
          </c:spPr>
          <c:cat>
            <c:multiLvlStrRef>
              <c:f>Sheet1!$A$2:$B$65</c:f>
              <c:multiLvlStrCache>
                <c:ptCount val="64"/>
                <c:lvl>
                  <c:pt idx="0">
                    <c:v>Aug-22</c:v>
                  </c:pt>
                  <c:pt idx="1">
                    <c:v>Nov-22</c:v>
                  </c:pt>
                  <c:pt idx="2">
                    <c:v>Feb-23</c:v>
                  </c:pt>
                  <c:pt idx="3">
                    <c:v>May-23</c:v>
                  </c:pt>
                  <c:pt idx="4">
                    <c:v>Aug-23</c:v>
                  </c:pt>
                  <c:pt idx="5">
                    <c:v>Nov-23</c:v>
                  </c:pt>
                  <c:pt idx="6">
                    <c:v>Feb-24</c:v>
                  </c:pt>
                  <c:pt idx="7">
                    <c:v>May-24</c:v>
                  </c:pt>
                  <c:pt idx="8">
                    <c:v>Aug-24</c:v>
                  </c:pt>
                  <c:pt idx="11">
                    <c:v>Aug-22</c:v>
                  </c:pt>
                  <c:pt idx="12">
                    <c:v>Nov-22</c:v>
                  </c:pt>
                  <c:pt idx="13">
                    <c:v>Feb-23</c:v>
                  </c:pt>
                  <c:pt idx="14">
                    <c:v>May-23</c:v>
                  </c:pt>
                  <c:pt idx="15">
                    <c:v>Aug-23</c:v>
                  </c:pt>
                  <c:pt idx="16">
                    <c:v>Nov-23</c:v>
                  </c:pt>
                  <c:pt idx="17">
                    <c:v>Feb-24</c:v>
                  </c:pt>
                  <c:pt idx="18">
                    <c:v>May-24</c:v>
                  </c:pt>
                  <c:pt idx="19">
                    <c:v>Aug-24</c:v>
                  </c:pt>
                  <c:pt idx="22">
                    <c:v>Aug-22</c:v>
                  </c:pt>
                  <c:pt idx="23">
                    <c:v>Nov-22</c:v>
                  </c:pt>
                  <c:pt idx="24">
                    <c:v>Feb-23</c:v>
                  </c:pt>
                  <c:pt idx="25">
                    <c:v>May-23</c:v>
                  </c:pt>
                  <c:pt idx="26">
                    <c:v>Aug-23</c:v>
                  </c:pt>
                  <c:pt idx="27">
                    <c:v>Nov-23</c:v>
                  </c:pt>
                  <c:pt idx="28">
                    <c:v>Feb-24</c:v>
                  </c:pt>
                  <c:pt idx="29">
                    <c:v>May-24</c:v>
                  </c:pt>
                  <c:pt idx="30">
                    <c:v>Aug-24</c:v>
                  </c:pt>
                  <c:pt idx="33">
                    <c:v>Aug-22</c:v>
                  </c:pt>
                  <c:pt idx="34">
                    <c:v>Nov-22</c:v>
                  </c:pt>
                  <c:pt idx="35">
                    <c:v>Feb-23</c:v>
                  </c:pt>
                  <c:pt idx="36">
                    <c:v>May-23</c:v>
                  </c:pt>
                  <c:pt idx="37">
                    <c:v>Aug-23</c:v>
                  </c:pt>
                  <c:pt idx="38">
                    <c:v>Nov-23</c:v>
                  </c:pt>
                  <c:pt idx="39">
                    <c:v>Feb-24</c:v>
                  </c:pt>
                  <c:pt idx="40">
                    <c:v>May-24</c:v>
                  </c:pt>
                  <c:pt idx="41">
                    <c:v>Aug-24</c:v>
                  </c:pt>
                  <c:pt idx="44">
                    <c:v>Aug-22</c:v>
                  </c:pt>
                  <c:pt idx="45">
                    <c:v>Nov-22</c:v>
                  </c:pt>
                  <c:pt idx="46">
                    <c:v>Feb-23</c:v>
                  </c:pt>
                  <c:pt idx="47">
                    <c:v>May-23</c:v>
                  </c:pt>
                  <c:pt idx="48">
                    <c:v>Aug-23</c:v>
                  </c:pt>
                  <c:pt idx="49">
                    <c:v>Nov-23</c:v>
                  </c:pt>
                  <c:pt idx="50">
                    <c:v>Feb-24</c:v>
                  </c:pt>
                  <c:pt idx="51">
                    <c:v>May-24</c:v>
                  </c:pt>
                  <c:pt idx="52">
                    <c:v>Aug-24</c:v>
                  </c:pt>
                  <c:pt idx="55">
                    <c:v>Aug-22</c:v>
                  </c:pt>
                  <c:pt idx="56">
                    <c:v>Nov-22</c:v>
                  </c:pt>
                  <c:pt idx="57">
                    <c:v>Feb-23</c:v>
                  </c:pt>
                  <c:pt idx="58">
                    <c:v>May-23</c:v>
                  </c:pt>
                  <c:pt idx="59">
                    <c:v>Aug-23</c:v>
                  </c:pt>
                  <c:pt idx="60">
                    <c:v>Nov-23</c:v>
                  </c:pt>
                  <c:pt idx="61">
                    <c:v>Feb-24</c:v>
                  </c:pt>
                  <c:pt idx="62">
                    <c:v>May-24</c:v>
                  </c:pt>
                  <c:pt idx="63">
                    <c:v>Aug-24</c:v>
                  </c:pt>
                </c:lvl>
                <c:lvl>
                  <c:pt idx="0">
                    <c:v>India</c:v>
                  </c:pt>
                  <c:pt idx="11">
                    <c:v>China</c:v>
                  </c:pt>
                  <c:pt idx="22">
                    <c:v>Japan</c:v>
                  </c:pt>
                  <c:pt idx="33">
                    <c:v>Euro area</c:v>
                  </c:pt>
                  <c:pt idx="44">
                    <c:v>Germany</c:v>
                  </c:pt>
                  <c:pt idx="55">
                    <c:v>US</c:v>
                  </c:pt>
                </c:lvl>
              </c:multiLvlStrCache>
            </c:multiLvlStrRef>
          </c:cat>
          <c:val>
            <c:numRef>
              <c:f>Sheet1!$G$2:$G$65</c:f>
              <c:numCache>
                <c:formatCode>General</c:formatCode>
                <c:ptCount val="64"/>
                <c:pt idx="44">
                  <c:v>47</c:v>
                </c:pt>
                <c:pt idx="45">
                  <c:v>46</c:v>
                </c:pt>
                <c:pt idx="46">
                  <c:v>50</c:v>
                </c:pt>
                <c:pt idx="47">
                  <c:v>54</c:v>
                </c:pt>
                <c:pt idx="48">
                  <c:v>47</c:v>
                </c:pt>
                <c:pt idx="49">
                  <c:v>47</c:v>
                </c:pt>
                <c:pt idx="50">
                  <c:v>47</c:v>
                </c:pt>
                <c:pt idx="51">
                  <c:v>51</c:v>
                </c:pt>
                <c:pt idx="52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2F8-4BFF-B781-9B5698851DF3}"/>
            </c:ext>
          </c:extLst>
        </c:ser>
        <c:ser>
          <c:idx val="5"/>
          <c:order val="5"/>
          <c:tx>
            <c:strRef>
              <c:f>Sheet1!$H$1</c:f>
              <c:strCache>
                <c:ptCount val="1"/>
                <c:pt idx="0">
                  <c:v>Параметр 6</c:v>
                </c:pt>
              </c:strCache>
            </c:strRef>
          </c:tx>
          <c:spPr>
            <a:solidFill>
              <a:srgbClr val="00A3E0"/>
            </a:solidFill>
            <a:ln w="25400">
              <a:noFill/>
            </a:ln>
            <a:effectLst/>
          </c:spPr>
          <c:cat>
            <c:multiLvlStrRef>
              <c:f>Sheet1!$A$2:$B$65</c:f>
              <c:multiLvlStrCache>
                <c:ptCount val="64"/>
                <c:lvl>
                  <c:pt idx="0">
                    <c:v>Aug-22</c:v>
                  </c:pt>
                  <c:pt idx="1">
                    <c:v>Nov-22</c:v>
                  </c:pt>
                  <c:pt idx="2">
                    <c:v>Feb-23</c:v>
                  </c:pt>
                  <c:pt idx="3">
                    <c:v>May-23</c:v>
                  </c:pt>
                  <c:pt idx="4">
                    <c:v>Aug-23</c:v>
                  </c:pt>
                  <c:pt idx="5">
                    <c:v>Nov-23</c:v>
                  </c:pt>
                  <c:pt idx="6">
                    <c:v>Feb-24</c:v>
                  </c:pt>
                  <c:pt idx="7">
                    <c:v>May-24</c:v>
                  </c:pt>
                  <c:pt idx="8">
                    <c:v>Aug-24</c:v>
                  </c:pt>
                  <c:pt idx="11">
                    <c:v>Aug-22</c:v>
                  </c:pt>
                  <c:pt idx="12">
                    <c:v>Nov-22</c:v>
                  </c:pt>
                  <c:pt idx="13">
                    <c:v>Feb-23</c:v>
                  </c:pt>
                  <c:pt idx="14">
                    <c:v>May-23</c:v>
                  </c:pt>
                  <c:pt idx="15">
                    <c:v>Aug-23</c:v>
                  </c:pt>
                  <c:pt idx="16">
                    <c:v>Nov-23</c:v>
                  </c:pt>
                  <c:pt idx="17">
                    <c:v>Feb-24</c:v>
                  </c:pt>
                  <c:pt idx="18">
                    <c:v>May-24</c:v>
                  </c:pt>
                  <c:pt idx="19">
                    <c:v>Aug-24</c:v>
                  </c:pt>
                  <c:pt idx="22">
                    <c:v>Aug-22</c:v>
                  </c:pt>
                  <c:pt idx="23">
                    <c:v>Nov-22</c:v>
                  </c:pt>
                  <c:pt idx="24">
                    <c:v>Feb-23</c:v>
                  </c:pt>
                  <c:pt idx="25">
                    <c:v>May-23</c:v>
                  </c:pt>
                  <c:pt idx="26">
                    <c:v>Aug-23</c:v>
                  </c:pt>
                  <c:pt idx="27">
                    <c:v>Nov-23</c:v>
                  </c:pt>
                  <c:pt idx="28">
                    <c:v>Feb-24</c:v>
                  </c:pt>
                  <c:pt idx="29">
                    <c:v>May-24</c:v>
                  </c:pt>
                  <c:pt idx="30">
                    <c:v>Aug-24</c:v>
                  </c:pt>
                  <c:pt idx="33">
                    <c:v>Aug-22</c:v>
                  </c:pt>
                  <c:pt idx="34">
                    <c:v>Nov-22</c:v>
                  </c:pt>
                  <c:pt idx="35">
                    <c:v>Feb-23</c:v>
                  </c:pt>
                  <c:pt idx="36">
                    <c:v>May-23</c:v>
                  </c:pt>
                  <c:pt idx="37">
                    <c:v>Aug-23</c:v>
                  </c:pt>
                  <c:pt idx="38">
                    <c:v>Nov-23</c:v>
                  </c:pt>
                  <c:pt idx="39">
                    <c:v>Feb-24</c:v>
                  </c:pt>
                  <c:pt idx="40">
                    <c:v>May-24</c:v>
                  </c:pt>
                  <c:pt idx="41">
                    <c:v>Aug-24</c:v>
                  </c:pt>
                  <c:pt idx="44">
                    <c:v>Aug-22</c:v>
                  </c:pt>
                  <c:pt idx="45">
                    <c:v>Nov-22</c:v>
                  </c:pt>
                  <c:pt idx="46">
                    <c:v>Feb-23</c:v>
                  </c:pt>
                  <c:pt idx="47">
                    <c:v>May-23</c:v>
                  </c:pt>
                  <c:pt idx="48">
                    <c:v>Aug-23</c:v>
                  </c:pt>
                  <c:pt idx="49">
                    <c:v>Nov-23</c:v>
                  </c:pt>
                  <c:pt idx="50">
                    <c:v>Feb-24</c:v>
                  </c:pt>
                  <c:pt idx="51">
                    <c:v>May-24</c:v>
                  </c:pt>
                  <c:pt idx="52">
                    <c:v>Aug-24</c:v>
                  </c:pt>
                  <c:pt idx="55">
                    <c:v>Aug-22</c:v>
                  </c:pt>
                  <c:pt idx="56">
                    <c:v>Nov-22</c:v>
                  </c:pt>
                  <c:pt idx="57">
                    <c:v>Feb-23</c:v>
                  </c:pt>
                  <c:pt idx="58">
                    <c:v>May-23</c:v>
                  </c:pt>
                  <c:pt idx="59">
                    <c:v>Aug-23</c:v>
                  </c:pt>
                  <c:pt idx="60">
                    <c:v>Nov-23</c:v>
                  </c:pt>
                  <c:pt idx="61">
                    <c:v>Feb-24</c:v>
                  </c:pt>
                  <c:pt idx="62">
                    <c:v>May-24</c:v>
                  </c:pt>
                  <c:pt idx="63">
                    <c:v>Aug-24</c:v>
                  </c:pt>
                </c:lvl>
                <c:lvl>
                  <c:pt idx="0">
                    <c:v>India</c:v>
                  </c:pt>
                  <c:pt idx="11">
                    <c:v>China</c:v>
                  </c:pt>
                  <c:pt idx="22">
                    <c:v>Japan</c:v>
                  </c:pt>
                  <c:pt idx="33">
                    <c:v>Euro area</c:v>
                  </c:pt>
                  <c:pt idx="44">
                    <c:v>Germany</c:v>
                  </c:pt>
                  <c:pt idx="55">
                    <c:v>US</c:v>
                  </c:pt>
                </c:lvl>
              </c:multiLvlStrCache>
            </c:multiLvlStrRef>
          </c:cat>
          <c:val>
            <c:numRef>
              <c:f>Sheet1!$H$2:$H$65</c:f>
              <c:numCache>
                <c:formatCode>General</c:formatCode>
                <c:ptCount val="64"/>
                <c:pt idx="55">
                  <c:v>45</c:v>
                </c:pt>
                <c:pt idx="56">
                  <c:v>47</c:v>
                </c:pt>
                <c:pt idx="57">
                  <c:v>48</c:v>
                </c:pt>
                <c:pt idx="58">
                  <c:v>54</c:v>
                </c:pt>
                <c:pt idx="59">
                  <c:v>53</c:v>
                </c:pt>
                <c:pt idx="60">
                  <c:v>51</c:v>
                </c:pt>
                <c:pt idx="61">
                  <c:v>52</c:v>
                </c:pt>
                <c:pt idx="62">
                  <c:v>53</c:v>
                </c:pt>
                <c:pt idx="6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52F8-4BFF-B781-9B5698851D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95754399"/>
        <c:axId val="706058591"/>
      </c:areaChart>
      <c:catAx>
        <c:axId val="79575439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06058591"/>
        <c:crosses val="autoZero"/>
        <c:auto val="1"/>
        <c:lblAlgn val="ctr"/>
        <c:lblOffset val="100"/>
        <c:noMultiLvlLbl val="0"/>
      </c:catAx>
      <c:valAx>
        <c:axId val="706058591"/>
        <c:scaling>
          <c:orientation val="minMax"/>
          <c:max val="63"/>
          <c:min val="40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40000"/>
                  <a:lumOff val="6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9575439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5293775393280439E-2"/>
          <c:y val="7.0132016618526832E-2"/>
          <c:w val="0.9447062246067196"/>
          <c:h val="0.727704983457136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Deposits</c:v>
                </c:pt>
              </c:strCache>
            </c:strRef>
          </c:tx>
          <c:spPr>
            <a:solidFill>
              <a:srgbClr val="041E4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2Q20</c:v>
                </c:pt>
                <c:pt idx="1">
                  <c:v>2Q21</c:v>
                </c:pt>
                <c:pt idx="2">
                  <c:v>2Q22</c:v>
                </c:pt>
                <c:pt idx="3">
                  <c:v>2Q23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1719</c:v>
                </c:pt>
                <c:pt idx="1">
                  <c:v>1909</c:v>
                </c:pt>
                <c:pt idx="2">
                  <c:v>1984</c:v>
                </c:pt>
                <c:pt idx="3">
                  <c:v>1877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5A-4AC1-8E5D-DD978D3E45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iii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2Q20</c:v>
                </c:pt>
                <c:pt idx="1">
                  <c:v>2Q21</c:v>
                </c:pt>
                <c:pt idx="2">
                  <c:v>2Q22</c:v>
                </c:pt>
                <c:pt idx="3">
                  <c:v>2Q23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255A-4AC1-8E5D-DD978D3E45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100"/>
        <c:axId val="103491584"/>
        <c:axId val="97625568"/>
      </c:barChart>
      <c:barChart>
        <c:barDir val="col"/>
        <c:grouping val="stack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Loans</c:v>
                </c:pt>
              </c:strCache>
            </c:strRef>
          </c:tx>
          <c:spPr>
            <a:solidFill>
              <a:srgbClr val="0076A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2Q20</c:v>
                </c:pt>
                <c:pt idx="1">
                  <c:v>2Q21</c:v>
                </c:pt>
                <c:pt idx="2">
                  <c:v>2Q22</c:v>
                </c:pt>
                <c:pt idx="3">
                  <c:v>2Q23</c:v>
                </c:pt>
              </c:strCache>
            </c:strRef>
          </c:cat>
          <c:val>
            <c:numRef>
              <c:f>Sheet1!$D$2:$D$5</c:f>
              <c:numCache>
                <c:formatCode>#,##0</c:formatCode>
                <c:ptCount val="4"/>
                <c:pt idx="0">
                  <c:v>999</c:v>
                </c:pt>
                <c:pt idx="1">
                  <c:v>919</c:v>
                </c:pt>
                <c:pt idx="2">
                  <c:v>1031</c:v>
                </c:pt>
                <c:pt idx="3">
                  <c:v>1051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5A-4AC1-8E5D-DD978D3E454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Deposits in excess of loans</c:v>
                </c:pt>
              </c:strCache>
            </c:strRef>
          </c:tx>
          <c:spPr>
            <a:solidFill>
              <a:srgbClr val="A0DC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2Q20</c:v>
                </c:pt>
                <c:pt idx="1">
                  <c:v>2Q21</c:v>
                </c:pt>
                <c:pt idx="2">
                  <c:v>2Q22</c:v>
                </c:pt>
                <c:pt idx="3">
                  <c:v>2Q23</c:v>
                </c:pt>
              </c:strCache>
            </c:strRef>
          </c:cat>
          <c:val>
            <c:numRef>
              <c:f>Sheet1!$E$2:$E$5</c:f>
              <c:numCache>
                <c:formatCode>#,##0</c:formatCode>
                <c:ptCount val="4"/>
                <c:pt idx="0">
                  <c:v>720</c:v>
                </c:pt>
                <c:pt idx="1">
                  <c:v>990</c:v>
                </c:pt>
                <c:pt idx="2">
                  <c:v>954</c:v>
                </c:pt>
                <c:pt idx="3">
                  <c:v>826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21-43BF-8BF7-AA328F3EE8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534318079"/>
        <c:axId val="904878415"/>
      </c:barChart>
      <c:catAx>
        <c:axId val="103491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just"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7625568"/>
        <c:crosses val="autoZero"/>
        <c:auto val="1"/>
        <c:lblAlgn val="ctr"/>
        <c:lblOffset val="100"/>
        <c:noMultiLvlLbl val="0"/>
      </c:catAx>
      <c:valAx>
        <c:axId val="97625568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3491584"/>
        <c:crosses val="autoZero"/>
        <c:crossBetween val="between"/>
      </c:valAx>
      <c:valAx>
        <c:axId val="904878415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34318079"/>
        <c:crosses val="max"/>
        <c:crossBetween val="between"/>
      </c:valAx>
      <c:catAx>
        <c:axId val="53431807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048784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ayout>
        <c:manualLayout>
          <c:xMode val="edge"/>
          <c:yMode val="edge"/>
          <c:x val="0.21088437605420213"/>
          <c:y val="0.89709893407633889"/>
          <c:w val="0.578231192892949"/>
          <c:h val="5.91221183403230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1"/>
          <c:order val="0"/>
          <c:tx>
            <c:strRef>
              <c:f>'Danone (sorted)'!$F$23</c:f>
              <c:strCache>
                <c:ptCount val="1"/>
                <c:pt idx="0">
                  <c:v>EDP</c:v>
                </c:pt>
              </c:strCache>
            </c:strRef>
          </c:tx>
          <c:spPr>
            <a:solidFill>
              <a:srgbClr val="005587"/>
            </a:solidFill>
            <a:ln>
              <a:noFill/>
            </a:ln>
            <a:effectLst/>
          </c:spPr>
          <c:invertIfNegative val="0"/>
          <c:cat>
            <c:strRef>
              <c:f>'Danone (sorted)'!$E$24:$E$123</c:f>
              <c:strCache>
                <c:ptCount val="93"/>
                <c:pt idx="18">
                  <c:v>Europe</c:v>
                </c:pt>
                <c:pt idx="48">
                  <c:v>AMEA, CIS, Latin America</c:v>
                </c:pt>
                <c:pt idx="74">
                  <c:v>North America</c:v>
                </c:pt>
                <c:pt idx="92">
                  <c:v>China, North
Asia &amp; Oceania</c:v>
                </c:pt>
              </c:strCache>
            </c:strRef>
          </c:cat>
          <c:val>
            <c:numRef>
              <c:f>'Danone (sorted)'!$F$24:$F$123</c:f>
              <c:numCache>
                <c:formatCode>0%</c:formatCode>
                <c:ptCount val="100"/>
                <c:pt idx="0">
                  <c:v>0.44979195561719831</c:v>
                </c:pt>
                <c:pt idx="1">
                  <c:v>0.44979195561719831</c:v>
                </c:pt>
                <c:pt idx="2">
                  <c:v>0.44979195561719831</c:v>
                </c:pt>
                <c:pt idx="3">
                  <c:v>0.44979195561719831</c:v>
                </c:pt>
                <c:pt idx="4">
                  <c:v>0.44979195561719831</c:v>
                </c:pt>
                <c:pt idx="5">
                  <c:v>0.44979195561719831</c:v>
                </c:pt>
                <c:pt idx="6">
                  <c:v>0.44979195561719831</c:v>
                </c:pt>
                <c:pt idx="7">
                  <c:v>0.44979195561719831</c:v>
                </c:pt>
                <c:pt idx="8">
                  <c:v>0.44979195561719831</c:v>
                </c:pt>
                <c:pt idx="9">
                  <c:v>0.44979195561719831</c:v>
                </c:pt>
                <c:pt idx="10">
                  <c:v>0.44979195561719831</c:v>
                </c:pt>
                <c:pt idx="11">
                  <c:v>0.44979195561719831</c:v>
                </c:pt>
                <c:pt idx="12">
                  <c:v>0.44979195561719831</c:v>
                </c:pt>
                <c:pt idx="13">
                  <c:v>0.44979195561719831</c:v>
                </c:pt>
                <c:pt idx="14">
                  <c:v>0.44979195561719831</c:v>
                </c:pt>
                <c:pt idx="15">
                  <c:v>0.44979195561719831</c:v>
                </c:pt>
                <c:pt idx="16">
                  <c:v>0.44979195561719831</c:v>
                </c:pt>
                <c:pt idx="17">
                  <c:v>0.44979195561719831</c:v>
                </c:pt>
                <c:pt idx="18">
                  <c:v>0.44979195561719831</c:v>
                </c:pt>
                <c:pt idx="19">
                  <c:v>0.44979195561719831</c:v>
                </c:pt>
                <c:pt idx="20">
                  <c:v>0.44979195561719831</c:v>
                </c:pt>
                <c:pt idx="21">
                  <c:v>0.44979195561719831</c:v>
                </c:pt>
                <c:pt idx="22">
                  <c:v>0.44979195561719831</c:v>
                </c:pt>
                <c:pt idx="23">
                  <c:v>0.44979195561719831</c:v>
                </c:pt>
                <c:pt idx="24">
                  <c:v>0.44979195561719831</c:v>
                </c:pt>
                <c:pt idx="25">
                  <c:v>0.44979195561719831</c:v>
                </c:pt>
                <c:pt idx="26">
                  <c:v>0.44979195561719831</c:v>
                </c:pt>
                <c:pt idx="27">
                  <c:v>0.44979195561719831</c:v>
                </c:pt>
                <c:pt idx="28">
                  <c:v>0.44979195561719831</c:v>
                </c:pt>
                <c:pt idx="29">
                  <c:v>0.44979195561719831</c:v>
                </c:pt>
                <c:pt idx="30">
                  <c:v>0.44979195561719831</c:v>
                </c:pt>
                <c:pt idx="31">
                  <c:v>0.44979195561719831</c:v>
                </c:pt>
                <c:pt idx="32">
                  <c:v>0.44979195561719831</c:v>
                </c:pt>
                <c:pt idx="33">
                  <c:v>0.44979195561719831</c:v>
                </c:pt>
                <c:pt idx="34">
                  <c:v>0.44979195561719831</c:v>
                </c:pt>
                <c:pt idx="35">
                  <c:v>0.37346393588601962</c:v>
                </c:pt>
                <c:pt idx="36">
                  <c:v>0.37346393588601962</c:v>
                </c:pt>
                <c:pt idx="37">
                  <c:v>0.37346393588601962</c:v>
                </c:pt>
                <c:pt idx="38">
                  <c:v>0.37346393588601962</c:v>
                </c:pt>
                <c:pt idx="39">
                  <c:v>0.37346393588601962</c:v>
                </c:pt>
                <c:pt idx="40">
                  <c:v>0.37346393588601962</c:v>
                </c:pt>
                <c:pt idx="41">
                  <c:v>0.37346393588601962</c:v>
                </c:pt>
                <c:pt idx="42">
                  <c:v>0.37346393588601962</c:v>
                </c:pt>
                <c:pt idx="43">
                  <c:v>0.37346393588601962</c:v>
                </c:pt>
                <c:pt idx="44">
                  <c:v>0.37346393588601962</c:v>
                </c:pt>
                <c:pt idx="45">
                  <c:v>0.37346393588601962</c:v>
                </c:pt>
                <c:pt idx="46">
                  <c:v>0.37346393588601962</c:v>
                </c:pt>
                <c:pt idx="47">
                  <c:v>0.37346393588601962</c:v>
                </c:pt>
                <c:pt idx="48">
                  <c:v>0.37346393588601962</c:v>
                </c:pt>
                <c:pt idx="49">
                  <c:v>0.37346393588601962</c:v>
                </c:pt>
                <c:pt idx="50">
                  <c:v>0.37346393588601962</c:v>
                </c:pt>
                <c:pt idx="51">
                  <c:v>0.37346393588601962</c:v>
                </c:pt>
                <c:pt idx="52">
                  <c:v>0.37346393588601962</c:v>
                </c:pt>
                <c:pt idx="53">
                  <c:v>0.37346393588601962</c:v>
                </c:pt>
                <c:pt idx="54">
                  <c:v>0.37346393588601962</c:v>
                </c:pt>
                <c:pt idx="55">
                  <c:v>0.37346393588601962</c:v>
                </c:pt>
                <c:pt idx="56">
                  <c:v>0.37346393588601962</c:v>
                </c:pt>
                <c:pt idx="57">
                  <c:v>0.37346393588601962</c:v>
                </c:pt>
                <c:pt idx="58">
                  <c:v>0.37346393588601962</c:v>
                </c:pt>
                <c:pt idx="59">
                  <c:v>0.37346393588601962</c:v>
                </c:pt>
                <c:pt idx="60">
                  <c:v>0.37346393588601962</c:v>
                </c:pt>
                <c:pt idx="61">
                  <c:v>0.37346393588601962</c:v>
                </c:pt>
                <c:pt idx="62">
                  <c:v>0.90004046944556859</c:v>
                </c:pt>
                <c:pt idx="63">
                  <c:v>0.90004046944556859</c:v>
                </c:pt>
                <c:pt idx="64">
                  <c:v>0.90004046944556859</c:v>
                </c:pt>
                <c:pt idx="65">
                  <c:v>0.90004046944556859</c:v>
                </c:pt>
                <c:pt idx="66">
                  <c:v>0.90004046944556859</c:v>
                </c:pt>
                <c:pt idx="67">
                  <c:v>0.90004046944556859</c:v>
                </c:pt>
                <c:pt idx="68">
                  <c:v>0.90004046944556859</c:v>
                </c:pt>
                <c:pt idx="69">
                  <c:v>0.90004046944556859</c:v>
                </c:pt>
                <c:pt idx="70">
                  <c:v>0.90004046944556859</c:v>
                </c:pt>
                <c:pt idx="71">
                  <c:v>0.90004046944556859</c:v>
                </c:pt>
                <c:pt idx="72">
                  <c:v>0.90004046944556859</c:v>
                </c:pt>
                <c:pt idx="73">
                  <c:v>0.90004046944556859</c:v>
                </c:pt>
                <c:pt idx="74">
                  <c:v>0.90004046944556859</c:v>
                </c:pt>
                <c:pt idx="75">
                  <c:v>0.90004046944556859</c:v>
                </c:pt>
                <c:pt idx="76">
                  <c:v>0.90004046944556859</c:v>
                </c:pt>
                <c:pt idx="77">
                  <c:v>0.90004046944556859</c:v>
                </c:pt>
                <c:pt idx="78">
                  <c:v>0.90004046944556859</c:v>
                </c:pt>
                <c:pt idx="79">
                  <c:v>0.90004046944556859</c:v>
                </c:pt>
                <c:pt idx="80">
                  <c:v>0.90004046944556859</c:v>
                </c:pt>
                <c:pt idx="81">
                  <c:v>0.90004046944556859</c:v>
                </c:pt>
                <c:pt idx="82">
                  <c:v>0.90004046944556859</c:v>
                </c:pt>
                <c:pt idx="83">
                  <c:v>0.90004046944556859</c:v>
                </c:pt>
                <c:pt idx="84">
                  <c:v>0.90004046944556859</c:v>
                </c:pt>
                <c:pt idx="85">
                  <c:v>0.90004046944556859</c:v>
                </c:pt>
                <c:pt idx="86">
                  <c:v>9.9002849002849003E-2</c:v>
                </c:pt>
                <c:pt idx="87">
                  <c:v>9.9002849002849003E-2</c:v>
                </c:pt>
                <c:pt idx="88">
                  <c:v>9.9002849002849003E-2</c:v>
                </c:pt>
                <c:pt idx="89">
                  <c:v>9.9002849002849003E-2</c:v>
                </c:pt>
                <c:pt idx="90">
                  <c:v>9.9002849002849003E-2</c:v>
                </c:pt>
                <c:pt idx="91">
                  <c:v>9.9002849002849003E-2</c:v>
                </c:pt>
                <c:pt idx="92">
                  <c:v>9.9002849002849003E-2</c:v>
                </c:pt>
                <c:pt idx="93">
                  <c:v>9.9002849002849003E-2</c:v>
                </c:pt>
                <c:pt idx="94">
                  <c:v>9.9002849002849003E-2</c:v>
                </c:pt>
                <c:pt idx="95">
                  <c:v>9.9002849002849003E-2</c:v>
                </c:pt>
                <c:pt idx="96">
                  <c:v>9.9002849002849003E-2</c:v>
                </c:pt>
                <c:pt idx="97">
                  <c:v>9.9002849002849003E-2</c:v>
                </c:pt>
                <c:pt idx="98">
                  <c:v>9.9002849002849003E-2</c:v>
                </c:pt>
                <c:pt idx="99">
                  <c:v>9.9002849002849003E-2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32-4818-9B33-36C18682789C}"/>
            </c:ext>
          </c:extLst>
        </c:ser>
        <c:ser>
          <c:idx val="2"/>
          <c:order val="1"/>
          <c:tx>
            <c:strRef>
              <c:f>'Danone (sorted)'!$G$23</c:f>
              <c:strCache>
                <c:ptCount val="1"/>
                <c:pt idx="0">
                  <c:v>Specialized Nutrition</c:v>
                </c:pt>
              </c:strCache>
            </c:strRef>
          </c:tx>
          <c:spPr>
            <a:solidFill>
              <a:srgbClr val="008BBC"/>
            </a:solidFill>
            <a:ln>
              <a:noFill/>
            </a:ln>
            <a:effectLst/>
          </c:spPr>
          <c:invertIfNegative val="0"/>
          <c:cat>
            <c:strRef>
              <c:f>'Danone (sorted)'!$E$24:$E$123</c:f>
              <c:strCache>
                <c:ptCount val="93"/>
                <c:pt idx="18">
                  <c:v>Europe</c:v>
                </c:pt>
                <c:pt idx="48">
                  <c:v>AMEA, CIS, Latin America</c:v>
                </c:pt>
                <c:pt idx="74">
                  <c:v>North America</c:v>
                </c:pt>
                <c:pt idx="92">
                  <c:v>China, North
Asia &amp; Oceania</c:v>
                </c:pt>
              </c:strCache>
            </c:strRef>
          </c:cat>
          <c:val>
            <c:numRef>
              <c:f>'Danone (sorted)'!$G$24:$G$123</c:f>
              <c:numCache>
                <c:formatCode>0%</c:formatCode>
                <c:ptCount val="100"/>
                <c:pt idx="0">
                  <c:v>0.32385575589459087</c:v>
                </c:pt>
                <c:pt idx="1">
                  <c:v>0.32385575589459087</c:v>
                </c:pt>
                <c:pt idx="2">
                  <c:v>0.32385575589459087</c:v>
                </c:pt>
                <c:pt idx="3">
                  <c:v>0.32385575589459087</c:v>
                </c:pt>
                <c:pt idx="4">
                  <c:v>0.32385575589459087</c:v>
                </c:pt>
                <c:pt idx="5">
                  <c:v>0.32385575589459087</c:v>
                </c:pt>
                <c:pt idx="6">
                  <c:v>0.32385575589459087</c:v>
                </c:pt>
                <c:pt idx="7">
                  <c:v>0.32385575589459087</c:v>
                </c:pt>
                <c:pt idx="8">
                  <c:v>0.32385575589459087</c:v>
                </c:pt>
                <c:pt idx="9">
                  <c:v>0.32385575589459087</c:v>
                </c:pt>
                <c:pt idx="10">
                  <c:v>0.32385575589459087</c:v>
                </c:pt>
                <c:pt idx="11">
                  <c:v>0.32385575589459087</c:v>
                </c:pt>
                <c:pt idx="12">
                  <c:v>0.32385575589459087</c:v>
                </c:pt>
                <c:pt idx="13">
                  <c:v>0.32385575589459087</c:v>
                </c:pt>
                <c:pt idx="14">
                  <c:v>0.32385575589459087</c:v>
                </c:pt>
                <c:pt idx="15">
                  <c:v>0.32385575589459087</c:v>
                </c:pt>
                <c:pt idx="16">
                  <c:v>0.32385575589459087</c:v>
                </c:pt>
                <c:pt idx="17">
                  <c:v>0.32385575589459087</c:v>
                </c:pt>
                <c:pt idx="18">
                  <c:v>0.32385575589459087</c:v>
                </c:pt>
                <c:pt idx="19">
                  <c:v>0.32385575589459087</c:v>
                </c:pt>
                <c:pt idx="20">
                  <c:v>0.32385575589459087</c:v>
                </c:pt>
                <c:pt idx="21">
                  <c:v>0.32385575589459087</c:v>
                </c:pt>
                <c:pt idx="22">
                  <c:v>0.32385575589459087</c:v>
                </c:pt>
                <c:pt idx="23">
                  <c:v>0.32385575589459087</c:v>
                </c:pt>
                <c:pt idx="24">
                  <c:v>0.32385575589459087</c:v>
                </c:pt>
                <c:pt idx="25">
                  <c:v>0.32385575589459087</c:v>
                </c:pt>
                <c:pt idx="26">
                  <c:v>0.32385575589459087</c:v>
                </c:pt>
                <c:pt idx="27">
                  <c:v>0.32385575589459087</c:v>
                </c:pt>
                <c:pt idx="28">
                  <c:v>0.32385575589459087</c:v>
                </c:pt>
                <c:pt idx="29">
                  <c:v>0.32385575589459087</c:v>
                </c:pt>
                <c:pt idx="30">
                  <c:v>0.32385575589459087</c:v>
                </c:pt>
                <c:pt idx="31">
                  <c:v>0.32385575589459087</c:v>
                </c:pt>
                <c:pt idx="32">
                  <c:v>0.32385575589459087</c:v>
                </c:pt>
                <c:pt idx="33">
                  <c:v>0.32385575589459087</c:v>
                </c:pt>
                <c:pt idx="34">
                  <c:v>0.32385575589459087</c:v>
                </c:pt>
                <c:pt idx="35">
                  <c:v>0.38183437221727518</c:v>
                </c:pt>
                <c:pt idx="36">
                  <c:v>0.38183437221727518</c:v>
                </c:pt>
                <c:pt idx="37">
                  <c:v>0.38183437221727518</c:v>
                </c:pt>
                <c:pt idx="38">
                  <c:v>0.38183437221727518</c:v>
                </c:pt>
                <c:pt idx="39">
                  <c:v>0.38183437221727518</c:v>
                </c:pt>
                <c:pt idx="40">
                  <c:v>0.38183437221727518</c:v>
                </c:pt>
                <c:pt idx="41">
                  <c:v>0.38183437221727518</c:v>
                </c:pt>
                <c:pt idx="42">
                  <c:v>0.38183437221727518</c:v>
                </c:pt>
                <c:pt idx="43">
                  <c:v>0.38183437221727518</c:v>
                </c:pt>
                <c:pt idx="44">
                  <c:v>0.38183437221727518</c:v>
                </c:pt>
                <c:pt idx="45">
                  <c:v>0.38183437221727518</c:v>
                </c:pt>
                <c:pt idx="46">
                  <c:v>0.38183437221727518</c:v>
                </c:pt>
                <c:pt idx="47">
                  <c:v>0.38183437221727518</c:v>
                </c:pt>
                <c:pt idx="48">
                  <c:v>0.38183437221727518</c:v>
                </c:pt>
                <c:pt idx="49">
                  <c:v>0.38183437221727518</c:v>
                </c:pt>
                <c:pt idx="50">
                  <c:v>0.38183437221727518</c:v>
                </c:pt>
                <c:pt idx="51">
                  <c:v>0.38183437221727518</c:v>
                </c:pt>
                <c:pt idx="52">
                  <c:v>0.38183437221727518</c:v>
                </c:pt>
                <c:pt idx="53">
                  <c:v>0.38183437221727518</c:v>
                </c:pt>
                <c:pt idx="54">
                  <c:v>0.38183437221727518</c:v>
                </c:pt>
                <c:pt idx="55">
                  <c:v>0.38183437221727518</c:v>
                </c:pt>
                <c:pt idx="56">
                  <c:v>0.38183437221727518</c:v>
                </c:pt>
                <c:pt idx="57">
                  <c:v>0.38183437221727518</c:v>
                </c:pt>
                <c:pt idx="58">
                  <c:v>0.38183437221727518</c:v>
                </c:pt>
                <c:pt idx="59">
                  <c:v>0.38183437221727518</c:v>
                </c:pt>
                <c:pt idx="60">
                  <c:v>0.38183437221727518</c:v>
                </c:pt>
                <c:pt idx="61">
                  <c:v>0.38183437221727518</c:v>
                </c:pt>
                <c:pt idx="62">
                  <c:v>5.3217320922703357E-2</c:v>
                </c:pt>
                <c:pt idx="63">
                  <c:v>5.3217320922703357E-2</c:v>
                </c:pt>
                <c:pt idx="64">
                  <c:v>5.3217320922703357E-2</c:v>
                </c:pt>
                <c:pt idx="65">
                  <c:v>5.3217320922703357E-2</c:v>
                </c:pt>
                <c:pt idx="66">
                  <c:v>5.3217320922703357E-2</c:v>
                </c:pt>
                <c:pt idx="67">
                  <c:v>5.3217320922703357E-2</c:v>
                </c:pt>
                <c:pt idx="68">
                  <c:v>5.3217320922703357E-2</c:v>
                </c:pt>
                <c:pt idx="69">
                  <c:v>5.3217320922703357E-2</c:v>
                </c:pt>
                <c:pt idx="70">
                  <c:v>5.3217320922703357E-2</c:v>
                </c:pt>
                <c:pt idx="71">
                  <c:v>5.3217320922703357E-2</c:v>
                </c:pt>
                <c:pt idx="72">
                  <c:v>5.3217320922703357E-2</c:v>
                </c:pt>
                <c:pt idx="73">
                  <c:v>5.3217320922703357E-2</c:v>
                </c:pt>
                <c:pt idx="74">
                  <c:v>5.3217320922703357E-2</c:v>
                </c:pt>
                <c:pt idx="75">
                  <c:v>5.3217320922703357E-2</c:v>
                </c:pt>
                <c:pt idx="76">
                  <c:v>5.3217320922703357E-2</c:v>
                </c:pt>
                <c:pt idx="77">
                  <c:v>5.3217320922703357E-2</c:v>
                </c:pt>
                <c:pt idx="78">
                  <c:v>5.3217320922703357E-2</c:v>
                </c:pt>
                <c:pt idx="79">
                  <c:v>5.3217320922703357E-2</c:v>
                </c:pt>
                <c:pt idx="80">
                  <c:v>5.3217320922703357E-2</c:v>
                </c:pt>
                <c:pt idx="81">
                  <c:v>5.3217320922703357E-2</c:v>
                </c:pt>
                <c:pt idx="82">
                  <c:v>5.3217320922703357E-2</c:v>
                </c:pt>
                <c:pt idx="83">
                  <c:v>5.3217320922703357E-2</c:v>
                </c:pt>
                <c:pt idx="84">
                  <c:v>5.3217320922703357E-2</c:v>
                </c:pt>
                <c:pt idx="85">
                  <c:v>5.3217320922703357E-2</c:v>
                </c:pt>
                <c:pt idx="86">
                  <c:v>0.66132478632478631</c:v>
                </c:pt>
                <c:pt idx="87">
                  <c:v>0.66132478632478631</c:v>
                </c:pt>
                <c:pt idx="88">
                  <c:v>0.66132478632478631</c:v>
                </c:pt>
                <c:pt idx="89">
                  <c:v>0.66132478632478631</c:v>
                </c:pt>
                <c:pt idx="90">
                  <c:v>0.66132478632478631</c:v>
                </c:pt>
                <c:pt idx="91">
                  <c:v>0.66132478632478631</c:v>
                </c:pt>
                <c:pt idx="92">
                  <c:v>0.66132478632478631</c:v>
                </c:pt>
                <c:pt idx="93">
                  <c:v>0.66132478632478631</c:v>
                </c:pt>
                <c:pt idx="94">
                  <c:v>0.66132478632478631</c:v>
                </c:pt>
                <c:pt idx="95">
                  <c:v>0.66132478632478631</c:v>
                </c:pt>
                <c:pt idx="96">
                  <c:v>0.66132478632478631</c:v>
                </c:pt>
                <c:pt idx="97">
                  <c:v>0.66132478632478631</c:v>
                </c:pt>
                <c:pt idx="98">
                  <c:v>0.66132478632478631</c:v>
                </c:pt>
                <c:pt idx="99">
                  <c:v>0.66132478632478631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32-4818-9B33-36C18682789C}"/>
            </c:ext>
          </c:extLst>
        </c:ser>
        <c:ser>
          <c:idx val="3"/>
          <c:order val="2"/>
          <c:tx>
            <c:strRef>
              <c:f>'Danone (sorted)'!$H$23</c:f>
              <c:strCache>
                <c:ptCount val="1"/>
                <c:pt idx="0">
                  <c:v>Waters</c:v>
                </c:pt>
              </c:strCache>
            </c:strRef>
          </c:tx>
          <c:spPr>
            <a:solidFill>
              <a:srgbClr val="71CCFF"/>
            </a:solidFill>
            <a:ln>
              <a:noFill/>
            </a:ln>
            <a:effectLst/>
          </c:spPr>
          <c:invertIfNegative val="0"/>
          <c:cat>
            <c:strRef>
              <c:f>'Danone (sorted)'!$E$24:$E$123</c:f>
              <c:strCache>
                <c:ptCount val="93"/>
                <c:pt idx="18">
                  <c:v>Europe</c:v>
                </c:pt>
                <c:pt idx="48">
                  <c:v>AMEA, CIS, Latin America</c:v>
                </c:pt>
                <c:pt idx="74">
                  <c:v>North America</c:v>
                </c:pt>
                <c:pt idx="92">
                  <c:v>China, North
Asia &amp; Oceania</c:v>
                </c:pt>
              </c:strCache>
            </c:strRef>
          </c:cat>
          <c:val>
            <c:numRef>
              <c:f>'Danone (sorted)'!$H$24:$H$123</c:f>
              <c:numCache>
                <c:formatCode>0%</c:formatCode>
                <c:ptCount val="100"/>
                <c:pt idx="0">
                  <c:v>0.22635228848821082</c:v>
                </c:pt>
                <c:pt idx="1">
                  <c:v>0.22635228848821082</c:v>
                </c:pt>
                <c:pt idx="2">
                  <c:v>0.22635228848821082</c:v>
                </c:pt>
                <c:pt idx="3">
                  <c:v>0.22635228848821082</c:v>
                </c:pt>
                <c:pt idx="4">
                  <c:v>0.22635228848821082</c:v>
                </c:pt>
                <c:pt idx="5">
                  <c:v>0.22635228848821082</c:v>
                </c:pt>
                <c:pt idx="6">
                  <c:v>0.22635228848821082</c:v>
                </c:pt>
                <c:pt idx="7">
                  <c:v>0.22635228848821082</c:v>
                </c:pt>
                <c:pt idx="8">
                  <c:v>0.22635228848821082</c:v>
                </c:pt>
                <c:pt idx="9">
                  <c:v>0.22635228848821082</c:v>
                </c:pt>
                <c:pt idx="10">
                  <c:v>0.22635228848821082</c:v>
                </c:pt>
                <c:pt idx="11">
                  <c:v>0.22635228848821082</c:v>
                </c:pt>
                <c:pt idx="12">
                  <c:v>0.22635228848821082</c:v>
                </c:pt>
                <c:pt idx="13">
                  <c:v>0.22635228848821082</c:v>
                </c:pt>
                <c:pt idx="14">
                  <c:v>0.22635228848821082</c:v>
                </c:pt>
                <c:pt idx="15">
                  <c:v>0.22635228848821082</c:v>
                </c:pt>
                <c:pt idx="16">
                  <c:v>0.22635228848821082</c:v>
                </c:pt>
                <c:pt idx="17">
                  <c:v>0.22635228848821082</c:v>
                </c:pt>
                <c:pt idx="18">
                  <c:v>0.22635228848821082</c:v>
                </c:pt>
                <c:pt idx="19">
                  <c:v>0.22635228848821082</c:v>
                </c:pt>
                <c:pt idx="20">
                  <c:v>0.22635228848821082</c:v>
                </c:pt>
                <c:pt idx="21">
                  <c:v>0.22635228848821082</c:v>
                </c:pt>
                <c:pt idx="22">
                  <c:v>0.22635228848821082</c:v>
                </c:pt>
                <c:pt idx="23">
                  <c:v>0.22635228848821082</c:v>
                </c:pt>
                <c:pt idx="24">
                  <c:v>0.22635228848821082</c:v>
                </c:pt>
                <c:pt idx="25">
                  <c:v>0.22635228848821082</c:v>
                </c:pt>
                <c:pt idx="26">
                  <c:v>0.22635228848821082</c:v>
                </c:pt>
                <c:pt idx="27">
                  <c:v>0.22635228848821082</c:v>
                </c:pt>
                <c:pt idx="28">
                  <c:v>0.22635228848821082</c:v>
                </c:pt>
                <c:pt idx="29">
                  <c:v>0.22635228848821082</c:v>
                </c:pt>
                <c:pt idx="30">
                  <c:v>0.22635228848821082</c:v>
                </c:pt>
                <c:pt idx="31">
                  <c:v>0.22635228848821082</c:v>
                </c:pt>
                <c:pt idx="32">
                  <c:v>0.22635228848821082</c:v>
                </c:pt>
                <c:pt idx="33">
                  <c:v>0.22635228848821082</c:v>
                </c:pt>
                <c:pt idx="34">
                  <c:v>0.22635228848821082</c:v>
                </c:pt>
                <c:pt idx="35">
                  <c:v>0.24470169189670526</c:v>
                </c:pt>
                <c:pt idx="36">
                  <c:v>0.24470169189670526</c:v>
                </c:pt>
                <c:pt idx="37">
                  <c:v>0.24470169189670526</c:v>
                </c:pt>
                <c:pt idx="38">
                  <c:v>0.24470169189670526</c:v>
                </c:pt>
                <c:pt idx="39">
                  <c:v>0.24470169189670526</c:v>
                </c:pt>
                <c:pt idx="40">
                  <c:v>0.24470169189670526</c:v>
                </c:pt>
                <c:pt idx="41">
                  <c:v>0.24470169189670526</c:v>
                </c:pt>
                <c:pt idx="42">
                  <c:v>0.24470169189670526</c:v>
                </c:pt>
                <c:pt idx="43">
                  <c:v>0.24470169189670526</c:v>
                </c:pt>
                <c:pt idx="44">
                  <c:v>0.24470169189670526</c:v>
                </c:pt>
                <c:pt idx="45">
                  <c:v>0.24470169189670526</c:v>
                </c:pt>
                <c:pt idx="46">
                  <c:v>0.24470169189670526</c:v>
                </c:pt>
                <c:pt idx="47">
                  <c:v>0.24470169189670526</c:v>
                </c:pt>
                <c:pt idx="48">
                  <c:v>0.24470169189670526</c:v>
                </c:pt>
                <c:pt idx="49">
                  <c:v>0.24470169189670526</c:v>
                </c:pt>
                <c:pt idx="50">
                  <c:v>0.24470169189670526</c:v>
                </c:pt>
                <c:pt idx="51">
                  <c:v>0.24470169189670526</c:v>
                </c:pt>
                <c:pt idx="52">
                  <c:v>0.24470169189670526</c:v>
                </c:pt>
                <c:pt idx="53">
                  <c:v>0.24470169189670526</c:v>
                </c:pt>
                <c:pt idx="54">
                  <c:v>0.24470169189670526</c:v>
                </c:pt>
                <c:pt idx="55">
                  <c:v>0.24470169189670526</c:v>
                </c:pt>
                <c:pt idx="56">
                  <c:v>0.24470169189670526</c:v>
                </c:pt>
                <c:pt idx="57">
                  <c:v>0.24470169189670526</c:v>
                </c:pt>
                <c:pt idx="58">
                  <c:v>0.24470169189670526</c:v>
                </c:pt>
                <c:pt idx="59">
                  <c:v>0.24470169189670526</c:v>
                </c:pt>
                <c:pt idx="60">
                  <c:v>0.24470169189670526</c:v>
                </c:pt>
                <c:pt idx="61">
                  <c:v>0.24470169189670526</c:v>
                </c:pt>
                <c:pt idx="62">
                  <c:v>4.6742209631728045E-2</c:v>
                </c:pt>
                <c:pt idx="63">
                  <c:v>4.6742209631728045E-2</c:v>
                </c:pt>
                <c:pt idx="64">
                  <c:v>4.6742209631728045E-2</c:v>
                </c:pt>
                <c:pt idx="65">
                  <c:v>4.6742209631728045E-2</c:v>
                </c:pt>
                <c:pt idx="66">
                  <c:v>4.6742209631728045E-2</c:v>
                </c:pt>
                <c:pt idx="67">
                  <c:v>4.6742209631728045E-2</c:v>
                </c:pt>
                <c:pt idx="68">
                  <c:v>4.6742209631728045E-2</c:v>
                </c:pt>
                <c:pt idx="69">
                  <c:v>4.6742209631728045E-2</c:v>
                </c:pt>
                <c:pt idx="70">
                  <c:v>4.6742209631728045E-2</c:v>
                </c:pt>
                <c:pt idx="71">
                  <c:v>4.6742209631728045E-2</c:v>
                </c:pt>
                <c:pt idx="72">
                  <c:v>4.6742209631728045E-2</c:v>
                </c:pt>
                <c:pt idx="73">
                  <c:v>4.6742209631728045E-2</c:v>
                </c:pt>
                <c:pt idx="74">
                  <c:v>4.6742209631728045E-2</c:v>
                </c:pt>
                <c:pt idx="75">
                  <c:v>4.6742209631728045E-2</c:v>
                </c:pt>
                <c:pt idx="76">
                  <c:v>4.6742209631728045E-2</c:v>
                </c:pt>
                <c:pt idx="77">
                  <c:v>4.6742209631728045E-2</c:v>
                </c:pt>
                <c:pt idx="78">
                  <c:v>4.6742209631728045E-2</c:v>
                </c:pt>
                <c:pt idx="79">
                  <c:v>4.6742209631728045E-2</c:v>
                </c:pt>
                <c:pt idx="80">
                  <c:v>4.6742209631728045E-2</c:v>
                </c:pt>
                <c:pt idx="81">
                  <c:v>4.6742209631728045E-2</c:v>
                </c:pt>
                <c:pt idx="82">
                  <c:v>4.6742209631728045E-2</c:v>
                </c:pt>
                <c:pt idx="83">
                  <c:v>4.6742209631728045E-2</c:v>
                </c:pt>
                <c:pt idx="84">
                  <c:v>4.6742209631728045E-2</c:v>
                </c:pt>
                <c:pt idx="85">
                  <c:v>4.6742209631728045E-2</c:v>
                </c:pt>
                <c:pt idx="86">
                  <c:v>0.23967236467236466</c:v>
                </c:pt>
                <c:pt idx="87">
                  <c:v>0.23967236467236466</c:v>
                </c:pt>
                <c:pt idx="88">
                  <c:v>0.23967236467236466</c:v>
                </c:pt>
                <c:pt idx="89">
                  <c:v>0.23967236467236466</c:v>
                </c:pt>
                <c:pt idx="90">
                  <c:v>0.23967236467236466</c:v>
                </c:pt>
                <c:pt idx="91">
                  <c:v>0.23967236467236466</c:v>
                </c:pt>
                <c:pt idx="92">
                  <c:v>0.23967236467236466</c:v>
                </c:pt>
                <c:pt idx="93">
                  <c:v>0.23967236467236466</c:v>
                </c:pt>
                <c:pt idx="94">
                  <c:v>0.23967236467236466</c:v>
                </c:pt>
                <c:pt idx="95">
                  <c:v>0.23967236467236466</c:v>
                </c:pt>
                <c:pt idx="96">
                  <c:v>0.23967236467236466</c:v>
                </c:pt>
                <c:pt idx="97">
                  <c:v>0.23967236467236466</c:v>
                </c:pt>
                <c:pt idx="98">
                  <c:v>0.23967236467236466</c:v>
                </c:pt>
                <c:pt idx="99">
                  <c:v>0.23967236467236466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D32-4818-9B33-36C1868278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757095152"/>
        <c:axId val="811335696"/>
      </c:barChart>
      <c:catAx>
        <c:axId val="7570951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11335696"/>
        <c:crosses val="autoZero"/>
        <c:auto val="1"/>
        <c:lblAlgn val="ctr"/>
        <c:lblOffset val="100"/>
        <c:noMultiLvlLbl val="0"/>
      </c:catAx>
      <c:valAx>
        <c:axId val="81133569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crossAx val="75709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2439430648092"/>
          <c:y val="6.0608740463182535E-2"/>
          <c:w val="0.90687154290467442"/>
          <c:h val="0.87590389595643303"/>
        </c:manualLayout>
      </c:layout>
      <c:areaChart>
        <c:grouping val="standard"/>
        <c:varyColors val="0"/>
        <c:ser>
          <c:idx val="0"/>
          <c:order val="0"/>
          <c:tx>
            <c:strRef>
              <c:f>'JoyPlot nasa'!$C$57</c:f>
              <c:strCache>
                <c:ptCount val="1"/>
                <c:pt idx="0">
                  <c:v>2000</c:v>
                </c:pt>
              </c:strCache>
            </c:strRef>
          </c:tx>
          <c:spPr>
            <a:gradFill flip="none" rotWithShape="1">
              <a:gsLst>
                <a:gs pos="0">
                  <a:srgbClr val="62B5E5">
                    <a:lumMod val="56000"/>
                    <a:lumOff val="44000"/>
                    <a:alpha val="73000"/>
                  </a:srgbClr>
                </a:gs>
                <a:gs pos="56000">
                  <a:srgbClr val="4492BC">
                    <a:alpha val="58000"/>
                  </a:srgbClr>
                </a:gs>
                <a:gs pos="100000">
                  <a:srgbClr val="0076A8">
                    <a:lumMod val="56000"/>
                    <a:alpha val="97000"/>
                  </a:srgbClr>
                </a:gs>
              </a:gsLst>
              <a:lin ang="10800000" scaled="1"/>
              <a:tileRect/>
            </a:gradFill>
            <a:ln cap="sq">
              <a:noFill/>
              <a:bevel/>
            </a:ln>
            <a:effectLst/>
          </c:spPr>
          <c:cat>
            <c:strRef>
              <c:f>'JoyPlot nasa'!$D$56:$O$56</c:f>
              <c:strCache>
                <c:ptCount val="12"/>
                <c:pt idx="0">
                  <c:v>Under 20</c:v>
                </c:pt>
                <c:pt idx="1">
                  <c:v>20-24</c:v>
                </c:pt>
                <c:pt idx="2">
                  <c:v>25-29</c:v>
                </c:pt>
                <c:pt idx="3">
                  <c:v>30-34</c:v>
                </c:pt>
                <c:pt idx="4">
                  <c:v>35-39</c:v>
                </c:pt>
                <c:pt idx="5">
                  <c:v>40-44</c:v>
                </c:pt>
                <c:pt idx="6">
                  <c:v>45-49</c:v>
                </c:pt>
                <c:pt idx="7">
                  <c:v>50-54</c:v>
                </c:pt>
                <c:pt idx="8">
                  <c:v>55-59</c:v>
                </c:pt>
                <c:pt idx="9">
                  <c:v>60-64</c:v>
                </c:pt>
                <c:pt idx="10">
                  <c:v>65-69</c:v>
                </c:pt>
                <c:pt idx="11">
                  <c:v>70 or older</c:v>
                </c:pt>
              </c:strCache>
            </c:strRef>
          </c:cat>
          <c:val>
            <c:numRef>
              <c:f>'JoyPlot nasa'!$D$57:$O$57</c:f>
              <c:numCache>
                <c:formatCode>#,##0</c:formatCode>
                <c:ptCount val="12"/>
                <c:pt idx="0">
                  <c:v>4000</c:v>
                </c:pt>
                <c:pt idx="1">
                  <c:v>4050</c:v>
                </c:pt>
                <c:pt idx="2">
                  <c:v>4300</c:v>
                </c:pt>
                <c:pt idx="3">
                  <c:v>5500</c:v>
                </c:pt>
                <c:pt idx="4">
                  <c:v>6500</c:v>
                </c:pt>
                <c:pt idx="5">
                  <c:v>5900</c:v>
                </c:pt>
                <c:pt idx="6">
                  <c:v>5350</c:v>
                </c:pt>
                <c:pt idx="7">
                  <c:v>5200</c:v>
                </c:pt>
                <c:pt idx="8">
                  <c:v>5300</c:v>
                </c:pt>
                <c:pt idx="9">
                  <c:v>4800</c:v>
                </c:pt>
                <c:pt idx="10">
                  <c:v>4250</c:v>
                </c:pt>
                <c:pt idx="11">
                  <c:v>4050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0A-4577-9E20-DE77D04D6839}"/>
            </c:ext>
          </c:extLst>
        </c:ser>
        <c:ser>
          <c:idx val="10"/>
          <c:order val="1"/>
          <c:tx>
            <c:strRef>
              <c:f>'JoyPlot nasa'!$C$50</c:f>
              <c:strCache>
                <c:ptCount val="1"/>
                <c:pt idx="0">
                  <c:v>2000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val>
            <c:numRef>
              <c:f>'JoyPlot nasa'!$D$50:$O$50</c:f>
              <c:numCache>
                <c:formatCode>#,##0</c:formatCode>
                <c:ptCount val="12"/>
                <c:pt idx="0">
                  <c:v>4000</c:v>
                </c:pt>
                <c:pt idx="1">
                  <c:v>4000</c:v>
                </c:pt>
                <c:pt idx="2">
                  <c:v>4000</c:v>
                </c:pt>
                <c:pt idx="3">
                  <c:v>4000</c:v>
                </c:pt>
                <c:pt idx="4">
                  <c:v>4000</c:v>
                </c:pt>
                <c:pt idx="5">
                  <c:v>4000</c:v>
                </c:pt>
                <c:pt idx="6">
                  <c:v>4000</c:v>
                </c:pt>
                <c:pt idx="7">
                  <c:v>4000</c:v>
                </c:pt>
                <c:pt idx="8">
                  <c:v>4000</c:v>
                </c:pt>
                <c:pt idx="9">
                  <c:v>4000</c:v>
                </c:pt>
                <c:pt idx="10">
                  <c:v>4000</c:v>
                </c:pt>
                <c:pt idx="11">
                  <c:v>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0A-4577-9E20-DE77D04D6839}"/>
            </c:ext>
          </c:extLst>
        </c:ser>
        <c:ser>
          <c:idx val="1"/>
          <c:order val="2"/>
          <c:tx>
            <c:strRef>
              <c:f>'JoyPlot nasa'!$C$58</c:f>
              <c:strCache>
                <c:ptCount val="1"/>
                <c:pt idx="0">
                  <c:v>2010</c:v>
                </c:pt>
              </c:strCache>
            </c:strRef>
          </c:tx>
          <c:spPr>
            <a:gradFill>
              <a:gsLst>
                <a:gs pos="0">
                  <a:srgbClr val="62B5E5">
                    <a:lumMod val="56000"/>
                    <a:lumOff val="44000"/>
                    <a:alpha val="73000"/>
                  </a:srgbClr>
                </a:gs>
                <a:gs pos="56000">
                  <a:srgbClr val="4492BC">
                    <a:alpha val="58000"/>
                  </a:srgbClr>
                </a:gs>
                <a:gs pos="100000">
                  <a:srgbClr val="0076A8">
                    <a:lumMod val="56000"/>
                    <a:alpha val="97000"/>
                  </a:srgbClr>
                </a:gs>
              </a:gsLst>
              <a:lin ang="10800000" scaled="1"/>
            </a:gradFill>
            <a:ln>
              <a:noFill/>
            </a:ln>
            <a:effectLst/>
          </c:spPr>
          <c:cat>
            <c:strRef>
              <c:f>'JoyPlot nasa'!$D$56:$O$56</c:f>
              <c:strCache>
                <c:ptCount val="12"/>
                <c:pt idx="0">
                  <c:v>Under 20</c:v>
                </c:pt>
                <c:pt idx="1">
                  <c:v>20-24</c:v>
                </c:pt>
                <c:pt idx="2">
                  <c:v>25-29</c:v>
                </c:pt>
                <c:pt idx="3">
                  <c:v>30-34</c:v>
                </c:pt>
                <c:pt idx="4">
                  <c:v>35-39</c:v>
                </c:pt>
                <c:pt idx="5">
                  <c:v>40-44</c:v>
                </c:pt>
                <c:pt idx="6">
                  <c:v>45-49</c:v>
                </c:pt>
                <c:pt idx="7">
                  <c:v>50-54</c:v>
                </c:pt>
                <c:pt idx="8">
                  <c:v>55-59</c:v>
                </c:pt>
                <c:pt idx="9">
                  <c:v>60-64</c:v>
                </c:pt>
                <c:pt idx="10">
                  <c:v>65-69</c:v>
                </c:pt>
                <c:pt idx="11">
                  <c:v>70 or older</c:v>
                </c:pt>
              </c:strCache>
            </c:strRef>
          </c:cat>
          <c:val>
            <c:numRef>
              <c:f>'JoyPlot nasa'!$D$58:$O$58</c:f>
              <c:numCache>
                <c:formatCode>#,##0</c:formatCode>
                <c:ptCount val="12"/>
                <c:pt idx="0">
                  <c:v>2000</c:v>
                </c:pt>
                <c:pt idx="1">
                  <c:v>2100</c:v>
                </c:pt>
                <c:pt idx="2">
                  <c:v>2750</c:v>
                </c:pt>
                <c:pt idx="3">
                  <c:v>2770</c:v>
                </c:pt>
                <c:pt idx="4">
                  <c:v>2850</c:v>
                </c:pt>
                <c:pt idx="5">
                  <c:v>3900</c:v>
                </c:pt>
                <c:pt idx="6">
                  <c:v>5000</c:v>
                </c:pt>
                <c:pt idx="7">
                  <c:v>4200</c:v>
                </c:pt>
                <c:pt idx="8">
                  <c:v>3200</c:v>
                </c:pt>
                <c:pt idx="9">
                  <c:v>2700</c:v>
                </c:pt>
                <c:pt idx="10">
                  <c:v>2350</c:v>
                </c:pt>
                <c:pt idx="11">
                  <c:v>2020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0A-4577-9E20-DE77D04D6839}"/>
            </c:ext>
          </c:extLst>
        </c:ser>
        <c:ser>
          <c:idx val="11"/>
          <c:order val="3"/>
          <c:tx>
            <c:strRef>
              <c:f>'JoyPlot nasa'!$C$51</c:f>
              <c:strCache>
                <c:ptCount val="1"/>
                <c:pt idx="0">
                  <c:v>2010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val>
            <c:numRef>
              <c:f>'JoyPlot nasa'!$D$51:$O$51</c:f>
              <c:numCache>
                <c:formatCode>#,##0</c:formatCode>
                <c:ptCount val="12"/>
                <c:pt idx="0">
                  <c:v>2000</c:v>
                </c:pt>
                <c:pt idx="1">
                  <c:v>2000</c:v>
                </c:pt>
                <c:pt idx="2">
                  <c:v>2000</c:v>
                </c:pt>
                <c:pt idx="3">
                  <c:v>2000</c:v>
                </c:pt>
                <c:pt idx="4">
                  <c:v>2000</c:v>
                </c:pt>
                <c:pt idx="5">
                  <c:v>2000</c:v>
                </c:pt>
                <c:pt idx="6">
                  <c:v>2000</c:v>
                </c:pt>
                <c:pt idx="7">
                  <c:v>2000</c:v>
                </c:pt>
                <c:pt idx="8">
                  <c:v>2000</c:v>
                </c:pt>
                <c:pt idx="9">
                  <c:v>2000</c:v>
                </c:pt>
                <c:pt idx="10">
                  <c:v>2000</c:v>
                </c:pt>
                <c:pt idx="11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B0A-4577-9E20-DE77D04D6839}"/>
            </c:ext>
          </c:extLst>
        </c:ser>
        <c:ser>
          <c:idx val="2"/>
          <c:order val="4"/>
          <c:tx>
            <c:strRef>
              <c:f>'JoyPlot nasa'!$C$59</c:f>
              <c:strCache>
                <c:ptCount val="1"/>
                <c:pt idx="0">
                  <c:v>2020</c:v>
                </c:pt>
              </c:strCache>
            </c:strRef>
          </c:tx>
          <c:spPr>
            <a:gradFill>
              <a:gsLst>
                <a:gs pos="0">
                  <a:srgbClr val="62B5E5">
                    <a:lumMod val="56000"/>
                    <a:lumOff val="44000"/>
                    <a:alpha val="73000"/>
                  </a:srgbClr>
                </a:gs>
                <a:gs pos="56000">
                  <a:srgbClr val="4492BC">
                    <a:alpha val="58000"/>
                  </a:srgbClr>
                </a:gs>
                <a:gs pos="100000">
                  <a:srgbClr val="0076A8">
                    <a:lumMod val="56000"/>
                    <a:alpha val="97000"/>
                  </a:srgbClr>
                </a:gs>
              </a:gsLst>
              <a:lin ang="10800000" scaled="1"/>
            </a:gradFill>
            <a:ln>
              <a:noFill/>
            </a:ln>
            <a:effectLst/>
          </c:spPr>
          <c:cat>
            <c:strRef>
              <c:f>'JoyPlot nasa'!$D$56:$O$56</c:f>
              <c:strCache>
                <c:ptCount val="12"/>
                <c:pt idx="0">
                  <c:v>Under 20</c:v>
                </c:pt>
                <c:pt idx="1">
                  <c:v>20-24</c:v>
                </c:pt>
                <c:pt idx="2">
                  <c:v>25-29</c:v>
                </c:pt>
                <c:pt idx="3">
                  <c:v>30-34</c:v>
                </c:pt>
                <c:pt idx="4">
                  <c:v>35-39</c:v>
                </c:pt>
                <c:pt idx="5">
                  <c:v>40-44</c:v>
                </c:pt>
                <c:pt idx="6">
                  <c:v>45-49</c:v>
                </c:pt>
                <c:pt idx="7">
                  <c:v>50-54</c:v>
                </c:pt>
                <c:pt idx="8">
                  <c:v>55-59</c:v>
                </c:pt>
                <c:pt idx="9">
                  <c:v>60-64</c:v>
                </c:pt>
                <c:pt idx="10">
                  <c:v>65-69</c:v>
                </c:pt>
                <c:pt idx="11">
                  <c:v>70 or older</c:v>
                </c:pt>
              </c:strCache>
            </c:strRef>
          </c:cat>
          <c:val>
            <c:numRef>
              <c:f>'JoyPlot nasa'!$D$59:$O$59</c:f>
              <c:numCache>
                <c:formatCode>#,##0</c:formatCode>
                <c:ptCount val="12"/>
                <c:pt idx="0">
                  <c:v>0</c:v>
                </c:pt>
                <c:pt idx="1">
                  <c:v>100</c:v>
                </c:pt>
                <c:pt idx="2">
                  <c:v>750</c:v>
                </c:pt>
                <c:pt idx="3">
                  <c:v>1100</c:v>
                </c:pt>
                <c:pt idx="4">
                  <c:v>1250</c:v>
                </c:pt>
                <c:pt idx="5">
                  <c:v>1100</c:v>
                </c:pt>
                <c:pt idx="6">
                  <c:v>1100</c:v>
                </c:pt>
                <c:pt idx="7">
                  <c:v>2000</c:v>
                </c:pt>
                <c:pt idx="8">
                  <c:v>2500</c:v>
                </c:pt>
                <c:pt idx="9">
                  <c:v>1400</c:v>
                </c:pt>
                <c:pt idx="10">
                  <c:v>500</c:v>
                </c:pt>
                <c:pt idx="1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B0A-4577-9E20-DE77D04D6839}"/>
            </c:ext>
          </c:extLst>
        </c:ser>
        <c:ser>
          <c:idx val="12"/>
          <c:order val="5"/>
          <c:tx>
            <c:strRef>
              <c:f>'JoyPlot nasa'!$C$52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val>
            <c:numRef>
              <c:f>'JoyPlot nasa'!$D$52:$O$52</c:f>
              <c:numCache>
                <c:formatCode>#,##0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B0A-4577-9E20-DE77D04D68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9403567"/>
        <c:axId val="959404399"/>
      </c:areaChart>
      <c:scatterChart>
        <c:scatterStyle val="lineMarker"/>
        <c:varyColors val="0"/>
        <c:ser>
          <c:idx val="20"/>
          <c:order val="6"/>
          <c:tx>
            <c:strRef>
              <c:f>'JoyPlot nasa'!$Q$57</c:f>
              <c:strCache>
                <c:ptCount val="1"/>
                <c:pt idx="0">
                  <c:v>2000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6-DB0A-4577-9E20-DE77D04D6839}"/>
              </c:ext>
            </c:extLst>
          </c:dPt>
          <c:dLbls>
            <c:dLbl>
              <c:idx val="0"/>
              <c:layout>
                <c:manualLayout>
                  <c:x val="-8.6855081721965849E-2"/>
                  <c:y val="-0.1099583918599621"/>
                </c:manualLayout>
              </c:layout>
              <c:dLblPos val="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B0A-4577-9E20-DE77D04D68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Montserrat Light" panose="00000400000000000000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l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strRef>
              <c:f>'JoyPlot nasa'!$R$56</c:f>
              <c:strCache>
                <c:ptCount val="1"/>
                <c:pt idx="0">
                  <c:v>шаг</c:v>
                </c:pt>
              </c:strCache>
            </c:strRef>
          </c:xVal>
          <c:yVal>
            <c:numRef>
              <c:f>'JoyPlot nasa'!$R$57</c:f>
              <c:numCache>
                <c:formatCode>#,##0</c:formatCode>
                <c:ptCount val="1"/>
                <c:pt idx="0">
                  <c:v>4400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DB0A-4577-9E20-DE77D04D6839}"/>
            </c:ext>
          </c:extLst>
        </c:ser>
        <c:ser>
          <c:idx val="21"/>
          <c:order val="7"/>
          <c:tx>
            <c:strRef>
              <c:f>'JoyPlot nasa'!$Q$58</c:f>
              <c:strCache>
                <c:ptCount val="1"/>
                <c:pt idx="0">
                  <c:v>2010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8.3839219264370532E-2"/>
                  <c:y val="-6.5975035115977312E-2"/>
                </c:manualLayout>
              </c:layout>
              <c:dLblPos val="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B0A-4577-9E20-DE77D04D68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Montserrat Light" panose="00000400000000000000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l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strRef>
              <c:f>'JoyPlot nasa'!$R$56:$S$56</c:f>
              <c:strCache>
                <c:ptCount val="2"/>
                <c:pt idx="0">
                  <c:v>шаг</c:v>
                </c:pt>
                <c:pt idx="1">
                  <c:v>точка</c:v>
                </c:pt>
              </c:strCache>
            </c:strRef>
          </c:xVal>
          <c:yVal>
            <c:numRef>
              <c:f>'JoyPlot nasa'!$R$58</c:f>
              <c:numCache>
                <c:formatCode>#,##0</c:formatCode>
                <c:ptCount val="1"/>
                <c:pt idx="0">
                  <c:v>2400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DB0A-4577-9E20-DE77D04D6839}"/>
            </c:ext>
          </c:extLst>
        </c:ser>
        <c:ser>
          <c:idx val="22"/>
          <c:order val="8"/>
          <c:tx>
            <c:strRef>
              <c:f>'JoyPlot nasa'!$Q$59</c:f>
              <c:strCache>
                <c:ptCount val="1"/>
                <c:pt idx="0">
                  <c:v>2020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8.7604811574486033E-2"/>
                  <c:y val="-4.3983356743984826E-2"/>
                </c:manualLayout>
              </c:layout>
              <c:dLblPos val="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B0A-4577-9E20-DE77D04D68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Montserrat Light" panose="00000400000000000000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l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strRef>
              <c:f>'JoyPlot nasa'!$R$56:$S$56</c:f>
              <c:strCache>
                <c:ptCount val="2"/>
                <c:pt idx="0">
                  <c:v>шаг</c:v>
                </c:pt>
                <c:pt idx="1">
                  <c:v>точка</c:v>
                </c:pt>
              </c:strCache>
            </c:strRef>
          </c:xVal>
          <c:yVal>
            <c:numRef>
              <c:f>'JoyPlot nasa'!$R$59</c:f>
              <c:numCache>
                <c:formatCode>#,##0</c:formatCode>
                <c:ptCount val="1"/>
                <c:pt idx="0">
                  <c:v>400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DB0A-4577-9E20-DE77D04D68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9403567"/>
        <c:axId val="959404399"/>
      </c:scatterChart>
      <c:catAx>
        <c:axId val="959403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 Light" panose="00000400000000000000" pitchFamily="2" charset="-52"/>
                <a:ea typeface="+mn-ea"/>
                <a:cs typeface="+mn-cs"/>
              </a:defRPr>
            </a:pPr>
            <a:endParaRPr lang="ru-RU"/>
          </a:p>
        </c:txPr>
        <c:crossAx val="959404399"/>
        <c:crosses val="autoZero"/>
        <c:auto val="1"/>
        <c:lblAlgn val="ctr"/>
        <c:lblOffset val="100"/>
        <c:noMultiLvlLbl val="0"/>
      </c:catAx>
      <c:valAx>
        <c:axId val="959404399"/>
        <c:scaling>
          <c:orientation val="minMax"/>
          <c:max val="6500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9594035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Montserrat Light" panose="00000400000000000000" pitchFamily="2" charset="-52"/>
        </a:defRPr>
      </a:pPr>
      <a:endParaRPr lang="ru-RU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A3E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8F-4610-9714-B4B1A1BE31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8F-4610-9714-B4B1A1BE31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8F-4610-9714-B4B1A1BE317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34169055"/>
        <c:axId val="765604783"/>
      </c:barChart>
      <c:catAx>
        <c:axId val="6341690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65604783"/>
        <c:crosses val="autoZero"/>
        <c:auto val="1"/>
        <c:lblAlgn val="ctr"/>
        <c:lblOffset val="100"/>
        <c:noMultiLvlLbl val="0"/>
      </c:catAx>
      <c:valAx>
        <c:axId val="7656047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34169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8F-4610-9714-B4B1A1BE31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8F-4610-9714-B4B1A1BE31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8F-4610-9714-B4B1A1BE317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78F-4610-9714-B4B1A1BE317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rgbClr val="00A3E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78F-4610-9714-B4B1A1BE317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78F-4610-9714-B4B1A1BE317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7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78F-4610-9714-B4B1A1BE317E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Series 8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Sheet1!$I$2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78F-4610-9714-B4B1A1BE317E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Series 9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Sheet1!$J$2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78F-4610-9714-B4B1A1BE317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34169055"/>
        <c:axId val="765604783"/>
      </c:barChart>
      <c:catAx>
        <c:axId val="6341690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65604783"/>
        <c:crosses val="autoZero"/>
        <c:auto val="1"/>
        <c:lblAlgn val="ctr"/>
        <c:lblOffset val="100"/>
        <c:noMultiLvlLbl val="0"/>
      </c:catAx>
      <c:valAx>
        <c:axId val="7656047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34169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8F-4610-9714-B4B1A1BE31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12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8F-4610-9714-B4B1A1BE31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13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8F-4610-9714-B4B1A1BE317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22.6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78F-4610-9714-B4B1A1BE317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85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78F-4610-9714-B4B1A1BE317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86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78F-4610-9714-B4B1A1BE317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82</c:v>
                </c:pt>
              </c:strCache>
            </c:strRef>
          </c:tx>
          <c:spPr>
            <a:solidFill>
              <a:srgbClr val="00A3E0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78F-4610-9714-B4B1A1BE317E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Series 822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Sheet1!$I$2</c:f>
              <c:numCache>
                <c:formatCode>General</c:formatCode>
                <c:ptCount val="1"/>
                <c:pt idx="0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78F-4610-9714-B4B1A1BE317E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Series 9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Sheet1!$J$2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569-40F3-9FF3-AB2DBDF400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34169055"/>
        <c:axId val="765604783"/>
      </c:barChart>
      <c:catAx>
        <c:axId val="6341690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65604783"/>
        <c:crosses val="autoZero"/>
        <c:auto val="1"/>
        <c:lblAlgn val="ctr"/>
        <c:lblOffset val="100"/>
        <c:noMultiLvlLbl val="0"/>
      </c:catAx>
      <c:valAx>
        <c:axId val="7656047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34169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380148394912175"/>
          <c:y val="6.8692453914865698E-2"/>
          <c:w val="0.8368620533010297"/>
          <c:h val="0.8851537034256735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8.449545729860683E-2"/>
                  <c:y val="4.5427010491595206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202-4C48-BEE3-0BA5D7DCB7A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A3E0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14.3</c:v>
                </c:pt>
                <c:pt idx="1">
                  <c:v>13</c:v>
                </c:pt>
                <c:pt idx="2">
                  <c:v>3.5</c:v>
                </c:pt>
                <c:pt idx="3">
                  <c:v>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202-4C48-BEE3-0BA5D7DCB7A3}"/>
            </c:ext>
          </c:extLst>
        </c:ser>
        <c:ser>
          <c:idx val="3"/>
          <c:order val="2"/>
          <c:tx>
            <c:strRef>
              <c:f>Sheet1!$E$1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rgbClr val="00A3E0"/>
            </a:solidFill>
            <a:ln w="25400"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10.899999999999999</c:v>
                </c:pt>
                <c:pt idx="1">
                  <c:v>11.899999999999999</c:v>
                </c:pt>
                <c:pt idx="2">
                  <c:v>4.5999999999999996</c:v>
                </c:pt>
                <c:pt idx="3">
                  <c:v>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202-4C48-BEE3-0BA5D7DCB7A3}"/>
            </c:ext>
          </c:extLst>
        </c:ser>
        <c:ser>
          <c:idx val="2"/>
          <c:order val="3"/>
          <c:tx>
            <c:strRef>
              <c:f>Sheet1!$D$1</c:f>
              <c:strCache>
                <c:ptCount val="1"/>
                <c:pt idx="0">
                  <c:v>max</c:v>
                </c:pt>
              </c:strCache>
            </c:strRef>
          </c:tx>
          <c:spPr>
            <a:noFill/>
            <a:ln w="2540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A3E0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25.2</c:v>
                </c:pt>
                <c:pt idx="1">
                  <c:v>24.9</c:v>
                </c:pt>
                <c:pt idx="2">
                  <c:v>8.1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02-4C48-BEE3-0BA5D7DCB7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8"/>
        <c:overlap val="100"/>
        <c:axId val="2031418928"/>
        <c:axId val="2029235568"/>
      </c:barChart>
      <c:scatterChart>
        <c:scatterStyle val="lineMarker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chemeClr val="tx1"/>
              </a:solidFill>
              <a:ln w="22225">
                <a:solidFill>
                  <a:schemeClr val="bg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Sheet1!$C$2:$C$5</c:f>
              <c:numCache>
                <c:formatCode>General</c:formatCode>
                <c:ptCount val="4"/>
                <c:pt idx="0">
                  <c:v>19</c:v>
                </c:pt>
                <c:pt idx="1">
                  <c:v>16</c:v>
                </c:pt>
                <c:pt idx="2">
                  <c:v>5</c:v>
                </c:pt>
                <c:pt idx="3">
                  <c:v>10</c:v>
                </c:pt>
              </c:numCache>
            </c:numRef>
          </c:xVal>
          <c:yVal>
            <c:numRef>
              <c:f>Sheet1!$G$2:$G$5</c:f>
              <c:numCache>
                <c:formatCode>General</c:formatCode>
                <c:ptCount val="4"/>
                <c:pt idx="0">
                  <c:v>3.5</c:v>
                </c:pt>
                <c:pt idx="1">
                  <c:v>2.5</c:v>
                </c:pt>
                <c:pt idx="2">
                  <c:v>1.5</c:v>
                </c:pt>
                <c:pt idx="3">
                  <c:v>0.5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A202-4C48-BEE3-0BA5D7DCB7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1447728"/>
        <c:axId val="1944603120"/>
      </c:scatterChart>
      <c:catAx>
        <c:axId val="203141892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29235568"/>
        <c:crosses val="autoZero"/>
        <c:auto val="1"/>
        <c:lblAlgn val="ctr"/>
        <c:lblOffset val="100"/>
        <c:noMultiLvlLbl val="0"/>
      </c:catAx>
      <c:valAx>
        <c:axId val="2029235568"/>
        <c:scaling>
          <c:orientation val="minMax"/>
          <c:max val="45"/>
          <c:min val="0"/>
        </c:scaling>
        <c:delete val="0"/>
        <c:axPos val="t"/>
        <c:numFmt formatCode="General" sourceLinked="1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1418928"/>
        <c:crosses val="autoZero"/>
        <c:crossBetween val="between"/>
        <c:majorUnit val="10"/>
      </c:valAx>
      <c:valAx>
        <c:axId val="1944603120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2031447728"/>
        <c:crosses val="max"/>
        <c:crossBetween val="midCat"/>
      </c:valAx>
      <c:valAx>
        <c:axId val="20314477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446031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5870287540743679E-2"/>
          <c:y val="2.6403986276875555E-2"/>
          <c:w val="0.96023382624032316"/>
          <c:h val="0.8316457677169819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00558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2.1603309558982518E-2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D29-4BD9-919C-5D055D353D8A}"/>
                </c:ext>
              </c:extLst>
            </c:dLbl>
            <c:dLbl>
              <c:idx val="3"/>
              <c:layout>
                <c:manualLayout>
                  <c:x val="-1.3255238127583642E-16"/>
                  <c:y val="-4.320661911796511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D29-4BD9-919C-5D055D353D8A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Sheet1!$B$1:$E$1</c:f>
              <c:strCache>
                <c:ptCount val="4"/>
                <c:pt idx="0">
                  <c:v>2024</c:v>
                </c:pt>
                <c:pt idx="1">
                  <c:v>2029</c:v>
                </c:pt>
                <c:pt idx="2">
                  <c:v>2034</c:v>
                </c:pt>
                <c:pt idx="3">
                  <c:v>2040</c:v>
                </c:pt>
              </c:strCache>
            </c:strRef>
          </c:cat>
          <c:val>
            <c:numRef>
              <c:f>Sheet1!$B$2:$E$2</c:f>
              <c:numCache>
                <c:formatCode>0.00</c:formatCode>
                <c:ptCount val="4"/>
                <c:pt idx="0">
                  <c:v>0.127</c:v>
                </c:pt>
                <c:pt idx="1">
                  <c:v>0.58949999999999991</c:v>
                </c:pt>
                <c:pt idx="2">
                  <c:v>1.831</c:v>
                </c:pt>
                <c:pt idx="3">
                  <c:v>2.4683000000000002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29-4BD9-919C-5D055D353D8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2024</c:v>
                </c:pt>
                <c:pt idx="1">
                  <c:v>2029</c:v>
                </c:pt>
                <c:pt idx="2">
                  <c:v>2034</c:v>
                </c:pt>
                <c:pt idx="3">
                  <c:v>2040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29-4BD9-919C-5D055D353D8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Optimistic</c:v>
                </c:pt>
              </c:strCache>
            </c:strRef>
          </c:tx>
          <c:spPr>
            <a:solidFill>
              <a:srgbClr val="62B5E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2.6404045016534275E-2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00A3E0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D29-4BD9-919C-5D055D353D8A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Sheet1!$B$1:$E$1</c:f>
              <c:strCache>
                <c:ptCount val="4"/>
                <c:pt idx="0">
                  <c:v>2024</c:v>
                </c:pt>
                <c:pt idx="1">
                  <c:v>2029</c:v>
                </c:pt>
                <c:pt idx="2">
                  <c:v>2034</c:v>
                </c:pt>
                <c:pt idx="3">
                  <c:v>2040</c:v>
                </c:pt>
              </c:strCache>
            </c:strRef>
          </c:cat>
          <c:val>
            <c:numRef>
              <c:f>Sheet1!$B$4:$E$4</c:f>
              <c:numCache>
                <c:formatCode>0.00</c:formatCode>
                <c:ptCount val="4"/>
                <c:pt idx="0">
                  <c:v>0.127</c:v>
                </c:pt>
                <c:pt idx="1">
                  <c:v>0.58949999999999991</c:v>
                </c:pt>
                <c:pt idx="2">
                  <c:v>1.831</c:v>
                </c:pt>
                <c:pt idx="3">
                  <c:v>4.633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29-4BD9-919C-5D055D353D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0"/>
        <c:overlap val="100"/>
        <c:axId val="47123120"/>
        <c:axId val="2033787552"/>
      </c:barChart>
      <c:catAx>
        <c:axId val="47123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3787552"/>
        <c:crosses val="autoZero"/>
        <c:auto val="1"/>
        <c:lblAlgn val="ctr"/>
        <c:lblOffset val="100"/>
        <c:noMultiLvlLbl val="0"/>
      </c:catAx>
      <c:valAx>
        <c:axId val="2033787552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47123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819634993506968E-2"/>
          <c:y val="3.3839455642577836E-2"/>
          <c:w val="0.9436073001298606"/>
          <c:h val="0.7961711758084468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1st Qtr</c:v>
                </c:pt>
              </c:strCache>
            </c:strRef>
          </c:tx>
          <c:spPr>
            <a:solidFill>
              <a:srgbClr val="041E42"/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41E42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87F-4B0C-B376-D55709125E55}"/>
              </c:ext>
            </c:extLst>
          </c:dPt>
          <c:dPt>
            <c:idx val="1"/>
            <c:invertIfNegative val="0"/>
            <c:bubble3D val="0"/>
            <c:spPr>
              <a:solidFill>
                <a:srgbClr val="041E42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87F-4B0C-B376-D55709125E5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Sheet1!$B$2:$C$2</c:f>
              <c:numCache>
                <c:formatCode>0%</c:formatCode>
                <c:ptCount val="2"/>
                <c:pt idx="0">
                  <c:v>0.48</c:v>
                </c:pt>
                <c:pt idx="1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87F-4B0C-B376-D55709125E5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2nd Qtr</c:v>
                </c:pt>
              </c:strCache>
            </c:strRef>
          </c:tx>
          <c:spPr>
            <a:solidFill>
              <a:srgbClr val="0076A8"/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76A8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87F-4B0C-B376-D55709125E55}"/>
              </c:ext>
            </c:extLst>
          </c:dPt>
          <c:dPt>
            <c:idx val="1"/>
            <c:invertIfNegative val="0"/>
            <c:bubble3D val="0"/>
            <c:spPr>
              <a:solidFill>
                <a:srgbClr val="0076A8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087F-4B0C-B376-D55709125E5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Sheet1!$B$3:$C$3</c:f>
              <c:numCache>
                <c:formatCode>0%</c:formatCode>
                <c:ptCount val="2"/>
                <c:pt idx="0">
                  <c:v>0.4</c:v>
                </c:pt>
                <c:pt idx="1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087F-4B0C-B376-D55709125E5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3rd Qtr</c:v>
                </c:pt>
              </c:strCache>
            </c:strRef>
          </c:tx>
          <c:spPr>
            <a:solidFill>
              <a:srgbClr val="9DD4CF"/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DD4CF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87F-4B0C-B376-D55709125E55}"/>
              </c:ext>
            </c:extLst>
          </c:dPt>
          <c:dPt>
            <c:idx val="1"/>
            <c:invertIfNegative val="0"/>
            <c:bubble3D val="0"/>
            <c:spPr>
              <a:solidFill>
                <a:srgbClr val="9DD4CF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087F-4B0C-B376-D55709125E5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Sheet1!$B$4:$C$4</c:f>
              <c:numCache>
                <c:formatCode>0%</c:formatCode>
                <c:ptCount val="2"/>
                <c:pt idx="0">
                  <c:v>0.12</c:v>
                </c:pt>
                <c:pt idx="1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87F-4B0C-B376-D55709125E5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80"/>
        <c:overlap val="100"/>
        <c:axId val="833838224"/>
        <c:axId val="834059952"/>
      </c:barChart>
      <c:catAx>
        <c:axId val="833838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34059952"/>
        <c:crosses val="autoZero"/>
        <c:auto val="1"/>
        <c:lblAlgn val="ctr"/>
        <c:lblOffset val="100"/>
        <c:noMultiLvlLbl val="0"/>
      </c:catAx>
      <c:valAx>
        <c:axId val="834059952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833838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63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041E42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467-4A2D-90EF-9EC9E5A20BF2}"/>
              </c:ext>
            </c:extLst>
          </c:dPt>
          <c:dPt>
            <c:idx val="1"/>
            <c:bubble3D val="0"/>
            <c:spPr>
              <a:solidFill>
                <a:srgbClr val="0076A8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467-4A2D-90EF-9EC9E5A20BF2}"/>
              </c:ext>
            </c:extLst>
          </c:dPt>
          <c:dPt>
            <c:idx val="2"/>
            <c:bubble3D val="0"/>
            <c:spPr>
              <a:solidFill>
                <a:srgbClr val="9DD4CF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467-4A2D-90EF-9EC9E5A20B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0.48</c:v>
                </c:pt>
                <c:pt idx="1">
                  <c:v>0.4</c:v>
                </c:pt>
                <c:pt idx="2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467-4A2D-90EF-9EC9E5A20B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Sales2</c:v>
                </c:pt>
              </c:strCache>
            </c:strRef>
          </c:tx>
          <c:spPr>
            <a:ln w="63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041E42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467-4A2D-90EF-9EC9E5A20BF2}"/>
              </c:ext>
            </c:extLst>
          </c:dPt>
          <c:dPt>
            <c:idx val="1"/>
            <c:bubble3D val="0"/>
            <c:spPr>
              <a:solidFill>
                <a:srgbClr val="0076A8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8467-4A2D-90EF-9EC9E5A20BF2}"/>
              </c:ext>
            </c:extLst>
          </c:dPt>
          <c:dPt>
            <c:idx val="2"/>
            <c:bubble3D val="0"/>
            <c:spPr>
              <a:solidFill>
                <a:srgbClr val="9DD4CF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8467-4A2D-90EF-9EC9E5A20B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0.71</c:v>
                </c:pt>
                <c:pt idx="1">
                  <c:v>0.19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467-4A2D-90EF-9EC9E5A20B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F2F2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C66-47EE-BCC2-8BF9843A0CCE}"/>
              </c:ext>
            </c:extLst>
          </c:dPt>
          <c:dPt>
            <c:idx val="1"/>
            <c:invertIfNegative val="0"/>
            <c:bubble3D val="0"/>
            <c:spPr>
              <a:solidFill>
                <a:srgbClr val="43B02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FC66-47EE-BCC2-8BF9843A0CC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C66-47EE-BCC2-8BF9843A0C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32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C66-47EE-BCC2-8BF9843A0C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66-47EE-BCC2-8BF9843A0C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3B02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C66-47EE-BCC2-8BF9843A0CCE}"/>
              </c:ext>
            </c:extLst>
          </c:dPt>
          <c:dPt>
            <c:idx val="1"/>
            <c:invertIfNegative val="0"/>
            <c:bubble3D val="0"/>
            <c:spPr>
              <a:solidFill>
                <a:srgbClr val="2F2F2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C66-47EE-BCC2-8BF9843A0CC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C66-47EE-BCC2-8BF9843A0C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16.5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C66-47EE-BCC2-8BF9843A0C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</c:v>
                </c:pt>
                <c:pt idx="1">
                  <c:v>16.5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66-47EE-BCC2-8BF9843A0C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6BC2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C66-47EE-BCC2-8BF9843A0CCE}"/>
              </c:ext>
            </c:extLst>
          </c:dPt>
          <c:dPt>
            <c:idx val="1"/>
            <c:invertIfNegative val="0"/>
            <c:bubble3D val="0"/>
            <c:spPr>
              <a:solidFill>
                <a:srgbClr val="6FC2B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FC66-47EE-BCC2-8BF9843A0CC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7.5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C66-47EE-BCC2-8BF9843A0C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FC66-47EE-BCC2-8BF9843A0C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7.5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66-47EE-BCC2-8BF9843A0CC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4D6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FC66-47EE-BCC2-8BF9843A0CCE}"/>
              </c:ext>
            </c:extLst>
          </c:dPt>
          <c:dPt>
            <c:idx val="1"/>
            <c:invertIfNegative val="0"/>
            <c:bubble3D val="0"/>
            <c:spPr>
              <a:solidFill>
                <a:srgbClr val="C4D6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C66-47EE-BCC2-8BF9843A0CC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C66-47EE-BCC2-8BF9843A0C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C66-47EE-BCC2-8BF9843A0C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7</c:v>
                </c:pt>
                <c:pt idx="1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C66-47EE-BCC2-8BF9843A0CC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FC2B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C66-47EE-BCC2-8BF9843A0CCE}"/>
              </c:ext>
            </c:extLst>
          </c:dPt>
          <c:dPt>
            <c:idx val="1"/>
            <c:invertIfNegative val="0"/>
            <c:bubble3D val="0"/>
            <c:spPr>
              <a:solidFill>
                <a:srgbClr val="86BC2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FC66-47EE-BCC2-8BF9843A0CC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C66-47EE-BCC2-8BF9843A0CCE}"/>
                </c:ext>
              </c:extLst>
            </c:dLbl>
            <c:dLbl>
              <c:idx val="1"/>
              <c:layout>
                <c:manualLayout>
                  <c:x val="0.10132518712537483"/>
                  <c:y val="2.206413027721594E-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rgbClr val="86BC25"/>
                        </a:solidFill>
                        <a:latin typeface="+mj-lt"/>
                        <a:ea typeface="+mn-ea"/>
                        <a:cs typeface="+mn-cs"/>
                      </a:defRPr>
                    </a:pPr>
                    <a:r>
                      <a:rPr lang="en-US" sz="900" b="1">
                        <a:solidFill>
                          <a:srgbClr val="86BC25"/>
                        </a:solidFill>
                      </a:rPr>
                      <a:t>1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86BC25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C66-47EE-BCC2-8BF9843A0C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2.5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C66-47EE-BCC2-8BF9843A0CC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50"/>
        <c:overlap val="100"/>
        <c:axId val="1820175391"/>
        <c:axId val="1560427647"/>
      </c:barChart>
      <c:catAx>
        <c:axId val="1820175391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560427647"/>
        <c:crosses val="autoZero"/>
        <c:auto val="1"/>
        <c:lblAlgn val="ctr"/>
        <c:lblOffset val="100"/>
        <c:noMultiLvlLbl val="0"/>
      </c:catAx>
      <c:valAx>
        <c:axId val="1560427647"/>
        <c:scaling>
          <c:orientation val="maxMin"/>
        </c:scaling>
        <c:delete val="1"/>
        <c:axPos val="l"/>
        <c:numFmt formatCode="0%" sourceLinked="1"/>
        <c:majorTickMark val="out"/>
        <c:minorTickMark val="none"/>
        <c:tickLblPos val="nextTo"/>
        <c:crossAx val="18201753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+mj-lt"/>
        </a:defRPr>
      </a:pPr>
      <a:endParaRPr lang="ru-RU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solidFill>
              <a:schemeClr val="bg2">
                <a:lumMod val="75000"/>
                <a:alpha val="31000"/>
              </a:schemeClr>
            </a:solidFill>
            <a:ln w="3175">
              <a:noFill/>
            </a:ln>
            <a:effectLst/>
          </c:spPr>
          <c:invertIfNegative val="0"/>
          <c:dLbls>
            <c:delete val="1"/>
          </c:dLbls>
          <c:xVal>
            <c:numRef>
              <c:f>Sheet1!$A$2:$A$16</c:f>
              <c:numCache>
                <c:formatCode>General</c:formatCode>
                <c:ptCount val="1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yVal>
          <c:bubbleSize>
            <c:numRef>
              <c:f>Sheet1!$C$2:$C$16</c:f>
              <c:numCache>
                <c:formatCode>0.0</c:formatCode>
                <c:ptCount val="15"/>
                <c:pt idx="0">
                  <c:v>9.3103448275862153</c:v>
                </c:pt>
                <c:pt idx="1">
                  <c:v>6.569343065693416</c:v>
                </c:pt>
                <c:pt idx="2">
                  <c:v>15.625000000000014</c:v>
                </c:pt>
                <c:pt idx="3">
                  <c:v>20.689655172413797</c:v>
                </c:pt>
                <c:pt idx="4">
                  <c:v>16.153846153846199</c:v>
                </c:pt>
                <c:pt idx="5">
                  <c:v>15.294117647058799</c:v>
                </c:pt>
                <c:pt idx="6">
                  <c:v>25.609756097561</c:v>
                </c:pt>
                <c:pt idx="7">
                  <c:v>28.947368421052662</c:v>
                </c:pt>
                <c:pt idx="8">
                  <c:v>14.285714285714301</c:v>
                </c:pt>
                <c:pt idx="9">
                  <c:v>100</c:v>
                </c:pt>
                <c:pt idx="10">
                  <c:v>18.571428571428601</c:v>
                </c:pt>
                <c:pt idx="11">
                  <c:v>8.333333333333325</c:v>
                </c:pt>
                <c:pt idx="12">
                  <c:v>14.634146341463412</c:v>
                </c:pt>
                <c:pt idx="13">
                  <c:v>38.46153846153846</c:v>
                </c:pt>
                <c:pt idx="14">
                  <c:v>25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A476-4098-8D8F-2BDABDC5147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bubbleScale val="200"/>
        <c:showNegBubbles val="0"/>
        <c:axId val="607395295"/>
        <c:axId val="509965967"/>
      </c:bubbleChart>
      <c:valAx>
        <c:axId val="607395295"/>
        <c:scaling>
          <c:orientation val="minMax"/>
          <c:max val="1.05"/>
          <c:min val="0.95000000000000007"/>
        </c:scaling>
        <c:delete val="1"/>
        <c:axPos val="t"/>
        <c:numFmt formatCode="General" sourceLinked="1"/>
        <c:majorTickMark val="none"/>
        <c:minorTickMark val="none"/>
        <c:tickLblPos val="nextTo"/>
        <c:crossAx val="509965967"/>
        <c:crosses val="autoZero"/>
        <c:crossBetween val="midCat"/>
      </c:valAx>
      <c:valAx>
        <c:axId val="509965967"/>
        <c:scaling>
          <c:orientation val="maxMin"/>
          <c:max val="1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0739529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8344808528489339E-2"/>
          <c:y val="3.9864375929122398E-2"/>
          <c:w val="0.93517777773116562"/>
          <c:h val="0.936056072104139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24252C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2B5E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D13-4288-B653-4FB0A256FF7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Variety of senses</c:v>
                </c:pt>
                <c:pt idx="1">
                  <c:v>Sophistication</c:v>
                </c:pt>
                <c:pt idx="2">
                  <c:v>Exoticism</c:v>
                </c:pt>
                <c:pt idx="3">
                  <c:v>Fun</c:v>
                </c:pt>
                <c:pt idx="4">
                  <c:v>Vegelal</c:v>
                </c:pt>
                <c:pt idx="5">
                  <c:v>Natural</c:v>
                </c:pt>
                <c:pt idx="6">
                  <c:v>Medical</c:v>
                </c:pt>
                <c:pt idx="7">
                  <c:v>Energy well-being</c:v>
                </c:pt>
                <c:pt idx="8">
                  <c:v>Slimness</c:v>
                </c:pt>
                <c:pt idx="9">
                  <c:v>Cosmetics</c:v>
                </c:pt>
                <c:pt idx="10">
                  <c:v>Ecology</c:v>
                </c:pt>
                <c:pt idx="11">
                  <c:v>Solidarity</c:v>
                </c:pt>
                <c:pt idx="12">
                  <c:v>Easy to handle</c:v>
                </c:pt>
                <c:pt idx="13">
                  <c:v>Time saving</c:v>
                </c:pt>
                <c:pt idx="14">
                  <c:v>Nomadism</c:v>
                </c:pt>
              </c:strCache>
            </c:strRef>
          </c:cat>
          <c:val>
            <c:numRef>
              <c:f>Sheet1!$B$2:$B$16</c:f>
              <c:numCache>
                <c:formatCode>0.0%</c:formatCode>
                <c:ptCount val="15"/>
                <c:pt idx="0">
                  <c:v>0.317</c:v>
                </c:pt>
                <c:pt idx="1">
                  <c:v>0.14599999999999999</c:v>
                </c:pt>
                <c:pt idx="2">
                  <c:v>3.7000000000000005E-2</c:v>
                </c:pt>
                <c:pt idx="3">
                  <c:v>3.5000000000000003E-2</c:v>
                </c:pt>
                <c:pt idx="4">
                  <c:v>0.109</c:v>
                </c:pt>
                <c:pt idx="5">
                  <c:v>7.1999999999999995E-2</c:v>
                </c:pt>
                <c:pt idx="6">
                  <c:v>6.0999999999999999E-2</c:v>
                </c:pt>
                <c:pt idx="7">
                  <c:v>4.9000000000000009E-2</c:v>
                </c:pt>
                <c:pt idx="8">
                  <c:v>0.03</c:v>
                </c:pt>
                <c:pt idx="9">
                  <c:v>4.0000000000000001E-3</c:v>
                </c:pt>
                <c:pt idx="10">
                  <c:v>5.7000000000000002E-2</c:v>
                </c:pt>
                <c:pt idx="11">
                  <c:v>1.2999999999999999E-2</c:v>
                </c:pt>
                <c:pt idx="12">
                  <c:v>4.7E-2</c:v>
                </c:pt>
                <c:pt idx="13">
                  <c:v>1.7999999999999999E-2</c:v>
                </c:pt>
                <c:pt idx="14">
                  <c:v>5.0000000000000001E-3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13-4288-B653-4FB0A256FF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8"/>
        <c:axId val="163248224"/>
        <c:axId val="173739488"/>
      </c:barChart>
      <c:catAx>
        <c:axId val="16324822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73739488"/>
        <c:crosses val="autoZero"/>
        <c:auto val="1"/>
        <c:lblAlgn val="ctr"/>
        <c:lblOffset val="100"/>
        <c:noMultiLvlLbl val="0"/>
      </c:catAx>
      <c:valAx>
        <c:axId val="173739488"/>
        <c:scaling>
          <c:orientation val="minMax"/>
        </c:scaling>
        <c:delete val="1"/>
        <c:axPos val="t"/>
        <c:numFmt formatCode="0.0%" sourceLinked="1"/>
        <c:majorTickMark val="none"/>
        <c:minorTickMark val="none"/>
        <c:tickLblPos val="nextTo"/>
        <c:crossAx val="163248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Category 1</cx:pt>
          <cx:pt idx="1">Category 2</cx:pt>
          <cx:pt idx="2">Category 3</cx:pt>
          <cx:pt idx="3">Category 4</cx:pt>
          <cx:pt idx="4">Category 5</cx:pt>
          <cx:pt idx="5">Category 6</cx:pt>
          <cx:pt idx="6">Category 7</cx:pt>
          <cx:pt idx="7">Category 8</cx:pt>
        </cx:lvl>
      </cx:strDim>
      <cx:numDim type="val">
        <cx:f>Sheet1!$B$2:$B$9</cx:f>
        <cx:lvl ptCount="8" formatCode="General">
          <cx:pt idx="0">473</cx:pt>
          <cx:pt idx="1">-88</cx:pt>
          <cx:pt idx="2">-47</cx:pt>
          <cx:pt idx="3">20</cx:pt>
          <cx:pt idx="4">358</cx:pt>
          <cx:pt idx="5">-157</cx:pt>
          <cx:pt idx="6">219</cx:pt>
          <cx:pt idx="7">420</cx:pt>
        </cx:lvl>
      </cx:numDim>
    </cx:data>
  </cx:chartData>
  <cx:chart>
    <cx:plotArea>
      <cx:plotAreaRegion>
        <cx:series layoutId="waterfall" uniqueId="{0D357078-2957-42FA-A579-105CF64794F1}">
          <cx:tx>
            <cx:txData>
              <cx:f>Sheet1!$B$1</cx:f>
              <cx:v>Series1</cx:v>
            </cx:txData>
          </cx:tx>
          <cx:spPr>
            <a:solidFill>
              <a:srgbClr val="24252C"/>
            </a:solidFill>
          </cx:spPr>
          <cx:dataPt idx="1">
            <cx:spPr>
              <a:solidFill>
                <a:prstClr val="white">
                  <a:lumMod val="75000"/>
                </a:prstClr>
              </a:solidFill>
            </cx:spPr>
          </cx:dataPt>
          <cx:dataPt idx="2">
            <cx:spPr>
              <a:solidFill>
                <a:prstClr val="white">
                  <a:lumMod val="75000"/>
                </a:prstClr>
              </a:solidFill>
            </cx:spPr>
          </cx:dataPt>
          <cx:dataPt idx="3">
            <cx:spPr>
              <a:solidFill>
                <a:srgbClr val="00A3E0"/>
              </a:solidFill>
            </cx:spPr>
          </cx:dataPt>
          <cx:dataPt idx="5">
            <cx:spPr>
              <a:solidFill>
                <a:prstClr val="white">
                  <a:lumMod val="75000"/>
                </a:prstClr>
              </a:solidFill>
            </cx:spPr>
          </cx:dataPt>
          <cx:dataPt idx="6">
            <cx:spPr>
              <a:solidFill>
                <a:srgbClr val="00A3E0"/>
              </a:solidFill>
            </cx:spPr>
          </cx:dataPt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 hidden="1">
        <cx:catScaling gapWidth="1.62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>
                <a:solidFill>
                  <a:schemeClr val="bg1"/>
                </a:solidFill>
              </a:defRPr>
            </a:pPr>
            <a:endParaRPr lang="en-US" sz="1197" b="0" i="0" u="none" strike="noStrike" baseline="0">
              <a:solidFill>
                <a:schemeClr val="bg1"/>
              </a:solidFill>
              <a:latin typeface="Montserrat Light"/>
            </a:endParaRPr>
          </a:p>
        </cx:txPr>
      </cx:axis>
      <cx:axis id="1" hidden="1">
        <cx:valScaling/>
        <cx:tickLabels/>
      </cx:axis>
    </cx:plotArea>
  </cx:chart>
  <cx:spPr>
    <a:noFill/>
    <a:ln>
      <a:noFill/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0.35723</cdr:x>
      <cdr:y>0.03921</cdr:y>
    </cdr:from>
    <cdr:to>
      <cdr:x>0.35723</cdr:x>
      <cdr:y>0.95666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FC92DB18-6C1D-445A-9F67-232AFEF3C238}"/>
            </a:ext>
          </a:extLst>
        </cdr:cNvPr>
        <cdr:cNvCxnSpPr/>
      </cdr:nvCxnSpPr>
      <cdr:spPr>
        <a:xfrm xmlns:a="http://schemas.openxmlformats.org/drawingml/2006/main">
          <a:off x="2198105" y="133519"/>
          <a:ext cx="0" cy="3124194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0.61377</cdr:x>
      <cdr:y>0.03921</cdr:y>
    </cdr:from>
    <cdr:to>
      <cdr:x>0.61377</cdr:x>
      <cdr:y>0.9589</cdr:y>
    </cdr:to>
    <cdr:cxnSp macro="">
      <cdr:nvCxnSpPr>
        <cdr:cNvPr id="7" name="Straight Connector 6">
          <a:extLst xmlns:a="http://schemas.openxmlformats.org/drawingml/2006/main">
            <a:ext uri="{FF2B5EF4-FFF2-40B4-BE49-F238E27FC236}">
              <a16:creationId xmlns:a16="http://schemas.microsoft.com/office/drawing/2014/main" id="{8DD58EA5-52F7-433A-A1F9-58DA9A8BA5DE}"/>
            </a:ext>
          </a:extLst>
        </cdr:cNvPr>
        <cdr:cNvCxnSpPr/>
      </cdr:nvCxnSpPr>
      <cdr:spPr>
        <a:xfrm xmlns:a="http://schemas.openxmlformats.org/drawingml/2006/main">
          <a:off x="3776698" y="133519"/>
          <a:ext cx="0" cy="3131814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0.84369</cdr:x>
      <cdr:y>0.03921</cdr:y>
    </cdr:from>
    <cdr:to>
      <cdr:x>0.84369</cdr:x>
      <cdr:y>0.95834</cdr:y>
    </cdr:to>
    <cdr:cxnSp macro="">
      <cdr:nvCxnSpPr>
        <cdr:cNvPr id="8" name="Straight Connector 7">
          <a:extLst xmlns:a="http://schemas.openxmlformats.org/drawingml/2006/main">
            <a:ext uri="{FF2B5EF4-FFF2-40B4-BE49-F238E27FC236}">
              <a16:creationId xmlns:a16="http://schemas.microsoft.com/office/drawing/2014/main" id="{6FDE6D24-D270-4D5B-AE7C-D3811AC42C34}"/>
            </a:ext>
          </a:extLst>
        </cdr:cNvPr>
        <cdr:cNvCxnSpPr/>
      </cdr:nvCxnSpPr>
      <cdr:spPr>
        <a:xfrm xmlns:a="http://schemas.openxmlformats.org/drawingml/2006/main">
          <a:off x="5191444" y="133519"/>
          <a:ext cx="0" cy="3129909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0.02281</cdr:x>
      <cdr:y>0.54698</cdr:y>
    </cdr:from>
    <cdr:to>
      <cdr:x>0.35673</cdr:x>
      <cdr:y>0.54698</cdr:y>
    </cdr:to>
    <cdr:cxnSp macro="">
      <cdr:nvCxnSpPr>
        <cdr:cNvPr id="9" name="Straight Connector 8">
          <a:extLst xmlns:a="http://schemas.openxmlformats.org/drawingml/2006/main">
            <a:ext uri="{FF2B5EF4-FFF2-40B4-BE49-F238E27FC236}">
              <a16:creationId xmlns:a16="http://schemas.microsoft.com/office/drawing/2014/main" id="{1BC02B23-8DF2-435D-9AC6-4BA9BD1D2EC2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140336" y="1862623"/>
          <a:ext cx="2054708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0.0225</cdr:x>
      <cdr:y>0.24641</cdr:y>
    </cdr:from>
    <cdr:to>
      <cdr:x>0.35587</cdr:x>
      <cdr:y>0.24641</cdr:y>
    </cdr:to>
    <cdr:cxnSp macro="">
      <cdr:nvCxnSpPr>
        <cdr:cNvPr id="10" name="Straight Connector 9">
          <a:extLst xmlns:a="http://schemas.openxmlformats.org/drawingml/2006/main">
            <a:ext uri="{FF2B5EF4-FFF2-40B4-BE49-F238E27FC236}">
              <a16:creationId xmlns:a16="http://schemas.microsoft.com/office/drawing/2014/main" id="{EA0F13D5-EC22-4265-9DF0-B7D3198693B4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138431" y="839081"/>
          <a:ext cx="2051341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0.35779</cdr:x>
      <cdr:y>0.26463</cdr:y>
    </cdr:from>
    <cdr:to>
      <cdr:x>0.61344</cdr:x>
      <cdr:y>0.26463</cdr:y>
    </cdr:to>
    <cdr:cxnSp macro="">
      <cdr:nvCxnSpPr>
        <cdr:cNvPr id="11" name="Straight Connector 10">
          <a:extLst xmlns:a="http://schemas.openxmlformats.org/drawingml/2006/main">
            <a:ext uri="{FF2B5EF4-FFF2-40B4-BE49-F238E27FC236}">
              <a16:creationId xmlns:a16="http://schemas.microsoft.com/office/drawing/2014/main" id="{41679879-7124-4031-A97C-BBC41AB98CA7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2201546" y="901157"/>
          <a:ext cx="1573124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0.35651</cdr:x>
      <cdr:y>0.61736</cdr:y>
    </cdr:from>
    <cdr:to>
      <cdr:x>0.61258</cdr:x>
      <cdr:y>0.61736</cdr:y>
    </cdr:to>
    <cdr:cxnSp macro="">
      <cdr:nvCxnSpPr>
        <cdr:cNvPr id="13" name="Straight Connector 12">
          <a:extLst xmlns:a="http://schemas.openxmlformats.org/drawingml/2006/main">
            <a:ext uri="{FF2B5EF4-FFF2-40B4-BE49-F238E27FC236}">
              <a16:creationId xmlns:a16="http://schemas.microsoft.com/office/drawing/2014/main" id="{1169305F-9BFF-46EA-A79E-83F0EEF7E208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2193675" y="2102291"/>
          <a:ext cx="1575686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0.61251</cdr:x>
      <cdr:y>0.08414</cdr:y>
    </cdr:from>
    <cdr:to>
      <cdr:x>0.84413</cdr:x>
      <cdr:y>0.08414</cdr:y>
    </cdr:to>
    <cdr:cxnSp macro="">
      <cdr:nvCxnSpPr>
        <cdr:cNvPr id="14" name="Straight Connector 13">
          <a:extLst xmlns:a="http://schemas.openxmlformats.org/drawingml/2006/main">
            <a:ext uri="{FF2B5EF4-FFF2-40B4-BE49-F238E27FC236}">
              <a16:creationId xmlns:a16="http://schemas.microsoft.com/office/drawing/2014/main" id="{BA9DD580-9F4C-4C7D-97CF-D9B06B4DAA16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3768929" y="286521"/>
          <a:ext cx="1425215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0.61445</cdr:x>
      <cdr:y>0.13408</cdr:y>
    </cdr:from>
    <cdr:to>
      <cdr:x>0.84416</cdr:x>
      <cdr:y>0.13408</cdr:y>
    </cdr:to>
    <cdr:cxnSp macro="">
      <cdr:nvCxnSpPr>
        <cdr:cNvPr id="16" name="Straight Connector 15">
          <a:extLst xmlns:a="http://schemas.openxmlformats.org/drawingml/2006/main">
            <a:ext uri="{FF2B5EF4-FFF2-40B4-BE49-F238E27FC236}">
              <a16:creationId xmlns:a16="http://schemas.microsoft.com/office/drawing/2014/main" id="{F7C20908-A55A-4F64-9B67-0D3FE3BF5AEC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3780848" y="456581"/>
          <a:ext cx="1413453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0.84334</cdr:x>
      <cdr:y>0.26101</cdr:y>
    </cdr:from>
    <cdr:to>
      <cdr:x>0.97697</cdr:x>
      <cdr:y>0.26101</cdr:y>
    </cdr:to>
    <cdr:cxnSp macro="">
      <cdr:nvCxnSpPr>
        <cdr:cNvPr id="17" name="Straight Connector 16">
          <a:extLst xmlns:a="http://schemas.openxmlformats.org/drawingml/2006/main">
            <a:ext uri="{FF2B5EF4-FFF2-40B4-BE49-F238E27FC236}">
              <a16:creationId xmlns:a16="http://schemas.microsoft.com/office/drawing/2014/main" id="{6D62604C-E487-4F6F-A11C-6FE41319C54E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5189255" y="888830"/>
          <a:ext cx="822291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0.84357</cdr:x>
      <cdr:y>0.86847</cdr:y>
    </cdr:from>
    <cdr:to>
      <cdr:x>0.97772</cdr:x>
      <cdr:y>0.86847</cdr:y>
    </cdr:to>
    <cdr:cxnSp macro="">
      <cdr:nvCxnSpPr>
        <cdr:cNvPr id="19" name="Straight Connector 18">
          <a:extLst xmlns:a="http://schemas.openxmlformats.org/drawingml/2006/main">
            <a:ext uri="{FF2B5EF4-FFF2-40B4-BE49-F238E27FC236}">
              <a16:creationId xmlns:a16="http://schemas.microsoft.com/office/drawing/2014/main" id="{C69BEE4C-6A29-4CBD-AC91-9E695FB26477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5190676" y="2957382"/>
          <a:ext cx="825458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0.17522</cdr:x>
      <cdr:y>0.02611</cdr:y>
    </cdr:from>
    <cdr:to>
      <cdr:x>0.94331</cdr:x>
      <cdr:y>0.96554</cdr:y>
    </cdr:to>
    <cdr:grpSp>
      <cdr:nvGrpSpPr>
        <cdr:cNvPr id="20" name="Group 19">
          <a:extLst xmlns:a="http://schemas.openxmlformats.org/drawingml/2006/main">
            <a:ext uri="{FF2B5EF4-FFF2-40B4-BE49-F238E27FC236}">
              <a16:creationId xmlns:a16="http://schemas.microsoft.com/office/drawing/2014/main" id="{F6483DDD-0C17-4017-B9FA-B772190A8410}"/>
            </a:ext>
          </a:extLst>
        </cdr:cNvPr>
        <cdr:cNvGrpSpPr/>
      </cdr:nvGrpSpPr>
      <cdr:grpSpPr>
        <a:xfrm xmlns:a="http://schemas.openxmlformats.org/drawingml/2006/main">
          <a:off x="1078172" y="88912"/>
          <a:ext cx="4726250" cy="3199028"/>
          <a:chOff x="1782249" y="1626490"/>
          <a:chExt cx="6279827" cy="4268186"/>
        </a:xfrm>
      </cdr:grpSpPr>
      <cdr:sp macro="" textlink="">
        <cdr:nvSpPr>
          <cdr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9427E80-82FD-47F7-8423-21EC3FB5BFCB}"/>
              </a:ext>
            </a:extLst>
          </cdr:cNvPr>
          <cdr:cNvSpPr/>
        </cdr:nvSpPr>
        <cdr:spPr>
          <a:xfrm xmlns:a="http://schemas.openxmlformats.org/drawingml/2006/main">
            <a:off x="1782249" y="4944520"/>
            <a:ext cx="332269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45%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88ED169-79AD-43C9-B981-970BBD8E8480}"/>
              </a:ext>
            </a:extLst>
          </cdr:cNvPr>
          <cdr:cNvSpPr/>
        </cdr:nvSpPr>
        <cdr:spPr>
          <a:xfrm xmlns:a="http://schemas.openxmlformats.org/drawingml/2006/main">
            <a:off x="1782249" y="3162320"/>
            <a:ext cx="315229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32%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2EA207A-4438-43A6-8925-2D89CC31BC95}"/>
              </a:ext>
            </a:extLst>
          </cdr:cNvPr>
          <cdr:cNvSpPr/>
        </cdr:nvSpPr>
        <cdr:spPr>
          <a:xfrm xmlns:a="http://schemas.openxmlformats.org/drawingml/2006/main">
            <a:off x="1782249" y="2048242"/>
            <a:ext cx="315229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23%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78BDC51-0E44-4D57-9774-31EF29F8A993}"/>
              </a:ext>
            </a:extLst>
          </cdr:cNvPr>
          <cdr:cNvSpPr/>
        </cdr:nvSpPr>
        <cdr:spPr>
          <a:xfrm xmlns:a="http://schemas.openxmlformats.org/drawingml/2006/main">
            <a:off x="4240586" y="4976225"/>
            <a:ext cx="321620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37%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BFB92F9-7BCE-49A3-933A-4D9BEAC5D326}"/>
              </a:ext>
            </a:extLst>
          </cdr:cNvPr>
          <cdr:cNvSpPr/>
        </cdr:nvSpPr>
        <cdr:spPr>
          <a:xfrm xmlns:a="http://schemas.openxmlformats.org/drawingml/2006/main">
            <a:off x="4240586" y="3345871"/>
            <a:ext cx="328009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38%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BF462BD-2636-4B23-BB6C-509513B9D2A0}"/>
              </a:ext>
            </a:extLst>
          </cdr:cNvPr>
          <cdr:cNvSpPr/>
        </cdr:nvSpPr>
        <cdr:spPr>
          <a:xfrm xmlns:a="http://schemas.openxmlformats.org/drawingml/2006/main">
            <a:off x="4240586" y="2084235"/>
            <a:ext cx="330140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24%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C8014C6-A10D-4CB5-97DB-344B0FBDA52C}"/>
              </a:ext>
            </a:extLst>
          </cdr:cNvPr>
          <cdr:cNvSpPr/>
        </cdr:nvSpPr>
        <cdr:spPr>
          <a:xfrm xmlns:a="http://schemas.openxmlformats.org/drawingml/2006/main">
            <a:off x="6243925" y="3884844"/>
            <a:ext cx="336528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90%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FB94BDA2-1595-420C-B52C-D65F02359DBD}"/>
              </a:ext>
            </a:extLst>
          </cdr:cNvPr>
          <cdr:cNvSpPr/>
        </cdr:nvSpPr>
        <cdr:spPr>
          <a:xfrm xmlns:a="http://schemas.openxmlformats.org/drawingml/2006/main">
            <a:off x="6243925" y="1862664"/>
            <a:ext cx="225772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5%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972CA94E-2302-4BE0-8EEA-5259A1EFA095}"/>
              </a:ext>
            </a:extLst>
          </cdr:cNvPr>
          <cdr:cNvSpPr/>
        </cdr:nvSpPr>
        <cdr:spPr>
          <a:xfrm xmlns:a="http://schemas.openxmlformats.org/drawingml/2006/main">
            <a:off x="6243925" y="1626490"/>
            <a:ext cx="225772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5%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A44C39B-C87A-43C8-93D6-38E253D1B198}"/>
              </a:ext>
            </a:extLst>
          </cdr:cNvPr>
          <cdr:cNvSpPr/>
        </cdr:nvSpPr>
        <cdr:spPr>
          <a:xfrm xmlns:a="http://schemas.openxmlformats.org/drawingml/2006/main">
            <a:off x="7731934" y="5586697"/>
            <a:ext cx="298190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10%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5847767B-D3E7-4315-806E-DE3E42896EDE}"/>
              </a:ext>
            </a:extLst>
          </cdr:cNvPr>
          <cdr:cNvSpPr/>
        </cdr:nvSpPr>
        <cdr:spPr>
          <a:xfrm xmlns:a="http://schemas.openxmlformats.org/drawingml/2006/main">
            <a:off x="7731936" y="3884844"/>
            <a:ext cx="330140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66%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2CC4AD2-4B8B-4808-AFC3-A6E083B515E7}"/>
              </a:ext>
            </a:extLst>
          </cdr:cNvPr>
          <cdr:cNvSpPr/>
        </cdr:nvSpPr>
        <cdr:spPr>
          <a:xfrm xmlns:a="http://schemas.openxmlformats.org/drawingml/2006/main">
            <a:off x="7731935" y="2005555"/>
            <a:ext cx="330140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24%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</cdr:grp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0.13266</cdr:x>
      <cdr:y>0.9426</cdr:y>
    </cdr:from>
    <cdr:to>
      <cdr:x>0.92552</cdr:x>
      <cdr:y>0.9426</cdr:y>
    </cdr:to>
    <cdr:cxnSp macro="">
      <cdr:nvCxnSpPr>
        <cdr:cNvPr id="2" name="Straight Connector 1">
          <a:extLst xmlns:a="http://schemas.openxmlformats.org/drawingml/2006/main">
            <a:ext uri="{FF2B5EF4-FFF2-40B4-BE49-F238E27FC236}">
              <a16:creationId xmlns:a16="http://schemas.microsoft.com/office/drawing/2014/main" id="{E5FA9D90-4A64-4E2D-A450-23B6BA1F79B1}"/>
            </a:ext>
          </a:extLst>
        </cdr:cNvPr>
        <cdr:cNvCxnSpPr/>
      </cdr:nvCxnSpPr>
      <cdr:spPr>
        <a:xfrm xmlns:a="http://schemas.openxmlformats.org/drawingml/2006/main">
          <a:off x="876087" y="4149954"/>
          <a:ext cx="5236018" cy="0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chemeClr val="tx2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0.03273</cdr:x>
      <cdr:y>0.13527</cdr:y>
    </cdr:from>
    <cdr:to>
      <cdr:x>0.03273</cdr:x>
      <cdr:y>0.40041</cdr:y>
    </cdr:to>
    <cdr:cxnSp macro="">
      <cdr:nvCxnSpPr>
        <cdr:cNvPr id="4" name="Straight Connector 3">
          <a:extLst xmlns:a="http://schemas.openxmlformats.org/drawingml/2006/main">
            <a:ext uri="{FF2B5EF4-FFF2-40B4-BE49-F238E27FC236}">
              <a16:creationId xmlns:a16="http://schemas.microsoft.com/office/drawing/2014/main" id="{A2389455-A323-48BE-A02B-9DB816C1A419}"/>
            </a:ext>
          </a:extLst>
        </cdr:cNvPr>
        <cdr:cNvCxnSpPr/>
      </cdr:nvCxnSpPr>
      <cdr:spPr>
        <a:xfrm xmlns:a="http://schemas.openxmlformats.org/drawingml/2006/main">
          <a:off x="216170" y="595549"/>
          <a:ext cx="0" cy="1167319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chemeClr val="tx2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0.03273</cdr:x>
      <cdr:y>0.56833</cdr:y>
    </cdr:from>
    <cdr:to>
      <cdr:x>0.03273</cdr:x>
      <cdr:y>0.83347</cdr:y>
    </cdr:to>
    <cdr:cxnSp macro="">
      <cdr:nvCxnSpPr>
        <cdr:cNvPr id="5" name="Straight Connector 4">
          <a:extLst xmlns:a="http://schemas.openxmlformats.org/drawingml/2006/main">
            <a:ext uri="{FF2B5EF4-FFF2-40B4-BE49-F238E27FC236}">
              <a16:creationId xmlns:a16="http://schemas.microsoft.com/office/drawing/2014/main" id="{FF243F6B-06B2-453B-8BAF-BD8055485859}"/>
            </a:ext>
          </a:extLst>
        </cdr:cNvPr>
        <cdr:cNvCxnSpPr/>
      </cdr:nvCxnSpPr>
      <cdr:spPr>
        <a:xfrm xmlns:a="http://schemas.openxmlformats.org/drawingml/2006/main">
          <a:off x="216170" y="2502171"/>
          <a:ext cx="0" cy="1167319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chemeClr val="tx2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0.46464</cdr:x>
      <cdr:y>0.91225</cdr:y>
    </cdr:from>
    <cdr:to>
      <cdr:x>0.55764</cdr:x>
      <cdr:y>0.94474</cdr:y>
    </cdr:to>
    <cdr:sp macro="" textlink="">
      <cdr:nvSpPr>
        <cdr:cNvPr id="2" name="TextBox 39">
          <a:extLst xmlns:a="http://schemas.openxmlformats.org/drawingml/2006/main">
            <a:ext uri="{FF2B5EF4-FFF2-40B4-BE49-F238E27FC236}">
              <a16:creationId xmlns:a16="http://schemas.microsoft.com/office/drawing/2014/main" id="{54E1CC8D-9A19-4379-B062-E76CD36E4D60}"/>
            </a:ext>
          </a:extLst>
        </cdr:cNvPr>
        <cdr:cNvSpPr txBox="1"/>
      </cdr:nvSpPr>
      <cdr:spPr>
        <a:xfrm xmlns:a="http://schemas.openxmlformats.org/drawingml/2006/main">
          <a:off x="3264565" y="4826592"/>
          <a:ext cx="653448" cy="17187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="horz" wrap="none" lIns="0" tIns="0" rIns="0" bIns="0" rtlCol="0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900" i="1" dirty="0"/>
            <a:t>Scenarios:</a:t>
          </a:r>
          <a:endParaRPr lang="ru-RU" sz="900" i="1" dirty="0" err="1"/>
        </a:p>
      </cdr:txBody>
    </cdr:sp>
  </cdr:relSizeAnchor>
  <cdr:relSizeAnchor xmlns:cdr="http://schemas.openxmlformats.org/drawingml/2006/chartDrawing">
    <cdr:from>
      <cdr:x>0.83769</cdr:x>
      <cdr:y>0.43794</cdr:y>
    </cdr:from>
    <cdr:to>
      <cdr:x>0.87752</cdr:x>
      <cdr:y>0.49084</cdr:y>
    </cdr:to>
    <cdr:sp macro="" textlink="">
      <cdr:nvSpPr>
        <cdr:cNvPr id="3" name="Oval 2">
          <a:extLst xmlns:a="http://schemas.openxmlformats.org/drawingml/2006/main">
            <a:ext uri="{FF2B5EF4-FFF2-40B4-BE49-F238E27FC236}">
              <a16:creationId xmlns:a16="http://schemas.microsoft.com/office/drawing/2014/main" id="{30C6D519-7331-47A5-BC66-C10CCD04A4AE}"/>
            </a:ext>
          </a:extLst>
        </cdr:cNvPr>
        <cdr:cNvSpPr/>
      </cdr:nvSpPr>
      <cdr:spPr bwMode="gray">
        <a:xfrm xmlns:a="http://schemas.openxmlformats.org/drawingml/2006/main">
          <a:off x="5302414" y="2087467"/>
          <a:ext cx="252128" cy="252128"/>
        </a:xfrm>
        <a:prstGeom xmlns:a="http://schemas.openxmlformats.org/drawingml/2006/main" prst="ellipse">
          <a:avLst/>
        </a:prstGeom>
        <a:solidFill xmlns:a="http://schemas.openxmlformats.org/drawingml/2006/main">
          <a:srgbClr val="ED8B00"/>
        </a:solidFill>
        <a:ln xmlns:a="http://schemas.openxmlformats.org/drawingml/2006/main">
          <a:solidFill>
            <a:schemeClr val="bg1"/>
          </a:solidFill>
        </a:ln>
        <a:effectLst xmlns:a="http://schemas.openxmlformats.org/drawingml/2006/main"/>
      </cdr:spPr>
      <cdr:txBody>
        <a:bodyPr xmlns:a="http://schemas.openxmlformats.org/drawingml/2006/main" vert="horz" lIns="0" tIns="36000" rIns="0" bIns="36000" rtlCol="0" anchor="ctr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90571">
            <a:spcAft>
              <a:spcPts val="600"/>
            </a:spcAft>
            <a:buSzPct val="100000"/>
            <a:buFont typeface="Arial" panose="020B0604020202020204" pitchFamily="34" charset="0"/>
            <a:buNone/>
          </a:pPr>
          <a:r>
            <a:rPr lang="en-US" sz="1000" b="1" dirty="0">
              <a:solidFill>
                <a:schemeClr val="bg1"/>
              </a:solidFill>
              <a:latin typeface="+mj-lt"/>
              <a:cs typeface="Calibri Light" panose="020F0302020204030204" pitchFamily="34" charset="0"/>
            </a:rPr>
            <a:t>4a</a:t>
          </a:r>
          <a:endParaRPr lang="ru-RU" sz="1000" b="1" dirty="0" err="1">
            <a:solidFill>
              <a:schemeClr val="bg1"/>
            </a:solidFill>
            <a:latin typeface="+mj-lt"/>
            <a:cs typeface="Calibri Light" panose="020F0302020204030204" pitchFamily="34" charset="0"/>
          </a:endParaRPr>
        </a:p>
      </cdr:txBody>
    </cdr:sp>
  </cdr:relSizeAnchor>
  <cdr:relSizeAnchor xmlns:cdr="http://schemas.openxmlformats.org/drawingml/2006/chartDrawing">
    <cdr:from>
      <cdr:x>0.12294</cdr:x>
      <cdr:y>0.71791</cdr:y>
    </cdr:from>
    <cdr:to>
      <cdr:x>0.15633</cdr:x>
      <cdr:y>0.76226</cdr:y>
    </cdr:to>
    <cdr:sp macro="" textlink="">
      <cdr:nvSpPr>
        <cdr:cNvPr id="4" name="Oval 3">
          <a:extLst xmlns:a="http://schemas.openxmlformats.org/drawingml/2006/main">
            <a:ext uri="{FF2B5EF4-FFF2-40B4-BE49-F238E27FC236}">
              <a16:creationId xmlns:a16="http://schemas.microsoft.com/office/drawing/2014/main" id="{03A52D63-DD19-46FB-B690-84A0B7C59577}"/>
            </a:ext>
          </a:extLst>
        </cdr:cNvPr>
        <cdr:cNvSpPr/>
      </cdr:nvSpPr>
      <cdr:spPr bwMode="gray">
        <a:xfrm xmlns:a="http://schemas.openxmlformats.org/drawingml/2006/main">
          <a:off x="778184" y="3421970"/>
          <a:ext cx="211374" cy="211372"/>
        </a:xfrm>
        <a:prstGeom xmlns:a="http://schemas.openxmlformats.org/drawingml/2006/main" prst="ellipse">
          <a:avLst/>
        </a:prstGeom>
        <a:solidFill xmlns:a="http://schemas.openxmlformats.org/drawingml/2006/main">
          <a:srgbClr val="ED8B00"/>
        </a:solidFill>
        <a:ln xmlns:a="http://schemas.openxmlformats.org/drawingml/2006/main">
          <a:solidFill>
            <a:schemeClr val="bg1"/>
          </a:solidFill>
        </a:ln>
      </cdr:spPr>
      <cdr:txBody>
        <a:bodyPr xmlns:a="http://schemas.openxmlformats.org/drawingml/2006/main" vert="horz" lIns="36000" tIns="36000" rIns="36000" bIns="36000" rtlCol="0" anchor="ctr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90571">
            <a:spcAft>
              <a:spcPts val="600"/>
            </a:spcAft>
            <a:buSzPct val="100000"/>
            <a:buFont typeface="Arial" panose="020B0604020202020204" pitchFamily="34" charset="0"/>
            <a:buNone/>
          </a:pPr>
          <a:r>
            <a:rPr lang="en-US" sz="1000" b="1" dirty="0">
              <a:solidFill>
                <a:schemeClr val="bg1"/>
              </a:solidFill>
              <a:latin typeface="+mj-lt"/>
              <a:cs typeface="Calibri Light" panose="020F0302020204030204" pitchFamily="34" charset="0"/>
            </a:rPr>
            <a:t>1</a:t>
          </a:r>
          <a:endParaRPr lang="ru-RU" sz="1000" b="1" dirty="0" err="1">
            <a:solidFill>
              <a:schemeClr val="bg1"/>
            </a:solidFill>
            <a:latin typeface="+mj-lt"/>
            <a:cs typeface="Calibri Light" panose="020F0302020204030204" pitchFamily="34" charset="0"/>
          </a:endParaRPr>
        </a:p>
      </cdr:txBody>
    </cdr:sp>
  </cdr:relSizeAnchor>
  <cdr:relSizeAnchor xmlns:cdr="http://schemas.openxmlformats.org/drawingml/2006/chartDrawing">
    <cdr:from>
      <cdr:x>0.35985</cdr:x>
      <cdr:y>0.65198</cdr:y>
    </cdr:from>
    <cdr:to>
      <cdr:x>0.39324</cdr:x>
      <cdr:y>0.69632</cdr:y>
    </cdr:to>
    <cdr:sp macro="" textlink="">
      <cdr:nvSpPr>
        <cdr:cNvPr id="5" name="Oval 4">
          <a:extLst xmlns:a="http://schemas.openxmlformats.org/drawingml/2006/main">
            <a:ext uri="{FF2B5EF4-FFF2-40B4-BE49-F238E27FC236}">
              <a16:creationId xmlns:a16="http://schemas.microsoft.com/office/drawing/2014/main" id="{65231DF4-51B0-4869-AD9D-81DBAFD035F2}"/>
            </a:ext>
          </a:extLst>
        </cdr:cNvPr>
        <cdr:cNvSpPr/>
      </cdr:nvSpPr>
      <cdr:spPr bwMode="gray">
        <a:xfrm xmlns:a="http://schemas.openxmlformats.org/drawingml/2006/main">
          <a:off x="2277761" y="3107676"/>
          <a:ext cx="211374" cy="211368"/>
        </a:xfrm>
        <a:prstGeom xmlns:a="http://schemas.openxmlformats.org/drawingml/2006/main" prst="ellipse">
          <a:avLst/>
        </a:prstGeom>
        <a:solidFill xmlns:a="http://schemas.openxmlformats.org/drawingml/2006/main">
          <a:srgbClr val="ED8B00"/>
        </a:solidFill>
        <a:ln xmlns:a="http://schemas.openxmlformats.org/drawingml/2006/main">
          <a:solidFill>
            <a:schemeClr val="bg1"/>
          </a:solidFill>
        </a:ln>
      </cdr:spPr>
      <cdr:txBody>
        <a:bodyPr xmlns:a="http://schemas.openxmlformats.org/drawingml/2006/main" vert="horz" lIns="36000" tIns="36000" rIns="36000" bIns="36000" rtlCol="0" anchor="ctr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90571">
            <a:spcAft>
              <a:spcPts val="600"/>
            </a:spcAft>
            <a:buSzPct val="100000"/>
          </a:pPr>
          <a:r>
            <a:rPr lang="en-US" sz="1000" b="1" dirty="0">
              <a:solidFill>
                <a:schemeClr val="bg1"/>
              </a:solidFill>
              <a:latin typeface="+mj-lt"/>
              <a:cs typeface="Calibri Light" panose="020F0302020204030204" pitchFamily="34" charset="0"/>
            </a:rPr>
            <a:t>2</a:t>
          </a:r>
          <a:endParaRPr lang="ru-RU" sz="1000" b="1" dirty="0" err="1">
            <a:solidFill>
              <a:schemeClr val="bg1"/>
            </a:solidFill>
            <a:latin typeface="+mj-lt"/>
            <a:cs typeface="Calibri Light" panose="020F0302020204030204" pitchFamily="34" charset="0"/>
          </a:endParaRPr>
        </a:p>
      </cdr:txBody>
    </cdr:sp>
  </cdr:relSizeAnchor>
  <cdr:relSizeAnchor xmlns:cdr="http://schemas.openxmlformats.org/drawingml/2006/chartDrawing">
    <cdr:from>
      <cdr:x>0.60416</cdr:x>
      <cdr:y>0.39378</cdr:y>
    </cdr:from>
    <cdr:to>
      <cdr:x>0.63756</cdr:x>
      <cdr:y>0.43813</cdr:y>
    </cdr:to>
    <cdr:sp macro="" textlink="">
      <cdr:nvSpPr>
        <cdr:cNvPr id="6" name="Oval 5">
          <a:extLst xmlns:a="http://schemas.openxmlformats.org/drawingml/2006/main">
            <a:ext uri="{FF2B5EF4-FFF2-40B4-BE49-F238E27FC236}">
              <a16:creationId xmlns:a16="http://schemas.microsoft.com/office/drawing/2014/main" id="{99FEF37F-D92B-4870-A4D5-E67364132423}"/>
            </a:ext>
          </a:extLst>
        </cdr:cNvPr>
        <cdr:cNvSpPr/>
      </cdr:nvSpPr>
      <cdr:spPr bwMode="gray">
        <a:xfrm xmlns:a="http://schemas.openxmlformats.org/drawingml/2006/main">
          <a:off x="3824249" y="1876982"/>
          <a:ext cx="211374" cy="211372"/>
        </a:xfrm>
        <a:prstGeom xmlns:a="http://schemas.openxmlformats.org/drawingml/2006/main" prst="ellipse">
          <a:avLst/>
        </a:prstGeom>
        <a:solidFill xmlns:a="http://schemas.openxmlformats.org/drawingml/2006/main">
          <a:srgbClr val="ED8B00"/>
        </a:solidFill>
        <a:ln xmlns:a="http://schemas.openxmlformats.org/drawingml/2006/main">
          <a:solidFill>
            <a:schemeClr val="bg1"/>
          </a:solidFill>
        </a:ln>
      </cdr:spPr>
      <cdr:txBody>
        <a:bodyPr xmlns:a="http://schemas.openxmlformats.org/drawingml/2006/main" vert="horz" lIns="36000" tIns="36000" rIns="36000" bIns="36000" rtlCol="0" anchor="ctr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90571">
            <a:spcAft>
              <a:spcPts val="600"/>
            </a:spcAft>
            <a:buSzPct val="100000"/>
            <a:buFont typeface="Arial" panose="020B0604020202020204" pitchFamily="34" charset="0"/>
            <a:buNone/>
          </a:pPr>
          <a:r>
            <a:rPr lang="en-US" sz="1000" b="1" dirty="0">
              <a:solidFill>
                <a:schemeClr val="bg1"/>
              </a:solidFill>
              <a:latin typeface="+mj-lt"/>
              <a:cs typeface="Calibri Light" panose="020F0302020204030204" pitchFamily="34" charset="0"/>
            </a:rPr>
            <a:t>3</a:t>
          </a:r>
          <a:endParaRPr lang="ru-RU" sz="1000" b="1" dirty="0" err="1">
            <a:solidFill>
              <a:schemeClr val="bg1"/>
            </a:solidFill>
            <a:latin typeface="+mj-lt"/>
            <a:cs typeface="Calibri Light" panose="020F0302020204030204" pitchFamily="34" charset="0"/>
          </a:endParaRPr>
        </a:p>
      </cdr:txBody>
    </cdr:sp>
  </cdr:relSizeAnchor>
  <cdr:relSizeAnchor xmlns:cdr="http://schemas.openxmlformats.org/drawingml/2006/chartDrawing">
    <cdr:from>
      <cdr:x>0.83769</cdr:x>
      <cdr:y>0.72545</cdr:y>
    </cdr:from>
    <cdr:to>
      <cdr:x>0.87752</cdr:x>
      <cdr:y>0.77834</cdr:y>
    </cdr:to>
    <cdr:sp macro="" textlink="">
      <cdr:nvSpPr>
        <cdr:cNvPr id="7" name="Oval 6">
          <a:extLst xmlns:a="http://schemas.openxmlformats.org/drawingml/2006/main">
            <a:ext uri="{FF2B5EF4-FFF2-40B4-BE49-F238E27FC236}">
              <a16:creationId xmlns:a16="http://schemas.microsoft.com/office/drawing/2014/main" id="{955A1568-0918-48D5-A4A2-B110D524F841}"/>
            </a:ext>
          </a:extLst>
        </cdr:cNvPr>
        <cdr:cNvSpPr/>
      </cdr:nvSpPr>
      <cdr:spPr bwMode="gray">
        <a:xfrm xmlns:a="http://schemas.openxmlformats.org/drawingml/2006/main">
          <a:off x="5302414" y="3457887"/>
          <a:ext cx="252128" cy="252130"/>
        </a:xfrm>
        <a:prstGeom xmlns:a="http://schemas.openxmlformats.org/drawingml/2006/main" prst="ellipse">
          <a:avLst/>
        </a:prstGeom>
        <a:solidFill xmlns:a="http://schemas.openxmlformats.org/drawingml/2006/main">
          <a:srgbClr val="ED8B00"/>
        </a:solidFill>
        <a:ln xmlns:a="http://schemas.openxmlformats.org/drawingml/2006/main">
          <a:solidFill>
            <a:schemeClr val="bg1"/>
          </a:solidFill>
        </a:ln>
        <a:effectLst xmlns:a="http://schemas.openxmlformats.org/drawingml/2006/main"/>
      </cdr:spPr>
      <cdr:txBody>
        <a:bodyPr xmlns:a="http://schemas.openxmlformats.org/drawingml/2006/main" vert="horz" lIns="0" tIns="36000" rIns="0" bIns="36000" rtlCol="0" anchor="ctr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90571">
            <a:spcAft>
              <a:spcPts val="600"/>
            </a:spcAft>
            <a:buSzPct val="100000"/>
            <a:buFont typeface="Arial" panose="020B0604020202020204" pitchFamily="34" charset="0"/>
            <a:buNone/>
          </a:pPr>
          <a:r>
            <a:rPr lang="en-US" sz="1000" b="1" dirty="0">
              <a:solidFill>
                <a:schemeClr val="bg1"/>
              </a:solidFill>
              <a:latin typeface="+mj-lt"/>
              <a:cs typeface="Calibri Light" panose="020F0302020204030204" pitchFamily="34" charset="0"/>
            </a:rPr>
            <a:t>4b</a:t>
          </a:r>
          <a:endParaRPr lang="ru-RU" sz="1000" b="1" dirty="0" err="1">
            <a:solidFill>
              <a:schemeClr val="bg1"/>
            </a:solidFill>
            <a:latin typeface="+mj-lt"/>
            <a:cs typeface="Calibri Light" panose="020F0302020204030204" pitchFamily="34" charset="0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516D36-44E1-4E68-8248-5FB67E52CF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2C00C-D679-49F2-A657-1BC2805D1B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E5310-7074-4C42-AFCB-620395DD52ED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9F3CA-CB81-496C-93C6-DD8CA45E2F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D6A451-F921-4288-8B4B-B7E380E00F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8FCA6F-87CB-4FDF-A622-59D6A7F08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436633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28725-B188-466A-891A-AAB46D8550C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0D560-1A3D-4872-93DB-49A4D2BCD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9375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928798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13887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co">
    <p:bg>
      <p:bgPr>
        <a:gradFill>
          <a:gsLst>
            <a:gs pos="100000">
              <a:schemeClr val="bg2">
                <a:lumMod val="40000"/>
                <a:lumOff val="60000"/>
              </a:schemeClr>
            </a:gs>
            <a:gs pos="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027456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1.xml"/><Relationship Id="rId5" Type="http://schemas.openxmlformats.org/officeDocument/2006/relationships/vmlDrawing" Target="../drawings/vmlDrawing1.v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6"/>
            </p:custDataLst>
            <p:extLst/>
          </p:nvPr>
        </p:nvGraphicFramePr>
        <p:xfrm>
          <a:off x="1723" y="1594"/>
          <a:ext cx="1719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1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23" y="1594"/>
                        <a:ext cx="1719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831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86" r:id="rId3"/>
  </p:sldLayoutIdLst>
  <p:transition>
    <p:fade/>
  </p:transition>
  <p:hf hdr="0" ftr="0" dt="0"/>
  <p:txStyles>
    <p:titleStyle>
      <a:lvl1pPr algn="l" defTabSz="505488" rtl="0" eaLnBrk="1" latinLnBrk="0" hangingPunct="1">
        <a:spcBef>
          <a:spcPct val="0"/>
        </a:spcBef>
        <a:buNone/>
        <a:defRPr lang="en-US" sz="1769" kern="1200" noProof="0" dirty="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730128" rtl="0" eaLnBrk="1" latinLnBrk="0" hangingPunct="1">
        <a:spcBef>
          <a:spcPts val="0"/>
        </a:spcBef>
        <a:spcAft>
          <a:spcPts val="442"/>
        </a:spcAft>
        <a:buSzPct val="100000"/>
        <a:buFont typeface="Arial" panose="020B0604020202020204" pitchFamily="34" charset="0"/>
        <a:buNone/>
        <a:defRPr sz="958" b="0" kern="120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1pPr>
      <a:lvl2pPr marL="0" indent="0" algn="l" defTabSz="730128" rtl="0" eaLnBrk="1" latinLnBrk="0" hangingPunct="1">
        <a:spcBef>
          <a:spcPts val="0"/>
        </a:spcBef>
        <a:spcAft>
          <a:spcPts val="442"/>
        </a:spcAft>
        <a:buClrTx/>
        <a:buSzPct val="100000"/>
        <a:buFont typeface="Arial"/>
        <a:buNone/>
        <a:defRPr lang="en-US" sz="958" b="1" kern="1200" dirty="0" smtClean="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2pPr>
      <a:lvl3pPr marL="132674" indent="-132674" algn="l" defTabSz="730128" rtl="0" eaLnBrk="1" latinLnBrk="0" hangingPunct="1">
        <a:spcBef>
          <a:spcPts val="0"/>
        </a:spcBef>
        <a:spcAft>
          <a:spcPts val="442"/>
        </a:spcAft>
        <a:buClrTx/>
        <a:buSzPct val="100000"/>
        <a:buFont typeface="Arial" panose="020B0604020202020204" pitchFamily="34" charset="0"/>
        <a:buChar char="•"/>
        <a:defRPr lang="en-US" sz="958" kern="1200" dirty="0" smtClean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3pPr>
      <a:lvl4pPr marL="265348" indent="-132674" algn="l" defTabSz="730128" rtl="0" eaLnBrk="1" latinLnBrk="0" hangingPunct="1">
        <a:spcBef>
          <a:spcPts val="0"/>
        </a:spcBef>
        <a:spcAft>
          <a:spcPts val="442"/>
        </a:spcAft>
        <a:buClrTx/>
        <a:buSzPct val="100000"/>
        <a:buFont typeface="Verdana" panose="020B0604030504040204" pitchFamily="34" charset="0"/>
        <a:buChar char="−"/>
        <a:defRPr lang="en-US" sz="958" kern="1200" baseline="0" dirty="0" smtClean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4pPr>
      <a:lvl5pPr marL="398022" indent="-132674" algn="l" defTabSz="637594" rtl="0" eaLnBrk="1" latinLnBrk="0" hangingPunct="1">
        <a:spcBef>
          <a:spcPts val="0"/>
        </a:spcBef>
        <a:spcAft>
          <a:spcPts val="442"/>
        </a:spcAft>
        <a:buClrTx/>
        <a:buSzPct val="100000"/>
        <a:buFont typeface="Arial" panose="020B0604020202020204" pitchFamily="34" charset="0"/>
        <a:buChar char="•"/>
        <a:tabLst/>
        <a:defRPr lang="en-US" sz="958" kern="1200" baseline="0" dirty="0" smtClean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5pPr>
      <a:lvl6pPr marL="425428" indent="-140851" algn="l" defTabSz="730128" rtl="0" eaLnBrk="1" latinLnBrk="0" hangingPunct="1">
        <a:spcBef>
          <a:spcPts val="0"/>
        </a:spcBef>
        <a:spcAft>
          <a:spcPts val="798"/>
        </a:spcAft>
        <a:buFont typeface="Verdana" panose="020B0604030504040204" pitchFamily="34" charset="0"/>
        <a:buChar char="−"/>
        <a:defRPr sz="958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425428" indent="-140851" algn="l" defTabSz="730128" rtl="0" eaLnBrk="1" latinLnBrk="0" hangingPunct="1">
        <a:spcBef>
          <a:spcPts val="0"/>
        </a:spcBef>
        <a:spcAft>
          <a:spcPts val="798"/>
        </a:spcAft>
        <a:buFont typeface="Verdana" panose="020B0604030504040204" pitchFamily="34" charset="0"/>
        <a:buChar char="−"/>
        <a:defRPr sz="958" kern="1200">
          <a:solidFill>
            <a:schemeClr val="tx1"/>
          </a:solidFill>
          <a:latin typeface="+mn-lt"/>
          <a:ea typeface="+mn-ea"/>
          <a:cs typeface="+mn-cs"/>
        </a:defRPr>
      </a:lvl7pPr>
      <a:lvl8pPr marL="425428" indent="-140851" algn="l" defTabSz="730128" rtl="0" eaLnBrk="1" latinLnBrk="0" hangingPunct="1">
        <a:spcBef>
          <a:spcPts val="0"/>
        </a:spcBef>
        <a:spcAft>
          <a:spcPts val="798"/>
        </a:spcAft>
        <a:buFont typeface="Verdana" panose="020B0604030504040204" pitchFamily="34" charset="0"/>
        <a:buChar char="−"/>
        <a:defRPr sz="958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425428" indent="-140851" algn="l" defTabSz="730128" rtl="0" eaLnBrk="1" latinLnBrk="0" hangingPunct="1">
        <a:spcBef>
          <a:spcPts val="0"/>
        </a:spcBef>
        <a:spcAft>
          <a:spcPts val="798"/>
        </a:spcAft>
        <a:buFont typeface="Verdana" panose="020B0604030504040204" pitchFamily="34" charset="0"/>
        <a:buChar char="−"/>
        <a:defRPr sz="958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0128" rtl="0" eaLnBrk="1" latinLnBrk="0" hangingPunct="1">
        <a:defRPr sz="958" kern="1200">
          <a:solidFill>
            <a:schemeClr val="tx1"/>
          </a:solidFill>
          <a:latin typeface="+mn-lt"/>
          <a:ea typeface="+mn-ea"/>
          <a:cs typeface="+mn-cs"/>
        </a:defRPr>
      </a:lvl1pPr>
      <a:lvl2pPr marL="365063" algn="l" defTabSz="730128" rtl="0" eaLnBrk="1" latinLnBrk="0" hangingPunct="1">
        <a:defRPr sz="958" kern="1200">
          <a:solidFill>
            <a:schemeClr val="tx1"/>
          </a:solidFill>
          <a:latin typeface="+mn-lt"/>
          <a:ea typeface="+mn-ea"/>
          <a:cs typeface="+mn-cs"/>
        </a:defRPr>
      </a:lvl2pPr>
      <a:lvl3pPr marL="730128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3pPr>
      <a:lvl4pPr marL="1095191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4pPr>
      <a:lvl5pPr marL="1460254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5pPr>
      <a:lvl6pPr marL="1825318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6pPr>
      <a:lvl7pPr marL="2190381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7pPr>
      <a:lvl8pPr marL="2555444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8pPr>
      <a:lvl9pPr marL="2920507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4" pos="240" userDrawn="1">
          <p15:clr>
            <a:srgbClr val="F26B43"/>
          </p15:clr>
        </p15:guide>
        <p15:guide id="27" pos="6000" userDrawn="1">
          <p15:clr>
            <a:srgbClr val="F26B43"/>
          </p15:clr>
        </p15:guide>
        <p15:guide id="29" orient="horz" pos="278" userDrawn="1">
          <p15:clr>
            <a:srgbClr val="F26B43"/>
          </p15:clr>
        </p15:guide>
        <p15:guide id="30" orient="horz" pos="4042" userDrawn="1">
          <p15:clr>
            <a:srgbClr val="F26B43"/>
          </p15:clr>
        </p15:guide>
        <p15:guide id="32" pos="640" userDrawn="1">
          <p15:clr>
            <a:srgbClr val="000000"/>
          </p15:clr>
        </p15:guide>
        <p15:guide id="33" pos="728" userDrawn="1">
          <p15:clr>
            <a:srgbClr val="000000"/>
          </p15:clr>
        </p15:guide>
        <p15:guide id="34" pos="1214" userDrawn="1">
          <p15:clr>
            <a:srgbClr val="000000"/>
          </p15:clr>
        </p15:guide>
        <p15:guide id="35" pos="1128" userDrawn="1">
          <p15:clr>
            <a:srgbClr val="000000"/>
          </p15:clr>
        </p15:guide>
        <p15:guide id="36" pos="1616" userDrawn="1">
          <p15:clr>
            <a:srgbClr val="000000"/>
          </p15:clr>
        </p15:guide>
        <p15:guide id="37" pos="1700" userDrawn="1">
          <p15:clr>
            <a:srgbClr val="000000"/>
          </p15:clr>
        </p15:guide>
        <p15:guide id="38" pos="2103" userDrawn="1">
          <p15:clr>
            <a:srgbClr val="000000"/>
          </p15:clr>
        </p15:guide>
        <p15:guide id="39" pos="2188" userDrawn="1">
          <p15:clr>
            <a:srgbClr val="000000"/>
          </p15:clr>
        </p15:guide>
        <p15:guide id="40" pos="2590" userDrawn="1">
          <p15:clr>
            <a:srgbClr val="000000"/>
          </p15:clr>
        </p15:guide>
        <p15:guide id="41" pos="2676" userDrawn="1">
          <p15:clr>
            <a:srgbClr val="000000"/>
          </p15:clr>
        </p15:guide>
        <p15:guide id="42" pos="3077" userDrawn="1">
          <p15:clr>
            <a:srgbClr val="F26B43"/>
          </p15:clr>
        </p15:guide>
        <p15:guide id="43" pos="4050" userDrawn="1">
          <p15:clr>
            <a:srgbClr val="000000"/>
          </p15:clr>
        </p15:guide>
        <p15:guide id="44" pos="3648" userDrawn="1">
          <p15:clr>
            <a:srgbClr val="000000"/>
          </p15:clr>
        </p15:guide>
        <p15:guide id="45" pos="3564" userDrawn="1">
          <p15:clr>
            <a:srgbClr val="000000"/>
          </p15:clr>
        </p15:guide>
        <p15:guide id="46" pos="3162" userDrawn="1">
          <p15:clr>
            <a:srgbClr val="F26B43"/>
          </p15:clr>
        </p15:guide>
        <p15:guide id="47" pos="4136" userDrawn="1">
          <p15:clr>
            <a:srgbClr val="000000"/>
          </p15:clr>
        </p15:guide>
        <p15:guide id="48" pos="4538" userDrawn="1">
          <p15:clr>
            <a:srgbClr val="000000"/>
          </p15:clr>
        </p15:guide>
        <p15:guide id="49" pos="4623" userDrawn="1">
          <p15:clr>
            <a:srgbClr val="000000"/>
          </p15:clr>
        </p15:guide>
        <p15:guide id="50" pos="5025" userDrawn="1">
          <p15:clr>
            <a:srgbClr val="000000"/>
          </p15:clr>
        </p15:guide>
        <p15:guide id="51" pos="5110" userDrawn="1">
          <p15:clr>
            <a:srgbClr val="000000"/>
          </p15:clr>
        </p15:guide>
        <p15:guide id="52" pos="5512" userDrawn="1">
          <p15:clr>
            <a:srgbClr val="000000"/>
          </p15:clr>
        </p15:guide>
        <p15:guide id="53" pos="5597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anofi.com/assets/dotcom/content-app/publications/annual-report-on-form-20-f/2023-01-01-form-20-f-2023-en.pdf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jpe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port.basf.com/2023/en/_assets/downloads/entire-basf-ar23.pdf?h=tI5JyxIJ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nternational-aluminium.org/statistics/primary-aluminium-production/?publication=primary-aluminium-production&amp;filter=%7b%22row%22:85,%22group%22:null,%22multiGroup%22:%5b%5d,%22dateRange%22:%22monthly%22,%22monthFrom%22:4,%22monthTo%22:4,%22quarterFrom%22:1,%22quarterTo%22:4,%22yearFrom%22:2025,%22yearTo%22:2025,%22multiRow%22:%5b85%5d,%22columns%22:%5b1,2,3,4,5,6,106,7,8,9,10%5d,%22activeChartIndex%22:0,%22activeChartType%22:%22pie%22%7d" TargetMode="Externa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ransitionasia.org/explainer-aluminium-decarbonisation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onlinelibrary.wiley.com/doi/full/10.1002/pip.3189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op.europa.eu/en/web/eu-law-and-publications/publication-detail/-/publication/04797497-25de-11ee-a2d3-01aa75ed71a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oecd.org/content/dam/oecd/en/publications/reports/2024/09/oecd-economic-outlook-interim-report-september-2024_fdd9394f/1517c196-en.pdf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room.bankofamerica.com/content/newsroom/press-releases/2023/07/bank-of-america-reports-second-quarter-2023-financial-results.html" TargetMode="Externa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hyperlink" Target="https://www.danone.com/content/dam/corp/global/danonecom/investors/en-result-center/2024/danoneQ324presentation.pd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ig.nasa.gov/wp-content/uploads/2024/02/IG-20-023.pdf" TargetMode="Externa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hart" Target="../charts/chart13.xml"/><Relationship Id="rId4" Type="http://schemas.openxmlformats.org/officeDocument/2006/relationships/image" Target="../media/image16.png"/><Relationship Id="rId9" Type="http://schemas.openxmlformats.org/officeDocument/2006/relationships/chart" Target="../charts/char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statista.com/statistics/1096794/largest-bankruptcies-usa-by-assets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hyperlink" Target="https://annualreport2023.volkswagen-group.com/_assets/downloads/entire-vw-ar23.pdf?h=vMUgDLGM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hyperlink" Target="https://www.shell.com/what-we-do/oil-and-natural-gas/liquefied-natural-gas-lng/lng-outlook-2023/_jcr_content/root/main/section_599628081_co/promo_copy_copy/links/item0.stream/1676487838925/410880176bce66136fc24a70866f941295eb70e7/lng-outlook-2023.pdf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iea.blob.core.windows.net/assets/ecdfc3bb-d212-4a4c-9ff7-6ce5b1e19cef/GlobalHydrogenReview2023.pdf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tescoplc.com/media/zgvhd0dn/tescos_ar24.pdf" TargetMode="Externa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loitte.com/content/dam/assets-shared/legacy/docs/industry/consumer/2022/gx-global-powers-of-retailing-2022.pdf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ooddrinkeurope.eu/wp-content/uploads/2025/01/FoodDrinkEurope-Data-Trends-2024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52603E-237E-4D0E-8FF6-6F19CFDCCC5D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08B1B-637A-4DC6-82C2-8B6B5B3A6CEA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dirty="0"/>
              <a:t>Waterfall (vertical)</a:t>
            </a:r>
            <a:endParaRPr lang="ru-RU" sz="2200" dirty="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7A57D0-17E4-47C6-AE12-D4C9B0019AC2}"/>
              </a:ext>
            </a:extLst>
          </p:cNvPr>
          <p:cNvSpPr/>
          <p:nvPr/>
        </p:nvSpPr>
        <p:spPr>
          <a:xfrm>
            <a:off x="381000" y="1271016"/>
            <a:ext cx="3730625" cy="20686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Sanofi consolidated income statements, 2023, m Euro</a:t>
            </a:r>
            <a:endParaRPr lang="ru-RU" sz="900" b="1" dirty="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50E12E-7A29-4E40-8517-1819C833890C}"/>
              </a:ext>
            </a:extLst>
          </p:cNvPr>
          <p:cNvSpPr/>
          <p:nvPr/>
        </p:nvSpPr>
        <p:spPr>
          <a:xfrm>
            <a:off x="365506" y="5889795"/>
            <a:ext cx="2811706" cy="232175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pPr marL="88900" indent="-88900"/>
            <a:r>
              <a:rPr lang="en-US" sz="1000" baseline="30000" dirty="0"/>
              <a:t>1 </a:t>
            </a:r>
            <a:r>
              <a:rPr lang="ru-RU" sz="1000" baseline="30000" dirty="0"/>
              <a:t>	</a:t>
            </a:r>
            <a:r>
              <a:rPr lang="en-US" sz="800" dirty="0"/>
              <a:t>Here and further – no add-ins applied, only standard </a:t>
            </a:r>
            <a:br>
              <a:rPr lang="ru-RU" sz="800" dirty="0"/>
            </a:br>
            <a:r>
              <a:rPr lang="en-US" sz="800" dirty="0"/>
              <a:t>Excel functions used</a:t>
            </a:r>
            <a:endParaRPr lang="ru-RU" sz="800" dirty="0"/>
          </a:p>
          <a:p>
            <a:endParaRPr lang="ru-RU" sz="8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AA302D6-1B21-4BAE-9AB0-15AAA944B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413679"/>
              </p:ext>
            </p:extLst>
          </p:nvPr>
        </p:nvGraphicFramePr>
        <p:xfrm>
          <a:off x="3542717" y="1493218"/>
          <a:ext cx="2811706" cy="4684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1706">
                  <a:extLst>
                    <a:ext uri="{9D8B030D-6E8A-4147-A177-3AD203B41FA5}">
                      <a16:colId xmlns:a16="http://schemas.microsoft.com/office/drawing/2014/main" val="859675137"/>
                    </a:ext>
                  </a:extLst>
                </a:gridCol>
              </a:tblGrid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NET SALES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181256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Other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revenues</a:t>
                      </a:r>
                      <a:endParaRPr lang="de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031210"/>
                  </a:ext>
                </a:extLst>
              </a:tr>
              <a:tr h="26465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Cost</a:t>
                      </a:r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of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sales</a:t>
                      </a:r>
                      <a:endParaRPr lang="de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674893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= </a:t>
                      </a:r>
                      <a:r>
                        <a:rPr lang="de-DE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GROSS PROFIT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170568"/>
                  </a:ext>
                </a:extLst>
              </a:tr>
              <a:tr h="233776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R&amp;D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expenses</a:t>
                      </a:r>
                      <a:endParaRPr lang="de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493595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Selling</a:t>
                      </a:r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and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general</a:t>
                      </a:r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expenses</a:t>
                      </a:r>
                      <a:endParaRPr lang="de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218117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>
                          <a:solidFill>
                            <a:schemeClr val="tx1"/>
                          </a:solidFill>
                          <a:effectLst/>
                        </a:rPr>
                        <a:t>Other operating income</a:t>
                      </a:r>
                      <a:endParaRPr lang="de-DE" sz="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642798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>
                          <a:solidFill>
                            <a:schemeClr val="tx1"/>
                          </a:solidFill>
                          <a:effectLst/>
                        </a:rPr>
                        <a:t>Other operating expenses</a:t>
                      </a:r>
                      <a:endParaRPr lang="de-DE" sz="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08831"/>
                  </a:ext>
                </a:extLst>
              </a:tr>
              <a:tr h="243936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Amortization</a:t>
                      </a:r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of intangible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assets</a:t>
                      </a:r>
                      <a:endParaRPr lang="de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164551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Impairment</a:t>
                      </a:r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of intangible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assets</a:t>
                      </a:r>
                      <a:endParaRPr lang="de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72426"/>
                  </a:ext>
                </a:extLst>
              </a:tr>
              <a:tr h="249016"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Fair value remeasurement </a:t>
                      </a:r>
                      <a:br>
                        <a:rPr lang="ru-RU" sz="80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of contingent consideration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818236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u="none" strike="noStrike">
                          <a:solidFill>
                            <a:schemeClr val="tx1"/>
                          </a:solidFill>
                          <a:effectLst/>
                        </a:rPr>
                        <a:t>Restructuring costs and similar items</a:t>
                      </a:r>
                      <a:endParaRPr lang="en-US" sz="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482254"/>
                  </a:ext>
                </a:extLst>
              </a:tr>
              <a:tr h="240098"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Other gains and losses, and litigation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401335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= </a:t>
                      </a:r>
                      <a:r>
                        <a:rPr lang="de-DE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OPERATING INCOME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012396"/>
                  </a:ext>
                </a:extLst>
              </a:tr>
              <a:tr h="243936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>
                          <a:solidFill>
                            <a:schemeClr val="tx1"/>
                          </a:solidFill>
                          <a:effectLst/>
                        </a:rPr>
                        <a:t>Financial expenses</a:t>
                      </a:r>
                      <a:endParaRPr lang="de-DE" sz="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062324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>
                          <a:solidFill>
                            <a:schemeClr val="tx1"/>
                          </a:solidFill>
                          <a:effectLst/>
                        </a:rPr>
                        <a:t>Financial income</a:t>
                      </a:r>
                      <a:endParaRPr lang="de-DE" sz="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574851"/>
                  </a:ext>
                </a:extLst>
              </a:tr>
              <a:tr h="264256">
                <a:tc>
                  <a:txBody>
                    <a:bodyPr/>
                    <a:lstStyle/>
                    <a:p>
                      <a:pPr algn="r" fontAlgn="ctr"/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= </a:t>
                      </a:r>
                      <a:r>
                        <a:rPr lang="en-US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INCOME BEFORE TAX AND INVESTMENTS ACCOUNTED FOR USING THE EQUITY METHOD</a:t>
                      </a:r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801816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>
                          <a:solidFill>
                            <a:schemeClr val="tx1"/>
                          </a:solidFill>
                          <a:effectLst/>
                        </a:rPr>
                        <a:t>Income tax expense</a:t>
                      </a:r>
                      <a:endParaRPr lang="de-DE" sz="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504748"/>
                  </a:ext>
                </a:extLst>
              </a:tr>
              <a:tr h="238437"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Share of profit/loss from investments </a:t>
                      </a:r>
                      <a:br>
                        <a:rPr lang="ru-RU" sz="80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accounted for using the equity method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292146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NET INCOME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511903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CA097B93-6346-4BC4-9B98-5A20153CA0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16"/>
          <a:stretch/>
        </p:blipFill>
        <p:spPr>
          <a:xfrm>
            <a:off x="384929" y="2296347"/>
            <a:ext cx="3106256" cy="304001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965F6D4A-F699-4535-8B15-4846F04F2ACB}"/>
              </a:ext>
            </a:extLst>
          </p:cNvPr>
          <p:cNvGrpSpPr/>
          <p:nvPr/>
        </p:nvGrpSpPr>
        <p:grpSpPr>
          <a:xfrm>
            <a:off x="3690543" y="2078233"/>
            <a:ext cx="203420" cy="2815129"/>
            <a:chOff x="3547930" y="2331720"/>
            <a:chExt cx="203420" cy="2815129"/>
          </a:xfrm>
        </p:grpSpPr>
        <p:sp>
          <p:nvSpPr>
            <p:cNvPr id="31" name="Arrow: Chevron 30">
              <a:extLst>
                <a:ext uri="{FF2B5EF4-FFF2-40B4-BE49-F238E27FC236}">
                  <a16:creationId xmlns:a16="http://schemas.microsoft.com/office/drawing/2014/main" id="{2FF3A683-495D-478C-9249-5C4B588CDEF7}"/>
                </a:ext>
              </a:extLst>
            </p:cNvPr>
            <p:cNvSpPr/>
            <p:nvPr/>
          </p:nvSpPr>
          <p:spPr bwMode="gray">
            <a:xfrm>
              <a:off x="3547930" y="3550606"/>
              <a:ext cx="203420" cy="377356"/>
            </a:xfrm>
            <a:prstGeom prst="chevron">
              <a:avLst>
                <a:gd name="adj" fmla="val 62222"/>
              </a:avLst>
            </a:prstGeom>
            <a:solidFill>
              <a:schemeClr val="bg1">
                <a:lumMod val="65000"/>
              </a:schemeClr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2C03716-F5B2-4A9F-AF26-65261AF5D8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8765" y="2331720"/>
              <a:ext cx="0" cy="109728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6CEE425-8051-4758-80D2-5C6B20965A70}"/>
                </a:ext>
              </a:extLst>
            </p:cNvPr>
            <p:cNvCxnSpPr/>
            <p:nvPr/>
          </p:nvCxnSpPr>
          <p:spPr>
            <a:xfrm flipV="1">
              <a:off x="3638765" y="4049569"/>
              <a:ext cx="0" cy="109728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BAC297D6-DC7C-4F95-8E2D-5F293CECF91B}"/>
              </a:ext>
            </a:extLst>
          </p:cNvPr>
          <p:cNvSpPr txBox="1"/>
          <p:nvPr/>
        </p:nvSpPr>
        <p:spPr>
          <a:xfrm>
            <a:off x="3078731" y="2011482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Before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52B619-EE8A-4BF1-A9F2-08ECFD00308F}"/>
              </a:ext>
            </a:extLst>
          </p:cNvPr>
          <p:cNvSpPr txBox="1"/>
          <p:nvPr/>
        </p:nvSpPr>
        <p:spPr>
          <a:xfrm>
            <a:off x="4111747" y="2011482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After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FCB05174-C705-45E9-914B-6B347C3C70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1700837"/>
              </p:ext>
            </p:extLst>
          </p:nvPr>
        </p:nvGraphicFramePr>
        <p:xfrm>
          <a:off x="6298655" y="1340818"/>
          <a:ext cx="3864207" cy="4978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A2D5BA2-0ED2-4D08-95C4-EB4E5CE71ECB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r>
              <a:rPr lang="ru-RU" sz="1300" b="1" baseline="30000" dirty="0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 1</a:t>
            </a:r>
            <a:endParaRPr lang="ru-RU" sz="1300" b="1" dirty="0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0" name="Rectangle 19">
            <a:hlinkClick r:id="rId4"/>
            <a:extLst>
              <a:ext uri="{FF2B5EF4-FFF2-40B4-BE49-F238E27FC236}">
                <a16:creationId xmlns:a16="http://schemas.microsoft.com/office/drawing/2014/main" id="{18ECD378-7BCF-46E6-9613-8C6A1B91524A}"/>
              </a:ext>
            </a:extLst>
          </p:cNvPr>
          <p:cNvSpPr/>
          <p:nvPr/>
        </p:nvSpPr>
        <p:spPr>
          <a:xfrm>
            <a:off x="457479" y="6167690"/>
            <a:ext cx="1438276" cy="162103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Sanofi, Form 20-F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1040473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EB5E296-8474-4CA3-9CB6-4EE7FD6BB5B2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1D5F183-A54A-4E9B-B4D0-E1601F4A29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2553294"/>
              </p:ext>
            </p:extLst>
          </p:nvPr>
        </p:nvGraphicFramePr>
        <p:xfrm>
          <a:off x="177509" y="2068945"/>
          <a:ext cx="9124859" cy="4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64FA1E98-D8C9-40FB-B479-7DEED6FF4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6843" y="1241182"/>
            <a:ext cx="400092" cy="3942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EEC1DF0-46BF-47CB-9C1E-2B4DEE7AC3EB}"/>
              </a:ext>
            </a:extLst>
          </p:cNvPr>
          <p:cNvSpPr/>
          <p:nvPr/>
        </p:nvSpPr>
        <p:spPr>
          <a:xfrm>
            <a:off x="8311691" y="1238252"/>
            <a:ext cx="150056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r>
              <a:rPr lang="ru-RU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oronavirus pandemic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1BD60C-7288-41B0-8423-3010CDE2EF7B}"/>
              </a:ext>
            </a:extLst>
          </p:cNvPr>
          <p:cNvCxnSpPr>
            <a:cxnSpLocks/>
          </p:cNvCxnSpPr>
          <p:nvPr/>
        </p:nvCxnSpPr>
        <p:spPr>
          <a:xfrm>
            <a:off x="8056889" y="1707444"/>
            <a:ext cx="0" cy="12566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B4764F-2856-473C-98E2-B3E7411ECE00}"/>
              </a:ext>
            </a:extLst>
          </p:cNvPr>
          <p:cNvSpPr/>
          <p:nvPr/>
        </p:nvSpPr>
        <p:spPr>
          <a:xfrm>
            <a:off x="1975780" y="1914309"/>
            <a:ext cx="541063" cy="26501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Montserrat" panose="00000800000000000000" pitchFamily="2" charset="-52"/>
              </a:rPr>
              <a:t>2018</a:t>
            </a:r>
            <a:endParaRPr lang="ru-RU" sz="1200" b="1" dirty="0">
              <a:solidFill>
                <a:schemeClr val="bg1"/>
              </a:solidFill>
              <a:latin typeface="Montserrat" panose="00000800000000000000" pitchFamily="2" charset="-52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B20F04-67DC-4907-B0A8-74E48DF02D12}"/>
              </a:ext>
            </a:extLst>
          </p:cNvPr>
          <p:cNvSpPr/>
          <p:nvPr/>
        </p:nvSpPr>
        <p:spPr>
          <a:xfrm>
            <a:off x="4953000" y="1914309"/>
            <a:ext cx="540000" cy="26640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Montserrat" panose="00000800000000000000" pitchFamily="2" charset="-52"/>
              </a:rPr>
              <a:t>2019</a:t>
            </a:r>
            <a:endParaRPr lang="ru-RU" sz="1200" b="1" dirty="0">
              <a:solidFill>
                <a:schemeClr val="bg1"/>
              </a:solidFill>
              <a:latin typeface="Montserrat" panose="00000800000000000000" pitchFamily="2" charset="-52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594160-C9C3-4357-99D0-E4933AA7A88E}"/>
              </a:ext>
            </a:extLst>
          </p:cNvPr>
          <p:cNvSpPr/>
          <p:nvPr/>
        </p:nvSpPr>
        <p:spPr>
          <a:xfrm>
            <a:off x="7785917" y="1914309"/>
            <a:ext cx="540000" cy="266400"/>
          </a:xfrm>
          <a:prstGeom prst="roundRect">
            <a:avLst>
              <a:gd name="adj" fmla="val 50000"/>
            </a:avLst>
          </a:prstGeom>
          <a:solidFill>
            <a:srgbClr val="00A3E0"/>
          </a:solidFill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Montserrat" panose="00000800000000000000" pitchFamily="2" charset="-52"/>
              </a:rPr>
              <a:t>2020</a:t>
            </a:r>
            <a:endParaRPr lang="ru-RU" sz="1200" b="1" dirty="0">
              <a:solidFill>
                <a:schemeClr val="bg1"/>
              </a:solidFill>
              <a:latin typeface="Montserrat" panose="00000800000000000000" pitchFamily="2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291E30-3607-4B28-A962-98FAFADEB97C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/>
              <a:t>Dumbbell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F64B71-3DF8-40E8-8636-25418AC851DE}"/>
              </a:ext>
            </a:extLst>
          </p:cNvPr>
          <p:cNvSpPr/>
          <p:nvPr/>
        </p:nvSpPr>
        <p:spPr>
          <a:xfrm>
            <a:off x="381000" y="1271016"/>
            <a:ext cx="3730625" cy="20686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Change in share of remote workers in IT-companies</a:t>
            </a:r>
            <a:endParaRPr lang="ru-RU" sz="900" b="1" dirty="0">
              <a:latin typeface="+mj-lt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AA82844-9663-48DA-A949-7188E04A2CC9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pic>
        <p:nvPicPr>
          <p:cNvPr id="3074" name="Picture 2" descr="https://sun9-59.userapi.com/impg/GdxHJ4HR36BJ1T8EybqB2RoQ7Wu7YPr6UZGpDw/mReSzL3wzks.jpg?size=537x240&amp;quality=96&amp;sign=0defcaea11cbe0dae7e34727817f9a69&amp;type=share">
            <a:extLst>
              <a:ext uri="{FF2B5EF4-FFF2-40B4-BE49-F238E27FC236}">
                <a16:creationId xmlns:a16="http://schemas.microsoft.com/office/drawing/2014/main" id="{6FA7927D-84B2-4369-8F56-3D61BD1A6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65" y="3826329"/>
            <a:ext cx="673794" cy="301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CFE02E-52F5-4CB0-8A9C-249F54CB8B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065" y="3382333"/>
            <a:ext cx="1007833" cy="17899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CA75DCF-0406-4D4C-B5BD-FCF0962852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065" y="4297662"/>
            <a:ext cx="1004571" cy="38687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1EB959C-C748-4A76-A0BD-19D44A9EF2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065" y="2296809"/>
            <a:ext cx="1259100" cy="29700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AF10575-618B-486B-98F3-20E9F76EA3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065" y="4877479"/>
            <a:ext cx="686109" cy="29505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486BB63-C121-444B-8C13-F9F0FF1303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9065" y="5419704"/>
            <a:ext cx="589230" cy="36838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58836E-EFFD-464E-9E27-7310A2955E38}"/>
              </a:ext>
            </a:extLst>
          </p:cNvPr>
          <p:cNvSpPr/>
          <p:nvPr/>
        </p:nvSpPr>
        <p:spPr>
          <a:xfrm>
            <a:off x="381000" y="6256000"/>
            <a:ext cx="1525622" cy="131874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de-DE" sz="800" dirty="0" err="1"/>
              <a:t>random</a:t>
            </a:r>
            <a:r>
              <a:rPr lang="de-DE" sz="800" dirty="0"/>
              <a:t> </a:t>
            </a:r>
            <a:r>
              <a:rPr lang="de-DE" sz="800" dirty="0" err="1"/>
              <a:t>data</a:t>
            </a:r>
            <a:endParaRPr lang="ru-RU" sz="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1EBE9C-3546-450A-A283-3B92A7E89A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6920" y="2847564"/>
            <a:ext cx="929257" cy="32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82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0584841-91D4-4E9F-B632-D849F7777EF2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DFCBF9FA-59FC-4ABD-89FB-B4340DF313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3435278"/>
              </p:ext>
            </p:extLst>
          </p:nvPr>
        </p:nvGraphicFramePr>
        <p:xfrm>
          <a:off x="-590860" y="1770571"/>
          <a:ext cx="7720619" cy="4211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4C288041-F8F8-48F2-9C2C-F3DE3F850D96}"/>
              </a:ext>
            </a:extLst>
          </p:cNvPr>
          <p:cNvSpPr txBox="1"/>
          <p:nvPr/>
        </p:nvSpPr>
        <p:spPr>
          <a:xfrm>
            <a:off x="1795643" y="1670279"/>
            <a:ext cx="544080" cy="28824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2022</a:t>
            </a:r>
            <a:endParaRPr lang="ru-RU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4D2399-770E-4E6C-80DB-611F80318672}"/>
              </a:ext>
            </a:extLst>
          </p:cNvPr>
          <p:cNvSpPr txBox="1"/>
          <p:nvPr/>
        </p:nvSpPr>
        <p:spPr>
          <a:xfrm>
            <a:off x="5038530" y="1670279"/>
            <a:ext cx="544080" cy="28824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2023</a:t>
            </a:r>
            <a:endParaRPr lang="ru-RU" sz="10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CF65F26-3975-4D1E-8216-4A5F8AF73A23}"/>
              </a:ext>
            </a:extLst>
          </p:cNvPr>
          <p:cNvSpPr/>
          <p:nvPr/>
        </p:nvSpPr>
        <p:spPr bwMode="gray">
          <a:xfrm>
            <a:off x="2997325" y="5874941"/>
            <a:ext cx="111639" cy="111206"/>
          </a:xfrm>
          <a:prstGeom prst="rect">
            <a:avLst/>
          </a:prstGeom>
          <a:solidFill>
            <a:srgbClr val="00A3E0"/>
          </a:solidFill>
        </p:spPr>
        <p:txBody>
          <a:bodyPr vert="horz" lIns="36000" tIns="36000" rIns="36000" bIns="3600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354EC4D-71C8-43C6-A111-560B214356E9}"/>
              </a:ext>
            </a:extLst>
          </p:cNvPr>
          <p:cNvSpPr/>
          <p:nvPr/>
        </p:nvSpPr>
        <p:spPr bwMode="gray">
          <a:xfrm>
            <a:off x="3799796" y="5874941"/>
            <a:ext cx="111639" cy="111252"/>
          </a:xfrm>
          <a:prstGeom prst="rect">
            <a:avLst/>
          </a:prstGeom>
          <a:solidFill>
            <a:srgbClr val="012169"/>
          </a:solidFill>
        </p:spPr>
        <p:txBody>
          <a:bodyPr vert="horz" lIns="36000" tIns="36000" rIns="36000" bIns="3600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sp>
        <p:nvSpPr>
          <p:cNvPr id="57" name="TextBox 3">
            <a:extLst>
              <a:ext uri="{FF2B5EF4-FFF2-40B4-BE49-F238E27FC236}">
                <a16:creationId xmlns:a16="http://schemas.microsoft.com/office/drawing/2014/main" id="{79E86B30-75CD-4FD7-A3DD-25D2E637DF24}"/>
              </a:ext>
            </a:extLst>
          </p:cNvPr>
          <p:cNvSpPr txBox="1"/>
          <p:nvPr/>
        </p:nvSpPr>
        <p:spPr>
          <a:xfrm>
            <a:off x="3189489" y="5860046"/>
            <a:ext cx="461075" cy="15206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Sales</a:t>
            </a:r>
            <a:endParaRPr lang="ru-RU" sz="900" dirty="0" err="1"/>
          </a:p>
        </p:txBody>
      </p:sp>
      <p:sp>
        <p:nvSpPr>
          <p:cNvPr id="58" name="TextBox 4">
            <a:extLst>
              <a:ext uri="{FF2B5EF4-FFF2-40B4-BE49-F238E27FC236}">
                <a16:creationId xmlns:a16="http://schemas.microsoft.com/office/drawing/2014/main" id="{9348D27C-7A62-40A4-ADC6-6DC4C8519979}"/>
              </a:ext>
            </a:extLst>
          </p:cNvPr>
          <p:cNvSpPr txBox="1"/>
          <p:nvPr/>
        </p:nvSpPr>
        <p:spPr>
          <a:xfrm>
            <a:off x="3991959" y="5860046"/>
            <a:ext cx="1600077" cy="15206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Income before EBITDA</a:t>
            </a:r>
            <a:endParaRPr lang="ru-RU" sz="900" dirty="0" err="1"/>
          </a:p>
        </p:txBody>
      </p:sp>
      <p:sp>
        <p:nvSpPr>
          <p:cNvPr id="60" name="Rectangle 363">
            <a:extLst>
              <a:ext uri="{FF2B5EF4-FFF2-40B4-BE49-F238E27FC236}">
                <a16:creationId xmlns:a16="http://schemas.microsoft.com/office/drawing/2014/main" id="{1878C1B6-4157-4F26-8C05-3E096E419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136" y="1592263"/>
            <a:ext cx="863609" cy="265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Contributions to EBITDA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1ECACD89-A0A2-4484-9113-486B323944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069321"/>
              </p:ext>
            </p:extLst>
          </p:nvPr>
        </p:nvGraphicFramePr>
        <p:xfrm>
          <a:off x="6063177" y="1746781"/>
          <a:ext cx="1474583" cy="4211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5E5B837-BA27-4E1B-957D-E6095F33C850}"/>
              </a:ext>
            </a:extLst>
          </p:cNvPr>
          <p:cNvSpPr txBox="1"/>
          <p:nvPr/>
        </p:nvSpPr>
        <p:spPr>
          <a:xfrm>
            <a:off x="3343346" y="2755121"/>
            <a:ext cx="614436" cy="3331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fontAlgn="b"/>
            <a:r>
              <a:rPr lang="de-DE" sz="900" dirty="0"/>
              <a:t>Materials</a:t>
            </a:r>
            <a:endParaRPr lang="ru-RU" sz="900" dirty="0"/>
          </a:p>
          <a:p>
            <a:pPr algn="ctr"/>
            <a:endParaRPr lang="ru-RU" sz="900" dirty="0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DD0822-001C-495F-AB9B-DECF078DD5A3}"/>
              </a:ext>
            </a:extLst>
          </p:cNvPr>
          <p:cNvSpPr txBox="1"/>
          <p:nvPr/>
        </p:nvSpPr>
        <p:spPr>
          <a:xfrm>
            <a:off x="3338407" y="3440912"/>
            <a:ext cx="673621" cy="3331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fontAlgn="b"/>
            <a:r>
              <a:rPr lang="de-DE" sz="900" dirty="0"/>
              <a:t>Chemicals</a:t>
            </a:r>
            <a:endParaRPr lang="ru-RU" sz="900" dirty="0"/>
          </a:p>
          <a:p>
            <a:pPr algn="ctr"/>
            <a:endParaRPr lang="ru-RU" sz="900" dirty="0" err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FD907E-3F52-4CCD-88CE-02F5AFDCC7C2}"/>
              </a:ext>
            </a:extLst>
          </p:cNvPr>
          <p:cNvSpPr txBox="1"/>
          <p:nvPr/>
        </p:nvSpPr>
        <p:spPr>
          <a:xfrm>
            <a:off x="3269449" y="1977304"/>
            <a:ext cx="863897" cy="3733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fontAlgn="b"/>
            <a:r>
              <a:rPr lang="de-DE" sz="900" dirty="0"/>
              <a:t>Surface technologies</a:t>
            </a:r>
            <a:endParaRPr lang="ru-RU" sz="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FB6AFB-C04E-46A0-9A26-6D74C5055249}"/>
              </a:ext>
            </a:extLst>
          </p:cNvPr>
          <p:cNvSpPr txBox="1"/>
          <p:nvPr/>
        </p:nvSpPr>
        <p:spPr>
          <a:xfrm>
            <a:off x="3301023" y="4029502"/>
            <a:ext cx="748389" cy="3733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fontAlgn="b"/>
            <a:r>
              <a:rPr lang="de-DE" sz="900" dirty="0"/>
              <a:t>Agricultural </a:t>
            </a:r>
            <a:r>
              <a:rPr lang="de-DE" sz="900" dirty="0" err="1"/>
              <a:t>solutions</a:t>
            </a:r>
            <a:endParaRPr lang="ru-RU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225E92-1441-44D3-91C0-DFA7F5DF7115}"/>
              </a:ext>
            </a:extLst>
          </p:cNvPr>
          <p:cNvSpPr txBox="1"/>
          <p:nvPr/>
        </p:nvSpPr>
        <p:spPr>
          <a:xfrm>
            <a:off x="3456570" y="5381006"/>
            <a:ext cx="546849" cy="3331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fontAlgn="b"/>
            <a:r>
              <a:rPr lang="de-DE" sz="900" dirty="0"/>
              <a:t>Nutrition &amp; care</a:t>
            </a:r>
            <a:endParaRPr lang="ru-RU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DD64DA-4393-4DAD-ADC0-5BE026DDC4D9}"/>
              </a:ext>
            </a:extLst>
          </p:cNvPr>
          <p:cNvSpPr txBox="1"/>
          <p:nvPr/>
        </p:nvSpPr>
        <p:spPr>
          <a:xfrm>
            <a:off x="3269449" y="4711549"/>
            <a:ext cx="863897" cy="3331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fontAlgn="b"/>
            <a:r>
              <a:rPr lang="de-DE" sz="900" dirty="0"/>
              <a:t>Industrial </a:t>
            </a:r>
            <a:r>
              <a:rPr lang="de-DE" sz="900" dirty="0" err="1"/>
              <a:t>solutions</a:t>
            </a:r>
            <a:endParaRPr lang="ru-RU" sz="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67A78-1467-43F9-AFF4-82F5F955599B}"/>
              </a:ext>
            </a:extLst>
          </p:cNvPr>
          <p:cNvSpPr/>
          <p:nvPr/>
        </p:nvSpPr>
        <p:spPr bwMode="gray">
          <a:xfrm>
            <a:off x="3301023" y="1858014"/>
            <a:ext cx="774914" cy="1835184"/>
          </a:xfrm>
          <a:prstGeom prst="rect">
            <a:avLst/>
          </a:prstGeom>
          <a:noFill/>
          <a:ln>
            <a:solidFill>
              <a:srgbClr val="ED8B00"/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643A70-4382-4A9B-952F-B994FB930DBA}"/>
              </a:ext>
            </a:extLst>
          </p:cNvPr>
          <p:cNvSpPr txBox="1"/>
          <p:nvPr/>
        </p:nvSpPr>
        <p:spPr>
          <a:xfrm>
            <a:off x="381000" y="576001"/>
            <a:ext cx="4571999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Stacked tornado (butterfly)</a:t>
            </a:r>
            <a:endParaRPr lang="ru-RU" dirty="0"/>
          </a:p>
        </p:txBody>
      </p:sp>
      <p:sp>
        <p:nvSpPr>
          <p:cNvPr id="53" name="Rectangle 363">
            <a:extLst>
              <a:ext uri="{FF2B5EF4-FFF2-40B4-BE49-F238E27FC236}">
                <a16:creationId xmlns:a16="http://schemas.microsoft.com/office/drawing/2014/main" id="{56801D8B-F14C-4BE3-A22E-4138C3187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792" y="1274838"/>
            <a:ext cx="4305367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latin typeface="+mj-lt"/>
              </a:rPr>
              <a:t>BASF business review by segment, EURO </a:t>
            </a:r>
            <a:r>
              <a:rPr lang="en-US" altLang="ru-RU" sz="900" b="1" dirty="0" err="1">
                <a:latin typeface="+mj-lt"/>
              </a:rPr>
              <a:t>bln</a:t>
            </a:r>
            <a:endParaRPr lang="ru-RU" altLang="ru-RU" sz="900" b="1" dirty="0">
              <a:latin typeface="+mj-lt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9945B11-74DC-4AA6-A638-965913F2947A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1" name="Rectangle 60">
            <a:hlinkClick r:id="rId4"/>
            <a:extLst>
              <a:ext uri="{FF2B5EF4-FFF2-40B4-BE49-F238E27FC236}">
                <a16:creationId xmlns:a16="http://schemas.microsoft.com/office/drawing/2014/main" id="{EEC47A7D-D2FB-4DC4-9BF2-B31E9C8FD36C}"/>
              </a:ext>
            </a:extLst>
          </p:cNvPr>
          <p:cNvSpPr/>
          <p:nvPr/>
        </p:nvSpPr>
        <p:spPr>
          <a:xfrm>
            <a:off x="381000" y="6254980"/>
            <a:ext cx="20370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dirty="0"/>
              <a:t>Source: BASF 2023 annual report</a:t>
            </a:r>
          </a:p>
          <a:p>
            <a:r>
              <a:rPr lang="en-US" sz="800" baseline="30000" dirty="0"/>
              <a:t>1  </a:t>
            </a:r>
            <a:r>
              <a:rPr lang="en-US" sz="800" dirty="0"/>
              <a:t>Author’s hypothesis</a:t>
            </a:r>
            <a:endParaRPr lang="ru-RU" sz="8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084E9C2-1EDB-427D-85A6-5C83BC520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1814826"/>
            <a:ext cx="2185987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altLang="ru-RU" sz="900" b="1" dirty="0">
                <a:solidFill>
                  <a:srgbClr val="ED8B00"/>
                </a:solidFill>
                <a:latin typeface="+mj-lt"/>
              </a:rPr>
              <a:t>[1] </a:t>
            </a:r>
            <a:r>
              <a:rPr lang="ru-RU" altLang="ru-RU" sz="900" dirty="0"/>
              <a:t>BASF </a:t>
            </a:r>
            <a:r>
              <a:rPr lang="ru-RU" altLang="ru-RU" sz="900" dirty="0" err="1"/>
              <a:t>likely</a:t>
            </a:r>
            <a:r>
              <a:rPr lang="ru-RU" altLang="ru-RU" sz="900" dirty="0"/>
              <a:t> </a:t>
            </a:r>
            <a:r>
              <a:rPr lang="ru-RU" altLang="ru-RU" sz="900" b="1" dirty="0" err="1">
                <a:latin typeface="+mj-lt"/>
              </a:rPr>
              <a:t>faces</a:t>
            </a:r>
            <a:r>
              <a:rPr lang="ru-RU" altLang="ru-RU" sz="900" b="1" dirty="0">
                <a:latin typeface="+mj-lt"/>
              </a:rPr>
              <a:t> </a:t>
            </a:r>
            <a:r>
              <a:rPr lang="ru-RU" altLang="ru-RU" sz="900" b="1" dirty="0" err="1">
                <a:latin typeface="+mj-lt"/>
              </a:rPr>
              <a:t>market</a:t>
            </a:r>
            <a:r>
              <a:rPr lang="ru-RU" altLang="ru-RU" sz="900" b="1" dirty="0">
                <a:latin typeface="+mj-lt"/>
              </a:rPr>
              <a:t> </a:t>
            </a:r>
            <a:r>
              <a:rPr lang="ru-RU" altLang="ru-RU" sz="900" b="1" dirty="0" err="1">
                <a:latin typeface="+mj-lt"/>
              </a:rPr>
              <a:t>or</a:t>
            </a:r>
            <a:r>
              <a:rPr lang="ru-RU" altLang="ru-RU" sz="900" b="1" dirty="0">
                <a:latin typeface="+mj-lt"/>
              </a:rPr>
              <a:t> </a:t>
            </a:r>
            <a:r>
              <a:rPr lang="ru-RU" altLang="ru-RU" sz="900" b="1" dirty="0" err="1">
                <a:latin typeface="+mj-lt"/>
              </a:rPr>
              <a:t>cost</a:t>
            </a:r>
            <a:r>
              <a:rPr lang="ru-RU" altLang="ru-RU" sz="900" b="1" dirty="0">
                <a:latin typeface="+mj-lt"/>
              </a:rPr>
              <a:t> </a:t>
            </a:r>
            <a:r>
              <a:rPr lang="ru-RU" altLang="ru-RU" sz="900" b="1" dirty="0" err="1">
                <a:latin typeface="+mj-lt"/>
              </a:rPr>
              <a:t>pressures</a:t>
            </a:r>
            <a:r>
              <a:rPr lang="ru-RU" altLang="ru-RU" sz="900" dirty="0"/>
              <a:t> </a:t>
            </a:r>
            <a:r>
              <a:rPr lang="ru-RU" altLang="ru-RU" sz="900" dirty="0" err="1"/>
              <a:t>in</a:t>
            </a:r>
            <a:r>
              <a:rPr lang="ru-RU" altLang="ru-RU" sz="900" dirty="0"/>
              <a:t> </a:t>
            </a:r>
            <a:r>
              <a:rPr lang="ru-RU" altLang="ru-RU" sz="900" dirty="0" err="1"/>
              <a:t>Surface</a:t>
            </a:r>
            <a:r>
              <a:rPr lang="ru-RU" altLang="ru-RU" sz="900" dirty="0"/>
              <a:t> </a:t>
            </a:r>
            <a:r>
              <a:rPr lang="ru-RU" altLang="ru-RU" sz="900" dirty="0" err="1"/>
              <a:t>Technologies</a:t>
            </a:r>
            <a:r>
              <a:rPr lang="ru-RU" altLang="ru-RU" sz="900" dirty="0"/>
              <a:t>, </a:t>
            </a:r>
            <a:r>
              <a:rPr lang="ru-RU" altLang="ru-RU" sz="900" dirty="0" err="1"/>
              <a:t>Chemicals</a:t>
            </a:r>
            <a:r>
              <a:rPr lang="ru-RU" altLang="ru-RU" sz="900" dirty="0"/>
              <a:t>, </a:t>
            </a:r>
            <a:r>
              <a:rPr lang="ru-RU" altLang="ru-RU" sz="900" dirty="0" err="1"/>
              <a:t>and</a:t>
            </a:r>
            <a:r>
              <a:rPr lang="ru-RU" altLang="ru-RU" sz="900" dirty="0"/>
              <a:t> </a:t>
            </a:r>
            <a:r>
              <a:rPr lang="ru-RU" altLang="ru-RU" sz="900" dirty="0" err="1"/>
              <a:t>Materials</a:t>
            </a:r>
            <a:r>
              <a:rPr lang="ru-RU" altLang="ru-RU" sz="900" dirty="0"/>
              <a:t>, </a:t>
            </a:r>
            <a:r>
              <a:rPr lang="ru-RU" altLang="ru-RU" sz="900" dirty="0" err="1"/>
              <a:t>which</a:t>
            </a:r>
            <a:r>
              <a:rPr lang="ru-RU" altLang="ru-RU" sz="900" dirty="0"/>
              <a:t> </a:t>
            </a:r>
            <a:r>
              <a:rPr lang="ru-RU" altLang="ru-RU" sz="900" dirty="0" err="1"/>
              <a:t>traditionally</a:t>
            </a:r>
            <a:r>
              <a:rPr lang="ru-RU" altLang="ru-RU" sz="900" dirty="0"/>
              <a:t> </a:t>
            </a:r>
            <a:r>
              <a:rPr lang="ru-RU" altLang="ru-RU" sz="900" dirty="0" err="1"/>
              <a:t>had</a:t>
            </a:r>
            <a:r>
              <a:rPr lang="ru-RU" altLang="ru-RU" sz="900" dirty="0"/>
              <a:t> </a:t>
            </a:r>
            <a:r>
              <a:rPr lang="ru-RU" altLang="ru-RU" sz="900" dirty="0" err="1"/>
              <a:t>high</a:t>
            </a:r>
            <a:r>
              <a:rPr lang="ru-RU" altLang="ru-RU" sz="900" dirty="0"/>
              <a:t> </a:t>
            </a:r>
            <a:r>
              <a:rPr lang="ru-RU" altLang="ru-RU" sz="900" dirty="0" err="1"/>
              <a:t>revenues</a:t>
            </a:r>
            <a:r>
              <a:rPr lang="ru-RU" altLang="ru-RU" sz="900" dirty="0"/>
              <a:t>.</a:t>
            </a: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altLang="ru-RU" sz="900" dirty="0">
                <a:solidFill>
                  <a:srgbClr val="ED8B00"/>
                </a:solidFill>
                <a:latin typeface="+mj-lt"/>
              </a:rPr>
              <a:t>[2] </a:t>
            </a:r>
            <a:r>
              <a:rPr lang="ru-RU" altLang="ru-RU" sz="900" dirty="0" err="1"/>
              <a:t>Strength</a:t>
            </a:r>
            <a:r>
              <a:rPr lang="ru-RU" altLang="ru-RU" sz="900" dirty="0"/>
              <a:t> </a:t>
            </a:r>
            <a:r>
              <a:rPr lang="ru-RU" altLang="ru-RU" sz="900" dirty="0" err="1"/>
              <a:t>in</a:t>
            </a:r>
            <a:r>
              <a:rPr lang="ru-RU" altLang="ru-RU" sz="900" dirty="0"/>
              <a:t> </a:t>
            </a:r>
            <a:r>
              <a:rPr lang="ru-RU" altLang="ru-RU" sz="900" dirty="0" err="1"/>
              <a:t>Agricultural</a:t>
            </a:r>
            <a:r>
              <a:rPr lang="ru-RU" altLang="ru-RU" sz="900" dirty="0"/>
              <a:t> </a:t>
            </a:r>
            <a:r>
              <a:rPr lang="ru-RU" altLang="ru-RU" sz="900" dirty="0" err="1"/>
              <a:t>Solutions</a:t>
            </a:r>
            <a:r>
              <a:rPr lang="ru-RU" altLang="ru-RU" sz="900" dirty="0"/>
              <a:t> </a:t>
            </a:r>
            <a:r>
              <a:rPr lang="ru-RU" altLang="ru-RU" sz="900" dirty="0" err="1"/>
              <a:t>suggests</a:t>
            </a:r>
            <a:r>
              <a:rPr lang="ru-RU" altLang="ru-RU" sz="900" dirty="0"/>
              <a:t> </a:t>
            </a:r>
            <a:r>
              <a:rPr lang="ru-RU" altLang="ru-RU" sz="900" dirty="0" err="1"/>
              <a:t>resilience</a:t>
            </a:r>
            <a:r>
              <a:rPr lang="ru-RU" altLang="ru-RU" sz="900" dirty="0"/>
              <a:t> </a:t>
            </a:r>
            <a:r>
              <a:rPr lang="ru-RU" altLang="ru-RU" sz="900" dirty="0" err="1"/>
              <a:t>or</a:t>
            </a:r>
            <a:r>
              <a:rPr lang="ru-RU" altLang="ru-RU" sz="900" dirty="0"/>
              <a:t> </a:t>
            </a:r>
            <a:r>
              <a:rPr lang="ru-RU" altLang="ru-RU" sz="900" dirty="0" err="1"/>
              <a:t>growth</a:t>
            </a:r>
            <a:r>
              <a:rPr lang="ru-RU" altLang="ru-RU" sz="900" dirty="0"/>
              <a:t> </a:t>
            </a:r>
            <a:r>
              <a:rPr lang="ru-RU" altLang="ru-RU" sz="900" dirty="0" err="1"/>
              <a:t>in</a:t>
            </a:r>
            <a:r>
              <a:rPr lang="ru-RU" altLang="ru-RU" sz="900" dirty="0"/>
              <a:t> </a:t>
            </a:r>
            <a:r>
              <a:rPr lang="ru-RU" altLang="ru-RU" sz="900" dirty="0" err="1"/>
              <a:t>demand</a:t>
            </a:r>
            <a:r>
              <a:rPr lang="ru-RU" altLang="ru-RU" sz="900" dirty="0"/>
              <a:t>/</a:t>
            </a:r>
            <a:r>
              <a:rPr lang="ru-RU" altLang="ru-RU" sz="900" dirty="0" err="1"/>
              <a:t>pricing</a:t>
            </a:r>
            <a:r>
              <a:rPr lang="en-US" altLang="ru-RU" sz="900" dirty="0"/>
              <a:t> – </a:t>
            </a:r>
            <a:r>
              <a:rPr lang="ru-RU" altLang="ru-RU" sz="900" dirty="0" err="1"/>
              <a:t>possibly</a:t>
            </a:r>
            <a:r>
              <a:rPr lang="ru-RU" altLang="ru-RU" sz="900" dirty="0"/>
              <a:t> a </a:t>
            </a:r>
            <a:r>
              <a:rPr lang="ru-RU" altLang="ru-RU" sz="900" dirty="0" err="1"/>
              <a:t>strategic</a:t>
            </a:r>
            <a:r>
              <a:rPr lang="ru-RU" altLang="ru-RU" sz="900" dirty="0"/>
              <a:t> </a:t>
            </a:r>
            <a:r>
              <a:rPr lang="ru-RU" altLang="ru-RU" sz="900" dirty="0" err="1"/>
              <a:t>area</a:t>
            </a:r>
            <a:r>
              <a:rPr lang="ru-RU" altLang="ru-RU" sz="900" dirty="0"/>
              <a:t> </a:t>
            </a:r>
            <a:r>
              <a:rPr lang="ru-RU" altLang="ru-RU" sz="900" dirty="0" err="1"/>
              <a:t>to</a:t>
            </a:r>
            <a:r>
              <a:rPr lang="ru-RU" altLang="ru-RU" sz="900" dirty="0"/>
              <a:t> </a:t>
            </a:r>
            <a:r>
              <a:rPr lang="ru-RU" altLang="ru-RU" sz="900" dirty="0" err="1"/>
              <a:t>expand</a:t>
            </a:r>
            <a:r>
              <a:rPr lang="ru-RU" altLang="ru-RU" sz="900" dirty="0"/>
              <a:t>.</a:t>
            </a: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ru-RU" altLang="ru-RU" sz="900" dirty="0"/>
              <a:t>Performance </a:t>
            </a:r>
            <a:r>
              <a:rPr lang="ru-RU" altLang="ru-RU" sz="900" dirty="0" err="1"/>
              <a:t>across</a:t>
            </a:r>
            <a:r>
              <a:rPr lang="ru-RU" altLang="ru-RU" sz="900" dirty="0"/>
              <a:t> </a:t>
            </a:r>
            <a:r>
              <a:rPr lang="ru-RU" altLang="ru-RU" sz="900" dirty="0" err="1"/>
              <a:t>the</a:t>
            </a:r>
            <a:r>
              <a:rPr lang="ru-RU" altLang="ru-RU" sz="900" dirty="0"/>
              <a:t> </a:t>
            </a:r>
            <a:r>
              <a:rPr lang="ru-RU" altLang="ru-RU" sz="900" dirty="0" err="1"/>
              <a:t>board</a:t>
            </a:r>
            <a:r>
              <a:rPr lang="ru-RU" altLang="ru-RU" sz="900" dirty="0"/>
              <a:t> </a:t>
            </a:r>
            <a:r>
              <a:rPr lang="ru-RU" altLang="ru-RU" sz="900" dirty="0" err="1"/>
              <a:t>shows</a:t>
            </a:r>
            <a:r>
              <a:rPr lang="ru-RU" altLang="ru-RU" sz="900" dirty="0"/>
              <a:t> </a:t>
            </a:r>
            <a:r>
              <a:rPr lang="ru-RU" altLang="ru-RU" sz="900" dirty="0" err="1"/>
              <a:t>margin</a:t>
            </a:r>
            <a:r>
              <a:rPr lang="ru-RU" altLang="ru-RU" sz="900" dirty="0"/>
              <a:t> </a:t>
            </a:r>
            <a:r>
              <a:rPr lang="ru-RU" altLang="ru-RU" sz="900" dirty="0" err="1"/>
              <a:t>pressures</a:t>
            </a:r>
            <a:r>
              <a:rPr lang="ru-RU" altLang="ru-RU" sz="900" dirty="0"/>
              <a:t> </a:t>
            </a:r>
            <a:r>
              <a:rPr lang="ru-RU" altLang="ru-RU" sz="900" dirty="0" err="1"/>
              <a:t>as</a:t>
            </a:r>
            <a:r>
              <a:rPr lang="ru-RU" altLang="ru-RU" sz="900" dirty="0"/>
              <a:t> EBITDA </a:t>
            </a:r>
            <a:r>
              <a:rPr lang="ru-RU" altLang="ru-RU" sz="900" dirty="0" err="1"/>
              <a:t>declined</a:t>
            </a:r>
            <a:r>
              <a:rPr lang="ru-RU" altLang="ru-RU" sz="900" dirty="0"/>
              <a:t> </a:t>
            </a:r>
            <a:r>
              <a:rPr lang="ru-RU" altLang="ru-RU" sz="900" dirty="0" err="1"/>
              <a:t>more</a:t>
            </a:r>
            <a:r>
              <a:rPr lang="ru-RU" altLang="ru-RU" sz="900" dirty="0"/>
              <a:t> </a:t>
            </a:r>
            <a:r>
              <a:rPr lang="ru-RU" altLang="ru-RU" sz="900" dirty="0" err="1"/>
              <a:t>steeply</a:t>
            </a:r>
            <a:r>
              <a:rPr lang="ru-RU" altLang="ru-RU" sz="900" dirty="0"/>
              <a:t> </a:t>
            </a:r>
            <a:r>
              <a:rPr lang="ru-RU" altLang="ru-RU" sz="900" dirty="0" err="1"/>
              <a:t>than</a:t>
            </a:r>
            <a:r>
              <a:rPr lang="ru-RU" altLang="ru-RU" sz="900" dirty="0"/>
              <a:t> </a:t>
            </a:r>
            <a:r>
              <a:rPr lang="ru-RU" altLang="ru-RU" sz="900" dirty="0" err="1"/>
              <a:t>sales</a:t>
            </a:r>
            <a:r>
              <a:rPr lang="ru-RU" altLang="ru-RU" sz="900" dirty="0"/>
              <a:t> </a:t>
            </a:r>
            <a:r>
              <a:rPr lang="ru-RU" altLang="ru-RU" sz="900" dirty="0" err="1"/>
              <a:t>in</a:t>
            </a:r>
            <a:r>
              <a:rPr lang="ru-RU" altLang="ru-RU" sz="900" dirty="0"/>
              <a:t> </a:t>
            </a:r>
            <a:r>
              <a:rPr lang="ru-RU" altLang="ru-RU" sz="900" dirty="0" err="1"/>
              <a:t>several</a:t>
            </a:r>
            <a:r>
              <a:rPr lang="ru-RU" altLang="ru-RU" sz="900" dirty="0"/>
              <a:t> </a:t>
            </a:r>
            <a:r>
              <a:rPr lang="ru-RU" altLang="ru-RU" sz="900" dirty="0" err="1"/>
              <a:t>segments</a:t>
            </a:r>
            <a:r>
              <a:rPr lang="ru-RU" altLang="ru-RU" sz="900" dirty="0"/>
              <a:t>.</a:t>
            </a:r>
          </a:p>
        </p:txBody>
      </p:sp>
      <p:sp>
        <p:nvSpPr>
          <p:cNvPr id="33" name="Rectangle 363">
            <a:extLst>
              <a:ext uri="{FF2B5EF4-FFF2-40B4-BE49-F238E27FC236}">
                <a16:creationId xmlns:a16="http://schemas.microsoft.com/office/drawing/2014/main" id="{6A05D549-C56D-4878-99B1-2EA558502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1274838"/>
            <a:ext cx="860107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latin typeface="+mj-lt"/>
              </a:rPr>
              <a:t>Key findings </a:t>
            </a:r>
            <a:r>
              <a:rPr lang="en-US" altLang="ru-RU" sz="900" b="1" baseline="30000" dirty="0">
                <a:latin typeface="+mj-lt"/>
              </a:rPr>
              <a:t>1</a:t>
            </a:r>
            <a:endParaRPr lang="ru-RU" altLang="ru-RU" sz="900" b="1" dirty="0">
              <a:latin typeface="+mj-lt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DDFFB17-F4DF-494C-AB59-9D5D38B00E6D}"/>
              </a:ext>
            </a:extLst>
          </p:cNvPr>
          <p:cNvSpPr/>
          <p:nvPr/>
        </p:nvSpPr>
        <p:spPr bwMode="gray">
          <a:xfrm>
            <a:off x="3577110" y="1743564"/>
            <a:ext cx="196213" cy="196213"/>
          </a:xfrm>
          <a:prstGeom prst="ellipse">
            <a:avLst/>
          </a:prstGeom>
          <a:solidFill>
            <a:srgbClr val="ED8B0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9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1</a:t>
            </a:r>
            <a:endParaRPr lang="ru-RU" sz="900" b="1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7CD9C99-50F7-4B2F-8FBF-EDF27D077A71}"/>
              </a:ext>
            </a:extLst>
          </p:cNvPr>
          <p:cNvSpPr/>
          <p:nvPr/>
        </p:nvSpPr>
        <p:spPr bwMode="gray">
          <a:xfrm>
            <a:off x="3301023" y="3919952"/>
            <a:ext cx="774914" cy="482855"/>
          </a:xfrm>
          <a:prstGeom prst="rect">
            <a:avLst/>
          </a:prstGeom>
          <a:noFill/>
          <a:ln>
            <a:solidFill>
              <a:srgbClr val="ED8B00"/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1660C54-A6B7-479E-BF1F-7A3FFB9BD631}"/>
              </a:ext>
            </a:extLst>
          </p:cNvPr>
          <p:cNvSpPr/>
          <p:nvPr/>
        </p:nvSpPr>
        <p:spPr bwMode="gray">
          <a:xfrm>
            <a:off x="3577110" y="3791918"/>
            <a:ext cx="196213" cy="196213"/>
          </a:xfrm>
          <a:prstGeom prst="ellipse">
            <a:avLst/>
          </a:prstGeom>
          <a:solidFill>
            <a:srgbClr val="ED8B0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9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2</a:t>
            </a:r>
            <a:endParaRPr lang="ru-RU" sz="900" b="1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468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7FB0F35-4025-40E2-AFBD-7B869789CEB4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9C092A-CF80-4494-B5C4-DB014F04A02D}"/>
              </a:ext>
            </a:extLst>
          </p:cNvPr>
          <p:cNvSpPr/>
          <p:nvPr/>
        </p:nvSpPr>
        <p:spPr bwMode="gray">
          <a:xfrm>
            <a:off x="1825556" y="1488332"/>
            <a:ext cx="2106363" cy="4552545"/>
          </a:xfrm>
          <a:prstGeom prst="rect">
            <a:avLst/>
          </a:prstGeom>
          <a:solidFill>
            <a:srgbClr val="F7F7F7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60156A-1388-48D4-93FA-084A60A24E53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Relationship matrix</a:t>
            </a:r>
            <a:endParaRPr lang="ru-RU" dirty="0" err="1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793B923-8185-4F1E-BB30-2981DA2E80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9443888"/>
              </p:ext>
            </p:extLst>
          </p:nvPr>
        </p:nvGraphicFramePr>
        <p:xfrm>
          <a:off x="-80393" y="1606865"/>
          <a:ext cx="8340473" cy="479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A453A87-1833-47FE-8841-A2E2A2C0EF19}"/>
              </a:ext>
            </a:extLst>
          </p:cNvPr>
          <p:cNvSpPr/>
          <p:nvPr/>
        </p:nvSpPr>
        <p:spPr bwMode="gray">
          <a:xfrm>
            <a:off x="3942080" y="1841268"/>
            <a:ext cx="4164315" cy="148737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0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7C1F93-8690-4F3D-BF11-609C61B409C0}"/>
              </a:ext>
            </a:extLst>
          </p:cNvPr>
          <p:cNvSpPr/>
          <p:nvPr/>
        </p:nvSpPr>
        <p:spPr bwMode="gray">
          <a:xfrm>
            <a:off x="1150514" y="6130305"/>
            <a:ext cx="6738875" cy="132755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8912A8-53F7-4B80-B334-9934A20ED758}"/>
              </a:ext>
            </a:extLst>
          </p:cNvPr>
          <p:cNvSpPr/>
          <p:nvPr/>
        </p:nvSpPr>
        <p:spPr bwMode="gray">
          <a:xfrm>
            <a:off x="7562402" y="1926269"/>
            <a:ext cx="653973" cy="4243423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38E5A5-904D-4499-BBAF-D5844FFAB110}"/>
              </a:ext>
            </a:extLst>
          </p:cNvPr>
          <p:cNvSpPr/>
          <p:nvPr/>
        </p:nvSpPr>
        <p:spPr>
          <a:xfrm>
            <a:off x="381001" y="1271016"/>
            <a:ext cx="3308023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latin typeface="+mj-lt"/>
              </a:rPr>
              <a:t>E</a:t>
            </a:r>
            <a:r>
              <a:rPr lang="ru-RU" sz="900" b="1" dirty="0" err="1">
                <a:latin typeface="+mj-lt"/>
              </a:rPr>
              <a:t>lectricity</a:t>
            </a:r>
            <a:r>
              <a:rPr lang="ru-RU" sz="900" b="1" dirty="0">
                <a:latin typeface="+mj-lt"/>
              </a:rPr>
              <a:t> sources </a:t>
            </a:r>
            <a:r>
              <a:rPr lang="ru-RU" sz="900" b="1" dirty="0" err="1">
                <a:latin typeface="+mj-lt"/>
              </a:rPr>
              <a:t>for</a:t>
            </a:r>
            <a:r>
              <a:rPr lang="ru-RU" sz="900" b="1" dirty="0">
                <a:latin typeface="+mj-lt"/>
              </a:rPr>
              <a:t> </a:t>
            </a:r>
            <a:r>
              <a:rPr lang="ru-RU" sz="900" b="1" dirty="0" err="1">
                <a:latin typeface="+mj-lt"/>
              </a:rPr>
              <a:t>aluminum</a:t>
            </a:r>
            <a:r>
              <a:rPr lang="ru-RU" sz="900" b="1" dirty="0">
                <a:latin typeface="+mj-lt"/>
              </a:rPr>
              <a:t> </a:t>
            </a:r>
            <a:r>
              <a:rPr lang="ru-RU" sz="900" b="1" dirty="0" err="1">
                <a:latin typeface="+mj-lt"/>
              </a:rPr>
              <a:t>smelting</a:t>
            </a:r>
            <a:r>
              <a:rPr lang="en-US" sz="900" b="1" dirty="0">
                <a:latin typeface="+mj-lt"/>
              </a:rPr>
              <a:t>, 2023</a:t>
            </a:r>
            <a:endParaRPr lang="ru-RU" sz="900" b="1" dirty="0"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92069F-ABDE-4226-89E0-2A90115000CD}"/>
              </a:ext>
            </a:extLst>
          </p:cNvPr>
          <p:cNvSpPr/>
          <p:nvPr/>
        </p:nvSpPr>
        <p:spPr>
          <a:xfrm>
            <a:off x="381000" y="6138598"/>
            <a:ext cx="5913993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Data research and analysis: author</a:t>
            </a:r>
          </a:p>
          <a:p>
            <a:r>
              <a:rPr lang="en-US" sz="800" dirty="0"/>
              <a:t>Source: 1) International aluminium, </a:t>
            </a:r>
            <a:r>
              <a:rPr lang="de-DE" sz="800" dirty="0"/>
              <a:t>2) The Energy Institute, KPMG, Kearney – </a:t>
            </a:r>
            <a:r>
              <a:rPr lang="en-US" sz="800" dirty="0"/>
              <a:t>Statistical Review of World Energy, 2024, Transition Asia </a:t>
            </a:r>
            <a:endParaRPr lang="ru-RU" sz="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9A7D79-484F-4984-A662-84F465714504}"/>
              </a:ext>
            </a:extLst>
          </p:cNvPr>
          <p:cNvSpPr/>
          <p:nvPr/>
        </p:nvSpPr>
        <p:spPr bwMode="gray">
          <a:xfrm>
            <a:off x="1533558" y="2019637"/>
            <a:ext cx="109531" cy="4243423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A14275-B1A8-4FB1-9874-1B29284A4034}"/>
              </a:ext>
            </a:extLst>
          </p:cNvPr>
          <p:cNvSpPr/>
          <p:nvPr/>
        </p:nvSpPr>
        <p:spPr bwMode="gray">
          <a:xfrm>
            <a:off x="1836420" y="1820505"/>
            <a:ext cx="2090420" cy="201278"/>
          </a:xfrm>
          <a:prstGeom prst="rect">
            <a:avLst/>
          </a:prstGeom>
          <a:solidFill>
            <a:srgbClr val="F7F7F7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D7DF878-9CE8-4185-A43B-F54C42A4B110}"/>
              </a:ext>
            </a:extLst>
          </p:cNvPr>
          <p:cNvSpPr/>
          <p:nvPr/>
        </p:nvSpPr>
        <p:spPr bwMode="gray">
          <a:xfrm>
            <a:off x="1545969" y="1820504"/>
            <a:ext cx="270385" cy="22628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657C05-1A3E-4867-B57D-2D5FCBEE5B75}"/>
              </a:ext>
            </a:extLst>
          </p:cNvPr>
          <p:cNvSpPr txBox="1"/>
          <p:nvPr/>
        </p:nvSpPr>
        <p:spPr>
          <a:xfrm>
            <a:off x="351162" y="1646426"/>
            <a:ext cx="1162076" cy="2624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 dirty="0"/>
              <a:t>Country/region of production</a:t>
            </a:r>
            <a:endParaRPr lang="ru-RU" sz="1000" dirty="0" err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098E8F-F50D-4B6F-8F9D-11C27BA8FF6A}"/>
              </a:ext>
            </a:extLst>
          </p:cNvPr>
          <p:cNvSpPr txBox="1"/>
          <p:nvPr/>
        </p:nvSpPr>
        <p:spPr>
          <a:xfrm>
            <a:off x="3108407" y="1711259"/>
            <a:ext cx="554886" cy="13275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 algn="ctr">
              <a:defRPr sz="1000" b="1">
                <a:solidFill>
                  <a:srgbClr val="00A3E0"/>
                </a:solidFill>
                <a:latin typeface="+mj-lt"/>
              </a:defRPr>
            </a:lvl1pPr>
          </a:lstStyle>
          <a:p>
            <a:r>
              <a:rPr lang="en-US" dirty="0"/>
              <a:t>Coal</a:t>
            </a:r>
            <a:endParaRPr lang="ru-RU" dirty="0" err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2CC77B-1600-4176-A1B8-B74B672C9E99}"/>
              </a:ext>
            </a:extLst>
          </p:cNvPr>
          <p:cNvSpPr txBox="1"/>
          <p:nvPr/>
        </p:nvSpPr>
        <p:spPr>
          <a:xfrm>
            <a:off x="4874989" y="1704567"/>
            <a:ext cx="554886" cy="14614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dirty="0"/>
              <a:t>Gas</a:t>
            </a:r>
            <a:endParaRPr lang="ru-RU" sz="1000" dirty="0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1B58B1-6BDA-4B4C-9072-97C3856A8F61}"/>
              </a:ext>
            </a:extLst>
          </p:cNvPr>
          <p:cNvSpPr txBox="1"/>
          <p:nvPr/>
        </p:nvSpPr>
        <p:spPr>
          <a:xfrm>
            <a:off x="5637634" y="1565270"/>
            <a:ext cx="892692" cy="4247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dirty="0"/>
              <a:t>Solar, wind </a:t>
            </a:r>
            <a:br>
              <a:rPr lang="en-US" sz="1000" dirty="0"/>
            </a:br>
            <a:r>
              <a:rPr lang="en-US" sz="1000" dirty="0"/>
              <a:t>&amp; other</a:t>
            </a:r>
            <a:r>
              <a:rPr lang="ru-RU" sz="1000" dirty="0"/>
              <a:t> </a:t>
            </a:r>
            <a:r>
              <a:rPr lang="en-US" sz="1000" dirty="0"/>
              <a:t>renewable</a:t>
            </a:r>
            <a:endParaRPr lang="ru-RU" sz="1000" dirty="0" err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5DAB9B-D249-4C9C-A161-4D7B03D3F7D5}"/>
              </a:ext>
            </a:extLst>
          </p:cNvPr>
          <p:cNvSpPr txBox="1"/>
          <p:nvPr/>
        </p:nvSpPr>
        <p:spPr>
          <a:xfrm>
            <a:off x="6563602" y="1700517"/>
            <a:ext cx="892692" cy="1542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dirty="0"/>
              <a:t>Nuclear</a:t>
            </a:r>
            <a:endParaRPr lang="ru-RU" sz="1000" dirty="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657F2-A198-4988-85E6-0D4A4E3BB9BA}"/>
              </a:ext>
            </a:extLst>
          </p:cNvPr>
          <p:cNvSpPr txBox="1"/>
          <p:nvPr/>
        </p:nvSpPr>
        <p:spPr>
          <a:xfrm>
            <a:off x="1891169" y="1581864"/>
            <a:ext cx="1162076" cy="39154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Aluminium production, 2023</a:t>
            </a:r>
            <a:endParaRPr lang="ru-RU" sz="1000" b="1" dirty="0" err="1">
              <a:solidFill>
                <a:schemeClr val="bg2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0758BD-F4EE-40F3-A788-4277DE916E43}"/>
              </a:ext>
            </a:extLst>
          </p:cNvPr>
          <p:cNvSpPr txBox="1"/>
          <p:nvPr/>
        </p:nvSpPr>
        <p:spPr>
          <a:xfrm>
            <a:off x="4032119" y="1711260"/>
            <a:ext cx="554886" cy="1327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 algn="ctr">
              <a:defRPr sz="1000"/>
            </a:lvl1pPr>
          </a:lstStyle>
          <a:p>
            <a:r>
              <a:rPr lang="en-US" dirty="0"/>
              <a:t>Hydro</a:t>
            </a:r>
            <a:endParaRPr lang="ru-RU" dirty="0" err="1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71E0DB-59A2-4A01-8D5B-C2B5C8D75E6A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720C9D-FB4A-488D-BEEB-4092BD4321E0}"/>
              </a:ext>
            </a:extLst>
          </p:cNvPr>
          <p:cNvSpPr/>
          <p:nvPr/>
        </p:nvSpPr>
        <p:spPr>
          <a:xfrm>
            <a:off x="7562402" y="1646426"/>
            <a:ext cx="1965087" cy="287771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82880" indent="-18288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dirty="0"/>
              <a:t>Fossil fuels remain the primary source of electricity used in smelting, with coal accounting for 50% globally. The carbon anode emits carbon dioxide as byproducts when consumed during the smelting process. </a:t>
            </a:r>
          </a:p>
          <a:p>
            <a:pPr marL="182880" indent="-18288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dirty="0" err="1"/>
              <a:t>Aluminium</a:t>
            </a:r>
            <a:r>
              <a:rPr lang="en-US" sz="900" dirty="0"/>
              <a:t> smelting is a continuous electrolytic process that requires significant quantities of electrical energy. The key to </a:t>
            </a:r>
            <a:r>
              <a:rPr lang="en-US" sz="900" dirty="0" err="1"/>
              <a:t>decarbonisation</a:t>
            </a:r>
            <a:r>
              <a:rPr lang="en-US" sz="900" dirty="0"/>
              <a:t> is to increase renewables energy  consumption share. </a:t>
            </a:r>
          </a:p>
          <a:p>
            <a:pPr marL="182880" indent="-18288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dirty="0"/>
              <a:t>By shifting to 100% renewable energy for this process, 80% of global </a:t>
            </a:r>
            <a:r>
              <a:rPr lang="en-US" sz="900" dirty="0" err="1"/>
              <a:t>aluminium</a:t>
            </a:r>
            <a:r>
              <a:rPr lang="en-US" sz="900" dirty="0"/>
              <a:t> electrolysis related emissions can be reduced.</a:t>
            </a:r>
            <a:endParaRPr lang="ru-RU" sz="900" dirty="0"/>
          </a:p>
        </p:txBody>
      </p:sp>
      <p:sp>
        <p:nvSpPr>
          <p:cNvPr id="43" name="Rectangle 42">
            <a:hlinkClick r:id="rId3"/>
            <a:extLst>
              <a:ext uri="{FF2B5EF4-FFF2-40B4-BE49-F238E27FC236}">
                <a16:creationId xmlns:a16="http://schemas.microsoft.com/office/drawing/2014/main" id="{60E7D58F-0BA2-4A81-890A-766CFC41F775}"/>
              </a:ext>
            </a:extLst>
          </p:cNvPr>
          <p:cNvSpPr/>
          <p:nvPr/>
        </p:nvSpPr>
        <p:spPr>
          <a:xfrm>
            <a:off x="381000" y="6206471"/>
            <a:ext cx="5913993" cy="16892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4" name="Rectangle 43">
            <a:hlinkClick r:id="rId4"/>
            <a:extLst>
              <a:ext uri="{FF2B5EF4-FFF2-40B4-BE49-F238E27FC236}">
                <a16:creationId xmlns:a16="http://schemas.microsoft.com/office/drawing/2014/main" id="{D059986A-8A58-4DC6-9B88-2C9AA3D1A75B}"/>
              </a:ext>
            </a:extLst>
          </p:cNvPr>
          <p:cNvSpPr/>
          <p:nvPr/>
        </p:nvSpPr>
        <p:spPr>
          <a:xfrm>
            <a:off x="356407" y="6354703"/>
            <a:ext cx="794107" cy="16892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611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7D4064B8-37B4-44DD-A7AD-3DA73C8C2FB4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3FBFDD-AE07-45A1-8109-C4F8A6942570}"/>
              </a:ext>
            </a:extLst>
          </p:cNvPr>
          <p:cNvSpPr/>
          <p:nvPr/>
        </p:nvSpPr>
        <p:spPr>
          <a:xfrm>
            <a:off x="6570927" y="1852548"/>
            <a:ext cx="2970017" cy="377571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Montserrat" panose="00000500000000000000" pitchFamily="2" charset="-52"/>
              </a:rPr>
              <a:t>The weighted average cost of capital </a:t>
            </a:r>
            <a:r>
              <a:rPr lang="en-US" sz="900" dirty="0">
                <a:solidFill>
                  <a:srgbClr val="000000"/>
                </a:solidFill>
              </a:rPr>
              <a:t>(WACC) is the most crucial parameter affecting the PV LCOE. Increasing nominal WACC from 2 to 10% will double the LCOE.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000000"/>
              </a:solidFill>
              <a:latin typeface="Montserrat Medium" panose="00000600000000000000" pitchFamily="2" charset="-52"/>
            </a:endParaRPr>
          </a:p>
          <a:p>
            <a:pPr marL="182563">
              <a:lnSpc>
                <a:spcPts val="1200"/>
              </a:lnSpc>
            </a:pPr>
            <a:r>
              <a:rPr lang="en-US" sz="900" b="1" dirty="0">
                <a:solidFill>
                  <a:srgbClr val="000000"/>
                </a:solidFill>
                <a:latin typeface="Montserrat" panose="00000500000000000000" pitchFamily="2" charset="-52"/>
              </a:rPr>
              <a:t>WACC</a:t>
            </a:r>
            <a:r>
              <a:rPr lang="en-US" sz="900" dirty="0">
                <a:solidFill>
                  <a:srgbClr val="000000"/>
                </a:solidFill>
              </a:rPr>
              <a:t> used in the LCOE calculation is the single most important input parameter, more important than CAPEX and comparable to yield. 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000000"/>
              </a:solidFill>
            </a:endParaRP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</a:rPr>
              <a:t>Since there is no fuel costs related to PV, the </a:t>
            </a:r>
            <a:r>
              <a:rPr lang="en-US" sz="900" b="1" dirty="0">
                <a:solidFill>
                  <a:srgbClr val="000000"/>
                </a:solidFill>
                <a:latin typeface="Montserrat" panose="00000500000000000000" pitchFamily="2" charset="-52"/>
              </a:rPr>
              <a:t>CAPEX</a:t>
            </a:r>
            <a:r>
              <a:rPr lang="en-US" sz="900" dirty="0">
                <a:solidFill>
                  <a:srgbClr val="000000"/>
                </a:solidFill>
              </a:rPr>
              <a:t> has a relatively stronger influence than the OPEX on PV LCOE.</a:t>
            </a:r>
            <a:endParaRPr lang="ru-RU" sz="900" dirty="0">
              <a:solidFill>
                <a:srgbClr val="000000"/>
              </a:solidFill>
            </a:endParaRPr>
          </a:p>
          <a:p>
            <a:pPr>
              <a:lnSpc>
                <a:spcPts val="1200"/>
              </a:lnSpc>
            </a:pPr>
            <a:endParaRPr lang="en-US" sz="900" dirty="0">
              <a:solidFill>
                <a:srgbClr val="000000"/>
              </a:solidFill>
            </a:endParaRPr>
          </a:p>
          <a:p>
            <a:pPr marL="182563">
              <a:lnSpc>
                <a:spcPts val="1200"/>
              </a:lnSpc>
            </a:pPr>
            <a:r>
              <a:rPr lang="en-US" sz="900" dirty="0">
                <a:solidFill>
                  <a:srgbClr val="000000"/>
                </a:solidFill>
              </a:rPr>
              <a:t>Since PV has no fuel cost and relatively small OPEX, the </a:t>
            </a:r>
            <a:r>
              <a:rPr lang="en-US" sz="900" b="1" dirty="0">
                <a:solidFill>
                  <a:srgbClr val="000000"/>
                </a:solidFill>
                <a:latin typeface="Montserrat" panose="00000500000000000000" pitchFamily="2" charset="-52"/>
              </a:rPr>
              <a:t>CAPEX</a:t>
            </a:r>
            <a:r>
              <a:rPr lang="en-US" sz="900" dirty="0">
                <a:solidFill>
                  <a:srgbClr val="000000"/>
                </a:solidFill>
              </a:rPr>
              <a:t>, paid up front of the investment, becomes an important term in the LCOE calculation</a:t>
            </a:r>
          </a:p>
          <a:p>
            <a:pPr marL="182563">
              <a:lnSpc>
                <a:spcPts val="1200"/>
              </a:lnSpc>
            </a:pPr>
            <a:endParaRPr lang="en-US" sz="900" dirty="0">
              <a:solidFill>
                <a:srgbClr val="000000"/>
              </a:solidFill>
            </a:endParaRPr>
          </a:p>
          <a:p>
            <a:pPr marL="182563">
              <a:lnSpc>
                <a:spcPts val="1200"/>
              </a:lnSpc>
            </a:pPr>
            <a:r>
              <a:rPr lang="en-US" sz="900" dirty="0">
                <a:solidFill>
                  <a:srgbClr val="000000"/>
                </a:solidFill>
              </a:rPr>
              <a:t>Obviously, </a:t>
            </a:r>
            <a:r>
              <a:rPr lang="en-US" sz="900" b="1" dirty="0">
                <a:solidFill>
                  <a:srgbClr val="000000"/>
                </a:solidFill>
                <a:latin typeface="Montserrat" panose="00000500000000000000" pitchFamily="2" charset="-52"/>
              </a:rPr>
              <a:t>system size </a:t>
            </a:r>
            <a:r>
              <a:rPr lang="en-US" sz="900" dirty="0">
                <a:solidFill>
                  <a:srgbClr val="000000"/>
                </a:solidFill>
              </a:rPr>
              <a:t>has an impact on the share of CAPEX and OPEX in the LCOE</a:t>
            </a:r>
            <a:r>
              <a:rPr lang="ru-RU" sz="900" dirty="0">
                <a:solidFill>
                  <a:srgbClr val="000000"/>
                </a:solidFill>
              </a:rPr>
              <a:t>.</a:t>
            </a:r>
            <a:endParaRPr lang="en-US" sz="900" dirty="0">
              <a:solidFill>
                <a:srgbClr val="000000"/>
              </a:solidFill>
            </a:endParaRPr>
          </a:p>
          <a:p>
            <a:pPr>
              <a:lnSpc>
                <a:spcPts val="1200"/>
              </a:lnSpc>
            </a:pPr>
            <a:endParaRPr lang="en-US" sz="900" dirty="0">
              <a:solidFill>
                <a:srgbClr val="000000"/>
              </a:solidFill>
            </a:endParaRP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</a:rPr>
              <a:t>Changes in PV CAPEX and OPEX, learning rates, or market volume growth scenarios have a relatively smaller impact on future PV LCOE.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6E00A-7ADC-43FB-81F5-B2CEEB07FBAC}"/>
              </a:ext>
            </a:extLst>
          </p:cNvPr>
          <p:cNvSpPr txBox="1"/>
          <p:nvPr/>
        </p:nvSpPr>
        <p:spPr>
          <a:xfrm>
            <a:off x="6565900" y="1271016"/>
            <a:ext cx="836590" cy="223737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Key findings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5601E9-35C6-47EB-BF98-EB22357807B7}"/>
              </a:ext>
            </a:extLst>
          </p:cNvPr>
          <p:cNvSpPr/>
          <p:nvPr/>
        </p:nvSpPr>
        <p:spPr>
          <a:xfrm>
            <a:off x="384048" y="1271016"/>
            <a:ext cx="3576227" cy="159592"/>
          </a:xfrm>
          <a:prstGeom prst="rect">
            <a:avLst/>
          </a:prstGeom>
          <a:solidFill>
            <a:schemeClr val="bg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Important input parameters in the calculation of PV </a:t>
            </a:r>
            <a:r>
              <a:rPr lang="en-US" sz="900" b="1" baseline="30000" dirty="0">
                <a:latin typeface="+mj-lt"/>
              </a:rPr>
              <a:t>1</a:t>
            </a:r>
            <a:r>
              <a:rPr lang="en-US" sz="900" b="1" dirty="0">
                <a:latin typeface="+mj-lt"/>
              </a:rPr>
              <a:t> LCOE</a:t>
            </a:r>
            <a:r>
              <a:rPr lang="en-US" sz="900" b="1" baseline="30000" dirty="0">
                <a:latin typeface="+mj-lt"/>
              </a:rPr>
              <a:t> 2</a:t>
            </a:r>
            <a:endParaRPr lang="ru-RU" sz="900" b="1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4986-7EE0-4E07-BB30-C40C84E53274}"/>
              </a:ext>
            </a:extLst>
          </p:cNvPr>
          <p:cNvSpPr txBox="1"/>
          <p:nvPr/>
        </p:nvSpPr>
        <p:spPr>
          <a:xfrm>
            <a:off x="381001" y="576001"/>
            <a:ext cx="4113178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Matrix</a:t>
            </a:r>
            <a:r>
              <a:rPr lang="ru-RU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C3A45B-8FB5-4657-8524-F9213527E5DE}"/>
              </a:ext>
            </a:extLst>
          </p:cNvPr>
          <p:cNvSpPr txBox="1"/>
          <p:nvPr/>
        </p:nvSpPr>
        <p:spPr>
          <a:xfrm>
            <a:off x="1284595" y="1906573"/>
            <a:ext cx="334651" cy="17121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High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1BC241-9D3E-4EBA-823C-6FDD73B601C5}"/>
              </a:ext>
            </a:extLst>
          </p:cNvPr>
          <p:cNvSpPr txBox="1"/>
          <p:nvPr/>
        </p:nvSpPr>
        <p:spPr>
          <a:xfrm>
            <a:off x="1370851" y="5178778"/>
            <a:ext cx="334651" cy="18652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6D47FE-B86D-414F-A247-7E05C9AC6CE1}"/>
              </a:ext>
            </a:extLst>
          </p:cNvPr>
          <p:cNvSpPr txBox="1"/>
          <p:nvPr/>
        </p:nvSpPr>
        <p:spPr>
          <a:xfrm>
            <a:off x="3230599" y="5571129"/>
            <a:ext cx="817813" cy="23314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>
                <a:latin typeface="Montserrat Light" panose="00000400000000000000" pitchFamily="2" charset="-52"/>
              </a:rPr>
              <a:t>Force of impact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24B2E2-02FC-4EC4-939F-1645FE789B1F}"/>
              </a:ext>
            </a:extLst>
          </p:cNvPr>
          <p:cNvSpPr/>
          <p:nvPr/>
        </p:nvSpPr>
        <p:spPr bwMode="gray">
          <a:xfrm>
            <a:off x="1775928" y="1938026"/>
            <a:ext cx="1727711" cy="1642103"/>
          </a:xfrm>
          <a:prstGeom prst="rect">
            <a:avLst/>
          </a:prstGeom>
          <a:solidFill>
            <a:srgbClr val="00A3E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1EAE85-9210-4301-B736-D1EF01E2B560}"/>
              </a:ext>
            </a:extLst>
          </p:cNvPr>
          <p:cNvSpPr/>
          <p:nvPr/>
        </p:nvSpPr>
        <p:spPr bwMode="gray">
          <a:xfrm>
            <a:off x="3676150" y="1938026"/>
            <a:ext cx="1727711" cy="1642103"/>
          </a:xfrm>
          <a:prstGeom prst="rect">
            <a:avLst/>
          </a:prstGeom>
          <a:solidFill>
            <a:srgbClr val="00A3E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247F63-92AA-4E4E-8C4C-048257973E76}"/>
              </a:ext>
            </a:extLst>
          </p:cNvPr>
          <p:cNvSpPr/>
          <p:nvPr/>
        </p:nvSpPr>
        <p:spPr bwMode="gray">
          <a:xfrm>
            <a:off x="1775928" y="3774691"/>
            <a:ext cx="1727711" cy="1642103"/>
          </a:xfrm>
          <a:prstGeom prst="rect">
            <a:avLst/>
          </a:prstGeom>
          <a:solidFill>
            <a:srgbClr val="00A3E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3D6AA5-3EE8-4F12-BD0B-6A137DCAC938}"/>
              </a:ext>
            </a:extLst>
          </p:cNvPr>
          <p:cNvSpPr/>
          <p:nvPr/>
        </p:nvSpPr>
        <p:spPr bwMode="gray">
          <a:xfrm>
            <a:off x="3676150" y="3774691"/>
            <a:ext cx="1727711" cy="1642103"/>
          </a:xfrm>
          <a:prstGeom prst="rect">
            <a:avLst/>
          </a:prstGeom>
          <a:solidFill>
            <a:srgbClr val="00A3E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149F12-F392-4860-B51A-3BDC059854F5}"/>
              </a:ext>
            </a:extLst>
          </p:cNvPr>
          <p:cNvSpPr/>
          <p:nvPr/>
        </p:nvSpPr>
        <p:spPr>
          <a:xfrm>
            <a:off x="2247335" y="2050105"/>
            <a:ext cx="7168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CAPEX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0CE865-3AC5-451D-92DF-6B0E5A33F621}"/>
              </a:ext>
            </a:extLst>
          </p:cNvPr>
          <p:cNvSpPr/>
          <p:nvPr/>
        </p:nvSpPr>
        <p:spPr>
          <a:xfrm>
            <a:off x="4131264" y="2050105"/>
            <a:ext cx="12416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" indent="-13716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1"/>
                </a:solidFill>
              </a:rPr>
              <a:t>WACC</a:t>
            </a:r>
            <a:endParaRPr lang="ru-RU" sz="1200" dirty="0">
              <a:solidFill>
                <a:schemeClr val="bg1"/>
              </a:solidFill>
            </a:endParaRPr>
          </a:p>
          <a:p>
            <a:pPr marL="137160" indent="-137160"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bg1"/>
              </a:solidFill>
            </a:endParaRPr>
          </a:p>
          <a:p>
            <a:pPr marL="137160" indent="-13716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1"/>
                </a:solidFill>
              </a:rPr>
              <a:t>PV Location</a:t>
            </a:r>
            <a:endParaRPr lang="ru-RU" sz="1200" dirty="0">
              <a:solidFill>
                <a:schemeClr val="bg1"/>
              </a:solidFill>
            </a:endParaRPr>
          </a:p>
          <a:p>
            <a:pPr marL="137160" indent="-137160"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bg1"/>
              </a:solidFill>
            </a:endParaRPr>
          </a:p>
          <a:p>
            <a:pPr marL="137160" indent="-13716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Inflation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268346-9313-4AC8-A6B5-3AF3EDD863F1}"/>
              </a:ext>
            </a:extLst>
          </p:cNvPr>
          <p:cNvSpPr/>
          <p:nvPr/>
        </p:nvSpPr>
        <p:spPr>
          <a:xfrm>
            <a:off x="4131264" y="3922754"/>
            <a:ext cx="6254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OPEX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2D885D-B535-4F88-9DD1-5E9254EFDA54}"/>
              </a:ext>
            </a:extLst>
          </p:cNvPr>
          <p:cNvSpPr/>
          <p:nvPr/>
        </p:nvSpPr>
        <p:spPr>
          <a:xfrm>
            <a:off x="2247335" y="3922754"/>
            <a:ext cx="122878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" indent="-137160">
              <a:buFont typeface="Arial" panose="020B0604020202020204" pitchFamily="34" charset="0"/>
              <a:buChar char="•"/>
            </a:pPr>
            <a:r>
              <a:rPr lang="de-DE" sz="1200" dirty="0" err="1">
                <a:solidFill>
                  <a:schemeClr val="bg1"/>
                </a:solidFill>
              </a:rPr>
              <a:t>Gross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margin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growth</a:t>
            </a:r>
            <a:endParaRPr lang="de-DE" sz="1200" dirty="0">
              <a:solidFill>
                <a:schemeClr val="bg1"/>
              </a:solidFill>
            </a:endParaRPr>
          </a:p>
          <a:p>
            <a:pPr marL="137160" indent="-137160">
              <a:buFont typeface="Arial" panose="020B0604020202020204" pitchFamily="34" charset="0"/>
              <a:buChar char="•"/>
            </a:pPr>
            <a:endParaRPr lang="de-DE" sz="1200" dirty="0">
              <a:solidFill>
                <a:schemeClr val="bg1"/>
              </a:solidFill>
            </a:endParaRPr>
          </a:p>
          <a:p>
            <a:pPr marL="137160" indent="-13716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1"/>
                </a:solidFill>
              </a:rPr>
              <a:t>Market </a:t>
            </a:r>
            <a:r>
              <a:rPr lang="de-DE" sz="1200" dirty="0" err="1">
                <a:solidFill>
                  <a:schemeClr val="bg1"/>
                </a:solidFill>
              </a:rPr>
              <a:t>size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DA1F09-A10F-4E11-8D3A-953D88971A9C}"/>
              </a:ext>
            </a:extLst>
          </p:cNvPr>
          <p:cNvSpPr txBox="1"/>
          <p:nvPr/>
        </p:nvSpPr>
        <p:spPr>
          <a:xfrm>
            <a:off x="5093631" y="5504347"/>
            <a:ext cx="334651" cy="18652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High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B7EF6A-AB3F-42CC-ACCF-B27764C6E872}"/>
              </a:ext>
            </a:extLst>
          </p:cNvPr>
          <p:cNvSpPr txBox="1"/>
          <p:nvPr/>
        </p:nvSpPr>
        <p:spPr>
          <a:xfrm>
            <a:off x="1810617" y="5500326"/>
            <a:ext cx="334651" cy="18652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Low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11DF81-6ECE-4F21-AAD4-51602E481941}"/>
              </a:ext>
            </a:extLst>
          </p:cNvPr>
          <p:cNvSpPr/>
          <p:nvPr/>
        </p:nvSpPr>
        <p:spPr>
          <a:xfrm>
            <a:off x="288155" y="5846450"/>
            <a:ext cx="15905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800" baseline="30000" dirty="0">
                <a:solidFill>
                  <a:srgbClr val="000000"/>
                </a:solidFill>
              </a:rPr>
              <a:t>1 </a:t>
            </a:r>
            <a:r>
              <a:rPr lang="de-DE" sz="800" dirty="0">
                <a:solidFill>
                  <a:srgbClr val="000000"/>
                </a:solidFill>
              </a:rPr>
              <a:t>Solar </a:t>
            </a:r>
            <a:r>
              <a:rPr lang="de-DE" sz="800" dirty="0" err="1">
                <a:solidFill>
                  <a:srgbClr val="000000"/>
                </a:solidFill>
              </a:rPr>
              <a:t>photovoltaics</a:t>
            </a:r>
            <a:r>
              <a:rPr lang="de-DE" sz="800" dirty="0">
                <a:solidFill>
                  <a:srgbClr val="000000"/>
                </a:solidFill>
              </a:rPr>
              <a:t> </a:t>
            </a:r>
          </a:p>
          <a:p>
            <a:r>
              <a:rPr lang="en-US" sz="800" baseline="30000" dirty="0"/>
              <a:t>2 </a:t>
            </a:r>
            <a:r>
              <a:rPr lang="en-US" sz="800" dirty="0" err="1"/>
              <a:t>Levelised</a:t>
            </a:r>
            <a:r>
              <a:rPr lang="en-US" sz="800" dirty="0"/>
              <a:t> cost of electricity</a:t>
            </a:r>
            <a:endParaRPr lang="ru-RU" sz="800" dirty="0"/>
          </a:p>
        </p:txBody>
      </p:sp>
      <p:sp>
        <p:nvSpPr>
          <p:cNvPr id="44" name="Rectangle 43">
            <a:hlinkClick r:id="rId2"/>
            <a:extLst>
              <a:ext uri="{FF2B5EF4-FFF2-40B4-BE49-F238E27FC236}">
                <a16:creationId xmlns:a16="http://schemas.microsoft.com/office/drawing/2014/main" id="{8A1DDF5B-2A73-4F03-B362-5B8BA8283CA4}"/>
              </a:ext>
            </a:extLst>
          </p:cNvPr>
          <p:cNvSpPr/>
          <p:nvPr/>
        </p:nvSpPr>
        <p:spPr>
          <a:xfrm>
            <a:off x="288155" y="6149585"/>
            <a:ext cx="17588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rgbClr val="000000"/>
                </a:solidFill>
              </a:rPr>
              <a:t>Source: Wiley</a:t>
            </a:r>
          </a:p>
          <a:p>
            <a:r>
              <a:rPr lang="en-US" sz="800" dirty="0">
                <a:solidFill>
                  <a:srgbClr val="000000"/>
                </a:solidFill>
              </a:rPr>
              <a:t>Data research &amp; chart: </a:t>
            </a:r>
            <a:r>
              <a:rPr lang="en-US" sz="800" dirty="0">
                <a:solidFill>
                  <a:prstClr val="black"/>
                </a:solidFill>
              </a:rPr>
              <a:t>I. Daraev</a:t>
            </a:r>
            <a:endParaRPr lang="ru-RU" sz="8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3B22D3-75BA-4544-B0BE-ED2DF197CA31}"/>
              </a:ext>
            </a:extLst>
          </p:cNvPr>
          <p:cNvCxnSpPr>
            <a:cxnSpLocks/>
          </p:cNvCxnSpPr>
          <p:nvPr/>
        </p:nvCxnSpPr>
        <p:spPr>
          <a:xfrm>
            <a:off x="1778000" y="5419302"/>
            <a:ext cx="376803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B63CAEE-63F5-4D78-99DE-DFA929E6187C}"/>
              </a:ext>
            </a:extLst>
          </p:cNvPr>
          <p:cNvCxnSpPr>
            <a:cxnSpLocks/>
          </p:cNvCxnSpPr>
          <p:nvPr/>
        </p:nvCxnSpPr>
        <p:spPr>
          <a:xfrm flipV="1">
            <a:off x="1770283" y="1767120"/>
            <a:ext cx="1" cy="36430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BCB377F-A7AD-4D96-BD2F-2B9BC0DE4739}"/>
              </a:ext>
            </a:extLst>
          </p:cNvPr>
          <p:cNvSpPr/>
          <p:nvPr/>
        </p:nvSpPr>
        <p:spPr>
          <a:xfrm>
            <a:off x="1065068" y="3486048"/>
            <a:ext cx="572756" cy="387029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800" dirty="0">
                <a:solidFill>
                  <a:srgbClr val="000000"/>
                </a:solidFill>
                <a:latin typeface="Montserrat Light" panose="00000400000000000000" pitchFamily="2" charset="-52"/>
              </a:rPr>
              <a:t>PV LCOE sensitivity </a:t>
            </a:r>
            <a:endParaRPr lang="ru-RU" sz="800" dirty="0">
              <a:solidFill>
                <a:srgbClr val="000000"/>
              </a:solidFill>
              <a:latin typeface="Montserrat Light" panose="00000400000000000000" pitchFamily="2" charset="-52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CDB871C-1D98-4C3F-ABAE-F84683D23C77}"/>
              </a:ext>
            </a:extLst>
          </p:cNvPr>
          <p:cNvSpPr/>
          <p:nvPr/>
        </p:nvSpPr>
        <p:spPr bwMode="gray">
          <a:xfrm>
            <a:off x="1873510" y="2050105"/>
            <a:ext cx="342575" cy="342575"/>
          </a:xfrm>
          <a:prstGeom prst="ellipse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29D1523-ACB4-46D1-8E48-0D1650E55348}"/>
              </a:ext>
            </a:extLst>
          </p:cNvPr>
          <p:cNvSpPr/>
          <p:nvPr/>
        </p:nvSpPr>
        <p:spPr bwMode="gray">
          <a:xfrm>
            <a:off x="1873510" y="3907339"/>
            <a:ext cx="342575" cy="342575"/>
          </a:xfrm>
          <a:prstGeom prst="ellipse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1171F9F-E759-4131-A394-269677B921B2}"/>
              </a:ext>
            </a:extLst>
          </p:cNvPr>
          <p:cNvSpPr/>
          <p:nvPr/>
        </p:nvSpPr>
        <p:spPr bwMode="gray">
          <a:xfrm>
            <a:off x="3744596" y="3907339"/>
            <a:ext cx="342575" cy="342575"/>
          </a:xfrm>
          <a:prstGeom prst="ellipse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3E61C9A-34C2-465C-89FC-95FB5FB8D025}"/>
              </a:ext>
            </a:extLst>
          </p:cNvPr>
          <p:cNvSpPr/>
          <p:nvPr/>
        </p:nvSpPr>
        <p:spPr bwMode="gray">
          <a:xfrm>
            <a:off x="3744596" y="2051457"/>
            <a:ext cx="342575" cy="342575"/>
          </a:xfrm>
          <a:prstGeom prst="ellipse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0BC0646-3C02-4C31-B8C4-D98BC1ED1D60}"/>
              </a:ext>
            </a:extLst>
          </p:cNvPr>
          <p:cNvGrpSpPr/>
          <p:nvPr/>
        </p:nvGrpSpPr>
        <p:grpSpPr>
          <a:xfrm>
            <a:off x="3791550" y="3959396"/>
            <a:ext cx="222795" cy="245730"/>
            <a:chOff x="-738955" y="2399508"/>
            <a:chExt cx="647700" cy="714375"/>
          </a:xfrm>
          <a:solidFill>
            <a:srgbClr val="00A3E0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411D218-A5F0-47AF-B4E5-AD12FCDA62F1}"/>
                </a:ext>
              </a:extLst>
            </p:cNvPr>
            <p:cNvSpPr/>
            <p:nvPr/>
          </p:nvSpPr>
          <p:spPr>
            <a:xfrm>
              <a:off x="-738955" y="2399508"/>
              <a:ext cx="647700" cy="714375"/>
            </a:xfrm>
            <a:custGeom>
              <a:avLst/>
              <a:gdLst>
                <a:gd name="connsiteX0" fmla="*/ 210026 w 647700"/>
                <a:gd name="connsiteY0" fmla="*/ 308324 h 714375"/>
                <a:gd name="connsiteX1" fmla="*/ 7144 w 647700"/>
                <a:gd name="connsiteY1" fmla="*/ 511112 h 714375"/>
                <a:gd name="connsiteX2" fmla="*/ 210026 w 647700"/>
                <a:gd name="connsiteY2" fmla="*/ 713994 h 714375"/>
                <a:gd name="connsiteX3" fmla="*/ 401479 w 647700"/>
                <a:gd name="connsiteY3" fmla="*/ 577977 h 714375"/>
                <a:gd name="connsiteX4" fmla="*/ 437960 w 647700"/>
                <a:gd name="connsiteY4" fmla="*/ 578739 h 714375"/>
                <a:gd name="connsiteX5" fmla="*/ 645128 w 647700"/>
                <a:gd name="connsiteY5" fmla="*/ 511112 h 714375"/>
                <a:gd name="connsiteX6" fmla="*/ 645128 w 647700"/>
                <a:gd name="connsiteY6" fmla="*/ 510540 h 714375"/>
                <a:gd name="connsiteX7" fmla="*/ 645128 w 647700"/>
                <a:gd name="connsiteY7" fmla="*/ 510064 h 714375"/>
                <a:gd name="connsiteX8" fmla="*/ 645128 w 647700"/>
                <a:gd name="connsiteY8" fmla="*/ 428530 h 714375"/>
                <a:gd name="connsiteX9" fmla="*/ 645700 w 647700"/>
                <a:gd name="connsiteY9" fmla="*/ 422910 h 714375"/>
                <a:gd name="connsiteX10" fmla="*/ 645128 w 647700"/>
                <a:gd name="connsiteY10" fmla="*/ 417671 h 714375"/>
                <a:gd name="connsiteX11" fmla="*/ 645128 w 647700"/>
                <a:gd name="connsiteY11" fmla="*/ 350615 h 714375"/>
                <a:gd name="connsiteX12" fmla="*/ 645700 w 647700"/>
                <a:gd name="connsiteY12" fmla="*/ 344996 h 714375"/>
                <a:gd name="connsiteX13" fmla="*/ 645128 w 647700"/>
                <a:gd name="connsiteY13" fmla="*/ 339757 h 714375"/>
                <a:gd name="connsiteX14" fmla="*/ 645128 w 647700"/>
                <a:gd name="connsiteY14" fmla="*/ 265081 h 714375"/>
                <a:gd name="connsiteX15" fmla="*/ 645700 w 647700"/>
                <a:gd name="connsiteY15" fmla="*/ 259461 h 714375"/>
                <a:gd name="connsiteX16" fmla="*/ 643985 w 647700"/>
                <a:gd name="connsiteY16" fmla="*/ 250412 h 714375"/>
                <a:gd name="connsiteX17" fmla="*/ 645033 w 647700"/>
                <a:gd name="connsiteY17" fmla="*/ 242030 h 714375"/>
                <a:gd name="connsiteX18" fmla="*/ 645033 w 647700"/>
                <a:gd name="connsiteY18" fmla="*/ 241459 h 714375"/>
                <a:gd name="connsiteX19" fmla="*/ 645033 w 647700"/>
                <a:gd name="connsiteY19" fmla="*/ 240983 h 714375"/>
                <a:gd name="connsiteX20" fmla="*/ 645033 w 647700"/>
                <a:gd name="connsiteY20" fmla="*/ 159449 h 714375"/>
                <a:gd name="connsiteX21" fmla="*/ 645605 w 647700"/>
                <a:gd name="connsiteY21" fmla="*/ 153829 h 714375"/>
                <a:gd name="connsiteX22" fmla="*/ 645033 w 647700"/>
                <a:gd name="connsiteY22" fmla="*/ 148590 h 714375"/>
                <a:gd name="connsiteX23" fmla="*/ 645033 w 647700"/>
                <a:gd name="connsiteY23" fmla="*/ 73914 h 714375"/>
                <a:gd name="connsiteX24" fmla="*/ 645605 w 647700"/>
                <a:gd name="connsiteY24" fmla="*/ 68294 h 714375"/>
                <a:gd name="connsiteX25" fmla="*/ 643795 w 647700"/>
                <a:gd name="connsiteY25" fmla="*/ 58865 h 714375"/>
                <a:gd name="connsiteX26" fmla="*/ 632841 w 647700"/>
                <a:gd name="connsiteY26" fmla="*/ 44101 h 714375"/>
                <a:gd name="connsiteX27" fmla="*/ 437960 w 647700"/>
                <a:gd name="connsiteY27" fmla="*/ 7144 h 714375"/>
                <a:gd name="connsiteX28" fmla="*/ 242888 w 647700"/>
                <a:gd name="connsiteY28" fmla="*/ 44291 h 714375"/>
                <a:gd name="connsiteX29" fmla="*/ 231934 w 647700"/>
                <a:gd name="connsiteY29" fmla="*/ 59055 h 714375"/>
                <a:gd name="connsiteX30" fmla="*/ 230124 w 647700"/>
                <a:gd name="connsiteY30" fmla="*/ 68485 h 714375"/>
                <a:gd name="connsiteX31" fmla="*/ 230696 w 647700"/>
                <a:gd name="connsiteY31" fmla="*/ 74105 h 714375"/>
                <a:gd name="connsiteX32" fmla="*/ 230696 w 647700"/>
                <a:gd name="connsiteY32" fmla="*/ 148781 h 714375"/>
                <a:gd name="connsiteX33" fmla="*/ 230124 w 647700"/>
                <a:gd name="connsiteY33" fmla="*/ 154019 h 714375"/>
                <a:gd name="connsiteX34" fmla="*/ 230696 w 647700"/>
                <a:gd name="connsiteY34" fmla="*/ 159639 h 714375"/>
                <a:gd name="connsiteX35" fmla="*/ 230696 w 647700"/>
                <a:gd name="connsiteY35" fmla="*/ 241173 h 714375"/>
                <a:gd name="connsiteX36" fmla="*/ 230696 w 647700"/>
                <a:gd name="connsiteY36" fmla="*/ 241744 h 714375"/>
                <a:gd name="connsiteX37" fmla="*/ 230696 w 647700"/>
                <a:gd name="connsiteY37" fmla="*/ 242221 h 714375"/>
                <a:gd name="connsiteX38" fmla="*/ 231743 w 647700"/>
                <a:gd name="connsiteY38" fmla="*/ 250603 h 714375"/>
                <a:gd name="connsiteX39" fmla="*/ 230124 w 647700"/>
                <a:gd name="connsiteY39" fmla="*/ 259652 h 714375"/>
                <a:gd name="connsiteX40" fmla="*/ 230696 w 647700"/>
                <a:gd name="connsiteY40" fmla="*/ 265271 h 714375"/>
                <a:gd name="connsiteX41" fmla="*/ 230696 w 647700"/>
                <a:gd name="connsiteY41" fmla="*/ 309467 h 714375"/>
                <a:gd name="connsiteX42" fmla="*/ 209931 w 647700"/>
                <a:gd name="connsiteY42" fmla="*/ 308420 h 714375"/>
                <a:gd name="connsiteX43" fmla="*/ 621506 w 647700"/>
                <a:gd name="connsiteY43" fmla="*/ 509492 h 714375"/>
                <a:gd name="connsiteX44" fmla="*/ 621506 w 647700"/>
                <a:gd name="connsiteY44" fmla="*/ 510921 h 714375"/>
                <a:gd name="connsiteX45" fmla="*/ 621506 w 647700"/>
                <a:gd name="connsiteY45" fmla="*/ 511588 h 714375"/>
                <a:gd name="connsiteX46" fmla="*/ 438055 w 647700"/>
                <a:gd name="connsiteY46" fmla="*/ 552736 h 714375"/>
                <a:gd name="connsiteX47" fmla="*/ 408718 w 647700"/>
                <a:gd name="connsiteY47" fmla="*/ 552164 h 714375"/>
                <a:gd name="connsiteX48" fmla="*/ 412909 w 647700"/>
                <a:gd name="connsiteY48" fmla="*/ 511112 h 714375"/>
                <a:gd name="connsiteX49" fmla="*/ 412623 w 647700"/>
                <a:gd name="connsiteY49" fmla="*/ 500444 h 714375"/>
                <a:gd name="connsiteX50" fmla="*/ 437960 w 647700"/>
                <a:gd name="connsiteY50" fmla="*/ 500825 h 714375"/>
                <a:gd name="connsiteX51" fmla="*/ 621506 w 647700"/>
                <a:gd name="connsiteY51" fmla="*/ 469487 h 714375"/>
                <a:gd name="connsiteX52" fmla="*/ 621506 w 647700"/>
                <a:gd name="connsiteY52" fmla="*/ 509397 h 714375"/>
                <a:gd name="connsiteX53" fmla="*/ 621506 w 647700"/>
                <a:gd name="connsiteY53" fmla="*/ 431578 h 714375"/>
                <a:gd name="connsiteX54" fmla="*/ 621506 w 647700"/>
                <a:gd name="connsiteY54" fmla="*/ 433102 h 714375"/>
                <a:gd name="connsiteX55" fmla="*/ 621506 w 647700"/>
                <a:gd name="connsiteY55" fmla="*/ 433769 h 714375"/>
                <a:gd name="connsiteX56" fmla="*/ 438055 w 647700"/>
                <a:gd name="connsiteY56" fmla="*/ 474917 h 714375"/>
                <a:gd name="connsiteX57" fmla="*/ 409575 w 647700"/>
                <a:gd name="connsiteY57" fmla="*/ 474345 h 714375"/>
                <a:gd name="connsiteX58" fmla="*/ 388144 w 647700"/>
                <a:gd name="connsiteY58" fmla="*/ 413957 h 714375"/>
                <a:gd name="connsiteX59" fmla="*/ 438150 w 647700"/>
                <a:gd name="connsiteY59" fmla="*/ 415385 h 714375"/>
                <a:gd name="connsiteX60" fmla="*/ 621697 w 647700"/>
                <a:gd name="connsiteY60" fmla="*/ 384048 h 714375"/>
                <a:gd name="connsiteX61" fmla="*/ 621697 w 647700"/>
                <a:gd name="connsiteY61" fmla="*/ 431578 h 714375"/>
                <a:gd name="connsiteX62" fmla="*/ 621506 w 647700"/>
                <a:gd name="connsiteY62" fmla="*/ 240506 h 714375"/>
                <a:gd name="connsiteX63" fmla="*/ 621506 w 647700"/>
                <a:gd name="connsiteY63" fmla="*/ 241935 h 714375"/>
                <a:gd name="connsiteX64" fmla="*/ 621506 w 647700"/>
                <a:gd name="connsiteY64" fmla="*/ 242602 h 714375"/>
                <a:gd name="connsiteX65" fmla="*/ 438055 w 647700"/>
                <a:gd name="connsiteY65" fmla="*/ 283750 h 714375"/>
                <a:gd name="connsiteX66" fmla="*/ 254508 w 647700"/>
                <a:gd name="connsiteY66" fmla="*/ 242602 h 714375"/>
                <a:gd name="connsiteX67" fmla="*/ 254508 w 647700"/>
                <a:gd name="connsiteY67" fmla="*/ 241268 h 714375"/>
                <a:gd name="connsiteX68" fmla="*/ 254508 w 647700"/>
                <a:gd name="connsiteY68" fmla="*/ 240411 h 714375"/>
                <a:gd name="connsiteX69" fmla="*/ 254508 w 647700"/>
                <a:gd name="connsiteY69" fmla="*/ 192881 h 714375"/>
                <a:gd name="connsiteX70" fmla="*/ 438055 w 647700"/>
                <a:gd name="connsiteY70" fmla="*/ 224219 h 714375"/>
                <a:gd name="connsiteX71" fmla="*/ 621602 w 647700"/>
                <a:gd name="connsiteY71" fmla="*/ 192977 h 714375"/>
                <a:gd name="connsiteX72" fmla="*/ 621602 w 647700"/>
                <a:gd name="connsiteY72" fmla="*/ 240506 h 714375"/>
                <a:gd name="connsiteX73" fmla="*/ 437960 w 647700"/>
                <a:gd name="connsiteY73" fmla="*/ 37052 h 714375"/>
                <a:gd name="connsiteX74" fmla="*/ 617601 w 647700"/>
                <a:gd name="connsiteY74" fmla="*/ 68485 h 714375"/>
                <a:gd name="connsiteX75" fmla="*/ 437960 w 647700"/>
                <a:gd name="connsiteY75" fmla="*/ 99917 h 714375"/>
                <a:gd name="connsiteX76" fmla="*/ 258318 w 647700"/>
                <a:gd name="connsiteY76" fmla="*/ 68485 h 714375"/>
                <a:gd name="connsiteX77" fmla="*/ 437960 w 647700"/>
                <a:gd name="connsiteY77" fmla="*/ 37052 h 714375"/>
                <a:gd name="connsiteX78" fmla="*/ 437960 w 647700"/>
                <a:gd name="connsiteY78" fmla="*/ 129826 h 714375"/>
                <a:gd name="connsiteX79" fmla="*/ 621506 w 647700"/>
                <a:gd name="connsiteY79" fmla="*/ 100489 h 714375"/>
                <a:gd name="connsiteX80" fmla="*/ 621506 w 647700"/>
                <a:gd name="connsiteY80" fmla="*/ 154972 h 714375"/>
                <a:gd name="connsiteX81" fmla="*/ 621506 w 647700"/>
                <a:gd name="connsiteY81" fmla="*/ 156401 h 714375"/>
                <a:gd name="connsiteX82" fmla="*/ 621506 w 647700"/>
                <a:gd name="connsiteY82" fmla="*/ 157067 h 714375"/>
                <a:gd name="connsiteX83" fmla="*/ 438055 w 647700"/>
                <a:gd name="connsiteY83" fmla="*/ 198215 h 714375"/>
                <a:gd name="connsiteX84" fmla="*/ 254508 w 647700"/>
                <a:gd name="connsiteY84" fmla="*/ 157067 h 714375"/>
                <a:gd name="connsiteX85" fmla="*/ 254508 w 647700"/>
                <a:gd name="connsiteY85" fmla="*/ 155829 h 714375"/>
                <a:gd name="connsiteX86" fmla="*/ 254508 w 647700"/>
                <a:gd name="connsiteY86" fmla="*/ 154972 h 714375"/>
                <a:gd name="connsiteX87" fmla="*/ 254508 w 647700"/>
                <a:gd name="connsiteY87" fmla="*/ 100489 h 714375"/>
                <a:gd name="connsiteX88" fmla="*/ 438055 w 647700"/>
                <a:gd name="connsiteY88" fmla="*/ 129826 h 714375"/>
                <a:gd name="connsiteX89" fmla="*/ 437960 w 647700"/>
                <a:gd name="connsiteY89" fmla="*/ 320897 h 714375"/>
                <a:gd name="connsiteX90" fmla="*/ 621506 w 647700"/>
                <a:gd name="connsiteY90" fmla="*/ 291560 h 714375"/>
                <a:gd name="connsiteX91" fmla="*/ 621506 w 647700"/>
                <a:gd name="connsiteY91" fmla="*/ 346043 h 714375"/>
                <a:gd name="connsiteX92" fmla="*/ 621506 w 647700"/>
                <a:gd name="connsiteY92" fmla="*/ 347472 h 714375"/>
                <a:gd name="connsiteX93" fmla="*/ 621506 w 647700"/>
                <a:gd name="connsiteY93" fmla="*/ 348139 h 714375"/>
                <a:gd name="connsiteX94" fmla="*/ 438055 w 647700"/>
                <a:gd name="connsiteY94" fmla="*/ 389287 h 714375"/>
                <a:gd name="connsiteX95" fmla="*/ 369856 w 647700"/>
                <a:gd name="connsiteY95" fmla="*/ 386239 h 714375"/>
                <a:gd name="connsiteX96" fmla="*/ 254508 w 647700"/>
                <a:gd name="connsiteY96" fmla="*/ 313182 h 714375"/>
                <a:gd name="connsiteX97" fmla="*/ 254508 w 647700"/>
                <a:gd name="connsiteY97" fmla="*/ 291465 h 714375"/>
                <a:gd name="connsiteX98" fmla="*/ 438055 w 647700"/>
                <a:gd name="connsiteY98" fmla="*/ 320802 h 714375"/>
                <a:gd name="connsiteX99" fmla="*/ 386906 w 647700"/>
                <a:gd name="connsiteY99" fmla="*/ 511112 h 714375"/>
                <a:gd name="connsiteX100" fmla="*/ 210026 w 647700"/>
                <a:gd name="connsiteY100" fmla="*/ 687991 h 714375"/>
                <a:gd name="connsiteX101" fmla="*/ 33147 w 647700"/>
                <a:gd name="connsiteY101" fmla="*/ 511112 h 714375"/>
                <a:gd name="connsiteX102" fmla="*/ 210026 w 647700"/>
                <a:gd name="connsiteY102" fmla="*/ 334232 h 714375"/>
                <a:gd name="connsiteX103" fmla="*/ 386906 w 647700"/>
                <a:gd name="connsiteY103" fmla="*/ 511112 h 71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647700" h="714375">
                  <a:moveTo>
                    <a:pt x="210026" y="308324"/>
                  </a:moveTo>
                  <a:cubicBezTo>
                    <a:pt x="98108" y="308324"/>
                    <a:pt x="7144" y="399288"/>
                    <a:pt x="7144" y="511112"/>
                  </a:cubicBezTo>
                  <a:cubicBezTo>
                    <a:pt x="7144" y="622935"/>
                    <a:pt x="98108" y="713994"/>
                    <a:pt x="210026" y="713994"/>
                  </a:cubicBezTo>
                  <a:cubicBezTo>
                    <a:pt x="298418" y="713994"/>
                    <a:pt x="373856" y="657130"/>
                    <a:pt x="401479" y="577977"/>
                  </a:cubicBezTo>
                  <a:cubicBezTo>
                    <a:pt x="415195" y="578549"/>
                    <a:pt x="427673" y="578739"/>
                    <a:pt x="437960" y="578739"/>
                  </a:cubicBezTo>
                  <a:cubicBezTo>
                    <a:pt x="500253" y="578739"/>
                    <a:pt x="645128" y="572167"/>
                    <a:pt x="645128" y="511112"/>
                  </a:cubicBezTo>
                  <a:cubicBezTo>
                    <a:pt x="645128" y="510921"/>
                    <a:pt x="645128" y="510731"/>
                    <a:pt x="645128" y="510540"/>
                  </a:cubicBezTo>
                  <a:cubicBezTo>
                    <a:pt x="645128" y="510350"/>
                    <a:pt x="645128" y="510254"/>
                    <a:pt x="645128" y="510064"/>
                  </a:cubicBezTo>
                  <a:lnTo>
                    <a:pt x="645128" y="428530"/>
                  </a:lnTo>
                  <a:cubicBezTo>
                    <a:pt x="645509" y="426720"/>
                    <a:pt x="645700" y="424910"/>
                    <a:pt x="645700" y="422910"/>
                  </a:cubicBezTo>
                  <a:cubicBezTo>
                    <a:pt x="645700" y="421100"/>
                    <a:pt x="645509" y="419386"/>
                    <a:pt x="645128" y="417671"/>
                  </a:cubicBezTo>
                  <a:lnTo>
                    <a:pt x="645128" y="350615"/>
                  </a:lnTo>
                  <a:cubicBezTo>
                    <a:pt x="645509" y="348806"/>
                    <a:pt x="645700" y="346900"/>
                    <a:pt x="645700" y="344996"/>
                  </a:cubicBezTo>
                  <a:cubicBezTo>
                    <a:pt x="645700" y="343186"/>
                    <a:pt x="645509" y="341471"/>
                    <a:pt x="645128" y="339757"/>
                  </a:cubicBezTo>
                  <a:lnTo>
                    <a:pt x="645128" y="265081"/>
                  </a:lnTo>
                  <a:cubicBezTo>
                    <a:pt x="645509" y="263271"/>
                    <a:pt x="645700" y="261461"/>
                    <a:pt x="645700" y="259461"/>
                  </a:cubicBezTo>
                  <a:cubicBezTo>
                    <a:pt x="645700" y="256223"/>
                    <a:pt x="645033" y="253270"/>
                    <a:pt x="643985" y="250412"/>
                  </a:cubicBezTo>
                  <a:cubicBezTo>
                    <a:pt x="644652" y="247745"/>
                    <a:pt x="645033" y="244983"/>
                    <a:pt x="645033" y="242030"/>
                  </a:cubicBezTo>
                  <a:cubicBezTo>
                    <a:pt x="645033" y="241840"/>
                    <a:pt x="645033" y="241649"/>
                    <a:pt x="645033" y="241459"/>
                  </a:cubicBezTo>
                  <a:cubicBezTo>
                    <a:pt x="645033" y="241268"/>
                    <a:pt x="645033" y="241173"/>
                    <a:pt x="645033" y="240983"/>
                  </a:cubicBezTo>
                  <a:lnTo>
                    <a:pt x="645033" y="159449"/>
                  </a:lnTo>
                  <a:cubicBezTo>
                    <a:pt x="645414" y="157639"/>
                    <a:pt x="645605" y="155734"/>
                    <a:pt x="645605" y="153829"/>
                  </a:cubicBezTo>
                  <a:cubicBezTo>
                    <a:pt x="645605" y="152019"/>
                    <a:pt x="645414" y="150305"/>
                    <a:pt x="645033" y="148590"/>
                  </a:cubicBezTo>
                  <a:lnTo>
                    <a:pt x="645033" y="73914"/>
                  </a:lnTo>
                  <a:cubicBezTo>
                    <a:pt x="645414" y="72104"/>
                    <a:pt x="645605" y="70199"/>
                    <a:pt x="645605" y="68294"/>
                  </a:cubicBezTo>
                  <a:cubicBezTo>
                    <a:pt x="645605" y="64961"/>
                    <a:pt x="644938" y="61817"/>
                    <a:pt x="643795" y="58865"/>
                  </a:cubicBezTo>
                  <a:cubicBezTo>
                    <a:pt x="641985" y="52578"/>
                    <a:pt x="638080" y="47339"/>
                    <a:pt x="632841" y="44101"/>
                  </a:cubicBezTo>
                  <a:cubicBezTo>
                    <a:pt x="590645" y="8382"/>
                    <a:pt x="455867" y="7144"/>
                    <a:pt x="437960" y="7144"/>
                  </a:cubicBezTo>
                  <a:cubicBezTo>
                    <a:pt x="420053" y="7144"/>
                    <a:pt x="285274" y="8382"/>
                    <a:pt x="242888" y="44291"/>
                  </a:cubicBezTo>
                  <a:cubicBezTo>
                    <a:pt x="237649" y="47625"/>
                    <a:pt x="233744" y="52769"/>
                    <a:pt x="231934" y="59055"/>
                  </a:cubicBezTo>
                  <a:cubicBezTo>
                    <a:pt x="230791" y="62008"/>
                    <a:pt x="230124" y="65151"/>
                    <a:pt x="230124" y="68485"/>
                  </a:cubicBezTo>
                  <a:cubicBezTo>
                    <a:pt x="230124" y="70390"/>
                    <a:pt x="230315" y="72295"/>
                    <a:pt x="230696" y="74105"/>
                  </a:cubicBezTo>
                  <a:lnTo>
                    <a:pt x="230696" y="148781"/>
                  </a:lnTo>
                  <a:cubicBezTo>
                    <a:pt x="230315" y="150495"/>
                    <a:pt x="230124" y="152210"/>
                    <a:pt x="230124" y="154019"/>
                  </a:cubicBezTo>
                  <a:cubicBezTo>
                    <a:pt x="230124" y="155924"/>
                    <a:pt x="230315" y="157829"/>
                    <a:pt x="230696" y="159639"/>
                  </a:cubicBezTo>
                  <a:lnTo>
                    <a:pt x="230696" y="241173"/>
                  </a:lnTo>
                  <a:cubicBezTo>
                    <a:pt x="230696" y="241173"/>
                    <a:pt x="230696" y="241554"/>
                    <a:pt x="230696" y="241744"/>
                  </a:cubicBezTo>
                  <a:cubicBezTo>
                    <a:pt x="230696" y="241935"/>
                    <a:pt x="230696" y="242030"/>
                    <a:pt x="230696" y="242221"/>
                  </a:cubicBezTo>
                  <a:cubicBezTo>
                    <a:pt x="230696" y="245174"/>
                    <a:pt x="231172" y="247936"/>
                    <a:pt x="231743" y="250603"/>
                  </a:cubicBezTo>
                  <a:cubicBezTo>
                    <a:pt x="230696" y="253460"/>
                    <a:pt x="230124" y="256508"/>
                    <a:pt x="230124" y="259652"/>
                  </a:cubicBezTo>
                  <a:cubicBezTo>
                    <a:pt x="230124" y="261556"/>
                    <a:pt x="230315" y="263462"/>
                    <a:pt x="230696" y="265271"/>
                  </a:cubicBezTo>
                  <a:lnTo>
                    <a:pt x="230696" y="309467"/>
                  </a:lnTo>
                  <a:cubicBezTo>
                    <a:pt x="223838" y="308801"/>
                    <a:pt x="216884" y="308420"/>
                    <a:pt x="209931" y="308420"/>
                  </a:cubicBezTo>
                  <a:close/>
                  <a:moveTo>
                    <a:pt x="621506" y="509492"/>
                  </a:moveTo>
                  <a:cubicBezTo>
                    <a:pt x="621506" y="509969"/>
                    <a:pt x="621506" y="510540"/>
                    <a:pt x="621506" y="510921"/>
                  </a:cubicBezTo>
                  <a:cubicBezTo>
                    <a:pt x="621506" y="511112"/>
                    <a:pt x="621506" y="511397"/>
                    <a:pt x="621506" y="511588"/>
                  </a:cubicBezTo>
                  <a:cubicBezTo>
                    <a:pt x="620363" y="534353"/>
                    <a:pt x="538448" y="552736"/>
                    <a:pt x="438055" y="552736"/>
                  </a:cubicBezTo>
                  <a:cubicBezTo>
                    <a:pt x="428054" y="552736"/>
                    <a:pt x="418338" y="552545"/>
                    <a:pt x="408718" y="552164"/>
                  </a:cubicBezTo>
                  <a:cubicBezTo>
                    <a:pt x="411480" y="538925"/>
                    <a:pt x="412909" y="525209"/>
                    <a:pt x="412909" y="511112"/>
                  </a:cubicBezTo>
                  <a:cubicBezTo>
                    <a:pt x="412909" y="507492"/>
                    <a:pt x="412814" y="503968"/>
                    <a:pt x="412623" y="500444"/>
                  </a:cubicBezTo>
                  <a:cubicBezTo>
                    <a:pt x="421958" y="500729"/>
                    <a:pt x="430625" y="500825"/>
                    <a:pt x="437960" y="500825"/>
                  </a:cubicBezTo>
                  <a:cubicBezTo>
                    <a:pt x="484632" y="500825"/>
                    <a:pt x="577787" y="497110"/>
                    <a:pt x="621506" y="469487"/>
                  </a:cubicBezTo>
                  <a:lnTo>
                    <a:pt x="621506" y="509397"/>
                  </a:lnTo>
                  <a:close/>
                  <a:moveTo>
                    <a:pt x="621506" y="431578"/>
                  </a:moveTo>
                  <a:cubicBezTo>
                    <a:pt x="621506" y="432054"/>
                    <a:pt x="621506" y="432625"/>
                    <a:pt x="621506" y="433102"/>
                  </a:cubicBezTo>
                  <a:cubicBezTo>
                    <a:pt x="621506" y="433292"/>
                    <a:pt x="621506" y="433483"/>
                    <a:pt x="621506" y="433769"/>
                  </a:cubicBezTo>
                  <a:cubicBezTo>
                    <a:pt x="620363" y="456533"/>
                    <a:pt x="538448" y="474917"/>
                    <a:pt x="438055" y="474917"/>
                  </a:cubicBezTo>
                  <a:cubicBezTo>
                    <a:pt x="428339" y="474917"/>
                    <a:pt x="418814" y="474726"/>
                    <a:pt x="409575" y="474345"/>
                  </a:cubicBezTo>
                  <a:cubicBezTo>
                    <a:pt x="405575" y="452819"/>
                    <a:pt x="398336" y="432530"/>
                    <a:pt x="388144" y="413957"/>
                  </a:cubicBezTo>
                  <a:cubicBezTo>
                    <a:pt x="407099" y="415100"/>
                    <a:pt x="424625" y="415385"/>
                    <a:pt x="438150" y="415385"/>
                  </a:cubicBezTo>
                  <a:cubicBezTo>
                    <a:pt x="484823" y="415385"/>
                    <a:pt x="577977" y="411671"/>
                    <a:pt x="621697" y="384048"/>
                  </a:cubicBezTo>
                  <a:lnTo>
                    <a:pt x="621697" y="431578"/>
                  </a:lnTo>
                  <a:close/>
                  <a:moveTo>
                    <a:pt x="621506" y="240506"/>
                  </a:moveTo>
                  <a:cubicBezTo>
                    <a:pt x="621506" y="240983"/>
                    <a:pt x="621506" y="241554"/>
                    <a:pt x="621506" y="241935"/>
                  </a:cubicBezTo>
                  <a:cubicBezTo>
                    <a:pt x="621506" y="242126"/>
                    <a:pt x="621506" y="242411"/>
                    <a:pt x="621506" y="242602"/>
                  </a:cubicBezTo>
                  <a:cubicBezTo>
                    <a:pt x="620363" y="265367"/>
                    <a:pt x="538448" y="283750"/>
                    <a:pt x="438055" y="283750"/>
                  </a:cubicBezTo>
                  <a:cubicBezTo>
                    <a:pt x="337661" y="283750"/>
                    <a:pt x="255746" y="265367"/>
                    <a:pt x="254508" y="242602"/>
                  </a:cubicBezTo>
                  <a:cubicBezTo>
                    <a:pt x="254508" y="242126"/>
                    <a:pt x="254508" y="241744"/>
                    <a:pt x="254508" y="241268"/>
                  </a:cubicBezTo>
                  <a:cubicBezTo>
                    <a:pt x="254508" y="240983"/>
                    <a:pt x="254508" y="240697"/>
                    <a:pt x="254508" y="240411"/>
                  </a:cubicBezTo>
                  <a:lnTo>
                    <a:pt x="254508" y="192881"/>
                  </a:lnTo>
                  <a:cubicBezTo>
                    <a:pt x="298133" y="220504"/>
                    <a:pt x="391287" y="224219"/>
                    <a:pt x="438055" y="224219"/>
                  </a:cubicBezTo>
                  <a:cubicBezTo>
                    <a:pt x="484823" y="224219"/>
                    <a:pt x="577882" y="220504"/>
                    <a:pt x="621602" y="192977"/>
                  </a:cubicBezTo>
                  <a:lnTo>
                    <a:pt x="621602" y="240506"/>
                  </a:lnTo>
                  <a:close/>
                  <a:moveTo>
                    <a:pt x="437960" y="37052"/>
                  </a:moveTo>
                  <a:cubicBezTo>
                    <a:pt x="542163" y="37052"/>
                    <a:pt x="606647" y="56388"/>
                    <a:pt x="617601" y="68485"/>
                  </a:cubicBezTo>
                  <a:cubicBezTo>
                    <a:pt x="606743" y="80582"/>
                    <a:pt x="542163" y="99917"/>
                    <a:pt x="437960" y="99917"/>
                  </a:cubicBezTo>
                  <a:cubicBezTo>
                    <a:pt x="333756" y="99917"/>
                    <a:pt x="269177" y="80582"/>
                    <a:pt x="258318" y="68485"/>
                  </a:cubicBezTo>
                  <a:cubicBezTo>
                    <a:pt x="269177" y="56388"/>
                    <a:pt x="333756" y="37052"/>
                    <a:pt x="437960" y="37052"/>
                  </a:cubicBezTo>
                  <a:close/>
                  <a:moveTo>
                    <a:pt x="437960" y="129826"/>
                  </a:moveTo>
                  <a:cubicBezTo>
                    <a:pt x="454438" y="129826"/>
                    <a:pt x="570262" y="128778"/>
                    <a:pt x="621506" y="100489"/>
                  </a:cubicBezTo>
                  <a:lnTo>
                    <a:pt x="621506" y="154972"/>
                  </a:lnTo>
                  <a:cubicBezTo>
                    <a:pt x="621506" y="155448"/>
                    <a:pt x="621506" y="156020"/>
                    <a:pt x="621506" y="156401"/>
                  </a:cubicBezTo>
                  <a:cubicBezTo>
                    <a:pt x="621506" y="156591"/>
                    <a:pt x="621506" y="156877"/>
                    <a:pt x="621506" y="157067"/>
                  </a:cubicBezTo>
                  <a:cubicBezTo>
                    <a:pt x="620363" y="179832"/>
                    <a:pt x="538448" y="198215"/>
                    <a:pt x="438055" y="198215"/>
                  </a:cubicBezTo>
                  <a:cubicBezTo>
                    <a:pt x="337661" y="198215"/>
                    <a:pt x="255746" y="179737"/>
                    <a:pt x="254508" y="157067"/>
                  </a:cubicBezTo>
                  <a:cubicBezTo>
                    <a:pt x="254508" y="156591"/>
                    <a:pt x="254508" y="156210"/>
                    <a:pt x="254508" y="155829"/>
                  </a:cubicBezTo>
                  <a:cubicBezTo>
                    <a:pt x="254508" y="155543"/>
                    <a:pt x="254508" y="155258"/>
                    <a:pt x="254508" y="154972"/>
                  </a:cubicBezTo>
                  <a:lnTo>
                    <a:pt x="254508" y="100489"/>
                  </a:lnTo>
                  <a:cubicBezTo>
                    <a:pt x="305657" y="128778"/>
                    <a:pt x="421481" y="129826"/>
                    <a:pt x="438055" y="129826"/>
                  </a:cubicBezTo>
                  <a:close/>
                  <a:moveTo>
                    <a:pt x="437960" y="320897"/>
                  </a:moveTo>
                  <a:cubicBezTo>
                    <a:pt x="454438" y="320897"/>
                    <a:pt x="570262" y="319850"/>
                    <a:pt x="621506" y="291560"/>
                  </a:cubicBezTo>
                  <a:lnTo>
                    <a:pt x="621506" y="346043"/>
                  </a:lnTo>
                  <a:cubicBezTo>
                    <a:pt x="621506" y="346520"/>
                    <a:pt x="621506" y="347091"/>
                    <a:pt x="621506" y="347472"/>
                  </a:cubicBezTo>
                  <a:cubicBezTo>
                    <a:pt x="621506" y="347663"/>
                    <a:pt x="621506" y="347948"/>
                    <a:pt x="621506" y="348139"/>
                  </a:cubicBezTo>
                  <a:cubicBezTo>
                    <a:pt x="620363" y="370904"/>
                    <a:pt x="538448" y="389287"/>
                    <a:pt x="438055" y="389287"/>
                  </a:cubicBezTo>
                  <a:cubicBezTo>
                    <a:pt x="413957" y="389287"/>
                    <a:pt x="390906" y="388239"/>
                    <a:pt x="369856" y="386239"/>
                  </a:cubicBezTo>
                  <a:cubicBezTo>
                    <a:pt x="341471" y="349949"/>
                    <a:pt x="300990" y="323564"/>
                    <a:pt x="254508" y="313182"/>
                  </a:cubicBezTo>
                  <a:lnTo>
                    <a:pt x="254508" y="291465"/>
                  </a:lnTo>
                  <a:cubicBezTo>
                    <a:pt x="305657" y="319754"/>
                    <a:pt x="421576" y="320802"/>
                    <a:pt x="438055" y="320802"/>
                  </a:cubicBezTo>
                  <a:close/>
                  <a:moveTo>
                    <a:pt x="386906" y="511112"/>
                  </a:moveTo>
                  <a:cubicBezTo>
                    <a:pt x="386906" y="608648"/>
                    <a:pt x="307562" y="687991"/>
                    <a:pt x="210026" y="687991"/>
                  </a:cubicBezTo>
                  <a:cubicBezTo>
                    <a:pt x="112490" y="687991"/>
                    <a:pt x="33147" y="608648"/>
                    <a:pt x="33147" y="511112"/>
                  </a:cubicBezTo>
                  <a:cubicBezTo>
                    <a:pt x="33147" y="413575"/>
                    <a:pt x="112490" y="334232"/>
                    <a:pt x="210026" y="334232"/>
                  </a:cubicBezTo>
                  <a:cubicBezTo>
                    <a:pt x="307562" y="334232"/>
                    <a:pt x="386906" y="413575"/>
                    <a:pt x="386906" y="5111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A9959F9-A13B-4E66-B41F-31FB232D737E}"/>
                </a:ext>
              </a:extLst>
            </p:cNvPr>
            <p:cNvSpPr/>
            <p:nvPr/>
          </p:nvSpPr>
          <p:spPr>
            <a:xfrm>
              <a:off x="-672756" y="2766792"/>
              <a:ext cx="285750" cy="285750"/>
            </a:xfrm>
            <a:custGeom>
              <a:avLst/>
              <a:gdLst>
                <a:gd name="connsiteX0" fmla="*/ 7144 w 285750"/>
                <a:gd name="connsiteY0" fmla="*/ 143827 h 285750"/>
                <a:gd name="connsiteX1" fmla="*/ 143828 w 285750"/>
                <a:gd name="connsiteY1" fmla="*/ 280511 h 285750"/>
                <a:gd name="connsiteX2" fmla="*/ 280511 w 285750"/>
                <a:gd name="connsiteY2" fmla="*/ 143827 h 285750"/>
                <a:gd name="connsiteX3" fmla="*/ 143828 w 285750"/>
                <a:gd name="connsiteY3" fmla="*/ 7144 h 285750"/>
                <a:gd name="connsiteX4" fmla="*/ 7144 w 285750"/>
                <a:gd name="connsiteY4" fmla="*/ 143827 h 285750"/>
                <a:gd name="connsiteX5" fmla="*/ 263176 w 285750"/>
                <a:gd name="connsiteY5" fmla="*/ 143827 h 285750"/>
                <a:gd name="connsiteX6" fmla="*/ 143828 w 285750"/>
                <a:gd name="connsiteY6" fmla="*/ 263176 h 285750"/>
                <a:gd name="connsiteX7" fmla="*/ 24479 w 285750"/>
                <a:gd name="connsiteY7" fmla="*/ 143827 h 285750"/>
                <a:gd name="connsiteX8" fmla="*/ 143828 w 285750"/>
                <a:gd name="connsiteY8" fmla="*/ 24479 h 285750"/>
                <a:gd name="connsiteX9" fmla="*/ 263176 w 285750"/>
                <a:gd name="connsiteY9" fmla="*/ 143827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5750" h="285750">
                  <a:moveTo>
                    <a:pt x="7144" y="143827"/>
                  </a:moveTo>
                  <a:cubicBezTo>
                    <a:pt x="7144" y="219170"/>
                    <a:pt x="68485" y="280511"/>
                    <a:pt x="143828" y="280511"/>
                  </a:cubicBezTo>
                  <a:cubicBezTo>
                    <a:pt x="219170" y="280511"/>
                    <a:pt x="280511" y="219170"/>
                    <a:pt x="280511" y="143827"/>
                  </a:cubicBezTo>
                  <a:cubicBezTo>
                    <a:pt x="280511" y="68485"/>
                    <a:pt x="219170" y="7144"/>
                    <a:pt x="143828" y="7144"/>
                  </a:cubicBezTo>
                  <a:cubicBezTo>
                    <a:pt x="68485" y="7144"/>
                    <a:pt x="7144" y="68485"/>
                    <a:pt x="7144" y="143827"/>
                  </a:cubicBezTo>
                  <a:close/>
                  <a:moveTo>
                    <a:pt x="263176" y="143827"/>
                  </a:moveTo>
                  <a:cubicBezTo>
                    <a:pt x="263176" y="209645"/>
                    <a:pt x="209645" y="263176"/>
                    <a:pt x="143828" y="263176"/>
                  </a:cubicBezTo>
                  <a:cubicBezTo>
                    <a:pt x="78010" y="263176"/>
                    <a:pt x="24479" y="209645"/>
                    <a:pt x="24479" y="143827"/>
                  </a:cubicBezTo>
                  <a:cubicBezTo>
                    <a:pt x="24479" y="78010"/>
                    <a:pt x="78010" y="24479"/>
                    <a:pt x="143828" y="24479"/>
                  </a:cubicBezTo>
                  <a:cubicBezTo>
                    <a:pt x="209645" y="24479"/>
                    <a:pt x="263176" y="78010"/>
                    <a:pt x="263176" y="1438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6D7D89F-057B-45DE-8B19-D10E6C4307DA}"/>
                </a:ext>
              </a:extLst>
            </p:cNvPr>
            <p:cNvSpPr/>
            <p:nvPr/>
          </p:nvSpPr>
          <p:spPr>
            <a:xfrm>
              <a:off x="-585640" y="2808417"/>
              <a:ext cx="114300" cy="200025"/>
            </a:xfrm>
            <a:custGeom>
              <a:avLst/>
              <a:gdLst>
                <a:gd name="connsiteX0" fmla="*/ 39948 w 114300"/>
                <a:gd name="connsiteY0" fmla="*/ 16002 h 200025"/>
                <a:gd name="connsiteX1" fmla="*/ 39948 w 114300"/>
                <a:gd name="connsiteY1" fmla="*/ 30671 h 200025"/>
                <a:gd name="connsiteX2" fmla="*/ 21660 w 114300"/>
                <a:gd name="connsiteY2" fmla="*/ 42672 h 200025"/>
                <a:gd name="connsiteX3" fmla="*/ 9849 w 114300"/>
                <a:gd name="connsiteY3" fmla="*/ 72962 h 200025"/>
                <a:gd name="connsiteX4" fmla="*/ 13278 w 114300"/>
                <a:gd name="connsiteY4" fmla="*/ 89916 h 200025"/>
                <a:gd name="connsiteX5" fmla="*/ 29089 w 114300"/>
                <a:gd name="connsiteY5" fmla="*/ 108585 h 200025"/>
                <a:gd name="connsiteX6" fmla="*/ 51283 w 114300"/>
                <a:gd name="connsiteY6" fmla="*/ 119920 h 200025"/>
                <a:gd name="connsiteX7" fmla="*/ 63475 w 114300"/>
                <a:gd name="connsiteY7" fmla="*/ 126873 h 200025"/>
                <a:gd name="connsiteX8" fmla="*/ 64903 w 114300"/>
                <a:gd name="connsiteY8" fmla="*/ 128873 h 200025"/>
                <a:gd name="connsiteX9" fmla="*/ 65284 w 114300"/>
                <a:gd name="connsiteY9" fmla="*/ 131064 h 200025"/>
                <a:gd name="connsiteX10" fmla="*/ 63570 w 114300"/>
                <a:gd name="connsiteY10" fmla="*/ 134779 h 200025"/>
                <a:gd name="connsiteX11" fmla="*/ 54997 w 114300"/>
                <a:gd name="connsiteY11" fmla="*/ 137160 h 200025"/>
                <a:gd name="connsiteX12" fmla="*/ 33852 w 114300"/>
                <a:gd name="connsiteY12" fmla="*/ 130873 h 200025"/>
                <a:gd name="connsiteX13" fmla="*/ 28708 w 114300"/>
                <a:gd name="connsiteY13" fmla="*/ 127445 h 200025"/>
                <a:gd name="connsiteX14" fmla="*/ 21184 w 114300"/>
                <a:gd name="connsiteY14" fmla="*/ 126397 h 200025"/>
                <a:gd name="connsiteX15" fmla="*/ 15754 w 114300"/>
                <a:gd name="connsiteY15" fmla="*/ 131731 h 200025"/>
                <a:gd name="connsiteX16" fmla="*/ 7658 w 114300"/>
                <a:gd name="connsiteY16" fmla="*/ 154305 h 200025"/>
                <a:gd name="connsiteX17" fmla="*/ 10801 w 114300"/>
                <a:gd name="connsiteY17" fmla="*/ 164306 h 200025"/>
                <a:gd name="connsiteX18" fmla="*/ 13754 w 114300"/>
                <a:gd name="connsiteY18" fmla="*/ 166402 h 200025"/>
                <a:gd name="connsiteX19" fmla="*/ 31280 w 114300"/>
                <a:gd name="connsiteY19" fmla="*/ 174498 h 200025"/>
                <a:gd name="connsiteX20" fmla="*/ 38519 w 114300"/>
                <a:gd name="connsiteY20" fmla="*/ 176213 h 200025"/>
                <a:gd name="connsiteX21" fmla="*/ 38519 w 114300"/>
                <a:gd name="connsiteY21" fmla="*/ 189071 h 200025"/>
                <a:gd name="connsiteX22" fmla="*/ 47187 w 114300"/>
                <a:gd name="connsiteY22" fmla="*/ 197739 h 200025"/>
                <a:gd name="connsiteX23" fmla="*/ 69380 w 114300"/>
                <a:gd name="connsiteY23" fmla="*/ 197739 h 200025"/>
                <a:gd name="connsiteX24" fmla="*/ 78048 w 114300"/>
                <a:gd name="connsiteY24" fmla="*/ 189071 h 200025"/>
                <a:gd name="connsiteX25" fmla="*/ 78048 w 114300"/>
                <a:gd name="connsiteY25" fmla="*/ 173831 h 200025"/>
                <a:gd name="connsiteX26" fmla="*/ 98146 w 114300"/>
                <a:gd name="connsiteY26" fmla="*/ 160115 h 200025"/>
                <a:gd name="connsiteX27" fmla="*/ 109480 w 114300"/>
                <a:gd name="connsiteY27" fmla="*/ 129730 h 200025"/>
                <a:gd name="connsiteX28" fmla="*/ 106718 w 114300"/>
                <a:gd name="connsiteY28" fmla="*/ 113157 h 200025"/>
                <a:gd name="connsiteX29" fmla="*/ 92431 w 114300"/>
                <a:gd name="connsiteY29" fmla="*/ 93345 h 200025"/>
                <a:gd name="connsiteX30" fmla="*/ 70618 w 114300"/>
                <a:gd name="connsiteY30" fmla="*/ 80963 h 200025"/>
                <a:gd name="connsiteX31" fmla="*/ 69761 w 114300"/>
                <a:gd name="connsiteY31" fmla="*/ 80581 h 200025"/>
                <a:gd name="connsiteX32" fmla="*/ 55093 w 114300"/>
                <a:gd name="connsiteY32" fmla="*/ 72962 h 200025"/>
                <a:gd name="connsiteX33" fmla="*/ 53950 w 114300"/>
                <a:gd name="connsiteY33" fmla="*/ 71723 h 200025"/>
                <a:gd name="connsiteX34" fmla="*/ 53854 w 114300"/>
                <a:gd name="connsiteY34" fmla="*/ 70580 h 200025"/>
                <a:gd name="connsiteX35" fmla="*/ 54616 w 114300"/>
                <a:gd name="connsiteY35" fmla="*/ 68675 h 200025"/>
                <a:gd name="connsiteX36" fmla="*/ 61570 w 114300"/>
                <a:gd name="connsiteY36" fmla="*/ 66866 h 200025"/>
                <a:gd name="connsiteX37" fmla="*/ 73095 w 114300"/>
                <a:gd name="connsiteY37" fmla="*/ 68675 h 200025"/>
                <a:gd name="connsiteX38" fmla="*/ 80048 w 114300"/>
                <a:gd name="connsiteY38" fmla="*/ 71819 h 200025"/>
                <a:gd name="connsiteX39" fmla="*/ 84906 w 114300"/>
                <a:gd name="connsiteY39" fmla="*/ 74581 h 200025"/>
                <a:gd name="connsiteX40" fmla="*/ 92145 w 114300"/>
                <a:gd name="connsiteY40" fmla="*/ 75248 h 200025"/>
                <a:gd name="connsiteX41" fmla="*/ 97288 w 114300"/>
                <a:gd name="connsiteY41" fmla="*/ 70199 h 200025"/>
                <a:gd name="connsiteX42" fmla="*/ 105670 w 114300"/>
                <a:gd name="connsiteY42" fmla="*/ 48006 h 200025"/>
                <a:gd name="connsiteX43" fmla="*/ 101956 w 114300"/>
                <a:gd name="connsiteY43" fmla="*/ 37433 h 200025"/>
                <a:gd name="connsiteX44" fmla="*/ 98431 w 114300"/>
                <a:gd name="connsiteY44" fmla="*/ 35338 h 200025"/>
                <a:gd name="connsiteX45" fmla="*/ 79191 w 114300"/>
                <a:gd name="connsiteY45" fmla="*/ 28003 h 200025"/>
                <a:gd name="connsiteX46" fmla="*/ 79191 w 114300"/>
                <a:gd name="connsiteY46" fmla="*/ 15811 h 200025"/>
                <a:gd name="connsiteX47" fmla="*/ 70523 w 114300"/>
                <a:gd name="connsiteY47" fmla="*/ 7144 h 200025"/>
                <a:gd name="connsiteX48" fmla="*/ 48616 w 114300"/>
                <a:gd name="connsiteY48" fmla="*/ 7144 h 200025"/>
                <a:gd name="connsiteX49" fmla="*/ 39948 w 114300"/>
                <a:gd name="connsiteY49" fmla="*/ 15811 h 200025"/>
                <a:gd name="connsiteX50" fmla="*/ 57283 w 114300"/>
                <a:gd name="connsiteY50" fmla="*/ 37052 h 200025"/>
                <a:gd name="connsiteX51" fmla="*/ 57283 w 114300"/>
                <a:gd name="connsiteY51" fmla="*/ 24670 h 200025"/>
                <a:gd name="connsiteX52" fmla="*/ 61951 w 114300"/>
                <a:gd name="connsiteY52" fmla="*/ 24670 h 200025"/>
                <a:gd name="connsiteX53" fmla="*/ 61951 w 114300"/>
                <a:gd name="connsiteY53" fmla="*/ 35623 h 200025"/>
                <a:gd name="connsiteX54" fmla="*/ 69761 w 114300"/>
                <a:gd name="connsiteY54" fmla="*/ 44291 h 200025"/>
                <a:gd name="connsiteX55" fmla="*/ 86906 w 114300"/>
                <a:gd name="connsiteY55" fmla="*/ 48958 h 200025"/>
                <a:gd name="connsiteX56" fmla="*/ 84715 w 114300"/>
                <a:gd name="connsiteY56" fmla="*/ 54864 h 200025"/>
                <a:gd name="connsiteX57" fmla="*/ 78715 w 114300"/>
                <a:gd name="connsiteY57" fmla="*/ 52388 h 200025"/>
                <a:gd name="connsiteX58" fmla="*/ 61665 w 114300"/>
                <a:gd name="connsiteY58" fmla="*/ 49721 h 200025"/>
                <a:gd name="connsiteX59" fmla="*/ 42710 w 114300"/>
                <a:gd name="connsiteY59" fmla="*/ 56388 h 200025"/>
                <a:gd name="connsiteX60" fmla="*/ 36709 w 114300"/>
                <a:gd name="connsiteY60" fmla="*/ 70675 h 200025"/>
                <a:gd name="connsiteX61" fmla="*/ 38519 w 114300"/>
                <a:gd name="connsiteY61" fmla="*/ 79248 h 200025"/>
                <a:gd name="connsiteX62" fmla="*/ 43853 w 114300"/>
                <a:gd name="connsiteY62" fmla="*/ 86106 h 200025"/>
                <a:gd name="connsiteX63" fmla="*/ 63760 w 114300"/>
                <a:gd name="connsiteY63" fmla="*/ 96965 h 200025"/>
                <a:gd name="connsiteX64" fmla="*/ 63760 w 114300"/>
                <a:gd name="connsiteY64" fmla="*/ 96965 h 200025"/>
                <a:gd name="connsiteX65" fmla="*/ 81572 w 114300"/>
                <a:gd name="connsiteY65" fmla="*/ 106871 h 200025"/>
                <a:gd name="connsiteX66" fmla="*/ 90526 w 114300"/>
                <a:gd name="connsiteY66" fmla="*/ 119158 h 200025"/>
                <a:gd name="connsiteX67" fmla="*/ 92240 w 114300"/>
                <a:gd name="connsiteY67" fmla="*/ 129826 h 200025"/>
                <a:gd name="connsiteX68" fmla="*/ 85192 w 114300"/>
                <a:gd name="connsiteY68" fmla="*/ 148876 h 200025"/>
                <a:gd name="connsiteX69" fmla="*/ 85192 w 114300"/>
                <a:gd name="connsiteY69" fmla="*/ 148876 h 200025"/>
                <a:gd name="connsiteX70" fmla="*/ 67475 w 114300"/>
                <a:gd name="connsiteY70" fmla="*/ 159163 h 200025"/>
                <a:gd name="connsiteX71" fmla="*/ 60903 w 114300"/>
                <a:gd name="connsiteY71" fmla="*/ 167545 h 200025"/>
                <a:gd name="connsiteX72" fmla="*/ 60903 w 114300"/>
                <a:gd name="connsiteY72" fmla="*/ 180499 h 200025"/>
                <a:gd name="connsiteX73" fmla="*/ 56045 w 114300"/>
                <a:gd name="connsiteY73" fmla="*/ 180499 h 200025"/>
                <a:gd name="connsiteX74" fmla="*/ 56045 w 114300"/>
                <a:gd name="connsiteY74" fmla="*/ 168783 h 200025"/>
                <a:gd name="connsiteX75" fmla="*/ 48139 w 114300"/>
                <a:gd name="connsiteY75" fmla="*/ 160115 h 200025"/>
                <a:gd name="connsiteX76" fmla="*/ 36328 w 114300"/>
                <a:gd name="connsiteY76" fmla="*/ 157924 h 200025"/>
                <a:gd name="connsiteX77" fmla="*/ 26422 w 114300"/>
                <a:gd name="connsiteY77" fmla="*/ 153829 h 200025"/>
                <a:gd name="connsiteX78" fmla="*/ 28613 w 114300"/>
                <a:gd name="connsiteY78" fmla="*/ 147828 h 200025"/>
                <a:gd name="connsiteX79" fmla="*/ 55093 w 114300"/>
                <a:gd name="connsiteY79" fmla="*/ 154496 h 200025"/>
                <a:gd name="connsiteX80" fmla="*/ 74905 w 114300"/>
                <a:gd name="connsiteY80" fmla="*/ 148019 h 200025"/>
                <a:gd name="connsiteX81" fmla="*/ 82810 w 114300"/>
                <a:gd name="connsiteY81" fmla="*/ 131064 h 200025"/>
                <a:gd name="connsiteX82" fmla="*/ 81001 w 114300"/>
                <a:gd name="connsiteY82" fmla="*/ 122111 h 200025"/>
                <a:gd name="connsiteX83" fmla="*/ 75952 w 114300"/>
                <a:gd name="connsiteY83" fmla="*/ 114681 h 200025"/>
                <a:gd name="connsiteX84" fmla="*/ 57855 w 114300"/>
                <a:gd name="connsiteY84" fmla="*/ 103823 h 200025"/>
                <a:gd name="connsiteX85" fmla="*/ 39376 w 114300"/>
                <a:gd name="connsiteY85" fmla="*/ 94488 h 200025"/>
                <a:gd name="connsiteX86" fmla="*/ 29375 w 114300"/>
                <a:gd name="connsiteY86" fmla="*/ 83058 h 200025"/>
                <a:gd name="connsiteX87" fmla="*/ 27375 w 114300"/>
                <a:gd name="connsiteY87" fmla="*/ 73057 h 200025"/>
                <a:gd name="connsiteX88" fmla="*/ 34519 w 114300"/>
                <a:gd name="connsiteY88" fmla="*/ 54578 h 200025"/>
                <a:gd name="connsiteX89" fmla="*/ 50806 w 114300"/>
                <a:gd name="connsiteY89" fmla="*/ 45529 h 200025"/>
                <a:gd name="connsiteX90" fmla="*/ 57474 w 114300"/>
                <a:gd name="connsiteY90" fmla="*/ 37148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114300" h="200025">
                  <a:moveTo>
                    <a:pt x="39948" y="16002"/>
                  </a:moveTo>
                  <a:lnTo>
                    <a:pt x="39948" y="30671"/>
                  </a:lnTo>
                  <a:cubicBezTo>
                    <a:pt x="32804" y="33338"/>
                    <a:pt x="26613" y="37433"/>
                    <a:pt x="21660" y="42672"/>
                  </a:cubicBezTo>
                  <a:cubicBezTo>
                    <a:pt x="14040" y="50768"/>
                    <a:pt x="9849" y="61531"/>
                    <a:pt x="9849" y="72962"/>
                  </a:cubicBezTo>
                  <a:cubicBezTo>
                    <a:pt x="9849" y="79057"/>
                    <a:pt x="10992" y="84773"/>
                    <a:pt x="13278" y="89916"/>
                  </a:cubicBezTo>
                  <a:cubicBezTo>
                    <a:pt x="16421" y="97060"/>
                    <a:pt x="21660" y="103251"/>
                    <a:pt x="29089" y="108585"/>
                  </a:cubicBezTo>
                  <a:cubicBezTo>
                    <a:pt x="34804" y="112586"/>
                    <a:pt x="41853" y="116300"/>
                    <a:pt x="51283" y="119920"/>
                  </a:cubicBezTo>
                  <a:cubicBezTo>
                    <a:pt x="58998" y="123063"/>
                    <a:pt x="62236" y="125635"/>
                    <a:pt x="63475" y="126873"/>
                  </a:cubicBezTo>
                  <a:cubicBezTo>
                    <a:pt x="64427" y="127825"/>
                    <a:pt x="64713" y="128492"/>
                    <a:pt x="64903" y="128873"/>
                  </a:cubicBezTo>
                  <a:cubicBezTo>
                    <a:pt x="65094" y="129349"/>
                    <a:pt x="65284" y="129921"/>
                    <a:pt x="65284" y="131064"/>
                  </a:cubicBezTo>
                  <a:cubicBezTo>
                    <a:pt x="65284" y="132778"/>
                    <a:pt x="64808" y="133826"/>
                    <a:pt x="63570" y="134779"/>
                  </a:cubicBezTo>
                  <a:cubicBezTo>
                    <a:pt x="61760" y="136303"/>
                    <a:pt x="58617" y="137160"/>
                    <a:pt x="54997" y="137160"/>
                  </a:cubicBezTo>
                  <a:cubicBezTo>
                    <a:pt x="46425" y="137541"/>
                    <a:pt x="38424" y="133922"/>
                    <a:pt x="33852" y="130873"/>
                  </a:cubicBezTo>
                  <a:lnTo>
                    <a:pt x="28708" y="127445"/>
                  </a:lnTo>
                  <a:cubicBezTo>
                    <a:pt x="26518" y="126016"/>
                    <a:pt x="23755" y="125635"/>
                    <a:pt x="21184" y="126397"/>
                  </a:cubicBezTo>
                  <a:cubicBezTo>
                    <a:pt x="18612" y="127254"/>
                    <a:pt x="16612" y="129159"/>
                    <a:pt x="15754" y="131731"/>
                  </a:cubicBezTo>
                  <a:lnTo>
                    <a:pt x="7658" y="154305"/>
                  </a:lnTo>
                  <a:cubicBezTo>
                    <a:pt x="6325" y="157924"/>
                    <a:pt x="7658" y="162020"/>
                    <a:pt x="10801" y="164306"/>
                  </a:cubicBezTo>
                  <a:lnTo>
                    <a:pt x="13754" y="166402"/>
                  </a:lnTo>
                  <a:cubicBezTo>
                    <a:pt x="18517" y="169831"/>
                    <a:pt x="24422" y="172498"/>
                    <a:pt x="31280" y="174498"/>
                  </a:cubicBezTo>
                  <a:cubicBezTo>
                    <a:pt x="33661" y="175165"/>
                    <a:pt x="36043" y="175736"/>
                    <a:pt x="38519" y="176213"/>
                  </a:cubicBezTo>
                  <a:lnTo>
                    <a:pt x="38519" y="189071"/>
                  </a:lnTo>
                  <a:cubicBezTo>
                    <a:pt x="38519" y="193834"/>
                    <a:pt x="42424" y="197739"/>
                    <a:pt x="47187" y="197739"/>
                  </a:cubicBezTo>
                  <a:lnTo>
                    <a:pt x="69380" y="197739"/>
                  </a:lnTo>
                  <a:cubicBezTo>
                    <a:pt x="74143" y="197739"/>
                    <a:pt x="78048" y="193834"/>
                    <a:pt x="78048" y="189071"/>
                  </a:cubicBezTo>
                  <a:lnTo>
                    <a:pt x="78048" y="173831"/>
                  </a:lnTo>
                  <a:cubicBezTo>
                    <a:pt x="86049" y="170783"/>
                    <a:pt x="92907" y="166116"/>
                    <a:pt x="98146" y="160115"/>
                  </a:cubicBezTo>
                  <a:cubicBezTo>
                    <a:pt x="105480" y="151733"/>
                    <a:pt x="109480" y="140970"/>
                    <a:pt x="109480" y="129730"/>
                  </a:cubicBezTo>
                  <a:cubicBezTo>
                    <a:pt x="109480" y="123825"/>
                    <a:pt x="108528" y="118205"/>
                    <a:pt x="106718" y="113157"/>
                  </a:cubicBezTo>
                  <a:cubicBezTo>
                    <a:pt x="104051" y="105632"/>
                    <a:pt x="99193" y="98965"/>
                    <a:pt x="92431" y="93345"/>
                  </a:cubicBezTo>
                  <a:cubicBezTo>
                    <a:pt x="86811" y="88678"/>
                    <a:pt x="79858" y="84773"/>
                    <a:pt x="70618" y="80963"/>
                  </a:cubicBezTo>
                  <a:cubicBezTo>
                    <a:pt x="70333" y="80867"/>
                    <a:pt x="70047" y="80677"/>
                    <a:pt x="69761" y="80581"/>
                  </a:cubicBezTo>
                  <a:cubicBezTo>
                    <a:pt x="60427" y="76772"/>
                    <a:pt x="56712" y="74295"/>
                    <a:pt x="55093" y="72962"/>
                  </a:cubicBezTo>
                  <a:cubicBezTo>
                    <a:pt x="54521" y="72485"/>
                    <a:pt x="54140" y="72009"/>
                    <a:pt x="53950" y="71723"/>
                  </a:cubicBezTo>
                  <a:cubicBezTo>
                    <a:pt x="53950" y="71723"/>
                    <a:pt x="53854" y="71342"/>
                    <a:pt x="53854" y="70580"/>
                  </a:cubicBezTo>
                  <a:cubicBezTo>
                    <a:pt x="53854" y="70009"/>
                    <a:pt x="53950" y="69247"/>
                    <a:pt x="54616" y="68675"/>
                  </a:cubicBezTo>
                  <a:cubicBezTo>
                    <a:pt x="55759" y="67532"/>
                    <a:pt x="58236" y="66961"/>
                    <a:pt x="61570" y="66866"/>
                  </a:cubicBezTo>
                  <a:cubicBezTo>
                    <a:pt x="65665" y="66866"/>
                    <a:pt x="69475" y="67437"/>
                    <a:pt x="73095" y="68675"/>
                  </a:cubicBezTo>
                  <a:cubicBezTo>
                    <a:pt x="76048" y="69628"/>
                    <a:pt x="78238" y="70866"/>
                    <a:pt x="80048" y="71819"/>
                  </a:cubicBezTo>
                  <a:lnTo>
                    <a:pt x="84906" y="74581"/>
                  </a:lnTo>
                  <a:cubicBezTo>
                    <a:pt x="87097" y="75819"/>
                    <a:pt x="89764" y="76105"/>
                    <a:pt x="92145" y="75248"/>
                  </a:cubicBezTo>
                  <a:cubicBezTo>
                    <a:pt x="94526" y="74390"/>
                    <a:pt x="96431" y="72485"/>
                    <a:pt x="97288" y="70199"/>
                  </a:cubicBezTo>
                  <a:lnTo>
                    <a:pt x="105670" y="48006"/>
                  </a:lnTo>
                  <a:cubicBezTo>
                    <a:pt x="107194" y="44101"/>
                    <a:pt x="105670" y="39624"/>
                    <a:pt x="101956" y="37433"/>
                  </a:cubicBezTo>
                  <a:lnTo>
                    <a:pt x="98431" y="35338"/>
                  </a:lnTo>
                  <a:cubicBezTo>
                    <a:pt x="92621" y="31909"/>
                    <a:pt x="86144" y="29527"/>
                    <a:pt x="79191" y="28003"/>
                  </a:cubicBezTo>
                  <a:lnTo>
                    <a:pt x="79191" y="15811"/>
                  </a:lnTo>
                  <a:cubicBezTo>
                    <a:pt x="79191" y="11049"/>
                    <a:pt x="75286" y="7144"/>
                    <a:pt x="70523" y="7144"/>
                  </a:cubicBezTo>
                  <a:lnTo>
                    <a:pt x="48616" y="7144"/>
                  </a:lnTo>
                  <a:cubicBezTo>
                    <a:pt x="43853" y="7144"/>
                    <a:pt x="39948" y="11049"/>
                    <a:pt x="39948" y="15811"/>
                  </a:cubicBezTo>
                  <a:close/>
                  <a:moveTo>
                    <a:pt x="57283" y="37052"/>
                  </a:moveTo>
                  <a:lnTo>
                    <a:pt x="57283" y="24670"/>
                  </a:lnTo>
                  <a:lnTo>
                    <a:pt x="61951" y="24670"/>
                  </a:lnTo>
                  <a:lnTo>
                    <a:pt x="61951" y="35623"/>
                  </a:lnTo>
                  <a:cubicBezTo>
                    <a:pt x="61951" y="40100"/>
                    <a:pt x="65284" y="43815"/>
                    <a:pt x="69761" y="44291"/>
                  </a:cubicBezTo>
                  <a:cubicBezTo>
                    <a:pt x="76048" y="44863"/>
                    <a:pt x="81763" y="46482"/>
                    <a:pt x="86906" y="48958"/>
                  </a:cubicBezTo>
                  <a:lnTo>
                    <a:pt x="84715" y="54864"/>
                  </a:lnTo>
                  <a:cubicBezTo>
                    <a:pt x="82906" y="54007"/>
                    <a:pt x="81001" y="53149"/>
                    <a:pt x="78715" y="52388"/>
                  </a:cubicBezTo>
                  <a:cubicBezTo>
                    <a:pt x="73381" y="50578"/>
                    <a:pt x="67666" y="49721"/>
                    <a:pt x="61665" y="49721"/>
                  </a:cubicBezTo>
                  <a:cubicBezTo>
                    <a:pt x="53664" y="49721"/>
                    <a:pt x="47282" y="52006"/>
                    <a:pt x="42710" y="56388"/>
                  </a:cubicBezTo>
                  <a:cubicBezTo>
                    <a:pt x="38900" y="60103"/>
                    <a:pt x="36709" y="65246"/>
                    <a:pt x="36709" y="70675"/>
                  </a:cubicBezTo>
                  <a:cubicBezTo>
                    <a:pt x="36709" y="74009"/>
                    <a:pt x="37281" y="76676"/>
                    <a:pt x="38519" y="79248"/>
                  </a:cubicBezTo>
                  <a:cubicBezTo>
                    <a:pt x="39662" y="81820"/>
                    <a:pt x="41377" y="84011"/>
                    <a:pt x="43853" y="86106"/>
                  </a:cubicBezTo>
                  <a:cubicBezTo>
                    <a:pt x="47758" y="89535"/>
                    <a:pt x="53854" y="92869"/>
                    <a:pt x="63760" y="96965"/>
                  </a:cubicBezTo>
                  <a:lnTo>
                    <a:pt x="63760" y="96965"/>
                  </a:lnTo>
                  <a:cubicBezTo>
                    <a:pt x="71571" y="100203"/>
                    <a:pt x="77191" y="103346"/>
                    <a:pt x="81572" y="106871"/>
                  </a:cubicBezTo>
                  <a:cubicBezTo>
                    <a:pt x="85858" y="110395"/>
                    <a:pt x="88906" y="114491"/>
                    <a:pt x="90526" y="119158"/>
                  </a:cubicBezTo>
                  <a:cubicBezTo>
                    <a:pt x="91669" y="122301"/>
                    <a:pt x="92240" y="125921"/>
                    <a:pt x="92240" y="129826"/>
                  </a:cubicBezTo>
                  <a:cubicBezTo>
                    <a:pt x="92240" y="136874"/>
                    <a:pt x="89764" y="143637"/>
                    <a:pt x="85192" y="148876"/>
                  </a:cubicBezTo>
                  <a:cubicBezTo>
                    <a:pt x="85192" y="148876"/>
                    <a:pt x="85192" y="148876"/>
                    <a:pt x="85192" y="148876"/>
                  </a:cubicBezTo>
                  <a:cubicBezTo>
                    <a:pt x="80905" y="153829"/>
                    <a:pt x="74714" y="157448"/>
                    <a:pt x="67475" y="159163"/>
                  </a:cubicBezTo>
                  <a:cubicBezTo>
                    <a:pt x="63570" y="160115"/>
                    <a:pt x="60903" y="163544"/>
                    <a:pt x="60903" y="167545"/>
                  </a:cubicBezTo>
                  <a:lnTo>
                    <a:pt x="60903" y="180499"/>
                  </a:lnTo>
                  <a:lnTo>
                    <a:pt x="56045" y="180499"/>
                  </a:lnTo>
                  <a:lnTo>
                    <a:pt x="56045" y="168783"/>
                  </a:lnTo>
                  <a:cubicBezTo>
                    <a:pt x="56045" y="164306"/>
                    <a:pt x="52616" y="160592"/>
                    <a:pt x="48139" y="160115"/>
                  </a:cubicBezTo>
                  <a:cubicBezTo>
                    <a:pt x="44139" y="159734"/>
                    <a:pt x="40138" y="158972"/>
                    <a:pt x="36328" y="157924"/>
                  </a:cubicBezTo>
                  <a:cubicBezTo>
                    <a:pt x="32518" y="156877"/>
                    <a:pt x="29185" y="155448"/>
                    <a:pt x="26422" y="153829"/>
                  </a:cubicBezTo>
                  <a:lnTo>
                    <a:pt x="28613" y="147828"/>
                  </a:lnTo>
                  <a:cubicBezTo>
                    <a:pt x="36614" y="152114"/>
                    <a:pt x="46139" y="154496"/>
                    <a:pt x="55093" y="154496"/>
                  </a:cubicBezTo>
                  <a:cubicBezTo>
                    <a:pt x="63094" y="154686"/>
                    <a:pt x="69856" y="152305"/>
                    <a:pt x="74905" y="148019"/>
                  </a:cubicBezTo>
                  <a:cubicBezTo>
                    <a:pt x="79953" y="143732"/>
                    <a:pt x="82715" y="137922"/>
                    <a:pt x="82810" y="131064"/>
                  </a:cubicBezTo>
                  <a:cubicBezTo>
                    <a:pt x="82810" y="127730"/>
                    <a:pt x="82239" y="124873"/>
                    <a:pt x="81001" y="122111"/>
                  </a:cubicBezTo>
                  <a:cubicBezTo>
                    <a:pt x="79858" y="119444"/>
                    <a:pt x="78238" y="116967"/>
                    <a:pt x="75952" y="114681"/>
                  </a:cubicBezTo>
                  <a:cubicBezTo>
                    <a:pt x="72047" y="110680"/>
                    <a:pt x="66046" y="107156"/>
                    <a:pt x="57855" y="103823"/>
                  </a:cubicBezTo>
                  <a:cubicBezTo>
                    <a:pt x="49759" y="100679"/>
                    <a:pt x="43853" y="97631"/>
                    <a:pt x="39376" y="94488"/>
                  </a:cubicBezTo>
                  <a:cubicBezTo>
                    <a:pt x="34519" y="91059"/>
                    <a:pt x="31280" y="87249"/>
                    <a:pt x="29375" y="83058"/>
                  </a:cubicBezTo>
                  <a:cubicBezTo>
                    <a:pt x="28042" y="80105"/>
                    <a:pt x="27375" y="76676"/>
                    <a:pt x="27375" y="73057"/>
                  </a:cubicBezTo>
                  <a:cubicBezTo>
                    <a:pt x="27375" y="66008"/>
                    <a:pt x="29851" y="59531"/>
                    <a:pt x="34519" y="54578"/>
                  </a:cubicBezTo>
                  <a:cubicBezTo>
                    <a:pt x="38614" y="50292"/>
                    <a:pt x="44234" y="47149"/>
                    <a:pt x="50806" y="45529"/>
                  </a:cubicBezTo>
                  <a:cubicBezTo>
                    <a:pt x="54712" y="44577"/>
                    <a:pt x="57474" y="41148"/>
                    <a:pt x="57474" y="371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2225D51-1EC7-4882-883C-8D3B122F8F83}"/>
              </a:ext>
            </a:extLst>
          </p:cNvPr>
          <p:cNvGrpSpPr/>
          <p:nvPr/>
        </p:nvGrpSpPr>
        <p:grpSpPr>
          <a:xfrm>
            <a:off x="1923570" y="2118089"/>
            <a:ext cx="231965" cy="220287"/>
            <a:chOff x="-1369962" y="1790812"/>
            <a:chExt cx="2495550" cy="236991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2B1D84F-B80E-4B1C-B6DA-4EB8A6384852}"/>
                </a:ext>
              </a:extLst>
            </p:cNvPr>
            <p:cNvSpPr/>
            <p:nvPr/>
          </p:nvSpPr>
          <p:spPr>
            <a:xfrm>
              <a:off x="-1301953" y="2448608"/>
              <a:ext cx="2343150" cy="257175"/>
            </a:xfrm>
            <a:custGeom>
              <a:avLst/>
              <a:gdLst>
                <a:gd name="connsiteX0" fmla="*/ 128587 w 2343150"/>
                <a:gd name="connsiteY0" fmla="*/ 128587 h 257175"/>
                <a:gd name="connsiteX1" fmla="*/ 2218754 w 2343150"/>
                <a:gd name="connsiteY1" fmla="*/ 128587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3150" h="257175">
                  <a:moveTo>
                    <a:pt x="128587" y="128587"/>
                  </a:moveTo>
                  <a:lnTo>
                    <a:pt x="2218754" y="128587"/>
                  </a:lnTo>
                </a:path>
              </a:pathLst>
            </a:custGeom>
            <a:ln w="12700" cap="flat">
              <a:solidFill>
                <a:srgbClr val="00A3E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7BA0782-91BA-40E4-A6DA-6F99ECD19913}"/>
                </a:ext>
              </a:extLst>
            </p:cNvPr>
            <p:cNvSpPr/>
            <p:nvPr/>
          </p:nvSpPr>
          <p:spPr>
            <a:xfrm>
              <a:off x="-729882" y="3903552"/>
              <a:ext cx="1209675" cy="257175"/>
            </a:xfrm>
            <a:custGeom>
              <a:avLst/>
              <a:gdLst>
                <a:gd name="connsiteX0" fmla="*/ 128587 w 1209675"/>
                <a:gd name="connsiteY0" fmla="*/ 128587 h 257175"/>
                <a:gd name="connsiteX1" fmla="*/ 1090517 w 1209675"/>
                <a:gd name="connsiteY1" fmla="*/ 128587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09675" h="257175">
                  <a:moveTo>
                    <a:pt x="128587" y="128587"/>
                  </a:moveTo>
                  <a:lnTo>
                    <a:pt x="1090517" y="128587"/>
                  </a:lnTo>
                </a:path>
              </a:pathLst>
            </a:custGeom>
            <a:ln w="12700" cap="rnd">
              <a:solidFill>
                <a:srgbClr val="00A3E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282E0EC-BEF6-421A-92A8-54EE4BC0935F}"/>
                </a:ext>
              </a:extLst>
            </p:cNvPr>
            <p:cNvSpPr/>
            <p:nvPr/>
          </p:nvSpPr>
          <p:spPr>
            <a:xfrm>
              <a:off x="-407079" y="3126502"/>
              <a:ext cx="257175" cy="1000125"/>
            </a:xfrm>
            <a:custGeom>
              <a:avLst/>
              <a:gdLst>
                <a:gd name="connsiteX0" fmla="*/ 128587 w 257175"/>
                <a:gd name="connsiteY0" fmla="*/ 871919 h 1000125"/>
                <a:gd name="connsiteX1" fmla="*/ 128587 w 257175"/>
                <a:gd name="connsiteY1" fmla="*/ 128587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7175" h="1000125">
                  <a:moveTo>
                    <a:pt x="128587" y="871919"/>
                  </a:moveTo>
                  <a:lnTo>
                    <a:pt x="128587" y="128587"/>
                  </a:lnTo>
                </a:path>
              </a:pathLst>
            </a:custGeom>
            <a:ln w="12700" cap="flat">
              <a:solidFill>
                <a:srgbClr val="00A3E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032E7B3-B0D3-44CC-A577-77F47B371BB2}"/>
                </a:ext>
              </a:extLst>
            </p:cNvPr>
            <p:cNvSpPr/>
            <p:nvPr/>
          </p:nvSpPr>
          <p:spPr>
            <a:xfrm>
              <a:off x="-1369962" y="1790812"/>
              <a:ext cx="2495550" cy="1543050"/>
            </a:xfrm>
            <a:custGeom>
              <a:avLst/>
              <a:gdLst>
                <a:gd name="connsiteX0" fmla="*/ 469392 w 2495550"/>
                <a:gd name="connsiteY0" fmla="*/ 128588 h 1543050"/>
                <a:gd name="connsiteX1" fmla="*/ 2042446 w 2495550"/>
                <a:gd name="connsiteY1" fmla="*/ 128588 h 1543050"/>
                <a:gd name="connsiteX2" fmla="*/ 2272379 w 2495550"/>
                <a:gd name="connsiteY2" fmla="*/ 332327 h 1543050"/>
                <a:gd name="connsiteX3" fmla="*/ 2374583 w 2495550"/>
                <a:gd name="connsiteY3" fmla="*/ 1159859 h 1543050"/>
                <a:gd name="connsiteX4" fmla="*/ 2173034 w 2495550"/>
                <a:gd name="connsiteY4" fmla="*/ 1418368 h 1543050"/>
                <a:gd name="connsiteX5" fmla="*/ 2144459 w 2495550"/>
                <a:gd name="connsiteY5" fmla="*/ 1420082 h 1543050"/>
                <a:gd name="connsiteX6" fmla="*/ 360521 w 2495550"/>
                <a:gd name="connsiteY6" fmla="*/ 1420082 h 1543050"/>
                <a:gd name="connsiteX7" fmla="*/ 128588 w 2495550"/>
                <a:gd name="connsiteY7" fmla="*/ 1188339 h 1543050"/>
                <a:gd name="connsiteX8" fmla="*/ 130588 w 2495550"/>
                <a:gd name="connsiteY8" fmla="*/ 1158050 h 1543050"/>
                <a:gd name="connsiteX9" fmla="*/ 239459 w 2495550"/>
                <a:gd name="connsiteY9" fmla="*/ 330518 h 1543050"/>
                <a:gd name="connsiteX10" fmla="*/ 469392 w 2495550"/>
                <a:gd name="connsiteY10" fmla="*/ 128588 h 154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5550" h="1543050">
                  <a:moveTo>
                    <a:pt x="469392" y="128588"/>
                  </a:moveTo>
                  <a:lnTo>
                    <a:pt x="2042446" y="128588"/>
                  </a:lnTo>
                  <a:cubicBezTo>
                    <a:pt x="2159508" y="128683"/>
                    <a:pt x="2258187" y="216122"/>
                    <a:pt x="2272379" y="332327"/>
                  </a:cubicBezTo>
                  <a:lnTo>
                    <a:pt x="2374583" y="1159859"/>
                  </a:lnTo>
                  <a:cubicBezTo>
                    <a:pt x="2390299" y="1286923"/>
                    <a:pt x="2300097" y="1402556"/>
                    <a:pt x="2173034" y="1418368"/>
                  </a:cubicBezTo>
                  <a:cubicBezTo>
                    <a:pt x="2163509" y="1419511"/>
                    <a:pt x="2153984" y="1420178"/>
                    <a:pt x="2144459" y="1420082"/>
                  </a:cubicBezTo>
                  <a:lnTo>
                    <a:pt x="360521" y="1420082"/>
                  </a:lnTo>
                  <a:cubicBezTo>
                    <a:pt x="232505" y="1420082"/>
                    <a:pt x="128683" y="1316355"/>
                    <a:pt x="128588" y="1188339"/>
                  </a:cubicBezTo>
                  <a:cubicBezTo>
                    <a:pt x="128588" y="1178243"/>
                    <a:pt x="129254" y="1168146"/>
                    <a:pt x="130588" y="1158050"/>
                  </a:cubicBezTo>
                  <a:lnTo>
                    <a:pt x="239459" y="330518"/>
                  </a:lnTo>
                  <a:cubicBezTo>
                    <a:pt x="254508" y="214979"/>
                    <a:pt x="352901" y="128588"/>
                    <a:pt x="469392" y="128588"/>
                  </a:cubicBezTo>
                  <a:close/>
                </a:path>
              </a:pathLst>
            </a:custGeom>
            <a:noFill/>
            <a:ln w="12700" cap="flat">
              <a:solidFill>
                <a:srgbClr val="00A3E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3ED782-413F-4F62-875D-C1ECB0814D0B}"/>
                </a:ext>
              </a:extLst>
            </p:cNvPr>
            <p:cNvSpPr/>
            <p:nvPr/>
          </p:nvSpPr>
          <p:spPr>
            <a:xfrm>
              <a:off x="122130" y="1807671"/>
              <a:ext cx="342900" cy="1485900"/>
            </a:xfrm>
            <a:custGeom>
              <a:avLst/>
              <a:gdLst>
                <a:gd name="connsiteX0" fmla="*/ 128587 w 342900"/>
                <a:gd name="connsiteY0" fmla="*/ 128588 h 1485900"/>
                <a:gd name="connsiteX1" fmla="*/ 219361 w 342900"/>
                <a:gd name="connsiteY1" fmla="*/ 1357598 h 148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2900" h="1485900">
                  <a:moveTo>
                    <a:pt x="128587" y="128588"/>
                  </a:moveTo>
                  <a:lnTo>
                    <a:pt x="219361" y="1357598"/>
                  </a:lnTo>
                </a:path>
              </a:pathLst>
            </a:custGeom>
            <a:ln w="12700" cap="flat">
              <a:solidFill>
                <a:srgbClr val="00A3E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86DB457-C02D-4D31-A977-B5E59C040B75}"/>
                </a:ext>
              </a:extLst>
            </p:cNvPr>
            <p:cNvSpPr/>
            <p:nvPr/>
          </p:nvSpPr>
          <p:spPr>
            <a:xfrm>
              <a:off x="-704831" y="1807671"/>
              <a:ext cx="342900" cy="1485900"/>
            </a:xfrm>
            <a:custGeom>
              <a:avLst/>
              <a:gdLst>
                <a:gd name="connsiteX0" fmla="*/ 128588 w 342900"/>
                <a:gd name="connsiteY0" fmla="*/ 1357598 h 1485900"/>
                <a:gd name="connsiteX1" fmla="*/ 214408 w 342900"/>
                <a:gd name="connsiteY1" fmla="*/ 128588 h 148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2900" h="1485900">
                  <a:moveTo>
                    <a:pt x="128588" y="1357598"/>
                  </a:moveTo>
                  <a:lnTo>
                    <a:pt x="214408" y="128588"/>
                  </a:lnTo>
                </a:path>
              </a:pathLst>
            </a:custGeom>
            <a:ln w="12700" cap="flat">
              <a:solidFill>
                <a:srgbClr val="00A3E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6E3B10B-8C24-4347-8A5B-BA25C1C7A6E2}"/>
                </a:ext>
              </a:extLst>
            </p:cNvPr>
            <p:cNvSpPr/>
            <p:nvPr/>
          </p:nvSpPr>
          <p:spPr>
            <a:xfrm>
              <a:off x="-80943" y="3126502"/>
              <a:ext cx="257175" cy="1000125"/>
            </a:xfrm>
            <a:custGeom>
              <a:avLst/>
              <a:gdLst>
                <a:gd name="connsiteX0" fmla="*/ 128588 w 257175"/>
                <a:gd name="connsiteY0" fmla="*/ 871919 h 1000125"/>
                <a:gd name="connsiteX1" fmla="*/ 128588 w 257175"/>
                <a:gd name="connsiteY1" fmla="*/ 128587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7175" h="1000125">
                  <a:moveTo>
                    <a:pt x="128588" y="871919"/>
                  </a:moveTo>
                  <a:lnTo>
                    <a:pt x="128588" y="128587"/>
                  </a:lnTo>
                </a:path>
              </a:pathLst>
            </a:custGeom>
            <a:ln w="12700" cap="flat">
              <a:solidFill>
                <a:srgbClr val="00A3E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96032EE-34EF-4A1B-9D15-4FB8D2099530}"/>
              </a:ext>
            </a:extLst>
          </p:cNvPr>
          <p:cNvGrpSpPr/>
          <p:nvPr/>
        </p:nvGrpSpPr>
        <p:grpSpPr>
          <a:xfrm>
            <a:off x="3809240" y="2123463"/>
            <a:ext cx="213777" cy="187413"/>
            <a:chOff x="409687" y="2315285"/>
            <a:chExt cx="930563" cy="930563"/>
          </a:xfrm>
          <a:solidFill>
            <a:srgbClr val="00A3E0"/>
          </a:solidFill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C17EA03-0EF1-4D9A-8022-ECB1324A71FB}"/>
                </a:ext>
              </a:extLst>
            </p:cNvPr>
            <p:cNvSpPr/>
            <p:nvPr/>
          </p:nvSpPr>
          <p:spPr>
            <a:xfrm>
              <a:off x="544286" y="2448222"/>
              <a:ext cx="727003" cy="598219"/>
            </a:xfrm>
            <a:custGeom>
              <a:avLst/>
              <a:gdLst>
                <a:gd name="connsiteX0" fmla="*/ 564674 w 727002"/>
                <a:gd name="connsiteY0" fmla="*/ 599570 h 598219"/>
                <a:gd name="connsiteX1" fmla="*/ 351559 w 727002"/>
                <a:gd name="connsiteY1" fmla="*/ 326591 h 598219"/>
                <a:gd name="connsiteX2" fmla="*/ 165861 w 727002"/>
                <a:gd name="connsiteY2" fmla="*/ 67820 h 598219"/>
                <a:gd name="connsiteX3" fmla="*/ 64413 w 727002"/>
                <a:gd name="connsiteY3" fmla="*/ 144965 h 598219"/>
                <a:gd name="connsiteX4" fmla="*/ 1351 w 727002"/>
                <a:gd name="connsiteY4" fmla="*/ 123778 h 598219"/>
                <a:gd name="connsiteX5" fmla="*/ 165861 w 727002"/>
                <a:gd name="connsiteY5" fmla="*/ 1351 h 598219"/>
                <a:gd name="connsiteX6" fmla="*/ 414455 w 727002"/>
                <a:gd name="connsiteY6" fmla="*/ 305030 h 598219"/>
                <a:gd name="connsiteX7" fmla="*/ 564674 w 727002"/>
                <a:gd name="connsiteY7" fmla="*/ 533101 h 598219"/>
                <a:gd name="connsiteX8" fmla="*/ 666122 w 727002"/>
                <a:gd name="connsiteY8" fmla="*/ 455956 h 598219"/>
                <a:gd name="connsiteX9" fmla="*/ 729143 w 727002"/>
                <a:gd name="connsiteY9" fmla="*/ 477143 h 598219"/>
                <a:gd name="connsiteX10" fmla="*/ 564674 w 727002"/>
                <a:gd name="connsiteY10" fmla="*/ 599570 h 598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7002" h="598219">
                  <a:moveTo>
                    <a:pt x="564674" y="599570"/>
                  </a:moveTo>
                  <a:cubicBezTo>
                    <a:pt x="445030" y="599570"/>
                    <a:pt x="397505" y="460775"/>
                    <a:pt x="351559" y="326591"/>
                  </a:cubicBezTo>
                  <a:cubicBezTo>
                    <a:pt x="308021" y="199386"/>
                    <a:pt x="262906" y="67820"/>
                    <a:pt x="165861" y="67820"/>
                  </a:cubicBezTo>
                  <a:cubicBezTo>
                    <a:pt x="119499" y="70562"/>
                    <a:pt x="79410" y="101013"/>
                    <a:pt x="64413" y="144965"/>
                  </a:cubicBezTo>
                  <a:lnTo>
                    <a:pt x="1351" y="123778"/>
                  </a:lnTo>
                  <a:cubicBezTo>
                    <a:pt x="3054" y="118793"/>
                    <a:pt x="43600" y="1351"/>
                    <a:pt x="165861" y="1351"/>
                  </a:cubicBezTo>
                  <a:cubicBezTo>
                    <a:pt x="310431" y="1351"/>
                    <a:pt x="365683" y="162704"/>
                    <a:pt x="414455" y="305030"/>
                  </a:cubicBezTo>
                  <a:cubicBezTo>
                    <a:pt x="454627" y="422306"/>
                    <a:pt x="492555" y="533101"/>
                    <a:pt x="564674" y="533101"/>
                  </a:cubicBezTo>
                  <a:cubicBezTo>
                    <a:pt x="611036" y="530360"/>
                    <a:pt x="651125" y="499909"/>
                    <a:pt x="666122" y="455956"/>
                  </a:cubicBezTo>
                  <a:lnTo>
                    <a:pt x="729143" y="477143"/>
                  </a:lnTo>
                  <a:cubicBezTo>
                    <a:pt x="727481" y="482128"/>
                    <a:pt x="686935" y="599570"/>
                    <a:pt x="564674" y="599570"/>
                  </a:cubicBezTo>
                  <a:close/>
                </a:path>
              </a:pathLst>
            </a:custGeom>
            <a:grpFill/>
            <a:ln w="4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DC0E7D3-312C-4240-9944-AFA1740877D7}"/>
                </a:ext>
              </a:extLst>
            </p:cNvPr>
            <p:cNvSpPr/>
            <p:nvPr/>
          </p:nvSpPr>
          <p:spPr>
            <a:xfrm>
              <a:off x="409687" y="2315285"/>
              <a:ext cx="930563" cy="930563"/>
            </a:xfrm>
            <a:custGeom>
              <a:avLst/>
              <a:gdLst>
                <a:gd name="connsiteX0" fmla="*/ 67820 w 930563"/>
                <a:gd name="connsiteY0" fmla="*/ 865446 h 930563"/>
                <a:gd name="connsiteX1" fmla="*/ 67820 w 930563"/>
                <a:gd name="connsiteY1" fmla="*/ 499867 h 930563"/>
                <a:gd name="connsiteX2" fmla="*/ 134289 w 930563"/>
                <a:gd name="connsiteY2" fmla="*/ 499867 h 930563"/>
                <a:gd name="connsiteX3" fmla="*/ 134289 w 930563"/>
                <a:gd name="connsiteY3" fmla="*/ 433398 h 930563"/>
                <a:gd name="connsiteX4" fmla="*/ 67820 w 930563"/>
                <a:gd name="connsiteY4" fmla="*/ 433398 h 930563"/>
                <a:gd name="connsiteX5" fmla="*/ 67820 w 930563"/>
                <a:gd name="connsiteY5" fmla="*/ 1351 h 930563"/>
                <a:gd name="connsiteX6" fmla="*/ 1351 w 930563"/>
                <a:gd name="connsiteY6" fmla="*/ 1351 h 930563"/>
                <a:gd name="connsiteX7" fmla="*/ 1351 w 930563"/>
                <a:gd name="connsiteY7" fmla="*/ 865446 h 930563"/>
                <a:gd name="connsiteX8" fmla="*/ 67820 w 930563"/>
                <a:gd name="connsiteY8" fmla="*/ 931914 h 930563"/>
                <a:gd name="connsiteX9" fmla="*/ 931914 w 930563"/>
                <a:gd name="connsiteY9" fmla="*/ 931914 h 930563"/>
                <a:gd name="connsiteX10" fmla="*/ 931914 w 930563"/>
                <a:gd name="connsiteY10" fmla="*/ 865446 h 930563"/>
                <a:gd name="connsiteX11" fmla="*/ 67820 w 930563"/>
                <a:gd name="connsiteY11" fmla="*/ 865446 h 930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30563" h="930563">
                  <a:moveTo>
                    <a:pt x="67820" y="865446"/>
                  </a:moveTo>
                  <a:lnTo>
                    <a:pt x="67820" y="499867"/>
                  </a:lnTo>
                  <a:lnTo>
                    <a:pt x="134289" y="499867"/>
                  </a:lnTo>
                  <a:lnTo>
                    <a:pt x="134289" y="433398"/>
                  </a:lnTo>
                  <a:lnTo>
                    <a:pt x="67820" y="433398"/>
                  </a:lnTo>
                  <a:lnTo>
                    <a:pt x="67820" y="1351"/>
                  </a:lnTo>
                  <a:lnTo>
                    <a:pt x="1351" y="1351"/>
                  </a:lnTo>
                  <a:lnTo>
                    <a:pt x="1351" y="865446"/>
                  </a:lnTo>
                  <a:cubicBezTo>
                    <a:pt x="1351" y="902170"/>
                    <a:pt x="31096" y="931914"/>
                    <a:pt x="67820" y="931914"/>
                  </a:cubicBezTo>
                  <a:lnTo>
                    <a:pt x="931914" y="931914"/>
                  </a:lnTo>
                  <a:lnTo>
                    <a:pt x="931914" y="865446"/>
                  </a:lnTo>
                  <a:lnTo>
                    <a:pt x="67820" y="865446"/>
                  </a:lnTo>
                  <a:close/>
                </a:path>
              </a:pathLst>
            </a:custGeom>
            <a:grpFill/>
            <a:ln w="4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48A9024B-5520-4B9C-B8D2-B636BDEEAFA8}"/>
                </a:ext>
              </a:extLst>
            </p:cNvPr>
            <p:cNvSpPr/>
            <p:nvPr/>
          </p:nvSpPr>
          <p:spPr>
            <a:xfrm>
              <a:off x="609093" y="2747332"/>
              <a:ext cx="731157" cy="66469"/>
            </a:xfrm>
            <a:custGeom>
              <a:avLst/>
              <a:gdLst>
                <a:gd name="connsiteX0" fmla="*/ 1351 w 731156"/>
                <a:gd name="connsiteY0" fmla="*/ 1351 h 66468"/>
                <a:gd name="connsiteX1" fmla="*/ 67820 w 731156"/>
                <a:gd name="connsiteY1" fmla="*/ 1351 h 66468"/>
                <a:gd name="connsiteX2" fmla="*/ 67820 w 731156"/>
                <a:gd name="connsiteY2" fmla="*/ 67820 h 66468"/>
                <a:gd name="connsiteX3" fmla="*/ 1351 w 731156"/>
                <a:gd name="connsiteY3" fmla="*/ 67820 h 66468"/>
                <a:gd name="connsiteX4" fmla="*/ 1351 w 731156"/>
                <a:gd name="connsiteY4" fmla="*/ 1351 h 66468"/>
                <a:gd name="connsiteX5" fmla="*/ 134289 w 731156"/>
                <a:gd name="connsiteY5" fmla="*/ 1351 h 66468"/>
                <a:gd name="connsiteX6" fmla="*/ 200757 w 731156"/>
                <a:gd name="connsiteY6" fmla="*/ 1351 h 66468"/>
                <a:gd name="connsiteX7" fmla="*/ 200757 w 731156"/>
                <a:gd name="connsiteY7" fmla="*/ 67820 h 66468"/>
                <a:gd name="connsiteX8" fmla="*/ 134289 w 731156"/>
                <a:gd name="connsiteY8" fmla="*/ 67820 h 66468"/>
                <a:gd name="connsiteX9" fmla="*/ 134289 w 731156"/>
                <a:gd name="connsiteY9" fmla="*/ 1351 h 66468"/>
                <a:gd name="connsiteX10" fmla="*/ 400164 w 731156"/>
                <a:gd name="connsiteY10" fmla="*/ 1351 h 66468"/>
                <a:gd name="connsiteX11" fmla="*/ 466633 w 731156"/>
                <a:gd name="connsiteY11" fmla="*/ 1351 h 66468"/>
                <a:gd name="connsiteX12" fmla="*/ 466633 w 731156"/>
                <a:gd name="connsiteY12" fmla="*/ 67820 h 66468"/>
                <a:gd name="connsiteX13" fmla="*/ 400164 w 731156"/>
                <a:gd name="connsiteY13" fmla="*/ 67820 h 66468"/>
                <a:gd name="connsiteX14" fmla="*/ 400164 w 731156"/>
                <a:gd name="connsiteY14" fmla="*/ 1351 h 66468"/>
                <a:gd name="connsiteX15" fmla="*/ 533101 w 731156"/>
                <a:gd name="connsiteY15" fmla="*/ 1351 h 66468"/>
                <a:gd name="connsiteX16" fmla="*/ 599570 w 731156"/>
                <a:gd name="connsiteY16" fmla="*/ 1351 h 66468"/>
                <a:gd name="connsiteX17" fmla="*/ 599570 w 731156"/>
                <a:gd name="connsiteY17" fmla="*/ 67820 h 66468"/>
                <a:gd name="connsiteX18" fmla="*/ 533101 w 731156"/>
                <a:gd name="connsiteY18" fmla="*/ 67820 h 66468"/>
                <a:gd name="connsiteX19" fmla="*/ 533101 w 731156"/>
                <a:gd name="connsiteY19" fmla="*/ 1351 h 66468"/>
                <a:gd name="connsiteX20" fmla="*/ 666039 w 731156"/>
                <a:gd name="connsiteY20" fmla="*/ 1351 h 66468"/>
                <a:gd name="connsiteX21" fmla="*/ 732508 w 731156"/>
                <a:gd name="connsiteY21" fmla="*/ 1351 h 66468"/>
                <a:gd name="connsiteX22" fmla="*/ 732508 w 731156"/>
                <a:gd name="connsiteY22" fmla="*/ 67820 h 66468"/>
                <a:gd name="connsiteX23" fmla="*/ 666039 w 731156"/>
                <a:gd name="connsiteY23" fmla="*/ 67820 h 66468"/>
                <a:gd name="connsiteX24" fmla="*/ 666039 w 731156"/>
                <a:gd name="connsiteY24" fmla="*/ 1351 h 66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31156" h="66468">
                  <a:moveTo>
                    <a:pt x="1351" y="1351"/>
                  </a:moveTo>
                  <a:lnTo>
                    <a:pt x="67820" y="1351"/>
                  </a:lnTo>
                  <a:lnTo>
                    <a:pt x="67820" y="67820"/>
                  </a:lnTo>
                  <a:lnTo>
                    <a:pt x="1351" y="67820"/>
                  </a:lnTo>
                  <a:lnTo>
                    <a:pt x="1351" y="1351"/>
                  </a:lnTo>
                  <a:close/>
                  <a:moveTo>
                    <a:pt x="134289" y="1351"/>
                  </a:moveTo>
                  <a:lnTo>
                    <a:pt x="200757" y="1351"/>
                  </a:lnTo>
                  <a:lnTo>
                    <a:pt x="200757" y="67820"/>
                  </a:lnTo>
                  <a:lnTo>
                    <a:pt x="134289" y="67820"/>
                  </a:lnTo>
                  <a:lnTo>
                    <a:pt x="134289" y="1351"/>
                  </a:lnTo>
                  <a:close/>
                  <a:moveTo>
                    <a:pt x="400164" y="1351"/>
                  </a:moveTo>
                  <a:lnTo>
                    <a:pt x="466633" y="1351"/>
                  </a:lnTo>
                  <a:lnTo>
                    <a:pt x="466633" y="67820"/>
                  </a:lnTo>
                  <a:lnTo>
                    <a:pt x="400164" y="67820"/>
                  </a:lnTo>
                  <a:lnTo>
                    <a:pt x="400164" y="1351"/>
                  </a:lnTo>
                  <a:close/>
                  <a:moveTo>
                    <a:pt x="533101" y="1351"/>
                  </a:moveTo>
                  <a:lnTo>
                    <a:pt x="599570" y="1351"/>
                  </a:lnTo>
                  <a:lnTo>
                    <a:pt x="599570" y="67820"/>
                  </a:lnTo>
                  <a:lnTo>
                    <a:pt x="533101" y="67820"/>
                  </a:lnTo>
                  <a:lnTo>
                    <a:pt x="533101" y="1351"/>
                  </a:lnTo>
                  <a:close/>
                  <a:moveTo>
                    <a:pt x="666039" y="1351"/>
                  </a:moveTo>
                  <a:lnTo>
                    <a:pt x="732508" y="1351"/>
                  </a:lnTo>
                  <a:lnTo>
                    <a:pt x="732508" y="67820"/>
                  </a:lnTo>
                  <a:lnTo>
                    <a:pt x="666039" y="67820"/>
                  </a:lnTo>
                  <a:lnTo>
                    <a:pt x="666039" y="1351"/>
                  </a:lnTo>
                  <a:close/>
                </a:path>
              </a:pathLst>
            </a:custGeom>
            <a:grpFill/>
            <a:ln w="4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8100FF7C-5F50-4D1D-95D1-6BE246131D04}"/>
              </a:ext>
            </a:extLst>
          </p:cNvPr>
          <p:cNvSpPr/>
          <p:nvPr/>
        </p:nvSpPr>
        <p:spPr>
          <a:xfrm>
            <a:off x="1940639" y="3974120"/>
            <a:ext cx="209012" cy="209012"/>
          </a:xfrm>
          <a:custGeom>
            <a:avLst/>
            <a:gdLst>
              <a:gd name="connsiteX0" fmla="*/ 277822 w 960120"/>
              <a:gd name="connsiteY0" fmla="*/ 545970 h 960120"/>
              <a:gd name="connsiteX1" fmla="*/ 310054 w 960120"/>
              <a:gd name="connsiteY1" fmla="*/ 550085 h 960120"/>
              <a:gd name="connsiteX2" fmla="*/ 386521 w 960120"/>
              <a:gd name="connsiteY2" fmla="*/ 526767 h 960120"/>
              <a:gd name="connsiteX3" fmla="*/ 496935 w 960120"/>
              <a:gd name="connsiteY3" fmla="*/ 625180 h 960120"/>
              <a:gd name="connsiteX4" fmla="*/ 490077 w 960120"/>
              <a:gd name="connsiteY4" fmla="*/ 733879 h 960120"/>
              <a:gd name="connsiteX5" fmla="*/ 664656 w 960120"/>
              <a:gd name="connsiteY5" fmla="*/ 818404 h 960120"/>
              <a:gd name="connsiteX6" fmla="*/ 749181 w 960120"/>
              <a:gd name="connsiteY6" fmla="*/ 643825 h 960120"/>
              <a:gd name="connsiteX7" fmla="*/ 708505 w 960120"/>
              <a:gd name="connsiteY7" fmla="*/ 584375 h 960120"/>
              <a:gd name="connsiteX8" fmla="*/ 795601 w 960120"/>
              <a:gd name="connsiteY8" fmla="*/ 409838 h 960120"/>
              <a:gd name="connsiteX9" fmla="*/ 895385 w 960120"/>
              <a:gd name="connsiteY9" fmla="*/ 391665 h 960120"/>
              <a:gd name="connsiteX10" fmla="*/ 941034 w 960120"/>
              <a:gd name="connsiteY10" fmla="*/ 203112 h 960120"/>
              <a:gd name="connsiteX11" fmla="*/ 752482 w 960120"/>
              <a:gd name="connsiteY11" fmla="*/ 157464 h 960120"/>
              <a:gd name="connsiteX12" fmla="*/ 706833 w 960120"/>
              <a:gd name="connsiteY12" fmla="*/ 346016 h 960120"/>
              <a:gd name="connsiteX13" fmla="*/ 734565 w 960120"/>
              <a:gd name="connsiteY13" fmla="*/ 378634 h 960120"/>
              <a:gd name="connsiteX14" fmla="*/ 647468 w 960120"/>
              <a:gd name="connsiteY14" fmla="*/ 553171 h 960120"/>
              <a:gd name="connsiteX15" fmla="*/ 618665 w 960120"/>
              <a:gd name="connsiteY15" fmla="*/ 550085 h 960120"/>
              <a:gd name="connsiteX16" fmla="*/ 542198 w 960120"/>
              <a:gd name="connsiteY16" fmla="*/ 573402 h 960120"/>
              <a:gd name="connsiteX17" fmla="*/ 431784 w 960120"/>
              <a:gd name="connsiteY17" fmla="*/ 474989 h 960120"/>
              <a:gd name="connsiteX18" fmla="*/ 438642 w 960120"/>
              <a:gd name="connsiteY18" fmla="*/ 366290 h 960120"/>
              <a:gd name="connsiteX19" fmla="*/ 264063 w 960120"/>
              <a:gd name="connsiteY19" fmla="*/ 281765 h 960120"/>
              <a:gd name="connsiteX20" fmla="*/ 179538 w 960120"/>
              <a:gd name="connsiteY20" fmla="*/ 456344 h 960120"/>
              <a:gd name="connsiteX21" fmla="*/ 217471 w 960120"/>
              <a:gd name="connsiteY21" fmla="*/ 513394 h 960120"/>
              <a:gd name="connsiteX22" fmla="*/ 70024 w 960120"/>
              <a:gd name="connsiteY22" fmla="*/ 790115 h 960120"/>
              <a:gd name="connsiteX23" fmla="*/ 70024 w 960120"/>
              <a:gd name="connsiteY23" fmla="*/ 1444 h 960120"/>
              <a:gd name="connsiteX24" fmla="*/ 1444 w 960120"/>
              <a:gd name="connsiteY24" fmla="*/ 1444 h 960120"/>
              <a:gd name="connsiteX25" fmla="*/ 1444 w 960120"/>
              <a:gd name="connsiteY25" fmla="*/ 892985 h 960120"/>
              <a:gd name="connsiteX26" fmla="*/ 70024 w 960120"/>
              <a:gd name="connsiteY26" fmla="*/ 961565 h 960120"/>
              <a:gd name="connsiteX27" fmla="*/ 961565 w 960120"/>
              <a:gd name="connsiteY27" fmla="*/ 961565 h 960120"/>
              <a:gd name="connsiteX28" fmla="*/ 961565 w 960120"/>
              <a:gd name="connsiteY28" fmla="*/ 892985 h 960120"/>
              <a:gd name="connsiteX29" fmla="*/ 92998 w 960120"/>
              <a:gd name="connsiteY29" fmla="*/ 892985 h 960120"/>
              <a:gd name="connsiteX30" fmla="*/ 277822 w 960120"/>
              <a:gd name="connsiteY30" fmla="*/ 545970 h 960120"/>
              <a:gd name="connsiteX31" fmla="*/ 824405 w 960120"/>
              <a:gd name="connsiteY31" fmla="*/ 207184 h 960120"/>
              <a:gd name="connsiteX32" fmla="*/ 892985 w 960120"/>
              <a:gd name="connsiteY32" fmla="*/ 275764 h 960120"/>
              <a:gd name="connsiteX33" fmla="*/ 824405 w 960120"/>
              <a:gd name="connsiteY33" fmla="*/ 344344 h 960120"/>
              <a:gd name="connsiteX34" fmla="*/ 755825 w 960120"/>
              <a:gd name="connsiteY34" fmla="*/ 275764 h 960120"/>
              <a:gd name="connsiteX35" fmla="*/ 824405 w 960120"/>
              <a:gd name="connsiteY35" fmla="*/ 207184 h 960120"/>
              <a:gd name="connsiteX36" fmla="*/ 687245 w 960120"/>
              <a:gd name="connsiteY36" fmla="*/ 687245 h 960120"/>
              <a:gd name="connsiteX37" fmla="*/ 618665 w 960120"/>
              <a:gd name="connsiteY37" fmla="*/ 755825 h 960120"/>
              <a:gd name="connsiteX38" fmla="*/ 550085 w 960120"/>
              <a:gd name="connsiteY38" fmla="*/ 687245 h 960120"/>
              <a:gd name="connsiteX39" fmla="*/ 618665 w 960120"/>
              <a:gd name="connsiteY39" fmla="*/ 618665 h 960120"/>
              <a:gd name="connsiteX40" fmla="*/ 687245 w 960120"/>
              <a:gd name="connsiteY40" fmla="*/ 687245 h 960120"/>
              <a:gd name="connsiteX41" fmla="*/ 310054 w 960120"/>
              <a:gd name="connsiteY41" fmla="*/ 344344 h 960120"/>
              <a:gd name="connsiteX42" fmla="*/ 378634 w 960120"/>
              <a:gd name="connsiteY42" fmla="*/ 412924 h 960120"/>
              <a:gd name="connsiteX43" fmla="*/ 310054 w 960120"/>
              <a:gd name="connsiteY43" fmla="*/ 481505 h 960120"/>
              <a:gd name="connsiteX44" fmla="*/ 241474 w 960120"/>
              <a:gd name="connsiteY44" fmla="*/ 412924 h 960120"/>
              <a:gd name="connsiteX45" fmla="*/ 310054 w 960120"/>
              <a:gd name="connsiteY45" fmla="*/ 344344 h 96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960120" h="960120">
                <a:moveTo>
                  <a:pt x="277822" y="545970"/>
                </a:moveTo>
                <a:cubicBezTo>
                  <a:pt x="288366" y="548542"/>
                  <a:pt x="299210" y="549913"/>
                  <a:pt x="310054" y="550085"/>
                </a:cubicBezTo>
                <a:cubicBezTo>
                  <a:pt x="337272" y="550085"/>
                  <a:pt x="363933" y="541941"/>
                  <a:pt x="386521" y="526767"/>
                </a:cubicBezTo>
                <a:lnTo>
                  <a:pt x="496935" y="625180"/>
                </a:lnTo>
                <a:cubicBezTo>
                  <a:pt x="479233" y="658784"/>
                  <a:pt x="476747" y="698346"/>
                  <a:pt x="490077" y="733879"/>
                </a:cubicBezTo>
                <a:cubicBezTo>
                  <a:pt x="514937" y="805417"/>
                  <a:pt x="593119" y="843264"/>
                  <a:pt x="664656" y="818404"/>
                </a:cubicBezTo>
                <a:cubicBezTo>
                  <a:pt x="736194" y="793544"/>
                  <a:pt x="774041" y="715363"/>
                  <a:pt x="749181" y="643825"/>
                </a:cubicBezTo>
                <a:cubicBezTo>
                  <a:pt x="741166" y="620722"/>
                  <a:pt x="727107" y="600234"/>
                  <a:pt x="708505" y="584375"/>
                </a:cubicBezTo>
                <a:lnTo>
                  <a:pt x="795601" y="409838"/>
                </a:lnTo>
                <a:cubicBezTo>
                  <a:pt x="829934" y="417596"/>
                  <a:pt x="865982" y="411039"/>
                  <a:pt x="895385" y="391665"/>
                </a:cubicBezTo>
                <a:cubicBezTo>
                  <a:pt x="960065" y="352188"/>
                  <a:pt x="980467" y="267792"/>
                  <a:pt x="941034" y="203112"/>
                </a:cubicBezTo>
                <a:cubicBezTo>
                  <a:pt x="901557" y="138433"/>
                  <a:pt x="817161" y="118030"/>
                  <a:pt x="752482" y="157464"/>
                </a:cubicBezTo>
                <a:cubicBezTo>
                  <a:pt x="687802" y="196897"/>
                  <a:pt x="667399" y="281337"/>
                  <a:pt x="706833" y="346016"/>
                </a:cubicBezTo>
                <a:cubicBezTo>
                  <a:pt x="714291" y="358275"/>
                  <a:pt x="723678" y="369248"/>
                  <a:pt x="734565" y="378634"/>
                </a:cubicBezTo>
                <a:lnTo>
                  <a:pt x="647468" y="553171"/>
                </a:lnTo>
                <a:cubicBezTo>
                  <a:pt x="637996" y="551070"/>
                  <a:pt x="628352" y="550042"/>
                  <a:pt x="618665" y="550085"/>
                </a:cubicBezTo>
                <a:cubicBezTo>
                  <a:pt x="591447" y="550085"/>
                  <a:pt x="564786" y="558228"/>
                  <a:pt x="542198" y="573402"/>
                </a:cubicBezTo>
                <a:lnTo>
                  <a:pt x="431784" y="474989"/>
                </a:lnTo>
                <a:cubicBezTo>
                  <a:pt x="449486" y="441385"/>
                  <a:pt x="451972" y="401823"/>
                  <a:pt x="438642" y="366290"/>
                </a:cubicBezTo>
                <a:cubicBezTo>
                  <a:pt x="413782" y="294752"/>
                  <a:pt x="335600" y="256905"/>
                  <a:pt x="264063" y="281765"/>
                </a:cubicBezTo>
                <a:cubicBezTo>
                  <a:pt x="192525" y="306625"/>
                  <a:pt x="154678" y="384807"/>
                  <a:pt x="179538" y="456344"/>
                </a:cubicBezTo>
                <a:cubicBezTo>
                  <a:pt x="187167" y="478247"/>
                  <a:pt x="200198" y="497878"/>
                  <a:pt x="217471" y="513394"/>
                </a:cubicBezTo>
                <a:lnTo>
                  <a:pt x="70024" y="790115"/>
                </a:lnTo>
                <a:lnTo>
                  <a:pt x="70024" y="1444"/>
                </a:lnTo>
                <a:lnTo>
                  <a:pt x="1444" y="1444"/>
                </a:lnTo>
                <a:lnTo>
                  <a:pt x="1444" y="892985"/>
                </a:lnTo>
                <a:cubicBezTo>
                  <a:pt x="1444" y="930875"/>
                  <a:pt x="32134" y="961565"/>
                  <a:pt x="70024" y="961565"/>
                </a:cubicBezTo>
                <a:lnTo>
                  <a:pt x="961565" y="961565"/>
                </a:lnTo>
                <a:lnTo>
                  <a:pt x="961565" y="892985"/>
                </a:lnTo>
                <a:lnTo>
                  <a:pt x="92998" y="892985"/>
                </a:lnTo>
                <a:lnTo>
                  <a:pt x="277822" y="545970"/>
                </a:lnTo>
                <a:close/>
                <a:moveTo>
                  <a:pt x="824405" y="207184"/>
                </a:moveTo>
                <a:cubicBezTo>
                  <a:pt x="862295" y="207184"/>
                  <a:pt x="892985" y="237874"/>
                  <a:pt x="892985" y="275764"/>
                </a:cubicBezTo>
                <a:cubicBezTo>
                  <a:pt x="892985" y="313655"/>
                  <a:pt x="862295" y="344344"/>
                  <a:pt x="824405" y="344344"/>
                </a:cubicBezTo>
                <a:cubicBezTo>
                  <a:pt x="786514" y="344344"/>
                  <a:pt x="755825" y="313655"/>
                  <a:pt x="755825" y="275764"/>
                </a:cubicBezTo>
                <a:cubicBezTo>
                  <a:pt x="755825" y="237874"/>
                  <a:pt x="786514" y="207184"/>
                  <a:pt x="824405" y="207184"/>
                </a:cubicBezTo>
                <a:close/>
                <a:moveTo>
                  <a:pt x="687245" y="687245"/>
                </a:moveTo>
                <a:cubicBezTo>
                  <a:pt x="687245" y="725135"/>
                  <a:pt x="656555" y="755825"/>
                  <a:pt x="618665" y="755825"/>
                </a:cubicBezTo>
                <a:cubicBezTo>
                  <a:pt x="580774" y="755825"/>
                  <a:pt x="550085" y="725135"/>
                  <a:pt x="550085" y="687245"/>
                </a:cubicBezTo>
                <a:cubicBezTo>
                  <a:pt x="550085" y="649354"/>
                  <a:pt x="580774" y="618665"/>
                  <a:pt x="618665" y="618665"/>
                </a:cubicBezTo>
                <a:cubicBezTo>
                  <a:pt x="656555" y="618665"/>
                  <a:pt x="687245" y="649354"/>
                  <a:pt x="687245" y="687245"/>
                </a:cubicBezTo>
                <a:close/>
                <a:moveTo>
                  <a:pt x="310054" y="344344"/>
                </a:moveTo>
                <a:cubicBezTo>
                  <a:pt x="347945" y="344344"/>
                  <a:pt x="378634" y="375034"/>
                  <a:pt x="378634" y="412924"/>
                </a:cubicBezTo>
                <a:cubicBezTo>
                  <a:pt x="378634" y="450815"/>
                  <a:pt x="347945" y="481505"/>
                  <a:pt x="310054" y="481505"/>
                </a:cubicBezTo>
                <a:cubicBezTo>
                  <a:pt x="272164" y="481505"/>
                  <a:pt x="241474" y="450815"/>
                  <a:pt x="241474" y="412924"/>
                </a:cubicBezTo>
                <a:cubicBezTo>
                  <a:pt x="241474" y="375034"/>
                  <a:pt x="272164" y="344344"/>
                  <a:pt x="310054" y="344344"/>
                </a:cubicBezTo>
                <a:close/>
              </a:path>
            </a:pathLst>
          </a:custGeom>
          <a:solidFill>
            <a:srgbClr val="00A3E0"/>
          </a:solidFill>
          <a:ln w="4279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540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BE66C9A6-F348-4587-9E9E-0EA735A22739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51A083-D2EE-49FF-95AE-9CBD039CF5CF}"/>
              </a:ext>
            </a:extLst>
          </p:cNvPr>
          <p:cNvSpPr/>
          <p:nvPr/>
        </p:nvSpPr>
        <p:spPr bwMode="gray">
          <a:xfrm>
            <a:off x="7681205" y="4434841"/>
            <a:ext cx="1706635" cy="1226818"/>
          </a:xfrm>
          <a:prstGeom prst="rect">
            <a:avLst/>
          </a:prstGeom>
          <a:solidFill>
            <a:srgbClr val="62B5E5">
              <a:alpha val="34000"/>
            </a:srgb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26B392-16DE-4E3F-B31F-B198A7DC3098}"/>
              </a:ext>
            </a:extLst>
          </p:cNvPr>
          <p:cNvSpPr/>
          <p:nvPr/>
        </p:nvSpPr>
        <p:spPr bwMode="gray">
          <a:xfrm>
            <a:off x="5831263" y="2169337"/>
            <a:ext cx="1849697" cy="22655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D87961D-E4C1-4B66-90BB-5A4E9574B0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2875986"/>
              </p:ext>
            </p:extLst>
          </p:nvPr>
        </p:nvGraphicFramePr>
        <p:xfrm>
          <a:off x="5339598" y="2319949"/>
          <a:ext cx="4308439" cy="3752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5EE8F594-9C66-4BFB-B400-0ADC1FBF2433}"/>
              </a:ext>
            </a:extLst>
          </p:cNvPr>
          <p:cNvSpPr/>
          <p:nvPr/>
        </p:nvSpPr>
        <p:spPr bwMode="gray">
          <a:xfrm>
            <a:off x="434340" y="2489201"/>
            <a:ext cx="2255520" cy="30352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18BFF1-F243-458B-9EFA-D5AF7DCB55D6}"/>
              </a:ext>
            </a:extLst>
          </p:cNvPr>
          <p:cNvSpPr txBox="1"/>
          <p:nvPr/>
        </p:nvSpPr>
        <p:spPr>
          <a:xfrm>
            <a:off x="381001" y="576001"/>
            <a:ext cx="4113178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Matrix</a:t>
            </a:r>
            <a:endParaRPr lang="ru-RU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549CF6E-A2CD-42D2-A469-33FF462DEF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3847468"/>
              </p:ext>
            </p:extLst>
          </p:nvPr>
        </p:nvGraphicFramePr>
        <p:xfrm>
          <a:off x="274320" y="2489201"/>
          <a:ext cx="4785360" cy="3347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910F72C-0C29-4CDD-A826-CC1FCFF5071E}"/>
              </a:ext>
            </a:extLst>
          </p:cNvPr>
          <p:cNvSpPr/>
          <p:nvPr/>
        </p:nvSpPr>
        <p:spPr>
          <a:xfrm>
            <a:off x="381001" y="1271016"/>
            <a:ext cx="3419206" cy="184666"/>
          </a:xfrm>
          <a:prstGeom prst="rect">
            <a:avLst/>
          </a:prstGeom>
        </p:spPr>
        <p:txBody>
          <a:bodyPr wrap="none" lIns="0" tIns="0" rIns="0">
            <a:spAutoFit/>
          </a:bodyPr>
          <a:lstStyle/>
          <a:p>
            <a:r>
              <a:rPr lang="en-US" sz="900" b="1" dirty="0">
                <a:latin typeface="+mj-lt"/>
              </a:rPr>
              <a:t>Import-dependent and profitable industries of country X</a:t>
            </a:r>
            <a:endParaRPr lang="ru-RU" sz="9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6488A4-BB49-4B31-9977-6667D68C5373}"/>
              </a:ext>
            </a:extLst>
          </p:cNvPr>
          <p:cNvSpPr/>
          <p:nvPr/>
        </p:nvSpPr>
        <p:spPr>
          <a:xfrm>
            <a:off x="1439467" y="2565028"/>
            <a:ext cx="1097993" cy="36867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r>
              <a:rPr lang="en-US" sz="9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Import-dependent industries</a:t>
            </a:r>
            <a:endParaRPr lang="ru-RU" sz="900" dirty="0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BE43AE-D8B1-4563-ACA5-36871A655128}"/>
              </a:ext>
            </a:extLst>
          </p:cNvPr>
          <p:cNvSpPr txBox="1"/>
          <p:nvPr/>
        </p:nvSpPr>
        <p:spPr>
          <a:xfrm>
            <a:off x="4731079" y="3048000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Before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FEAFD8-1A2A-4AF9-B664-2715D7080A36}"/>
              </a:ext>
            </a:extLst>
          </p:cNvPr>
          <p:cNvSpPr txBox="1"/>
          <p:nvPr/>
        </p:nvSpPr>
        <p:spPr>
          <a:xfrm>
            <a:off x="5359220" y="3048000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After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EFA9FB4E-C7D3-4510-AE3B-A170294EC343}"/>
              </a:ext>
            </a:extLst>
          </p:cNvPr>
          <p:cNvSpPr/>
          <p:nvPr/>
        </p:nvSpPr>
        <p:spPr bwMode="gray">
          <a:xfrm>
            <a:off x="5139621" y="3962086"/>
            <a:ext cx="203420" cy="377356"/>
          </a:xfrm>
          <a:prstGeom prst="chevron">
            <a:avLst>
              <a:gd name="adj" fmla="val 62222"/>
            </a:avLst>
          </a:prstGeom>
          <a:solidFill>
            <a:schemeClr val="bg1">
              <a:lumMod val="6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89A5E1-B59E-494D-B17E-3E9FA54656FC}"/>
              </a:ext>
            </a:extLst>
          </p:cNvPr>
          <p:cNvCxnSpPr>
            <a:cxnSpLocks/>
          </p:cNvCxnSpPr>
          <p:nvPr/>
        </p:nvCxnSpPr>
        <p:spPr>
          <a:xfrm flipV="1">
            <a:off x="5230456" y="3048000"/>
            <a:ext cx="0" cy="7924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571A9EC-9781-458A-9C3B-3A877D90228C}"/>
              </a:ext>
            </a:extLst>
          </p:cNvPr>
          <p:cNvCxnSpPr>
            <a:cxnSpLocks/>
          </p:cNvCxnSpPr>
          <p:nvPr/>
        </p:nvCxnSpPr>
        <p:spPr>
          <a:xfrm flipV="1">
            <a:off x="5230456" y="4461050"/>
            <a:ext cx="0" cy="84247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52EF418-F467-4B33-9568-39D5FD865F2B}"/>
              </a:ext>
            </a:extLst>
          </p:cNvPr>
          <p:cNvCxnSpPr>
            <a:cxnSpLocks/>
          </p:cNvCxnSpPr>
          <p:nvPr/>
        </p:nvCxnSpPr>
        <p:spPr>
          <a:xfrm>
            <a:off x="5827776" y="5663914"/>
            <a:ext cx="364112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575CF82-80D6-4C22-9497-42AE01DED111}"/>
              </a:ext>
            </a:extLst>
          </p:cNvPr>
          <p:cNvSpPr txBox="1"/>
          <p:nvPr/>
        </p:nvSpPr>
        <p:spPr>
          <a:xfrm>
            <a:off x="9224130" y="5753068"/>
            <a:ext cx="353730" cy="21952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 fontAlgn="b">
              <a:defRPr sz="900">
                <a:latin typeface="+mj-lt"/>
              </a:defRPr>
            </a:lvl1pPr>
          </a:lstStyle>
          <a:p>
            <a:r>
              <a:rPr lang="en-US" sz="800" dirty="0">
                <a:solidFill>
                  <a:schemeClr val="bg1"/>
                </a:solidFill>
                <a:latin typeface="+mn-lt"/>
              </a:rPr>
              <a:t>100%</a:t>
            </a:r>
            <a:endParaRPr lang="ru-RU" sz="800" dirty="0" err="1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33B203-37C2-479E-BCF1-95D1BD7BA670}"/>
              </a:ext>
            </a:extLst>
          </p:cNvPr>
          <p:cNvCxnSpPr>
            <a:cxnSpLocks/>
          </p:cNvCxnSpPr>
          <p:nvPr/>
        </p:nvCxnSpPr>
        <p:spPr>
          <a:xfrm flipV="1">
            <a:off x="5832234" y="2110902"/>
            <a:ext cx="0" cy="355075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4679129-C7E0-4501-B670-A7AC10693BA7}"/>
              </a:ext>
            </a:extLst>
          </p:cNvPr>
          <p:cNvSpPr/>
          <p:nvPr/>
        </p:nvSpPr>
        <p:spPr>
          <a:xfrm>
            <a:off x="6131980" y="2169337"/>
            <a:ext cx="638926" cy="2826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fontAlgn="b"/>
            <a:r>
              <a:rPr lang="de-DE" sz="900" dirty="0"/>
              <a:t>Light industry</a:t>
            </a:r>
            <a:endParaRPr lang="ru-RU" sz="9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A99AE9-71A1-4542-8A2C-58A2C7786D47}"/>
              </a:ext>
            </a:extLst>
          </p:cNvPr>
          <p:cNvSpPr/>
          <p:nvPr/>
        </p:nvSpPr>
        <p:spPr>
          <a:xfrm>
            <a:off x="6330342" y="3239174"/>
            <a:ext cx="854721" cy="12182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fontAlgn="b"/>
            <a:r>
              <a:rPr lang="de-DE" sz="900" dirty="0"/>
              <a:t>Machinery</a:t>
            </a:r>
            <a:endParaRPr lang="ru-RU" sz="9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5733A5-FB92-4D1C-A6DB-F8DDC23DE569}"/>
              </a:ext>
            </a:extLst>
          </p:cNvPr>
          <p:cNvSpPr/>
          <p:nvPr/>
        </p:nvSpPr>
        <p:spPr>
          <a:xfrm>
            <a:off x="6651979" y="3665133"/>
            <a:ext cx="849913" cy="12182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fontAlgn="b"/>
            <a:r>
              <a:rPr lang="de-DE" sz="900" dirty="0"/>
              <a:t>Chemicals</a:t>
            </a:r>
            <a:endParaRPr lang="ru-RU" sz="9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BB2755-CE71-4C09-A40F-51C0DFEA4F32}"/>
              </a:ext>
            </a:extLst>
          </p:cNvPr>
          <p:cNvSpPr/>
          <p:nvPr/>
        </p:nvSpPr>
        <p:spPr>
          <a:xfrm>
            <a:off x="6523528" y="4807387"/>
            <a:ext cx="943509" cy="1801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fontAlgn="b"/>
            <a:r>
              <a:rPr lang="de-DE" sz="900" dirty="0"/>
              <a:t>Timber industry</a:t>
            </a:r>
            <a:endParaRPr lang="ru-RU" sz="9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1D9CD42-3713-420B-AF67-1265FB93B241}"/>
              </a:ext>
            </a:extLst>
          </p:cNvPr>
          <p:cNvGrpSpPr/>
          <p:nvPr/>
        </p:nvGrpSpPr>
        <p:grpSpPr>
          <a:xfrm>
            <a:off x="7802415" y="4432586"/>
            <a:ext cx="1670808" cy="493433"/>
            <a:chOff x="7802415" y="4432586"/>
            <a:chExt cx="1670808" cy="49343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EC28ADC-49A0-4B9B-94BD-57E2C31654D5}"/>
                </a:ext>
              </a:extLst>
            </p:cNvPr>
            <p:cNvSpPr txBox="1"/>
            <p:nvPr/>
          </p:nvSpPr>
          <p:spPr>
            <a:xfrm>
              <a:off x="8664608" y="4498719"/>
              <a:ext cx="808615" cy="42730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defPPr>
                <a:defRPr lang="en-US"/>
              </a:defPPr>
              <a:lvl1pPr fontAlgn="b">
                <a:defRPr sz="900">
                  <a:latin typeface="+mj-lt"/>
                </a:defRPr>
              </a:lvl1pPr>
            </a:lstStyle>
            <a:p>
              <a:endParaRPr lang="ru-RU" dirty="0">
                <a:latin typeface="+mn-lt"/>
              </a:endParaRPr>
            </a:p>
            <a:p>
              <a:r>
                <a:rPr lang="de-DE" dirty="0">
                  <a:latin typeface="+mn-lt"/>
                </a:rPr>
                <a:t>Non-</a:t>
              </a:r>
              <a:r>
                <a:rPr lang="de-DE" dirty="0" err="1">
                  <a:latin typeface="+mn-lt"/>
                </a:rPr>
                <a:t>ferrous</a:t>
              </a:r>
              <a:r>
                <a:rPr lang="de-DE" dirty="0">
                  <a:latin typeface="+mn-lt"/>
                </a:rPr>
                <a:t> </a:t>
              </a:r>
              <a:r>
                <a:rPr lang="de-DE" dirty="0" err="1">
                  <a:latin typeface="+mn-lt"/>
                </a:rPr>
                <a:t>metallurgy</a:t>
              </a:r>
              <a:endParaRPr lang="ru-RU" dirty="0" err="1">
                <a:latin typeface="+mn-lt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458086A-52DE-4D39-A88F-E4D37800FA6A}"/>
                </a:ext>
              </a:extLst>
            </p:cNvPr>
            <p:cNvSpPr/>
            <p:nvPr/>
          </p:nvSpPr>
          <p:spPr>
            <a:xfrm>
              <a:off x="7802415" y="4432586"/>
              <a:ext cx="665147" cy="324604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fontAlgn="b"/>
              <a:r>
                <a:rPr lang="de-DE" sz="900" dirty="0" err="1"/>
                <a:t>Ferrous</a:t>
              </a:r>
              <a:r>
                <a:rPr lang="de-DE" sz="900" dirty="0"/>
                <a:t> </a:t>
              </a:r>
              <a:r>
                <a:rPr lang="de-DE" sz="900" dirty="0" err="1"/>
                <a:t>metallurgy</a:t>
              </a:r>
              <a:endParaRPr lang="ru-RU" sz="900" dirty="0"/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D6141809-C7AF-4234-934A-89199DD850D1}"/>
              </a:ext>
            </a:extLst>
          </p:cNvPr>
          <p:cNvSpPr/>
          <p:nvPr/>
        </p:nvSpPr>
        <p:spPr>
          <a:xfrm>
            <a:off x="6722837" y="2289741"/>
            <a:ext cx="854722" cy="4538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 fontAlgn="b"/>
            <a:r>
              <a:rPr lang="en-US" sz="8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Low-profitable, Import-dependent</a:t>
            </a:r>
          </a:p>
          <a:p>
            <a:pPr algn="r" fontAlgn="b"/>
            <a:r>
              <a:rPr lang="en-US" sz="8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industries </a:t>
            </a:r>
            <a:endParaRPr lang="ru-RU" sz="800" dirty="0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8CAF2EC-B861-4D70-91AD-3AE61BBB81FF}"/>
              </a:ext>
            </a:extLst>
          </p:cNvPr>
          <p:cNvSpPr/>
          <p:nvPr/>
        </p:nvSpPr>
        <p:spPr>
          <a:xfrm>
            <a:off x="7829085" y="5463399"/>
            <a:ext cx="1474125" cy="13000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 fontAlgn="b"/>
            <a:r>
              <a:rPr lang="en-US" sz="800" dirty="0">
                <a:solidFill>
                  <a:srgbClr val="0076A8"/>
                </a:solidFill>
                <a:latin typeface="Montserrat Medium" panose="00000600000000000000" pitchFamily="2" charset="-52"/>
              </a:rPr>
              <a:t>Profitable industries </a:t>
            </a:r>
            <a:endParaRPr lang="ru-RU" sz="800" dirty="0">
              <a:solidFill>
                <a:srgbClr val="0076A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646867-BA08-473A-A630-253B4668839C}"/>
              </a:ext>
            </a:extLst>
          </p:cNvPr>
          <p:cNvSpPr txBox="1"/>
          <p:nvPr/>
        </p:nvSpPr>
        <p:spPr>
          <a:xfrm>
            <a:off x="8900837" y="5753067"/>
            <a:ext cx="677023" cy="12509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 fontAlgn="b">
              <a:defRPr sz="900">
                <a:latin typeface="+mj-lt"/>
              </a:defRPr>
            </a:lvl1pPr>
          </a:lstStyle>
          <a:p>
            <a:r>
              <a:rPr lang="en-US" sz="800" dirty="0">
                <a:latin typeface="+mn-lt"/>
              </a:rPr>
              <a:t>Profitability</a:t>
            </a:r>
            <a:endParaRPr lang="ru-RU" sz="800" dirty="0" err="1">
              <a:latin typeface="+mn-lt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12D7C6-1633-4405-BFAA-00083DFE66E7}"/>
              </a:ext>
            </a:extLst>
          </p:cNvPr>
          <p:cNvSpPr/>
          <p:nvPr/>
        </p:nvSpPr>
        <p:spPr>
          <a:xfrm>
            <a:off x="5150003" y="2200686"/>
            <a:ext cx="701580" cy="3390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fontAlgn="b"/>
            <a:r>
              <a:rPr lang="en-US" sz="800" dirty="0"/>
              <a:t>Import-dependency</a:t>
            </a:r>
            <a:endParaRPr lang="ru-RU" sz="8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E60FA8-A3B9-4976-822E-F808061A6A0D}"/>
              </a:ext>
            </a:extLst>
          </p:cNvPr>
          <p:cNvSpPr/>
          <p:nvPr/>
        </p:nvSpPr>
        <p:spPr>
          <a:xfrm>
            <a:off x="381000" y="6256000"/>
            <a:ext cx="1525622" cy="131874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de-DE" sz="800" dirty="0" err="1"/>
              <a:t>random</a:t>
            </a:r>
            <a:r>
              <a:rPr lang="de-DE" sz="800" dirty="0"/>
              <a:t> </a:t>
            </a:r>
            <a:r>
              <a:rPr lang="de-DE" sz="800" dirty="0" err="1"/>
              <a:t>data</a:t>
            </a:r>
            <a:endParaRPr lang="ru-RU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9F694F-45F3-4A85-AC60-02ACA6589845}"/>
              </a:ext>
            </a:extLst>
          </p:cNvPr>
          <p:cNvCxnSpPr>
            <a:cxnSpLocks/>
          </p:cNvCxnSpPr>
          <p:nvPr/>
        </p:nvCxnSpPr>
        <p:spPr>
          <a:xfrm>
            <a:off x="7684194" y="2110902"/>
            <a:ext cx="0" cy="368230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5B34588-AB4B-4CF4-A4F1-0EAD100CC86E}"/>
              </a:ext>
            </a:extLst>
          </p:cNvPr>
          <p:cNvCxnSpPr>
            <a:cxnSpLocks/>
          </p:cNvCxnSpPr>
          <p:nvPr/>
        </p:nvCxnSpPr>
        <p:spPr>
          <a:xfrm flipH="1">
            <a:off x="5712818" y="4436843"/>
            <a:ext cx="374106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C81B964-D637-4A56-9716-C15E2BC0D2F2}"/>
              </a:ext>
            </a:extLst>
          </p:cNvPr>
          <p:cNvSpPr txBox="1"/>
          <p:nvPr/>
        </p:nvSpPr>
        <p:spPr>
          <a:xfrm>
            <a:off x="5514834" y="5421970"/>
            <a:ext cx="334651" cy="18652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Low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10A5B6-4BFF-4003-9E8D-9F909DC16113}"/>
              </a:ext>
            </a:extLst>
          </p:cNvPr>
          <p:cNvSpPr txBox="1"/>
          <p:nvPr/>
        </p:nvSpPr>
        <p:spPr>
          <a:xfrm>
            <a:off x="5954600" y="5743518"/>
            <a:ext cx="334651" cy="18652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Low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8145986-B64E-4BB2-A202-F696D4A91BB6}"/>
              </a:ext>
            </a:extLst>
          </p:cNvPr>
          <p:cNvGrpSpPr/>
          <p:nvPr/>
        </p:nvGrpSpPr>
        <p:grpSpPr>
          <a:xfrm>
            <a:off x="7174230" y="5895684"/>
            <a:ext cx="1013460" cy="233141"/>
            <a:chOff x="6957060" y="5834925"/>
            <a:chExt cx="1013460" cy="233141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0DA92A0-90E8-484E-8841-D08E457722E4}"/>
                </a:ext>
              </a:extLst>
            </p:cNvPr>
            <p:cNvSpPr/>
            <p:nvPr/>
          </p:nvSpPr>
          <p:spPr bwMode="gray">
            <a:xfrm>
              <a:off x="6957060" y="5878158"/>
              <a:ext cx="106680" cy="106680"/>
            </a:xfrm>
            <a:prstGeom prst="ellipse">
              <a:avLst/>
            </a:prstGeom>
            <a:solidFill>
              <a:srgbClr val="00A3E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1EF9C79-1B75-43CB-8BD6-4DABE92D74A9}"/>
                </a:ext>
              </a:extLst>
            </p:cNvPr>
            <p:cNvSpPr txBox="1"/>
            <p:nvPr/>
          </p:nvSpPr>
          <p:spPr>
            <a:xfrm>
              <a:off x="7150198" y="5834925"/>
              <a:ext cx="820322" cy="233141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>
                <a:lnSpc>
                  <a:spcPts val="1200"/>
                </a:lnSpc>
                <a:defRPr sz="800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Profitability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672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213">
            <a:extLst>
              <a:ext uri="{FF2B5EF4-FFF2-40B4-BE49-F238E27FC236}">
                <a16:creationId xmlns:a16="http://schemas.microsoft.com/office/drawing/2014/main" id="{DE07FAA9-309D-418D-9CA7-F8F20B2DB27D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EE02D8-ED15-4F01-8194-D02403F60FE6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Heatmap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D1EDEF-F4C4-407C-8A0B-E062092AA5D5}"/>
              </a:ext>
            </a:extLst>
          </p:cNvPr>
          <p:cNvSpPr/>
          <p:nvPr/>
        </p:nvSpPr>
        <p:spPr>
          <a:xfrm>
            <a:off x="384048" y="1271016"/>
            <a:ext cx="2776401" cy="184666"/>
          </a:xfrm>
          <a:prstGeom prst="rect">
            <a:avLst/>
          </a:prstGeom>
        </p:spPr>
        <p:txBody>
          <a:bodyPr wrap="none" lIns="0" tIns="0" rIns="0">
            <a:spAutoFit/>
          </a:bodyPr>
          <a:lstStyle/>
          <a:p>
            <a:r>
              <a:rPr lang="de-DE" sz="900" b="1" dirty="0">
                <a:latin typeface="+mj-lt"/>
              </a:rPr>
              <a:t>Key </a:t>
            </a:r>
            <a:r>
              <a:rPr lang="de-DE" sz="900" b="1" dirty="0" err="1">
                <a:latin typeface="+mj-lt"/>
              </a:rPr>
              <a:t>innovation</a:t>
            </a:r>
            <a:r>
              <a:rPr lang="de-DE" sz="900" b="1" dirty="0">
                <a:latin typeface="+mj-lt"/>
              </a:rPr>
              <a:t> </a:t>
            </a:r>
            <a:r>
              <a:rPr lang="de-DE" sz="900" b="1" dirty="0" err="1">
                <a:latin typeface="+mj-lt"/>
              </a:rPr>
              <a:t>performances</a:t>
            </a:r>
            <a:r>
              <a:rPr lang="de-DE" sz="900" b="1" dirty="0">
                <a:latin typeface="+mj-lt"/>
              </a:rPr>
              <a:t> </a:t>
            </a:r>
            <a:r>
              <a:rPr lang="ru-RU" sz="900" b="1" dirty="0">
                <a:latin typeface="+mj-lt"/>
              </a:rPr>
              <a:t>(</a:t>
            </a:r>
            <a:r>
              <a:rPr lang="de-DE" sz="900" b="1" dirty="0">
                <a:latin typeface="+mj-lt"/>
              </a:rPr>
              <a:t>relative </a:t>
            </a:r>
            <a:r>
              <a:rPr lang="de-DE" sz="900" b="1" dirty="0" err="1">
                <a:latin typeface="+mj-lt"/>
              </a:rPr>
              <a:t>to</a:t>
            </a:r>
            <a:r>
              <a:rPr lang="de-DE" sz="900" b="1" dirty="0">
                <a:latin typeface="+mj-lt"/>
              </a:rPr>
              <a:t> EU</a:t>
            </a:r>
            <a:r>
              <a:rPr lang="ru-RU" sz="900" b="1" dirty="0">
                <a:latin typeface="+mj-lt"/>
              </a:rPr>
              <a:t>) </a:t>
            </a:r>
            <a:r>
              <a:rPr lang="ru-RU" sz="900" b="1" baseline="30000" dirty="0">
                <a:latin typeface="+mj-lt"/>
              </a:rPr>
              <a:t>1</a:t>
            </a:r>
            <a:endParaRPr lang="ru-RU" sz="900" b="1" dirty="0"/>
          </a:p>
        </p:txBody>
      </p:sp>
      <p:sp>
        <p:nvSpPr>
          <p:cNvPr id="28" name="Rectangle 27">
            <a:hlinkClick r:id="rId2"/>
            <a:extLst>
              <a:ext uri="{FF2B5EF4-FFF2-40B4-BE49-F238E27FC236}">
                <a16:creationId xmlns:a16="http://schemas.microsoft.com/office/drawing/2014/main" id="{CB0B5B8E-31C2-44B5-9B48-5267B939264C}"/>
              </a:ext>
            </a:extLst>
          </p:cNvPr>
          <p:cNvSpPr/>
          <p:nvPr/>
        </p:nvSpPr>
        <p:spPr>
          <a:xfrm>
            <a:off x="386946" y="5800387"/>
            <a:ext cx="3695067" cy="25224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dirty="0"/>
              <a:t>Data research, analysis (key findings) &amp; design: </a:t>
            </a:r>
            <a:r>
              <a:rPr lang="en-US" sz="800" dirty="0">
                <a:solidFill>
                  <a:prstClr val="black"/>
                </a:solidFill>
              </a:rPr>
              <a:t>I. Daraev</a:t>
            </a:r>
            <a:endParaRPr lang="en-US" sz="800" dirty="0"/>
          </a:p>
          <a:p>
            <a:r>
              <a:rPr lang="ru-RU" sz="1000" baseline="30000" dirty="0"/>
              <a:t>1 </a:t>
            </a:r>
            <a:r>
              <a:rPr lang="de-DE" sz="800" dirty="0"/>
              <a:t>Source: European Commission – European Innovation Scoreboard 2023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A381390-68D5-4FE5-BB1C-CC209372C991}"/>
              </a:ext>
            </a:extLst>
          </p:cNvPr>
          <p:cNvSpPr/>
          <p:nvPr/>
        </p:nvSpPr>
        <p:spPr>
          <a:xfrm>
            <a:off x="2587893" y="2110773"/>
            <a:ext cx="373686" cy="1984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dirty="0"/>
              <a:t>2016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3D9EA-5CC5-4481-B60E-15D0A1F13FC5}"/>
              </a:ext>
            </a:extLst>
          </p:cNvPr>
          <p:cNvSpPr txBox="1"/>
          <p:nvPr/>
        </p:nvSpPr>
        <p:spPr>
          <a:xfrm>
            <a:off x="381000" y="2620686"/>
            <a:ext cx="1094214" cy="18748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de-DE" sz="800" dirty="0" err="1"/>
              <a:t>Doctorate</a:t>
            </a:r>
            <a:r>
              <a:rPr lang="de-DE" sz="800" dirty="0"/>
              <a:t> </a:t>
            </a:r>
            <a:r>
              <a:rPr lang="de-DE" sz="800" dirty="0" err="1"/>
              <a:t>graduates</a:t>
            </a:r>
            <a:endParaRPr lang="de-DE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903176-E4C3-4CB5-ABA9-3F4CF85627E7}"/>
              </a:ext>
            </a:extLst>
          </p:cNvPr>
          <p:cNvSpPr txBox="1"/>
          <p:nvPr/>
        </p:nvSpPr>
        <p:spPr>
          <a:xfrm>
            <a:off x="344295" y="2974472"/>
            <a:ext cx="1130919" cy="25454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00" dirty="0"/>
              <a:t>Government support for business R&amp;D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851454-821E-48AA-841B-9D84D97FD84D}"/>
              </a:ext>
            </a:extLst>
          </p:cNvPr>
          <p:cNvSpPr txBox="1"/>
          <p:nvPr/>
        </p:nvSpPr>
        <p:spPr>
          <a:xfrm>
            <a:off x="344295" y="3395312"/>
            <a:ext cx="1130919" cy="2399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de-DE" sz="800" dirty="0" err="1"/>
              <a:t>Employment</a:t>
            </a:r>
            <a:r>
              <a:rPr lang="de-DE" sz="800" dirty="0"/>
              <a:t> in innovative </a:t>
            </a:r>
            <a:r>
              <a:rPr lang="de-DE" sz="800" dirty="0" err="1"/>
              <a:t>enterprises</a:t>
            </a:r>
            <a:endParaRPr lang="de-DE" sz="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23B65-8E8C-4B76-83C4-35751CD64419}"/>
              </a:ext>
            </a:extLst>
          </p:cNvPr>
          <p:cNvSpPr txBox="1"/>
          <p:nvPr/>
        </p:nvSpPr>
        <p:spPr>
          <a:xfrm>
            <a:off x="308735" y="3797864"/>
            <a:ext cx="1166480" cy="23015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00" dirty="0"/>
              <a:t>Medium and high-tech goods exports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7D82E1-D10B-4800-81C9-5D0CD27F70B2}"/>
              </a:ext>
            </a:extLst>
          </p:cNvPr>
          <p:cNvSpPr txBox="1"/>
          <p:nvPr/>
        </p:nvSpPr>
        <p:spPr>
          <a:xfrm>
            <a:off x="381000" y="4182129"/>
            <a:ext cx="1094214" cy="27747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de-DE" sz="800" dirty="0"/>
              <a:t>Sales of innovative </a:t>
            </a:r>
            <a:r>
              <a:rPr lang="de-DE" sz="800" dirty="0" err="1"/>
              <a:t>products</a:t>
            </a:r>
            <a:endParaRPr lang="ru-RU" sz="800" dirty="0" err="1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A6BBE0B-73C9-451D-9941-34AE5AF82E65}"/>
              </a:ext>
            </a:extLst>
          </p:cNvPr>
          <p:cNvSpPr/>
          <p:nvPr/>
        </p:nvSpPr>
        <p:spPr bwMode="gray">
          <a:xfrm>
            <a:off x="1761391" y="2500527"/>
            <a:ext cx="400604" cy="400604"/>
          </a:xfrm>
          <a:prstGeom prst="rect">
            <a:avLst/>
          </a:prstGeom>
          <a:solidFill>
            <a:srgbClr val="63BE7B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DF13E71-649A-4C28-A2C5-DCFBBE3EF40A}"/>
              </a:ext>
            </a:extLst>
          </p:cNvPr>
          <p:cNvSpPr/>
          <p:nvPr/>
        </p:nvSpPr>
        <p:spPr bwMode="gray">
          <a:xfrm>
            <a:off x="2161995" y="2500527"/>
            <a:ext cx="400604" cy="400604"/>
          </a:xfrm>
          <a:prstGeom prst="rect">
            <a:avLst/>
          </a:prstGeom>
          <a:solidFill>
            <a:srgbClr val="82CB96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E6D4898-08E9-46CF-8D02-C72D14ECE69E}"/>
              </a:ext>
            </a:extLst>
          </p:cNvPr>
          <p:cNvSpPr/>
          <p:nvPr/>
        </p:nvSpPr>
        <p:spPr bwMode="gray">
          <a:xfrm>
            <a:off x="2562599" y="2500527"/>
            <a:ext cx="400604" cy="400604"/>
          </a:xfrm>
          <a:prstGeom prst="rect">
            <a:avLst/>
          </a:prstGeom>
          <a:solidFill>
            <a:srgbClr val="95D3A6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F6765A4-E422-4ED5-A561-94B4DE493D18}"/>
              </a:ext>
            </a:extLst>
          </p:cNvPr>
          <p:cNvSpPr/>
          <p:nvPr/>
        </p:nvSpPr>
        <p:spPr bwMode="gray">
          <a:xfrm>
            <a:off x="2963203" y="2500527"/>
            <a:ext cx="400604" cy="400604"/>
          </a:xfrm>
          <a:prstGeom prst="rect">
            <a:avLst/>
          </a:prstGeom>
          <a:solidFill>
            <a:srgbClr val="C5E6D0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F8C187E-E414-432E-B9E0-F564289426B0}"/>
              </a:ext>
            </a:extLst>
          </p:cNvPr>
          <p:cNvSpPr/>
          <p:nvPr/>
        </p:nvSpPr>
        <p:spPr bwMode="gray">
          <a:xfrm>
            <a:off x="3363807" y="2500527"/>
            <a:ext cx="400604" cy="400604"/>
          </a:xfrm>
          <a:prstGeom prst="rect">
            <a:avLst/>
          </a:prstGeom>
          <a:solidFill>
            <a:srgbClr val="B0DEBE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0E01304-A264-4F4D-9233-DF0782EDE619}"/>
              </a:ext>
            </a:extLst>
          </p:cNvPr>
          <p:cNvSpPr/>
          <p:nvPr/>
        </p:nvSpPr>
        <p:spPr bwMode="gray">
          <a:xfrm rot="16200000">
            <a:off x="1761393" y="4102943"/>
            <a:ext cx="400604" cy="400604"/>
          </a:xfrm>
          <a:prstGeom prst="rect">
            <a:avLst/>
          </a:prstGeom>
          <a:solidFill>
            <a:srgbClr val="87CD9A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DA328D8-BDB2-453D-AC69-BBCAE132D513}"/>
              </a:ext>
            </a:extLst>
          </p:cNvPr>
          <p:cNvSpPr/>
          <p:nvPr/>
        </p:nvSpPr>
        <p:spPr bwMode="gray">
          <a:xfrm rot="16200000">
            <a:off x="1761391" y="3702339"/>
            <a:ext cx="400604" cy="400604"/>
          </a:xfrm>
          <a:prstGeom prst="rect">
            <a:avLst/>
          </a:prstGeom>
          <a:solidFill>
            <a:srgbClr val="CDE9D7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CD31EA7-C50C-4607-8973-483C39D28B73}"/>
              </a:ext>
            </a:extLst>
          </p:cNvPr>
          <p:cNvSpPr/>
          <p:nvPr/>
        </p:nvSpPr>
        <p:spPr bwMode="gray">
          <a:xfrm rot="16200000">
            <a:off x="1761393" y="3301735"/>
            <a:ext cx="400604" cy="400604"/>
          </a:xfrm>
          <a:prstGeom prst="rect">
            <a:avLst/>
          </a:prstGeom>
          <a:solidFill>
            <a:srgbClr val="AADBB8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3ABED59-1583-4F61-8CFB-A08AA4D40180}"/>
              </a:ext>
            </a:extLst>
          </p:cNvPr>
          <p:cNvSpPr/>
          <p:nvPr/>
        </p:nvSpPr>
        <p:spPr bwMode="gray">
          <a:xfrm rot="16200000">
            <a:off x="1761392" y="2901131"/>
            <a:ext cx="400604" cy="400604"/>
          </a:xfrm>
          <a:prstGeom prst="rect">
            <a:avLst/>
          </a:prstGeom>
          <a:solidFill>
            <a:srgbClr val="CDE9D7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2CBB362-8FA4-49DE-A927-484ADEA5B921}"/>
              </a:ext>
            </a:extLst>
          </p:cNvPr>
          <p:cNvSpPr/>
          <p:nvPr/>
        </p:nvSpPr>
        <p:spPr bwMode="gray">
          <a:xfrm rot="16200000">
            <a:off x="2161993" y="4102943"/>
            <a:ext cx="400604" cy="400604"/>
          </a:xfrm>
          <a:prstGeom prst="rect">
            <a:avLst/>
          </a:prstGeom>
          <a:solidFill>
            <a:srgbClr val="C1E4CC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1C418B4-A9C4-446C-843D-12D02EB634FA}"/>
              </a:ext>
            </a:extLst>
          </p:cNvPr>
          <p:cNvSpPr/>
          <p:nvPr/>
        </p:nvSpPr>
        <p:spPr bwMode="gray">
          <a:xfrm rot="16200000">
            <a:off x="2161990" y="3702339"/>
            <a:ext cx="400604" cy="400604"/>
          </a:xfrm>
          <a:prstGeom prst="rect">
            <a:avLst/>
          </a:prstGeom>
          <a:solidFill>
            <a:srgbClr val="B6E0C3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1989767-AB6F-409E-B31E-EBFE1862775D}"/>
              </a:ext>
            </a:extLst>
          </p:cNvPr>
          <p:cNvSpPr/>
          <p:nvPr/>
        </p:nvSpPr>
        <p:spPr bwMode="gray">
          <a:xfrm rot="16200000">
            <a:off x="2161993" y="3301735"/>
            <a:ext cx="400604" cy="400604"/>
          </a:xfrm>
          <a:prstGeom prst="rect">
            <a:avLst/>
          </a:prstGeom>
          <a:solidFill>
            <a:srgbClr val="9BD5AB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3EC2026-B1A9-4BE3-AB2C-6AA585609EDA}"/>
              </a:ext>
            </a:extLst>
          </p:cNvPr>
          <p:cNvSpPr/>
          <p:nvPr/>
        </p:nvSpPr>
        <p:spPr bwMode="gray">
          <a:xfrm rot="16200000">
            <a:off x="2161992" y="2901131"/>
            <a:ext cx="400604" cy="400604"/>
          </a:xfrm>
          <a:prstGeom prst="rect">
            <a:avLst/>
          </a:prstGeom>
          <a:solidFill>
            <a:srgbClr val="FBFFFD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EEFC92F-53BF-43A9-95D4-6A83627C7A85}"/>
              </a:ext>
            </a:extLst>
          </p:cNvPr>
          <p:cNvSpPr/>
          <p:nvPr/>
        </p:nvSpPr>
        <p:spPr bwMode="gray">
          <a:xfrm rot="16200000">
            <a:off x="2562595" y="4102943"/>
            <a:ext cx="400604" cy="400604"/>
          </a:xfrm>
          <a:prstGeom prst="rect">
            <a:avLst/>
          </a:prstGeom>
          <a:solidFill>
            <a:srgbClr val="AEDDBC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C58F63B-B5E7-4758-A9E3-91E0AF9BCA0B}"/>
              </a:ext>
            </a:extLst>
          </p:cNvPr>
          <p:cNvSpPr/>
          <p:nvPr/>
        </p:nvSpPr>
        <p:spPr bwMode="gray">
          <a:xfrm rot="16200000">
            <a:off x="2562592" y="3702339"/>
            <a:ext cx="400604" cy="400604"/>
          </a:xfrm>
          <a:prstGeom prst="rect">
            <a:avLst/>
          </a:prstGeom>
          <a:solidFill>
            <a:srgbClr val="C7E7D1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EBD30E0-CFC5-408D-8E35-274DC807E564}"/>
              </a:ext>
            </a:extLst>
          </p:cNvPr>
          <p:cNvSpPr/>
          <p:nvPr/>
        </p:nvSpPr>
        <p:spPr bwMode="gray">
          <a:xfrm rot="16200000">
            <a:off x="2562595" y="3301735"/>
            <a:ext cx="400604" cy="400604"/>
          </a:xfrm>
          <a:prstGeom prst="rect">
            <a:avLst/>
          </a:prstGeom>
          <a:solidFill>
            <a:srgbClr val="B3DFC0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8315D5E-F365-49A8-85F4-D2BE479E59B7}"/>
              </a:ext>
            </a:extLst>
          </p:cNvPr>
          <p:cNvSpPr/>
          <p:nvPr/>
        </p:nvSpPr>
        <p:spPr bwMode="gray">
          <a:xfrm rot="16200000">
            <a:off x="2562594" y="2901131"/>
            <a:ext cx="400604" cy="400604"/>
          </a:xfrm>
          <a:prstGeom prst="rect">
            <a:avLst/>
          </a:prstGeom>
          <a:solidFill>
            <a:srgbClr val="7DC991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ADCF4C7C-F206-4EF1-8EA7-81B0E1EE4326}"/>
              </a:ext>
            </a:extLst>
          </p:cNvPr>
          <p:cNvSpPr/>
          <p:nvPr/>
        </p:nvSpPr>
        <p:spPr bwMode="gray">
          <a:xfrm rot="16200000">
            <a:off x="2963187" y="4102943"/>
            <a:ext cx="400604" cy="400604"/>
          </a:xfrm>
          <a:prstGeom prst="rect">
            <a:avLst/>
          </a:prstGeom>
          <a:solidFill>
            <a:srgbClr val="D1EBDA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A20DED2-4FC7-48B3-B5BF-80003D0AB315}"/>
              </a:ext>
            </a:extLst>
          </p:cNvPr>
          <p:cNvSpPr/>
          <p:nvPr/>
        </p:nvSpPr>
        <p:spPr bwMode="gray">
          <a:xfrm rot="16200000">
            <a:off x="2963185" y="3702339"/>
            <a:ext cx="400604" cy="400604"/>
          </a:xfrm>
          <a:prstGeom prst="rect">
            <a:avLst/>
          </a:prstGeom>
          <a:solidFill>
            <a:srgbClr val="DEF0E5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99292F5-85F5-4396-9B11-E30DFE968616}"/>
              </a:ext>
            </a:extLst>
          </p:cNvPr>
          <p:cNvSpPr/>
          <p:nvPr/>
        </p:nvSpPr>
        <p:spPr bwMode="gray">
          <a:xfrm rot="16200000">
            <a:off x="2963187" y="3301735"/>
            <a:ext cx="400604" cy="400604"/>
          </a:xfrm>
          <a:prstGeom prst="rect">
            <a:avLst/>
          </a:prstGeom>
          <a:solidFill>
            <a:srgbClr val="B0DDBD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7F08C54-60D6-472D-A018-D41D03761A19}"/>
              </a:ext>
            </a:extLst>
          </p:cNvPr>
          <p:cNvSpPr/>
          <p:nvPr/>
        </p:nvSpPr>
        <p:spPr bwMode="gray">
          <a:xfrm rot="16200000">
            <a:off x="2963187" y="2901131"/>
            <a:ext cx="400604" cy="400604"/>
          </a:xfrm>
          <a:prstGeom prst="rect">
            <a:avLst/>
          </a:prstGeom>
          <a:solidFill>
            <a:srgbClr val="A6D9B5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6B0702B-A501-4B27-AA66-29350230FA7C}"/>
              </a:ext>
            </a:extLst>
          </p:cNvPr>
          <p:cNvSpPr/>
          <p:nvPr/>
        </p:nvSpPr>
        <p:spPr bwMode="gray">
          <a:xfrm rot="16200000">
            <a:off x="3363807" y="4102943"/>
            <a:ext cx="400604" cy="400604"/>
          </a:xfrm>
          <a:prstGeom prst="rect">
            <a:avLst/>
          </a:prstGeom>
          <a:solidFill>
            <a:srgbClr val="EFF7F4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E8AAF3F-D2FB-4DCF-80A0-229AA122C6F5}"/>
              </a:ext>
            </a:extLst>
          </p:cNvPr>
          <p:cNvSpPr/>
          <p:nvPr/>
        </p:nvSpPr>
        <p:spPr bwMode="gray">
          <a:xfrm rot="16200000">
            <a:off x="3363804" y="3702339"/>
            <a:ext cx="400604" cy="400604"/>
          </a:xfrm>
          <a:prstGeom prst="rect">
            <a:avLst/>
          </a:prstGeom>
          <a:solidFill>
            <a:srgbClr val="D9EEE1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E79A44C-2C89-4EC0-B979-F9300D4541C1}"/>
              </a:ext>
            </a:extLst>
          </p:cNvPr>
          <p:cNvSpPr/>
          <p:nvPr/>
        </p:nvSpPr>
        <p:spPr bwMode="gray">
          <a:xfrm rot="16200000">
            <a:off x="3363807" y="3301735"/>
            <a:ext cx="400604" cy="400604"/>
          </a:xfrm>
          <a:prstGeom prst="rect">
            <a:avLst/>
          </a:prstGeom>
          <a:solidFill>
            <a:srgbClr val="A6D9B5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F25E9E2-AB7D-4B69-A697-125483D12B6D}"/>
              </a:ext>
            </a:extLst>
          </p:cNvPr>
          <p:cNvSpPr/>
          <p:nvPr/>
        </p:nvSpPr>
        <p:spPr bwMode="gray">
          <a:xfrm rot="16200000">
            <a:off x="3363806" y="2901131"/>
            <a:ext cx="400604" cy="400604"/>
          </a:xfrm>
          <a:prstGeom prst="rect">
            <a:avLst/>
          </a:prstGeom>
          <a:solidFill>
            <a:srgbClr val="BAE1C6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C11358D9-5A85-4F70-86B9-F4206B285666}"/>
              </a:ext>
            </a:extLst>
          </p:cNvPr>
          <p:cNvGrpSpPr/>
          <p:nvPr/>
        </p:nvGrpSpPr>
        <p:grpSpPr>
          <a:xfrm>
            <a:off x="2153834" y="4528745"/>
            <a:ext cx="436510" cy="420340"/>
            <a:chOff x="3716281" y="5157037"/>
            <a:chExt cx="507821" cy="489009"/>
          </a:xfrm>
        </p:grpSpPr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E0DF07A1-8C06-40F6-BCE5-3492A05C4255}"/>
                </a:ext>
              </a:extLst>
            </p:cNvPr>
            <p:cNvSpPr/>
            <p:nvPr/>
          </p:nvSpPr>
          <p:spPr bwMode="gray">
            <a:xfrm rot="18960074" flipH="1" flipV="1">
              <a:off x="3895918" y="5339828"/>
              <a:ext cx="328184" cy="30621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</a:gra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220805DA-BE3C-48A2-B648-3373083DC5CD}"/>
                </a:ext>
              </a:extLst>
            </p:cNvPr>
            <p:cNvGrpSpPr/>
            <p:nvPr/>
          </p:nvGrpSpPr>
          <p:grpSpPr>
            <a:xfrm>
              <a:off x="3716281" y="5157037"/>
              <a:ext cx="460532" cy="393334"/>
              <a:chOff x="4424701" y="1740109"/>
              <a:chExt cx="304341" cy="259935"/>
            </a:xfrm>
          </p:grpSpPr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D2B85851-E945-4B32-A90A-D8A5A238983E}"/>
                  </a:ext>
                </a:extLst>
              </p:cNvPr>
              <p:cNvSpPr/>
              <p:nvPr/>
            </p:nvSpPr>
            <p:spPr>
              <a:xfrm>
                <a:off x="4432993" y="1740109"/>
                <a:ext cx="296049" cy="112041"/>
              </a:xfrm>
              <a:custGeom>
                <a:avLst/>
                <a:gdLst>
                  <a:gd name="connsiteX0" fmla="*/ 24670 w 47625"/>
                  <a:gd name="connsiteY0" fmla="*/ 7144 h 19050"/>
                  <a:gd name="connsiteX1" fmla="*/ 7144 w 47625"/>
                  <a:gd name="connsiteY1" fmla="*/ 19717 h 19050"/>
                  <a:gd name="connsiteX2" fmla="*/ 42291 w 47625"/>
                  <a:gd name="connsiteY2" fmla="*/ 19717 h 19050"/>
                  <a:gd name="connsiteX3" fmla="*/ 24765 w 47625"/>
                  <a:gd name="connsiteY3" fmla="*/ 7144 h 19050"/>
                  <a:gd name="connsiteX4" fmla="*/ 24765 w 47625"/>
                  <a:gd name="connsiteY4" fmla="*/ 714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19050">
                    <a:moveTo>
                      <a:pt x="24670" y="7144"/>
                    </a:moveTo>
                    <a:cubicBezTo>
                      <a:pt x="16478" y="7144"/>
                      <a:pt x="9716" y="12383"/>
                      <a:pt x="7144" y="19717"/>
                    </a:cubicBezTo>
                    <a:lnTo>
                      <a:pt x="42291" y="19717"/>
                    </a:lnTo>
                    <a:cubicBezTo>
                      <a:pt x="39719" y="12383"/>
                      <a:pt x="32957" y="7144"/>
                      <a:pt x="24765" y="7144"/>
                    </a:cubicBezTo>
                    <a:lnTo>
                      <a:pt x="24765" y="714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504015A0-46DA-4B70-B1C4-7D424DCBF17C}"/>
                  </a:ext>
                </a:extLst>
              </p:cNvPr>
              <p:cNvSpPr/>
              <p:nvPr/>
            </p:nvSpPr>
            <p:spPr>
              <a:xfrm>
                <a:off x="4424701" y="1814056"/>
                <a:ext cx="296049" cy="112041"/>
              </a:xfrm>
              <a:custGeom>
                <a:avLst/>
                <a:gdLst>
                  <a:gd name="connsiteX0" fmla="*/ 44958 w 47625"/>
                  <a:gd name="connsiteY0" fmla="*/ 13430 h 19050"/>
                  <a:gd name="connsiteX1" fmla="*/ 43625 w 47625"/>
                  <a:gd name="connsiteY1" fmla="*/ 7144 h 19050"/>
                  <a:gd name="connsiteX2" fmla="*/ 8477 w 47625"/>
                  <a:gd name="connsiteY2" fmla="*/ 7144 h 19050"/>
                  <a:gd name="connsiteX3" fmla="*/ 7144 w 47625"/>
                  <a:gd name="connsiteY3" fmla="*/ 13430 h 19050"/>
                  <a:gd name="connsiteX4" fmla="*/ 8477 w 47625"/>
                  <a:gd name="connsiteY4" fmla="*/ 19621 h 19050"/>
                  <a:gd name="connsiteX5" fmla="*/ 43625 w 47625"/>
                  <a:gd name="connsiteY5" fmla="*/ 19621 h 19050"/>
                  <a:gd name="connsiteX6" fmla="*/ 44958 w 47625"/>
                  <a:gd name="connsiteY6" fmla="*/ 1343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625" h="19050">
                    <a:moveTo>
                      <a:pt x="44958" y="13430"/>
                    </a:moveTo>
                    <a:cubicBezTo>
                      <a:pt x="44958" y="11240"/>
                      <a:pt x="44387" y="9049"/>
                      <a:pt x="43625" y="7144"/>
                    </a:cubicBezTo>
                    <a:lnTo>
                      <a:pt x="8477" y="7144"/>
                    </a:lnTo>
                    <a:cubicBezTo>
                      <a:pt x="7715" y="9049"/>
                      <a:pt x="7144" y="11240"/>
                      <a:pt x="7144" y="13430"/>
                    </a:cubicBezTo>
                    <a:cubicBezTo>
                      <a:pt x="7144" y="15621"/>
                      <a:pt x="7715" y="17717"/>
                      <a:pt x="8477" y="19621"/>
                    </a:cubicBezTo>
                    <a:lnTo>
                      <a:pt x="43625" y="19621"/>
                    </a:lnTo>
                    <a:cubicBezTo>
                      <a:pt x="44387" y="17621"/>
                      <a:pt x="44958" y="15621"/>
                      <a:pt x="44958" y="13430"/>
                    </a:cubicBezTo>
                    <a:close/>
                  </a:path>
                </a:pathLst>
              </a:custGeom>
              <a:solidFill>
                <a:srgbClr val="DD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DCA9B1A7-9B5E-4BE4-8FA8-36CB4B3071CF}"/>
                  </a:ext>
                </a:extLst>
              </p:cNvPr>
              <p:cNvSpPr/>
              <p:nvPr/>
            </p:nvSpPr>
            <p:spPr>
              <a:xfrm>
                <a:off x="4432993" y="1888003"/>
                <a:ext cx="296049" cy="112041"/>
              </a:xfrm>
              <a:custGeom>
                <a:avLst/>
                <a:gdLst>
                  <a:gd name="connsiteX0" fmla="*/ 42291 w 47625"/>
                  <a:gd name="connsiteY0" fmla="*/ 7144 h 19050"/>
                  <a:gd name="connsiteX1" fmla="*/ 7144 w 47625"/>
                  <a:gd name="connsiteY1" fmla="*/ 7144 h 19050"/>
                  <a:gd name="connsiteX2" fmla="*/ 24670 w 47625"/>
                  <a:gd name="connsiteY2" fmla="*/ 19717 h 19050"/>
                  <a:gd name="connsiteX3" fmla="*/ 42196 w 47625"/>
                  <a:gd name="connsiteY3" fmla="*/ 7144 h 19050"/>
                  <a:gd name="connsiteX4" fmla="*/ 42196 w 47625"/>
                  <a:gd name="connsiteY4" fmla="*/ 714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19050">
                    <a:moveTo>
                      <a:pt x="42291" y="7144"/>
                    </a:moveTo>
                    <a:lnTo>
                      <a:pt x="7144" y="7144"/>
                    </a:lnTo>
                    <a:cubicBezTo>
                      <a:pt x="9716" y="14383"/>
                      <a:pt x="16478" y="19717"/>
                      <a:pt x="24670" y="19717"/>
                    </a:cubicBezTo>
                    <a:cubicBezTo>
                      <a:pt x="32861" y="19717"/>
                      <a:pt x="39624" y="14478"/>
                      <a:pt x="42196" y="7144"/>
                    </a:cubicBezTo>
                    <a:lnTo>
                      <a:pt x="42196" y="7144"/>
                    </a:lnTo>
                    <a:close/>
                  </a:path>
                </a:pathLst>
              </a:custGeom>
              <a:solidFill>
                <a:srgbClr val="FFCE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D6672ECD-2FA1-4D8A-A0B0-E61FCD986205}"/>
              </a:ext>
            </a:extLst>
          </p:cNvPr>
          <p:cNvGrpSpPr/>
          <p:nvPr/>
        </p:nvGrpSpPr>
        <p:grpSpPr>
          <a:xfrm>
            <a:off x="2565998" y="4525860"/>
            <a:ext cx="425926" cy="423225"/>
            <a:chOff x="4195779" y="5153680"/>
            <a:chExt cx="495508" cy="492366"/>
          </a:xfrm>
        </p:grpSpPr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60C5B263-25CB-49A9-8106-019D531987FF}"/>
                </a:ext>
              </a:extLst>
            </p:cNvPr>
            <p:cNvSpPr/>
            <p:nvPr/>
          </p:nvSpPr>
          <p:spPr bwMode="gray">
            <a:xfrm rot="18960074" flipH="1" flipV="1">
              <a:off x="4363103" y="5339828"/>
              <a:ext cx="328184" cy="30621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</a:gra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0293C65D-04AE-4813-91D6-36D2BE08BAB9}"/>
                </a:ext>
              </a:extLst>
            </p:cNvPr>
            <p:cNvGrpSpPr/>
            <p:nvPr/>
          </p:nvGrpSpPr>
          <p:grpSpPr>
            <a:xfrm>
              <a:off x="4195779" y="5153680"/>
              <a:ext cx="415242" cy="415242"/>
              <a:chOff x="3311221" y="688795"/>
              <a:chExt cx="48197" cy="47625"/>
            </a:xfrm>
          </p:grpSpPr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6678EEC5-2F00-4D1A-8530-13F8DCBC7484}"/>
                  </a:ext>
                </a:extLst>
              </p:cNvPr>
              <p:cNvSpPr/>
              <p:nvPr/>
            </p:nvSpPr>
            <p:spPr>
              <a:xfrm>
                <a:off x="3311221" y="691653"/>
                <a:ext cx="19050" cy="38100"/>
              </a:xfrm>
              <a:custGeom>
                <a:avLst/>
                <a:gdLst>
                  <a:gd name="connsiteX0" fmla="*/ 7144 w 19050"/>
                  <a:gd name="connsiteY0" fmla="*/ 23717 h 38100"/>
                  <a:gd name="connsiteX1" fmla="*/ 16859 w 19050"/>
                  <a:gd name="connsiteY1" fmla="*/ 40195 h 38100"/>
                  <a:gd name="connsiteX2" fmla="*/ 16859 w 19050"/>
                  <a:gd name="connsiteY2" fmla="*/ 7144 h 38100"/>
                  <a:gd name="connsiteX3" fmla="*/ 7144 w 19050"/>
                  <a:gd name="connsiteY3" fmla="*/ 23622 h 38100"/>
                  <a:gd name="connsiteX4" fmla="*/ 7144 w 19050"/>
                  <a:gd name="connsiteY4" fmla="*/ 2362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38100">
                    <a:moveTo>
                      <a:pt x="7144" y="23717"/>
                    </a:moveTo>
                    <a:cubicBezTo>
                      <a:pt x="7144" y="30861"/>
                      <a:pt x="11144" y="36862"/>
                      <a:pt x="16859" y="40195"/>
                    </a:cubicBezTo>
                    <a:lnTo>
                      <a:pt x="16859" y="7144"/>
                    </a:lnTo>
                    <a:cubicBezTo>
                      <a:pt x="11144" y="10573"/>
                      <a:pt x="7144" y="16478"/>
                      <a:pt x="7144" y="23622"/>
                    </a:cubicBezTo>
                    <a:lnTo>
                      <a:pt x="7144" y="23622"/>
                    </a:lnTo>
                    <a:close/>
                  </a:path>
                </a:pathLst>
              </a:custGeom>
              <a:solidFill>
                <a:srgbClr val="00209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5F31B360-961F-4674-BE2F-A10E4B711195}"/>
                  </a:ext>
                </a:extLst>
              </p:cNvPr>
              <p:cNvSpPr/>
              <p:nvPr/>
            </p:nvSpPr>
            <p:spPr>
              <a:xfrm>
                <a:off x="3321032" y="688795"/>
                <a:ext cx="28575" cy="47625"/>
              </a:xfrm>
              <a:custGeom>
                <a:avLst/>
                <a:gdLst>
                  <a:gd name="connsiteX0" fmla="*/ 26575 w 28575"/>
                  <a:gd name="connsiteY0" fmla="*/ 10096 h 47625"/>
                  <a:gd name="connsiteX1" fmla="*/ 16859 w 28575"/>
                  <a:gd name="connsiteY1" fmla="*/ 7144 h 47625"/>
                  <a:gd name="connsiteX2" fmla="*/ 7144 w 28575"/>
                  <a:gd name="connsiteY2" fmla="*/ 10096 h 47625"/>
                  <a:gd name="connsiteX3" fmla="*/ 7144 w 28575"/>
                  <a:gd name="connsiteY3" fmla="*/ 43148 h 47625"/>
                  <a:gd name="connsiteX4" fmla="*/ 16859 w 28575"/>
                  <a:gd name="connsiteY4" fmla="*/ 46101 h 47625"/>
                  <a:gd name="connsiteX5" fmla="*/ 26575 w 28575"/>
                  <a:gd name="connsiteY5" fmla="*/ 43148 h 47625"/>
                  <a:gd name="connsiteX6" fmla="*/ 26575 w 28575"/>
                  <a:gd name="connsiteY6" fmla="*/ 1009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75" h="47625">
                    <a:moveTo>
                      <a:pt x="26575" y="10096"/>
                    </a:moveTo>
                    <a:cubicBezTo>
                      <a:pt x="23717" y="8382"/>
                      <a:pt x="20479" y="7144"/>
                      <a:pt x="16859" y="7144"/>
                    </a:cubicBezTo>
                    <a:cubicBezTo>
                      <a:pt x="13240" y="7144"/>
                      <a:pt x="10001" y="8382"/>
                      <a:pt x="7144" y="10096"/>
                    </a:cubicBezTo>
                    <a:lnTo>
                      <a:pt x="7144" y="43148"/>
                    </a:lnTo>
                    <a:cubicBezTo>
                      <a:pt x="10097" y="44863"/>
                      <a:pt x="13240" y="46101"/>
                      <a:pt x="16859" y="46101"/>
                    </a:cubicBezTo>
                    <a:cubicBezTo>
                      <a:pt x="20479" y="46101"/>
                      <a:pt x="23717" y="44863"/>
                      <a:pt x="26575" y="43148"/>
                    </a:cubicBezTo>
                    <a:lnTo>
                      <a:pt x="26575" y="10096"/>
                    </a:lnTo>
                    <a:close/>
                  </a:path>
                </a:pathLst>
              </a:custGeom>
              <a:solidFill>
                <a:srgbClr val="F9F9F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7E70CCAD-3EAE-46A3-AE1F-87660FBC3797}"/>
                  </a:ext>
                </a:extLst>
              </p:cNvPr>
              <p:cNvSpPr/>
              <p:nvPr/>
            </p:nvSpPr>
            <p:spPr>
              <a:xfrm>
                <a:off x="3340368" y="691748"/>
                <a:ext cx="19050" cy="38100"/>
              </a:xfrm>
              <a:custGeom>
                <a:avLst/>
                <a:gdLst>
                  <a:gd name="connsiteX0" fmla="*/ 16955 w 19050"/>
                  <a:gd name="connsiteY0" fmla="*/ 23622 h 38100"/>
                  <a:gd name="connsiteX1" fmla="*/ 7144 w 19050"/>
                  <a:gd name="connsiteY1" fmla="*/ 7144 h 38100"/>
                  <a:gd name="connsiteX2" fmla="*/ 7144 w 19050"/>
                  <a:gd name="connsiteY2" fmla="*/ 40196 h 38100"/>
                  <a:gd name="connsiteX3" fmla="*/ 16955 w 19050"/>
                  <a:gd name="connsiteY3" fmla="*/ 23717 h 38100"/>
                  <a:gd name="connsiteX4" fmla="*/ 16955 w 1905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38100">
                    <a:moveTo>
                      <a:pt x="16955" y="23622"/>
                    </a:moveTo>
                    <a:cubicBezTo>
                      <a:pt x="16955" y="16478"/>
                      <a:pt x="12954" y="10477"/>
                      <a:pt x="7144" y="7144"/>
                    </a:cubicBezTo>
                    <a:lnTo>
                      <a:pt x="7144" y="40196"/>
                    </a:lnTo>
                    <a:cubicBezTo>
                      <a:pt x="12954" y="36766"/>
                      <a:pt x="16955" y="30861"/>
                      <a:pt x="16955" y="23717"/>
                    </a:cubicBezTo>
                    <a:lnTo>
                      <a:pt x="16955" y="23717"/>
                    </a:lnTo>
                    <a:close/>
                  </a:path>
                </a:pathLst>
              </a:custGeom>
              <a:solidFill>
                <a:srgbClr val="FF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7DF954DF-D9E1-44A6-BBA4-25CE09AAEA2A}"/>
              </a:ext>
            </a:extLst>
          </p:cNvPr>
          <p:cNvGrpSpPr/>
          <p:nvPr/>
        </p:nvGrpSpPr>
        <p:grpSpPr>
          <a:xfrm>
            <a:off x="3359873" y="4525763"/>
            <a:ext cx="430209" cy="423322"/>
            <a:chOff x="5111726" y="5153567"/>
            <a:chExt cx="500491" cy="492479"/>
          </a:xfrm>
        </p:grpSpPr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1A21B24F-EA06-4376-A5AF-DC947780CAC1}"/>
                </a:ext>
              </a:extLst>
            </p:cNvPr>
            <p:cNvSpPr/>
            <p:nvPr/>
          </p:nvSpPr>
          <p:spPr bwMode="gray">
            <a:xfrm rot="18960074" flipH="1" flipV="1">
              <a:off x="5284033" y="5339828"/>
              <a:ext cx="328184" cy="30621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</a:gra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563C4BF9-56D1-4B47-AC7A-23AEB6C53EAC}"/>
                </a:ext>
              </a:extLst>
            </p:cNvPr>
            <p:cNvGrpSpPr/>
            <p:nvPr/>
          </p:nvGrpSpPr>
          <p:grpSpPr>
            <a:xfrm>
              <a:off x="5111726" y="5153567"/>
              <a:ext cx="429372" cy="429372"/>
              <a:chOff x="3148248" y="1189525"/>
              <a:chExt cx="46768" cy="47625"/>
            </a:xfrm>
          </p:grpSpPr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579A0002-AE92-4E15-B99C-4CA01A67269B}"/>
                  </a:ext>
                </a:extLst>
              </p:cNvPr>
              <p:cNvSpPr/>
              <p:nvPr/>
            </p:nvSpPr>
            <p:spPr>
              <a:xfrm>
                <a:off x="3148248" y="1192001"/>
                <a:ext cx="19050" cy="38100"/>
              </a:xfrm>
              <a:custGeom>
                <a:avLst/>
                <a:gdLst>
                  <a:gd name="connsiteX0" fmla="*/ 7144 w 19050"/>
                  <a:gd name="connsiteY0" fmla="*/ 23432 h 38100"/>
                  <a:gd name="connsiteX1" fmla="*/ 17050 w 19050"/>
                  <a:gd name="connsiteY1" fmla="*/ 39719 h 38100"/>
                  <a:gd name="connsiteX2" fmla="*/ 17050 w 19050"/>
                  <a:gd name="connsiteY2" fmla="*/ 7144 h 38100"/>
                  <a:gd name="connsiteX3" fmla="*/ 7144 w 19050"/>
                  <a:gd name="connsiteY3" fmla="*/ 234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" h="38100">
                    <a:moveTo>
                      <a:pt x="7144" y="23432"/>
                    </a:moveTo>
                    <a:cubicBezTo>
                      <a:pt x="7144" y="30480"/>
                      <a:pt x="11144" y="36481"/>
                      <a:pt x="17050" y="39719"/>
                    </a:cubicBezTo>
                    <a:lnTo>
                      <a:pt x="17050" y="7144"/>
                    </a:lnTo>
                    <a:cubicBezTo>
                      <a:pt x="11240" y="10382"/>
                      <a:pt x="7144" y="16383"/>
                      <a:pt x="7144" y="234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50EF23D3-31AD-4F9C-8E91-85A37666B60C}"/>
                  </a:ext>
                </a:extLst>
              </p:cNvPr>
              <p:cNvSpPr/>
              <p:nvPr/>
            </p:nvSpPr>
            <p:spPr>
              <a:xfrm>
                <a:off x="3158154" y="1189525"/>
                <a:ext cx="28575" cy="47625"/>
              </a:xfrm>
              <a:custGeom>
                <a:avLst/>
                <a:gdLst>
                  <a:gd name="connsiteX0" fmla="*/ 25051 w 28575"/>
                  <a:gd name="connsiteY0" fmla="*/ 9620 h 47625"/>
                  <a:gd name="connsiteX1" fmla="*/ 16097 w 28575"/>
                  <a:gd name="connsiteY1" fmla="*/ 7144 h 47625"/>
                  <a:gd name="connsiteX2" fmla="*/ 7144 w 28575"/>
                  <a:gd name="connsiteY2" fmla="*/ 9620 h 47625"/>
                  <a:gd name="connsiteX3" fmla="*/ 7144 w 28575"/>
                  <a:gd name="connsiteY3" fmla="*/ 42196 h 47625"/>
                  <a:gd name="connsiteX4" fmla="*/ 16097 w 28575"/>
                  <a:gd name="connsiteY4" fmla="*/ 44768 h 47625"/>
                  <a:gd name="connsiteX5" fmla="*/ 25051 w 28575"/>
                  <a:gd name="connsiteY5" fmla="*/ 42196 h 47625"/>
                  <a:gd name="connsiteX6" fmla="*/ 25051 w 28575"/>
                  <a:gd name="connsiteY6" fmla="*/ 962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75" h="47625">
                    <a:moveTo>
                      <a:pt x="25051" y="9620"/>
                    </a:moveTo>
                    <a:cubicBezTo>
                      <a:pt x="22289" y="8096"/>
                      <a:pt x="19336" y="7144"/>
                      <a:pt x="16097" y="7144"/>
                    </a:cubicBezTo>
                    <a:cubicBezTo>
                      <a:pt x="12859" y="7144"/>
                      <a:pt x="9811" y="8192"/>
                      <a:pt x="7144" y="9620"/>
                    </a:cubicBezTo>
                    <a:lnTo>
                      <a:pt x="7144" y="42196"/>
                    </a:lnTo>
                    <a:cubicBezTo>
                      <a:pt x="9811" y="43720"/>
                      <a:pt x="12859" y="44768"/>
                      <a:pt x="16097" y="44768"/>
                    </a:cubicBezTo>
                    <a:cubicBezTo>
                      <a:pt x="19336" y="44768"/>
                      <a:pt x="22289" y="43624"/>
                      <a:pt x="25051" y="42196"/>
                    </a:cubicBezTo>
                    <a:lnTo>
                      <a:pt x="25051" y="9620"/>
                    </a:lnTo>
                    <a:close/>
                  </a:path>
                </a:pathLst>
              </a:custGeom>
              <a:solidFill>
                <a:srgbClr val="FFE93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5304C4EC-2D95-4321-BE23-39B0F5749827}"/>
                  </a:ext>
                </a:extLst>
              </p:cNvPr>
              <p:cNvSpPr/>
              <p:nvPr/>
            </p:nvSpPr>
            <p:spPr>
              <a:xfrm>
                <a:off x="3175966" y="1192001"/>
                <a:ext cx="19050" cy="38100"/>
              </a:xfrm>
              <a:custGeom>
                <a:avLst/>
                <a:gdLst>
                  <a:gd name="connsiteX0" fmla="*/ 17050 w 19050"/>
                  <a:gd name="connsiteY0" fmla="*/ 23432 h 38100"/>
                  <a:gd name="connsiteX1" fmla="*/ 7144 w 19050"/>
                  <a:gd name="connsiteY1" fmla="*/ 7144 h 38100"/>
                  <a:gd name="connsiteX2" fmla="*/ 7144 w 19050"/>
                  <a:gd name="connsiteY2" fmla="*/ 39719 h 38100"/>
                  <a:gd name="connsiteX3" fmla="*/ 17050 w 19050"/>
                  <a:gd name="connsiteY3" fmla="*/ 234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" h="38100">
                    <a:moveTo>
                      <a:pt x="17050" y="23432"/>
                    </a:moveTo>
                    <a:cubicBezTo>
                      <a:pt x="17050" y="16383"/>
                      <a:pt x="12954" y="10382"/>
                      <a:pt x="7144" y="7144"/>
                    </a:cubicBezTo>
                    <a:lnTo>
                      <a:pt x="7144" y="39719"/>
                    </a:lnTo>
                    <a:cubicBezTo>
                      <a:pt x="12954" y="36481"/>
                      <a:pt x="17050" y="30480"/>
                      <a:pt x="17050" y="23432"/>
                    </a:cubicBezTo>
                    <a:close/>
                  </a:path>
                </a:pathLst>
              </a:custGeom>
              <a:solidFill>
                <a:srgbClr val="FF0F2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AB877741-3F24-49A6-B73A-12AB21122384}"/>
              </a:ext>
            </a:extLst>
          </p:cNvPr>
          <p:cNvGrpSpPr/>
          <p:nvPr/>
        </p:nvGrpSpPr>
        <p:grpSpPr>
          <a:xfrm>
            <a:off x="1750285" y="4523294"/>
            <a:ext cx="432358" cy="425791"/>
            <a:chOff x="3254426" y="5150695"/>
            <a:chExt cx="502991" cy="495351"/>
          </a:xfrm>
        </p:grpSpPr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C4F325C2-6C83-465C-AC58-3B8B6A3E1D68}"/>
                </a:ext>
              </a:extLst>
            </p:cNvPr>
            <p:cNvSpPr/>
            <p:nvPr/>
          </p:nvSpPr>
          <p:spPr bwMode="gray">
            <a:xfrm rot="18960074" flipH="1" flipV="1">
              <a:off x="3429233" y="5339828"/>
              <a:ext cx="328184" cy="30621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</a:gra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A47F0334-37A6-41D2-BC86-A1AE11FF279F}"/>
                </a:ext>
              </a:extLst>
            </p:cNvPr>
            <p:cNvGrpSpPr/>
            <p:nvPr/>
          </p:nvGrpSpPr>
          <p:grpSpPr>
            <a:xfrm>
              <a:off x="3254426" y="5150695"/>
              <a:ext cx="450178" cy="450178"/>
              <a:chOff x="3875490" y="1740109"/>
              <a:chExt cx="312230" cy="312230"/>
            </a:xfrm>
          </p:grpSpPr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705CB7C-006C-4E67-B443-2B898720810B}"/>
                  </a:ext>
                </a:extLst>
              </p:cNvPr>
              <p:cNvSpPr/>
              <p:nvPr/>
            </p:nvSpPr>
            <p:spPr>
              <a:xfrm>
                <a:off x="3911105" y="1744769"/>
                <a:ext cx="118717" cy="116504"/>
              </a:xfrm>
              <a:custGeom>
                <a:avLst/>
                <a:gdLst>
                  <a:gd name="connsiteX0" fmla="*/ 15811 w 19050"/>
                  <a:gd name="connsiteY0" fmla="*/ 7144 h 19050"/>
                  <a:gd name="connsiteX1" fmla="*/ 7144 w 19050"/>
                  <a:gd name="connsiteY1" fmla="*/ 11716 h 19050"/>
                  <a:gd name="connsiteX2" fmla="*/ 15811 w 19050"/>
                  <a:gd name="connsiteY2" fmla="*/ 17717 h 19050"/>
                  <a:gd name="connsiteX3" fmla="*/ 15811 w 19050"/>
                  <a:gd name="connsiteY3" fmla="*/ 714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" h="19050">
                    <a:moveTo>
                      <a:pt x="15811" y="7144"/>
                    </a:moveTo>
                    <a:cubicBezTo>
                      <a:pt x="12478" y="8001"/>
                      <a:pt x="9430" y="9335"/>
                      <a:pt x="7144" y="11716"/>
                    </a:cubicBezTo>
                    <a:lnTo>
                      <a:pt x="15811" y="17717"/>
                    </a:lnTo>
                    <a:lnTo>
                      <a:pt x="15811" y="7144"/>
                    </a:ln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8EED7D67-EB6E-43E2-A786-28DC0BF75495}"/>
                  </a:ext>
                </a:extLst>
              </p:cNvPr>
              <p:cNvSpPr/>
              <p:nvPr/>
            </p:nvSpPr>
            <p:spPr>
              <a:xfrm>
                <a:off x="4020325" y="1744769"/>
                <a:ext cx="118717" cy="116504"/>
              </a:xfrm>
              <a:custGeom>
                <a:avLst/>
                <a:gdLst>
                  <a:gd name="connsiteX0" fmla="*/ 15907 w 19050"/>
                  <a:gd name="connsiteY0" fmla="*/ 11716 h 19050"/>
                  <a:gd name="connsiteX1" fmla="*/ 7144 w 19050"/>
                  <a:gd name="connsiteY1" fmla="*/ 7144 h 19050"/>
                  <a:gd name="connsiteX2" fmla="*/ 7144 w 19050"/>
                  <a:gd name="connsiteY2" fmla="*/ 17717 h 19050"/>
                  <a:gd name="connsiteX3" fmla="*/ 15907 w 19050"/>
                  <a:gd name="connsiteY3" fmla="*/ 1171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" h="19050">
                    <a:moveTo>
                      <a:pt x="15907" y="11716"/>
                    </a:moveTo>
                    <a:cubicBezTo>
                      <a:pt x="13526" y="9335"/>
                      <a:pt x="10478" y="8001"/>
                      <a:pt x="7144" y="7144"/>
                    </a:cubicBezTo>
                    <a:lnTo>
                      <a:pt x="7144" y="17717"/>
                    </a:lnTo>
                    <a:lnTo>
                      <a:pt x="15907" y="11716"/>
                    </a:ln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C25600F1-CFEF-4662-A2AA-90AFD609042F}"/>
                  </a:ext>
                </a:extLst>
              </p:cNvPr>
              <p:cNvSpPr/>
              <p:nvPr/>
            </p:nvSpPr>
            <p:spPr>
              <a:xfrm>
                <a:off x="4009644" y="1743020"/>
                <a:ext cx="178076" cy="174756"/>
              </a:xfrm>
              <a:custGeom>
                <a:avLst/>
                <a:gdLst>
                  <a:gd name="connsiteX0" fmla="*/ 22479 w 28575"/>
                  <a:gd name="connsiteY0" fmla="*/ 21717 h 28575"/>
                  <a:gd name="connsiteX1" fmla="*/ 21907 w 28575"/>
                  <a:gd name="connsiteY1" fmla="*/ 19145 h 28575"/>
                  <a:gd name="connsiteX2" fmla="*/ 19336 w 28575"/>
                  <a:gd name="connsiteY2" fmla="*/ 19145 h 28575"/>
                  <a:gd name="connsiteX3" fmla="*/ 21527 w 28575"/>
                  <a:gd name="connsiteY3" fmla="*/ 17621 h 28575"/>
                  <a:gd name="connsiteX4" fmla="*/ 19526 w 28575"/>
                  <a:gd name="connsiteY4" fmla="*/ 14764 h 28575"/>
                  <a:gd name="connsiteX5" fmla="*/ 13430 w 28575"/>
                  <a:gd name="connsiteY5" fmla="*/ 19145 h 28575"/>
                  <a:gd name="connsiteX6" fmla="*/ 9430 w 28575"/>
                  <a:gd name="connsiteY6" fmla="*/ 19145 h 28575"/>
                  <a:gd name="connsiteX7" fmla="*/ 18383 w 28575"/>
                  <a:gd name="connsiteY7" fmla="*/ 12859 h 28575"/>
                  <a:gd name="connsiteX8" fmla="*/ 17717 w 28575"/>
                  <a:gd name="connsiteY8" fmla="*/ 12002 h 28575"/>
                  <a:gd name="connsiteX9" fmla="*/ 8954 w 28575"/>
                  <a:gd name="connsiteY9" fmla="*/ 18002 h 28575"/>
                  <a:gd name="connsiteX10" fmla="*/ 8954 w 28575"/>
                  <a:gd name="connsiteY10" fmla="*/ 7429 h 28575"/>
                  <a:gd name="connsiteX11" fmla="*/ 7144 w 28575"/>
                  <a:gd name="connsiteY11" fmla="*/ 7144 h 28575"/>
                  <a:gd name="connsiteX12" fmla="*/ 7144 w 28575"/>
                  <a:gd name="connsiteY12" fmla="*/ 21622 h 28575"/>
                  <a:gd name="connsiteX13" fmla="*/ 22479 w 28575"/>
                  <a:gd name="connsiteY13" fmla="*/ 21622 h 28575"/>
                  <a:gd name="connsiteX14" fmla="*/ 22479 w 28575"/>
                  <a:gd name="connsiteY14" fmla="*/ 21622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8575" h="28575">
                    <a:moveTo>
                      <a:pt x="22479" y="21717"/>
                    </a:moveTo>
                    <a:cubicBezTo>
                      <a:pt x="22289" y="20860"/>
                      <a:pt x="22289" y="19907"/>
                      <a:pt x="21907" y="19145"/>
                    </a:cubicBezTo>
                    <a:lnTo>
                      <a:pt x="19336" y="19145"/>
                    </a:lnTo>
                    <a:lnTo>
                      <a:pt x="21527" y="17621"/>
                    </a:lnTo>
                    <a:cubicBezTo>
                      <a:pt x="20955" y="16574"/>
                      <a:pt x="20193" y="15716"/>
                      <a:pt x="19526" y="14764"/>
                    </a:cubicBezTo>
                    <a:lnTo>
                      <a:pt x="13430" y="19145"/>
                    </a:lnTo>
                    <a:lnTo>
                      <a:pt x="9430" y="19145"/>
                    </a:lnTo>
                    <a:lnTo>
                      <a:pt x="18383" y="12859"/>
                    </a:lnTo>
                    <a:cubicBezTo>
                      <a:pt x="18383" y="12859"/>
                      <a:pt x="17907" y="12192"/>
                      <a:pt x="17717" y="12002"/>
                    </a:cubicBezTo>
                    <a:lnTo>
                      <a:pt x="8954" y="18002"/>
                    </a:lnTo>
                    <a:lnTo>
                      <a:pt x="8954" y="7429"/>
                    </a:lnTo>
                    <a:cubicBezTo>
                      <a:pt x="8382" y="7334"/>
                      <a:pt x="7810" y="7239"/>
                      <a:pt x="7144" y="7144"/>
                    </a:cubicBezTo>
                    <a:lnTo>
                      <a:pt x="7144" y="21622"/>
                    </a:lnTo>
                    <a:lnTo>
                      <a:pt x="22479" y="21622"/>
                    </a:lnTo>
                    <a:lnTo>
                      <a:pt x="22479" y="2162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89D60C2A-92B4-4A0F-A10C-4A70AEB448C2}"/>
                  </a:ext>
                </a:extLst>
              </p:cNvPr>
              <p:cNvSpPr/>
              <p:nvPr/>
            </p:nvSpPr>
            <p:spPr>
              <a:xfrm>
                <a:off x="3880239" y="1743020"/>
                <a:ext cx="178076" cy="174756"/>
              </a:xfrm>
              <a:custGeom>
                <a:avLst/>
                <a:gdLst>
                  <a:gd name="connsiteX0" fmla="*/ 22479 w 28575"/>
                  <a:gd name="connsiteY0" fmla="*/ 7144 h 28575"/>
                  <a:gd name="connsiteX1" fmla="*/ 20669 w 28575"/>
                  <a:gd name="connsiteY1" fmla="*/ 7429 h 28575"/>
                  <a:gd name="connsiteX2" fmla="*/ 20669 w 28575"/>
                  <a:gd name="connsiteY2" fmla="*/ 18002 h 28575"/>
                  <a:gd name="connsiteX3" fmla="*/ 12002 w 28575"/>
                  <a:gd name="connsiteY3" fmla="*/ 12002 h 28575"/>
                  <a:gd name="connsiteX4" fmla="*/ 10001 w 28575"/>
                  <a:gd name="connsiteY4" fmla="*/ 14764 h 28575"/>
                  <a:gd name="connsiteX5" fmla="*/ 16193 w 28575"/>
                  <a:gd name="connsiteY5" fmla="*/ 19145 h 28575"/>
                  <a:gd name="connsiteX6" fmla="*/ 12192 w 28575"/>
                  <a:gd name="connsiteY6" fmla="*/ 19145 h 28575"/>
                  <a:gd name="connsiteX7" fmla="*/ 8668 w 28575"/>
                  <a:gd name="connsiteY7" fmla="*/ 16764 h 28575"/>
                  <a:gd name="connsiteX8" fmla="*/ 8096 w 28575"/>
                  <a:gd name="connsiteY8" fmla="*/ 17717 h 28575"/>
                  <a:gd name="connsiteX9" fmla="*/ 10192 w 28575"/>
                  <a:gd name="connsiteY9" fmla="*/ 19241 h 28575"/>
                  <a:gd name="connsiteX10" fmla="*/ 7620 w 28575"/>
                  <a:gd name="connsiteY10" fmla="*/ 19241 h 28575"/>
                  <a:gd name="connsiteX11" fmla="*/ 7144 w 28575"/>
                  <a:gd name="connsiteY11" fmla="*/ 21812 h 28575"/>
                  <a:gd name="connsiteX12" fmla="*/ 22574 w 28575"/>
                  <a:gd name="connsiteY12" fmla="*/ 21812 h 28575"/>
                  <a:gd name="connsiteX13" fmla="*/ 22574 w 28575"/>
                  <a:gd name="connsiteY13" fmla="*/ 714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575" h="28575">
                    <a:moveTo>
                      <a:pt x="22479" y="7144"/>
                    </a:moveTo>
                    <a:cubicBezTo>
                      <a:pt x="21908" y="7144"/>
                      <a:pt x="21241" y="7334"/>
                      <a:pt x="20669" y="7429"/>
                    </a:cubicBezTo>
                    <a:lnTo>
                      <a:pt x="20669" y="18002"/>
                    </a:lnTo>
                    <a:lnTo>
                      <a:pt x="12002" y="12002"/>
                    </a:lnTo>
                    <a:cubicBezTo>
                      <a:pt x="11144" y="12764"/>
                      <a:pt x="10668" y="13906"/>
                      <a:pt x="10001" y="14764"/>
                    </a:cubicBezTo>
                    <a:lnTo>
                      <a:pt x="16193" y="19145"/>
                    </a:lnTo>
                    <a:lnTo>
                      <a:pt x="12192" y="19145"/>
                    </a:lnTo>
                    <a:lnTo>
                      <a:pt x="8668" y="16764"/>
                    </a:lnTo>
                    <a:cubicBezTo>
                      <a:pt x="8668" y="16764"/>
                      <a:pt x="8192" y="17335"/>
                      <a:pt x="8096" y="17717"/>
                    </a:cubicBezTo>
                    <a:lnTo>
                      <a:pt x="10192" y="19241"/>
                    </a:lnTo>
                    <a:lnTo>
                      <a:pt x="7620" y="19241"/>
                    </a:lnTo>
                    <a:cubicBezTo>
                      <a:pt x="7334" y="20002"/>
                      <a:pt x="7334" y="20955"/>
                      <a:pt x="7144" y="21812"/>
                    </a:cubicBezTo>
                    <a:lnTo>
                      <a:pt x="22574" y="21812"/>
                    </a:lnTo>
                    <a:lnTo>
                      <a:pt x="22574" y="714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7CE8AC63-908E-45DB-AB74-A94B1F7B0C2C}"/>
                  </a:ext>
                </a:extLst>
              </p:cNvPr>
              <p:cNvSpPr/>
              <p:nvPr/>
            </p:nvSpPr>
            <p:spPr>
              <a:xfrm>
                <a:off x="3875490" y="1740109"/>
                <a:ext cx="296794" cy="291259"/>
              </a:xfrm>
              <a:custGeom>
                <a:avLst/>
                <a:gdLst>
                  <a:gd name="connsiteX0" fmla="*/ 28670 w 47625"/>
                  <a:gd name="connsiteY0" fmla="*/ 44196 h 47625"/>
                  <a:gd name="connsiteX1" fmla="*/ 28670 w 47625"/>
                  <a:gd name="connsiteY1" fmla="*/ 29718 h 47625"/>
                  <a:gd name="connsiteX2" fmla="*/ 44006 w 47625"/>
                  <a:gd name="connsiteY2" fmla="*/ 29718 h 47625"/>
                  <a:gd name="connsiteX3" fmla="*/ 44768 w 47625"/>
                  <a:gd name="connsiteY3" fmla="*/ 25908 h 47625"/>
                  <a:gd name="connsiteX4" fmla="*/ 44006 w 47625"/>
                  <a:gd name="connsiteY4" fmla="*/ 22193 h 47625"/>
                  <a:gd name="connsiteX5" fmla="*/ 28670 w 47625"/>
                  <a:gd name="connsiteY5" fmla="*/ 22193 h 47625"/>
                  <a:gd name="connsiteX6" fmla="*/ 28670 w 47625"/>
                  <a:gd name="connsiteY6" fmla="*/ 7715 h 47625"/>
                  <a:gd name="connsiteX7" fmla="*/ 26003 w 47625"/>
                  <a:gd name="connsiteY7" fmla="*/ 7144 h 47625"/>
                  <a:gd name="connsiteX8" fmla="*/ 23336 w 47625"/>
                  <a:gd name="connsiteY8" fmla="*/ 7715 h 47625"/>
                  <a:gd name="connsiteX9" fmla="*/ 23336 w 47625"/>
                  <a:gd name="connsiteY9" fmla="*/ 22193 h 47625"/>
                  <a:gd name="connsiteX10" fmla="*/ 7906 w 47625"/>
                  <a:gd name="connsiteY10" fmla="*/ 22193 h 47625"/>
                  <a:gd name="connsiteX11" fmla="*/ 7144 w 47625"/>
                  <a:gd name="connsiteY11" fmla="*/ 25908 h 47625"/>
                  <a:gd name="connsiteX12" fmla="*/ 7906 w 47625"/>
                  <a:gd name="connsiteY12" fmla="*/ 29718 h 47625"/>
                  <a:gd name="connsiteX13" fmla="*/ 23336 w 47625"/>
                  <a:gd name="connsiteY13" fmla="*/ 29718 h 47625"/>
                  <a:gd name="connsiteX14" fmla="*/ 23336 w 47625"/>
                  <a:gd name="connsiteY14" fmla="*/ 44196 h 47625"/>
                  <a:gd name="connsiteX15" fmla="*/ 26003 w 47625"/>
                  <a:gd name="connsiteY15" fmla="*/ 44672 h 47625"/>
                  <a:gd name="connsiteX16" fmla="*/ 28670 w 47625"/>
                  <a:gd name="connsiteY16" fmla="*/ 4419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625" h="47625">
                    <a:moveTo>
                      <a:pt x="28670" y="44196"/>
                    </a:moveTo>
                    <a:lnTo>
                      <a:pt x="28670" y="29718"/>
                    </a:lnTo>
                    <a:lnTo>
                      <a:pt x="44006" y="29718"/>
                    </a:lnTo>
                    <a:cubicBezTo>
                      <a:pt x="44291" y="28384"/>
                      <a:pt x="44768" y="27146"/>
                      <a:pt x="44768" y="25908"/>
                    </a:cubicBezTo>
                    <a:cubicBezTo>
                      <a:pt x="44768" y="24574"/>
                      <a:pt x="44291" y="23336"/>
                      <a:pt x="44006" y="22193"/>
                    </a:cubicBezTo>
                    <a:lnTo>
                      <a:pt x="28670" y="22193"/>
                    </a:lnTo>
                    <a:lnTo>
                      <a:pt x="28670" y="7715"/>
                    </a:lnTo>
                    <a:cubicBezTo>
                      <a:pt x="27813" y="7525"/>
                      <a:pt x="26956" y="7144"/>
                      <a:pt x="26003" y="7144"/>
                    </a:cubicBezTo>
                    <a:cubicBezTo>
                      <a:pt x="25051" y="7144"/>
                      <a:pt x="24194" y="7525"/>
                      <a:pt x="23336" y="7715"/>
                    </a:cubicBezTo>
                    <a:lnTo>
                      <a:pt x="23336" y="22193"/>
                    </a:lnTo>
                    <a:lnTo>
                      <a:pt x="7906" y="22193"/>
                    </a:lnTo>
                    <a:cubicBezTo>
                      <a:pt x="7620" y="23336"/>
                      <a:pt x="7144" y="24574"/>
                      <a:pt x="7144" y="25908"/>
                    </a:cubicBezTo>
                    <a:cubicBezTo>
                      <a:pt x="7144" y="27146"/>
                      <a:pt x="7620" y="28384"/>
                      <a:pt x="7906" y="29718"/>
                    </a:cubicBezTo>
                    <a:lnTo>
                      <a:pt x="23336" y="29718"/>
                    </a:lnTo>
                    <a:lnTo>
                      <a:pt x="23336" y="44196"/>
                    </a:lnTo>
                    <a:cubicBezTo>
                      <a:pt x="24194" y="44196"/>
                      <a:pt x="25051" y="44672"/>
                      <a:pt x="26003" y="44672"/>
                    </a:cubicBezTo>
                    <a:cubicBezTo>
                      <a:pt x="26956" y="44672"/>
                      <a:pt x="27813" y="44291"/>
                      <a:pt x="28670" y="44196"/>
                    </a:cubicBezTo>
                    <a:close/>
                  </a:path>
                </a:pathLst>
              </a:custGeom>
              <a:solidFill>
                <a:srgbClr val="CF142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CCC63100-0FAB-4235-AF68-12DAC2FA0F70}"/>
                  </a:ext>
                </a:extLst>
              </p:cNvPr>
              <p:cNvSpPr/>
              <p:nvPr/>
            </p:nvSpPr>
            <p:spPr>
              <a:xfrm>
                <a:off x="4020325" y="1899135"/>
                <a:ext cx="118717" cy="116504"/>
              </a:xfrm>
              <a:custGeom>
                <a:avLst/>
                <a:gdLst>
                  <a:gd name="connsiteX0" fmla="*/ 7144 w 19050"/>
                  <a:gd name="connsiteY0" fmla="*/ 17812 h 19050"/>
                  <a:gd name="connsiteX1" fmla="*/ 15907 w 19050"/>
                  <a:gd name="connsiteY1" fmla="*/ 13240 h 19050"/>
                  <a:gd name="connsiteX2" fmla="*/ 7144 w 19050"/>
                  <a:gd name="connsiteY2" fmla="*/ 7144 h 19050"/>
                  <a:gd name="connsiteX3" fmla="*/ 7144 w 19050"/>
                  <a:gd name="connsiteY3" fmla="*/ 17717 h 19050"/>
                  <a:gd name="connsiteX4" fmla="*/ 7144 w 19050"/>
                  <a:gd name="connsiteY4" fmla="*/ 17717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7144" y="17812"/>
                    </a:moveTo>
                    <a:cubicBezTo>
                      <a:pt x="10478" y="16954"/>
                      <a:pt x="13430" y="15621"/>
                      <a:pt x="15907" y="13240"/>
                    </a:cubicBezTo>
                    <a:lnTo>
                      <a:pt x="7144" y="7144"/>
                    </a:lnTo>
                    <a:lnTo>
                      <a:pt x="7144" y="17717"/>
                    </a:lnTo>
                    <a:lnTo>
                      <a:pt x="7144" y="17717"/>
                    </a:ln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95FD06EE-C058-4BF0-9DAF-2C5ACC9BCFF0}"/>
                  </a:ext>
                </a:extLst>
              </p:cNvPr>
              <p:cNvSpPr/>
              <p:nvPr/>
            </p:nvSpPr>
            <p:spPr>
              <a:xfrm>
                <a:off x="3910513" y="1899722"/>
                <a:ext cx="118717" cy="116504"/>
              </a:xfrm>
              <a:custGeom>
                <a:avLst/>
                <a:gdLst>
                  <a:gd name="connsiteX0" fmla="*/ 7144 w 19050"/>
                  <a:gd name="connsiteY0" fmla="*/ 13144 h 19050"/>
                  <a:gd name="connsiteX1" fmla="*/ 15811 w 19050"/>
                  <a:gd name="connsiteY1" fmla="*/ 17717 h 19050"/>
                  <a:gd name="connsiteX2" fmla="*/ 15811 w 19050"/>
                  <a:gd name="connsiteY2" fmla="*/ 7144 h 19050"/>
                  <a:gd name="connsiteX3" fmla="*/ 7144 w 19050"/>
                  <a:gd name="connsiteY3" fmla="*/ 13240 h 19050"/>
                  <a:gd name="connsiteX4" fmla="*/ 7144 w 19050"/>
                  <a:gd name="connsiteY4" fmla="*/ 1324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7144" y="13144"/>
                    </a:moveTo>
                    <a:cubicBezTo>
                      <a:pt x="9525" y="15431"/>
                      <a:pt x="12573" y="16859"/>
                      <a:pt x="15811" y="17717"/>
                    </a:cubicBezTo>
                    <a:lnTo>
                      <a:pt x="15811" y="7144"/>
                    </a:lnTo>
                    <a:lnTo>
                      <a:pt x="7144" y="13240"/>
                    </a:lnTo>
                    <a:lnTo>
                      <a:pt x="7144" y="13240"/>
                    </a:ln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378DEB2F-8267-46A5-994A-9609F6CCA2C1}"/>
                  </a:ext>
                </a:extLst>
              </p:cNvPr>
              <p:cNvSpPr/>
              <p:nvPr/>
            </p:nvSpPr>
            <p:spPr>
              <a:xfrm>
                <a:off x="3883205" y="1893313"/>
                <a:ext cx="59359" cy="58252"/>
              </a:xfrm>
              <a:custGeom>
                <a:avLst/>
                <a:gdLst>
                  <a:gd name="connsiteX0" fmla="*/ 7144 w 9525"/>
                  <a:gd name="connsiteY0" fmla="*/ 7144 h 9525"/>
                  <a:gd name="connsiteX1" fmla="*/ 7620 w 9525"/>
                  <a:gd name="connsiteY1" fmla="*/ 8477 h 9525"/>
                  <a:gd name="connsiteX2" fmla="*/ 9715 w 9525"/>
                  <a:gd name="connsiteY2" fmla="*/ 7144 h 9525"/>
                  <a:gd name="connsiteX3" fmla="*/ 7144 w 9525"/>
                  <a:gd name="connsiteY3" fmla="*/ 7144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9525">
                    <a:moveTo>
                      <a:pt x="7144" y="7144"/>
                    </a:moveTo>
                    <a:cubicBezTo>
                      <a:pt x="7144" y="7144"/>
                      <a:pt x="7429" y="8001"/>
                      <a:pt x="7620" y="8477"/>
                    </a:cubicBezTo>
                    <a:lnTo>
                      <a:pt x="9715" y="7144"/>
                    </a:lnTo>
                    <a:cubicBezTo>
                      <a:pt x="9715" y="7144"/>
                      <a:pt x="7144" y="7144"/>
                      <a:pt x="7144" y="7144"/>
                    </a:cubicBez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89EA49C-24A0-4939-B22D-523695811707}"/>
                  </a:ext>
                </a:extLst>
              </p:cNvPr>
              <p:cNvSpPr/>
              <p:nvPr/>
            </p:nvSpPr>
            <p:spPr>
              <a:xfrm>
                <a:off x="4085623" y="1807100"/>
                <a:ext cx="59359" cy="58252"/>
              </a:xfrm>
              <a:custGeom>
                <a:avLst/>
                <a:gdLst>
                  <a:gd name="connsiteX0" fmla="*/ 9715 w 9525"/>
                  <a:gd name="connsiteY0" fmla="*/ 8668 h 9525"/>
                  <a:gd name="connsiteX1" fmla="*/ 9334 w 9525"/>
                  <a:gd name="connsiteY1" fmla="*/ 7144 h 9525"/>
                  <a:gd name="connsiteX2" fmla="*/ 7144 w 9525"/>
                  <a:gd name="connsiteY2" fmla="*/ 8668 h 9525"/>
                  <a:gd name="connsiteX3" fmla="*/ 9715 w 9525"/>
                  <a:gd name="connsiteY3" fmla="*/ 8668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9525">
                    <a:moveTo>
                      <a:pt x="9715" y="8668"/>
                    </a:moveTo>
                    <a:cubicBezTo>
                      <a:pt x="9715" y="8096"/>
                      <a:pt x="9525" y="7620"/>
                      <a:pt x="9334" y="7144"/>
                    </a:cubicBezTo>
                    <a:lnTo>
                      <a:pt x="7144" y="8668"/>
                    </a:lnTo>
                    <a:lnTo>
                      <a:pt x="9715" y="8668"/>
                    </a:ln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04C820F5-C300-4448-A06B-B16291DD9682}"/>
                  </a:ext>
                </a:extLst>
              </p:cNvPr>
              <p:cNvSpPr/>
              <p:nvPr/>
            </p:nvSpPr>
            <p:spPr>
              <a:xfrm>
                <a:off x="3883205" y="1807100"/>
                <a:ext cx="59359" cy="58252"/>
              </a:xfrm>
              <a:custGeom>
                <a:avLst/>
                <a:gdLst>
                  <a:gd name="connsiteX0" fmla="*/ 7620 w 9525"/>
                  <a:gd name="connsiteY0" fmla="*/ 7144 h 9525"/>
                  <a:gd name="connsiteX1" fmla="*/ 7144 w 9525"/>
                  <a:gd name="connsiteY1" fmla="*/ 8668 h 9525"/>
                  <a:gd name="connsiteX2" fmla="*/ 9715 w 9525"/>
                  <a:gd name="connsiteY2" fmla="*/ 8668 h 9525"/>
                  <a:gd name="connsiteX3" fmla="*/ 7620 w 9525"/>
                  <a:gd name="connsiteY3" fmla="*/ 7144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9525">
                    <a:moveTo>
                      <a:pt x="7620" y="7144"/>
                    </a:moveTo>
                    <a:cubicBezTo>
                      <a:pt x="7620" y="7144"/>
                      <a:pt x="7334" y="8096"/>
                      <a:pt x="7144" y="8668"/>
                    </a:cubicBezTo>
                    <a:lnTo>
                      <a:pt x="9715" y="8668"/>
                    </a:lnTo>
                    <a:cubicBezTo>
                      <a:pt x="9715" y="8668"/>
                      <a:pt x="7620" y="7144"/>
                      <a:pt x="7620" y="7144"/>
                    </a:cubicBez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93B0BC7D-0CF0-4492-A603-219DDD7513CE}"/>
                  </a:ext>
                </a:extLst>
              </p:cNvPr>
              <p:cNvSpPr/>
              <p:nvPr/>
            </p:nvSpPr>
            <p:spPr>
              <a:xfrm>
                <a:off x="4085623" y="1893894"/>
                <a:ext cx="59359" cy="58252"/>
              </a:xfrm>
              <a:custGeom>
                <a:avLst/>
                <a:gdLst>
                  <a:gd name="connsiteX0" fmla="*/ 9334 w 9525"/>
                  <a:gd name="connsiteY0" fmla="*/ 8477 h 9525"/>
                  <a:gd name="connsiteX1" fmla="*/ 9715 w 9525"/>
                  <a:gd name="connsiteY1" fmla="*/ 7144 h 9525"/>
                  <a:gd name="connsiteX2" fmla="*/ 7144 w 9525"/>
                  <a:gd name="connsiteY2" fmla="*/ 7144 h 9525"/>
                  <a:gd name="connsiteX3" fmla="*/ 9334 w 9525"/>
                  <a:gd name="connsiteY3" fmla="*/ 8477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9525">
                    <a:moveTo>
                      <a:pt x="9334" y="8477"/>
                    </a:moveTo>
                    <a:cubicBezTo>
                      <a:pt x="9525" y="8001"/>
                      <a:pt x="9620" y="7525"/>
                      <a:pt x="9715" y="7144"/>
                    </a:cubicBezTo>
                    <a:lnTo>
                      <a:pt x="7144" y="7144"/>
                    </a:lnTo>
                    <a:lnTo>
                      <a:pt x="9334" y="8477"/>
                    </a:ln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1762F1F6-A9BA-4683-A2B2-325B6B2E3273}"/>
                  </a:ext>
                </a:extLst>
              </p:cNvPr>
              <p:cNvSpPr/>
              <p:nvPr/>
            </p:nvSpPr>
            <p:spPr>
              <a:xfrm>
                <a:off x="4009644" y="1877583"/>
                <a:ext cx="178076" cy="174756"/>
              </a:xfrm>
              <a:custGeom>
                <a:avLst/>
                <a:gdLst>
                  <a:gd name="connsiteX0" fmla="*/ 7144 w 28575"/>
                  <a:gd name="connsiteY0" fmla="*/ 21717 h 28575"/>
                  <a:gd name="connsiteX1" fmla="*/ 8954 w 28575"/>
                  <a:gd name="connsiteY1" fmla="*/ 21336 h 28575"/>
                  <a:gd name="connsiteX2" fmla="*/ 8954 w 28575"/>
                  <a:gd name="connsiteY2" fmla="*/ 10763 h 28575"/>
                  <a:gd name="connsiteX3" fmla="*/ 17717 w 28575"/>
                  <a:gd name="connsiteY3" fmla="*/ 16859 h 28575"/>
                  <a:gd name="connsiteX4" fmla="*/ 19621 w 28575"/>
                  <a:gd name="connsiteY4" fmla="*/ 14002 h 28575"/>
                  <a:gd name="connsiteX5" fmla="*/ 13526 w 28575"/>
                  <a:gd name="connsiteY5" fmla="*/ 9715 h 28575"/>
                  <a:gd name="connsiteX6" fmla="*/ 17621 w 28575"/>
                  <a:gd name="connsiteY6" fmla="*/ 9715 h 28575"/>
                  <a:gd name="connsiteX7" fmla="*/ 20955 w 28575"/>
                  <a:gd name="connsiteY7" fmla="*/ 12001 h 28575"/>
                  <a:gd name="connsiteX8" fmla="*/ 21717 w 28575"/>
                  <a:gd name="connsiteY8" fmla="*/ 11049 h 28575"/>
                  <a:gd name="connsiteX9" fmla="*/ 19526 w 28575"/>
                  <a:gd name="connsiteY9" fmla="*/ 9715 h 28575"/>
                  <a:gd name="connsiteX10" fmla="*/ 22098 w 28575"/>
                  <a:gd name="connsiteY10" fmla="*/ 9715 h 28575"/>
                  <a:gd name="connsiteX11" fmla="*/ 22669 w 28575"/>
                  <a:gd name="connsiteY11" fmla="*/ 7144 h 28575"/>
                  <a:gd name="connsiteX12" fmla="*/ 7334 w 28575"/>
                  <a:gd name="connsiteY12" fmla="*/ 7144 h 28575"/>
                  <a:gd name="connsiteX13" fmla="*/ 7334 w 28575"/>
                  <a:gd name="connsiteY13" fmla="*/ 21622 h 28575"/>
                  <a:gd name="connsiteX14" fmla="*/ 7144 w 28575"/>
                  <a:gd name="connsiteY14" fmla="*/ 21622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8575" h="28575">
                    <a:moveTo>
                      <a:pt x="7144" y="21717"/>
                    </a:moveTo>
                    <a:cubicBezTo>
                      <a:pt x="7810" y="21717"/>
                      <a:pt x="8382" y="21431"/>
                      <a:pt x="8954" y="21336"/>
                    </a:cubicBezTo>
                    <a:lnTo>
                      <a:pt x="8954" y="10763"/>
                    </a:lnTo>
                    <a:lnTo>
                      <a:pt x="17717" y="16859"/>
                    </a:lnTo>
                    <a:cubicBezTo>
                      <a:pt x="18479" y="16097"/>
                      <a:pt x="19050" y="14954"/>
                      <a:pt x="19621" y="14002"/>
                    </a:cubicBezTo>
                    <a:lnTo>
                      <a:pt x="13526" y="9715"/>
                    </a:lnTo>
                    <a:lnTo>
                      <a:pt x="17621" y="9715"/>
                    </a:lnTo>
                    <a:lnTo>
                      <a:pt x="20955" y="12001"/>
                    </a:lnTo>
                    <a:cubicBezTo>
                      <a:pt x="20955" y="12001"/>
                      <a:pt x="21527" y="11430"/>
                      <a:pt x="21717" y="11049"/>
                    </a:cubicBezTo>
                    <a:lnTo>
                      <a:pt x="19526" y="9715"/>
                    </a:lnTo>
                    <a:lnTo>
                      <a:pt x="22098" y="9715"/>
                    </a:lnTo>
                    <a:cubicBezTo>
                      <a:pt x="22479" y="8858"/>
                      <a:pt x="22479" y="8001"/>
                      <a:pt x="22669" y="7144"/>
                    </a:cubicBezTo>
                    <a:lnTo>
                      <a:pt x="7334" y="7144"/>
                    </a:lnTo>
                    <a:lnTo>
                      <a:pt x="7334" y="21622"/>
                    </a:lnTo>
                    <a:lnTo>
                      <a:pt x="7144" y="2162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4189702C-25D0-42BE-B076-2358E1EB8723}"/>
                  </a:ext>
                </a:extLst>
              </p:cNvPr>
              <p:cNvSpPr/>
              <p:nvPr/>
            </p:nvSpPr>
            <p:spPr>
              <a:xfrm>
                <a:off x="3879647" y="1877583"/>
                <a:ext cx="178076" cy="174756"/>
              </a:xfrm>
              <a:custGeom>
                <a:avLst/>
                <a:gdLst>
                  <a:gd name="connsiteX0" fmla="*/ 7239 w 28575"/>
                  <a:gd name="connsiteY0" fmla="*/ 7239 h 28575"/>
                  <a:gd name="connsiteX1" fmla="*/ 7715 w 28575"/>
                  <a:gd name="connsiteY1" fmla="*/ 9811 h 28575"/>
                  <a:gd name="connsiteX2" fmla="*/ 10287 w 28575"/>
                  <a:gd name="connsiteY2" fmla="*/ 9811 h 28575"/>
                  <a:gd name="connsiteX3" fmla="*/ 8192 w 28575"/>
                  <a:gd name="connsiteY3" fmla="*/ 11144 h 28575"/>
                  <a:gd name="connsiteX4" fmla="*/ 10097 w 28575"/>
                  <a:gd name="connsiteY4" fmla="*/ 14002 h 28575"/>
                  <a:gd name="connsiteX5" fmla="*/ 16288 w 28575"/>
                  <a:gd name="connsiteY5" fmla="*/ 9715 h 28575"/>
                  <a:gd name="connsiteX6" fmla="*/ 20288 w 28575"/>
                  <a:gd name="connsiteY6" fmla="*/ 9715 h 28575"/>
                  <a:gd name="connsiteX7" fmla="*/ 11430 w 28575"/>
                  <a:gd name="connsiteY7" fmla="*/ 15811 h 28575"/>
                  <a:gd name="connsiteX8" fmla="*/ 12097 w 28575"/>
                  <a:gd name="connsiteY8" fmla="*/ 16764 h 28575"/>
                  <a:gd name="connsiteX9" fmla="*/ 20765 w 28575"/>
                  <a:gd name="connsiteY9" fmla="*/ 10668 h 28575"/>
                  <a:gd name="connsiteX10" fmla="*/ 20765 w 28575"/>
                  <a:gd name="connsiteY10" fmla="*/ 21241 h 28575"/>
                  <a:gd name="connsiteX11" fmla="*/ 22574 w 28575"/>
                  <a:gd name="connsiteY11" fmla="*/ 21622 h 28575"/>
                  <a:gd name="connsiteX12" fmla="*/ 22574 w 28575"/>
                  <a:gd name="connsiteY12" fmla="*/ 7144 h 28575"/>
                  <a:gd name="connsiteX13" fmla="*/ 7144 w 28575"/>
                  <a:gd name="connsiteY13" fmla="*/ 7144 h 28575"/>
                  <a:gd name="connsiteX14" fmla="*/ 7239 w 28575"/>
                  <a:gd name="connsiteY14" fmla="*/ 714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8575" h="28575">
                    <a:moveTo>
                      <a:pt x="7239" y="7239"/>
                    </a:moveTo>
                    <a:cubicBezTo>
                      <a:pt x="7430" y="8096"/>
                      <a:pt x="7430" y="8953"/>
                      <a:pt x="7715" y="9811"/>
                    </a:cubicBezTo>
                    <a:lnTo>
                      <a:pt x="10287" y="9811"/>
                    </a:lnTo>
                    <a:lnTo>
                      <a:pt x="8192" y="11144"/>
                    </a:lnTo>
                    <a:cubicBezTo>
                      <a:pt x="8668" y="12287"/>
                      <a:pt x="9430" y="13144"/>
                      <a:pt x="10097" y="14002"/>
                    </a:cubicBezTo>
                    <a:lnTo>
                      <a:pt x="16288" y="9715"/>
                    </a:lnTo>
                    <a:lnTo>
                      <a:pt x="20288" y="9715"/>
                    </a:lnTo>
                    <a:lnTo>
                      <a:pt x="11430" y="15811"/>
                    </a:lnTo>
                    <a:cubicBezTo>
                      <a:pt x="11430" y="15811"/>
                      <a:pt x="11906" y="16573"/>
                      <a:pt x="12097" y="16764"/>
                    </a:cubicBezTo>
                    <a:lnTo>
                      <a:pt x="20765" y="10668"/>
                    </a:lnTo>
                    <a:lnTo>
                      <a:pt x="20765" y="21241"/>
                    </a:lnTo>
                    <a:cubicBezTo>
                      <a:pt x="21336" y="21241"/>
                      <a:pt x="21908" y="21526"/>
                      <a:pt x="22574" y="21622"/>
                    </a:cubicBezTo>
                    <a:lnTo>
                      <a:pt x="22574" y="7144"/>
                    </a:lnTo>
                    <a:lnTo>
                      <a:pt x="7144" y="7144"/>
                    </a:lnTo>
                    <a:lnTo>
                      <a:pt x="7239" y="714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642E6B7F-A7C2-4479-974E-3C1BB9211644}"/>
                  </a:ext>
                </a:extLst>
              </p:cNvPr>
              <p:cNvSpPr/>
              <p:nvPr/>
            </p:nvSpPr>
            <p:spPr>
              <a:xfrm>
                <a:off x="3898049" y="1893313"/>
                <a:ext cx="118717" cy="116504"/>
              </a:xfrm>
              <a:custGeom>
                <a:avLst/>
                <a:gdLst>
                  <a:gd name="connsiteX0" fmla="*/ 13335 w 19050"/>
                  <a:gd name="connsiteY0" fmla="*/ 7144 h 19050"/>
                  <a:gd name="connsiteX1" fmla="*/ 7144 w 19050"/>
                  <a:gd name="connsiteY1" fmla="*/ 11430 h 19050"/>
                  <a:gd name="connsiteX2" fmla="*/ 8477 w 19050"/>
                  <a:gd name="connsiteY2" fmla="*/ 13335 h 19050"/>
                  <a:gd name="connsiteX3" fmla="*/ 17335 w 19050"/>
                  <a:gd name="connsiteY3" fmla="*/ 7239 h 19050"/>
                  <a:gd name="connsiteX4" fmla="*/ 13335 w 19050"/>
                  <a:gd name="connsiteY4" fmla="*/ 7239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3335" y="7144"/>
                    </a:moveTo>
                    <a:lnTo>
                      <a:pt x="7144" y="11430"/>
                    </a:lnTo>
                    <a:cubicBezTo>
                      <a:pt x="7620" y="12097"/>
                      <a:pt x="7906" y="12859"/>
                      <a:pt x="8477" y="13335"/>
                    </a:cubicBezTo>
                    <a:lnTo>
                      <a:pt x="17335" y="7239"/>
                    </a:lnTo>
                    <a:lnTo>
                      <a:pt x="13335" y="7239"/>
                    </a:lnTo>
                    <a:close/>
                  </a:path>
                </a:pathLst>
              </a:custGeom>
              <a:solidFill>
                <a:srgbClr val="CF142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A0FD44D9-9678-4049-9060-76852B89BC70}"/>
                  </a:ext>
                </a:extLst>
              </p:cNvPr>
              <p:cNvSpPr/>
              <p:nvPr/>
            </p:nvSpPr>
            <p:spPr>
              <a:xfrm>
                <a:off x="3889736" y="1789622"/>
                <a:ext cx="118717" cy="58252"/>
              </a:xfrm>
              <a:custGeom>
                <a:avLst/>
                <a:gdLst>
                  <a:gd name="connsiteX0" fmla="*/ 14669 w 19050"/>
                  <a:gd name="connsiteY0" fmla="*/ 11525 h 9525"/>
                  <a:gd name="connsiteX1" fmla="*/ 8477 w 19050"/>
                  <a:gd name="connsiteY1" fmla="*/ 7144 h 9525"/>
                  <a:gd name="connsiteX2" fmla="*/ 7144 w 19050"/>
                  <a:gd name="connsiteY2" fmla="*/ 9144 h 9525"/>
                  <a:gd name="connsiteX3" fmla="*/ 10668 w 19050"/>
                  <a:gd name="connsiteY3" fmla="*/ 11525 h 9525"/>
                  <a:gd name="connsiteX4" fmla="*/ 14669 w 19050"/>
                  <a:gd name="connsiteY4" fmla="*/ 11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9525">
                    <a:moveTo>
                      <a:pt x="14669" y="11525"/>
                    </a:moveTo>
                    <a:lnTo>
                      <a:pt x="8477" y="7144"/>
                    </a:lnTo>
                    <a:cubicBezTo>
                      <a:pt x="8096" y="7810"/>
                      <a:pt x="7525" y="8382"/>
                      <a:pt x="7144" y="9144"/>
                    </a:cubicBezTo>
                    <a:lnTo>
                      <a:pt x="10668" y="11525"/>
                    </a:lnTo>
                    <a:cubicBezTo>
                      <a:pt x="10668" y="11525"/>
                      <a:pt x="14669" y="11525"/>
                      <a:pt x="14669" y="11525"/>
                    </a:cubicBezTo>
                    <a:close/>
                  </a:path>
                </a:pathLst>
              </a:custGeom>
              <a:solidFill>
                <a:srgbClr val="CF142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79E4D6B8-D6B4-4198-8EF1-6CA5EA78EEE7}"/>
                  </a:ext>
                </a:extLst>
              </p:cNvPr>
              <p:cNvSpPr/>
              <p:nvPr/>
            </p:nvSpPr>
            <p:spPr>
              <a:xfrm>
                <a:off x="4048225" y="1893313"/>
                <a:ext cx="118717" cy="58252"/>
              </a:xfrm>
              <a:custGeom>
                <a:avLst/>
                <a:gdLst>
                  <a:gd name="connsiteX0" fmla="*/ 7144 w 19050"/>
                  <a:gd name="connsiteY0" fmla="*/ 7144 h 9525"/>
                  <a:gd name="connsiteX1" fmla="*/ 13240 w 19050"/>
                  <a:gd name="connsiteY1" fmla="*/ 11430 h 9525"/>
                  <a:gd name="connsiteX2" fmla="*/ 14573 w 19050"/>
                  <a:gd name="connsiteY2" fmla="*/ 9525 h 9525"/>
                  <a:gd name="connsiteX3" fmla="*/ 11240 w 19050"/>
                  <a:gd name="connsiteY3" fmla="*/ 7239 h 9525"/>
                  <a:gd name="connsiteX4" fmla="*/ 7144 w 19050"/>
                  <a:gd name="connsiteY4" fmla="*/ 7239 h 9525"/>
                  <a:gd name="connsiteX5" fmla="*/ 7144 w 19050"/>
                  <a:gd name="connsiteY5" fmla="*/ 723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050" h="9525">
                    <a:moveTo>
                      <a:pt x="7144" y="7144"/>
                    </a:moveTo>
                    <a:lnTo>
                      <a:pt x="13240" y="11430"/>
                    </a:lnTo>
                    <a:cubicBezTo>
                      <a:pt x="13811" y="10763"/>
                      <a:pt x="14192" y="10287"/>
                      <a:pt x="14573" y="9525"/>
                    </a:cubicBezTo>
                    <a:lnTo>
                      <a:pt x="11240" y="7239"/>
                    </a:lnTo>
                    <a:lnTo>
                      <a:pt x="7144" y="7239"/>
                    </a:lnTo>
                    <a:lnTo>
                      <a:pt x="7144" y="7239"/>
                    </a:lnTo>
                    <a:close/>
                  </a:path>
                </a:pathLst>
              </a:custGeom>
              <a:solidFill>
                <a:srgbClr val="CF142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EC05D044-513D-43CF-AFFA-ADB5E022C689}"/>
                  </a:ext>
                </a:extLst>
              </p:cNvPr>
              <p:cNvSpPr/>
              <p:nvPr/>
            </p:nvSpPr>
            <p:spPr>
              <a:xfrm>
                <a:off x="4022700" y="1777971"/>
                <a:ext cx="118717" cy="116504"/>
              </a:xfrm>
              <a:custGeom>
                <a:avLst/>
                <a:gdLst>
                  <a:gd name="connsiteX0" fmla="*/ 11240 w 19050"/>
                  <a:gd name="connsiteY0" fmla="*/ 13430 h 19050"/>
                  <a:gd name="connsiteX1" fmla="*/ 17335 w 19050"/>
                  <a:gd name="connsiteY1" fmla="*/ 9049 h 19050"/>
                  <a:gd name="connsiteX2" fmla="*/ 16097 w 19050"/>
                  <a:gd name="connsiteY2" fmla="*/ 7144 h 19050"/>
                  <a:gd name="connsiteX3" fmla="*/ 7144 w 19050"/>
                  <a:gd name="connsiteY3" fmla="*/ 13430 h 19050"/>
                  <a:gd name="connsiteX4" fmla="*/ 11240 w 19050"/>
                  <a:gd name="connsiteY4" fmla="*/ 1343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1240" y="13430"/>
                    </a:moveTo>
                    <a:lnTo>
                      <a:pt x="17335" y="9049"/>
                    </a:lnTo>
                    <a:cubicBezTo>
                      <a:pt x="16955" y="8382"/>
                      <a:pt x="16573" y="7811"/>
                      <a:pt x="16097" y="7144"/>
                    </a:cubicBezTo>
                    <a:lnTo>
                      <a:pt x="7144" y="13430"/>
                    </a:lnTo>
                    <a:lnTo>
                      <a:pt x="11240" y="13430"/>
                    </a:lnTo>
                    <a:close/>
                  </a:path>
                </a:pathLst>
              </a:custGeom>
              <a:solidFill>
                <a:srgbClr val="CF142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F57AA42D-7DDB-483A-B6AA-B2D6ABD21EEE}"/>
              </a:ext>
            </a:extLst>
          </p:cNvPr>
          <p:cNvGrpSpPr/>
          <p:nvPr/>
        </p:nvGrpSpPr>
        <p:grpSpPr>
          <a:xfrm>
            <a:off x="3016815" y="4572613"/>
            <a:ext cx="382810" cy="376472"/>
            <a:chOff x="4712624" y="5208071"/>
            <a:chExt cx="445348" cy="437975"/>
          </a:xfrm>
        </p:grpSpPr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70FFE1C1-505C-4DFC-9993-D54246788D3A}"/>
                </a:ext>
              </a:extLst>
            </p:cNvPr>
            <p:cNvSpPr/>
            <p:nvPr/>
          </p:nvSpPr>
          <p:spPr bwMode="gray">
            <a:xfrm rot="18960074" flipH="1" flipV="1">
              <a:off x="4829788" y="5339828"/>
              <a:ext cx="328184" cy="30621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</a:gra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pic>
          <p:nvPicPr>
            <p:cNvPr id="232" name="Graphic 231">
              <a:extLst>
                <a:ext uri="{FF2B5EF4-FFF2-40B4-BE49-F238E27FC236}">
                  <a16:creationId xmlns:a16="http://schemas.microsoft.com/office/drawing/2014/main" id="{6BEFDC9D-C24D-41BB-A53D-7D890DF8A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V="1">
              <a:off x="4712624" y="5208071"/>
              <a:ext cx="346754" cy="346754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3A787E7-2BFE-4E47-88A1-92A385A9E623}"/>
              </a:ext>
            </a:extLst>
          </p:cNvPr>
          <p:cNvGrpSpPr/>
          <p:nvPr/>
        </p:nvGrpSpPr>
        <p:grpSpPr>
          <a:xfrm>
            <a:off x="4279527" y="2110773"/>
            <a:ext cx="2039797" cy="2838312"/>
            <a:chOff x="4560893" y="2645794"/>
            <a:chExt cx="2039797" cy="2838312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862E9860-C721-4223-9B2E-F8934CFF89B6}"/>
                </a:ext>
              </a:extLst>
            </p:cNvPr>
            <p:cNvSpPr/>
            <p:nvPr/>
          </p:nvSpPr>
          <p:spPr bwMode="gray">
            <a:xfrm>
              <a:off x="4567945" y="3035548"/>
              <a:ext cx="400604" cy="400604"/>
            </a:xfrm>
            <a:prstGeom prst="rect">
              <a:avLst/>
            </a:prstGeom>
            <a:solidFill>
              <a:srgbClr val="63BE7B"/>
            </a:solidFill>
            <a:ln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F037F5AC-B761-42F8-9B1A-2C12F738D544}"/>
                </a:ext>
              </a:extLst>
            </p:cNvPr>
            <p:cNvSpPr/>
            <p:nvPr/>
          </p:nvSpPr>
          <p:spPr bwMode="gray">
            <a:xfrm>
              <a:off x="4968549" y="3035548"/>
              <a:ext cx="400604" cy="400604"/>
            </a:xfrm>
            <a:prstGeom prst="rect">
              <a:avLst/>
            </a:prstGeom>
            <a:solidFill>
              <a:srgbClr val="8FD0A1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74DAC895-98F4-4094-A9E3-4EBD524FA439}"/>
                </a:ext>
              </a:extLst>
            </p:cNvPr>
            <p:cNvSpPr/>
            <p:nvPr/>
          </p:nvSpPr>
          <p:spPr bwMode="gray">
            <a:xfrm>
              <a:off x="5369153" y="3035548"/>
              <a:ext cx="400604" cy="400604"/>
            </a:xfrm>
            <a:prstGeom prst="rect">
              <a:avLst/>
            </a:prstGeom>
            <a:solidFill>
              <a:srgbClr val="B7E0C3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C56F7B5E-356B-4B71-BCA0-2F8A7CA475D6}"/>
                </a:ext>
              </a:extLst>
            </p:cNvPr>
            <p:cNvSpPr/>
            <p:nvPr/>
          </p:nvSpPr>
          <p:spPr bwMode="gray">
            <a:xfrm>
              <a:off x="5769756" y="3035548"/>
              <a:ext cx="400604" cy="400604"/>
            </a:xfrm>
            <a:prstGeom prst="rect">
              <a:avLst/>
            </a:prstGeom>
            <a:solidFill>
              <a:srgbClr val="D2EBDA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95F898D5-39BB-45DB-9957-EC8E3CA48E9F}"/>
                </a:ext>
              </a:extLst>
            </p:cNvPr>
            <p:cNvSpPr/>
            <p:nvPr/>
          </p:nvSpPr>
          <p:spPr bwMode="gray">
            <a:xfrm>
              <a:off x="6170360" y="3035548"/>
              <a:ext cx="400604" cy="400604"/>
            </a:xfrm>
            <a:prstGeom prst="rect">
              <a:avLst/>
            </a:prstGeom>
            <a:solidFill>
              <a:srgbClr val="A9DBB8"/>
            </a:solidFill>
            <a:ln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5E27EBBF-47A5-4BC1-9C2D-0790B5677491}"/>
                </a:ext>
              </a:extLst>
            </p:cNvPr>
            <p:cNvSpPr/>
            <p:nvPr/>
          </p:nvSpPr>
          <p:spPr bwMode="gray">
            <a:xfrm rot="16200000">
              <a:off x="4567947" y="4637964"/>
              <a:ext cx="400604" cy="400604"/>
            </a:xfrm>
            <a:prstGeom prst="rect">
              <a:avLst/>
            </a:prstGeom>
            <a:solidFill>
              <a:srgbClr val="B3DFC0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E83ADC7E-B57F-412A-A18B-F262ACCF8022}"/>
                </a:ext>
              </a:extLst>
            </p:cNvPr>
            <p:cNvSpPr/>
            <p:nvPr/>
          </p:nvSpPr>
          <p:spPr bwMode="gray">
            <a:xfrm rot="16200000">
              <a:off x="4567944" y="4237360"/>
              <a:ext cx="400604" cy="400604"/>
            </a:xfrm>
            <a:prstGeom prst="rect">
              <a:avLst/>
            </a:prstGeom>
            <a:solidFill>
              <a:srgbClr val="E1F1E8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4234102C-5FB6-47A6-937D-19F8A1C17C89}"/>
                </a:ext>
              </a:extLst>
            </p:cNvPr>
            <p:cNvSpPr/>
            <p:nvPr/>
          </p:nvSpPr>
          <p:spPr bwMode="gray">
            <a:xfrm rot="16200000">
              <a:off x="4567947" y="3836756"/>
              <a:ext cx="400604" cy="400604"/>
            </a:xfrm>
            <a:prstGeom prst="rect">
              <a:avLst/>
            </a:prstGeom>
            <a:solidFill>
              <a:srgbClr val="AFDDBC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D067BBA9-44C1-49CD-AD51-854AB3B2857C}"/>
                </a:ext>
              </a:extLst>
            </p:cNvPr>
            <p:cNvSpPr/>
            <p:nvPr/>
          </p:nvSpPr>
          <p:spPr bwMode="gray">
            <a:xfrm rot="16200000">
              <a:off x="4567946" y="3436152"/>
              <a:ext cx="400604" cy="400604"/>
            </a:xfrm>
            <a:prstGeom prst="rect">
              <a:avLst/>
            </a:prstGeom>
            <a:solidFill>
              <a:srgbClr val="80CA94"/>
            </a:solidFill>
            <a:ln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2E49A213-A43E-496D-9901-0BFC5209B744}"/>
                </a:ext>
              </a:extLst>
            </p:cNvPr>
            <p:cNvSpPr/>
            <p:nvPr/>
          </p:nvSpPr>
          <p:spPr bwMode="gray">
            <a:xfrm rot="16200000">
              <a:off x="4968546" y="4637964"/>
              <a:ext cx="400604" cy="400604"/>
            </a:xfrm>
            <a:prstGeom prst="rect">
              <a:avLst/>
            </a:prstGeom>
            <a:solidFill>
              <a:srgbClr val="BEE3C9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63549215-2594-4BF1-86FE-DE374C1B642B}"/>
                </a:ext>
              </a:extLst>
            </p:cNvPr>
            <p:cNvSpPr/>
            <p:nvPr/>
          </p:nvSpPr>
          <p:spPr bwMode="gray">
            <a:xfrm rot="16200000">
              <a:off x="4968544" y="4237360"/>
              <a:ext cx="400604" cy="400604"/>
            </a:xfrm>
            <a:prstGeom prst="rect">
              <a:avLst/>
            </a:prstGeom>
            <a:solidFill>
              <a:srgbClr val="B8E1C5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06C2808D-E0B9-48DE-859D-8390CB2C9560}"/>
                </a:ext>
              </a:extLst>
            </p:cNvPr>
            <p:cNvSpPr/>
            <p:nvPr/>
          </p:nvSpPr>
          <p:spPr bwMode="gray">
            <a:xfrm rot="16200000">
              <a:off x="4968546" y="3836756"/>
              <a:ext cx="400604" cy="400604"/>
            </a:xfrm>
            <a:prstGeom prst="rect">
              <a:avLst/>
            </a:prstGeom>
            <a:solidFill>
              <a:srgbClr val="96D3A7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F19E9BCC-5EDF-4183-ADA6-1DE5D8A5BF65}"/>
                </a:ext>
              </a:extLst>
            </p:cNvPr>
            <p:cNvSpPr/>
            <p:nvPr/>
          </p:nvSpPr>
          <p:spPr bwMode="gray">
            <a:xfrm rot="16200000">
              <a:off x="4968545" y="3436152"/>
              <a:ext cx="400604" cy="400604"/>
            </a:xfrm>
            <a:prstGeom prst="rect">
              <a:avLst/>
            </a:prstGeom>
            <a:solidFill>
              <a:srgbClr val="FBFFFD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8F91F16F-2A1D-47C5-8492-1B95EA7AECF5}"/>
                </a:ext>
              </a:extLst>
            </p:cNvPr>
            <p:cNvSpPr/>
            <p:nvPr/>
          </p:nvSpPr>
          <p:spPr bwMode="gray">
            <a:xfrm rot="16200000">
              <a:off x="5369148" y="4637964"/>
              <a:ext cx="400604" cy="400604"/>
            </a:xfrm>
            <a:prstGeom prst="rect">
              <a:avLst/>
            </a:prstGeom>
            <a:solidFill>
              <a:srgbClr val="F8FBFC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0CA0D987-6B6D-4DEA-A164-2DB22BFB3293}"/>
                </a:ext>
              </a:extLst>
            </p:cNvPr>
            <p:cNvSpPr/>
            <p:nvPr/>
          </p:nvSpPr>
          <p:spPr bwMode="gray">
            <a:xfrm rot="16200000">
              <a:off x="5369146" y="4237360"/>
              <a:ext cx="400604" cy="400604"/>
            </a:xfrm>
            <a:prstGeom prst="rect">
              <a:avLst/>
            </a:prstGeom>
            <a:solidFill>
              <a:srgbClr val="D0EAD9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2F85550C-6289-4E33-994E-1F64A69DFCFF}"/>
                </a:ext>
              </a:extLst>
            </p:cNvPr>
            <p:cNvSpPr/>
            <p:nvPr/>
          </p:nvSpPr>
          <p:spPr bwMode="gray">
            <a:xfrm rot="16200000">
              <a:off x="5369148" y="3836756"/>
              <a:ext cx="400604" cy="400604"/>
            </a:xfrm>
            <a:prstGeom prst="rect">
              <a:avLst/>
            </a:prstGeom>
            <a:solidFill>
              <a:srgbClr val="BFE3CA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79D90ED7-6444-41DB-B03C-0D170EC778EB}"/>
                </a:ext>
              </a:extLst>
            </p:cNvPr>
            <p:cNvSpPr/>
            <p:nvPr/>
          </p:nvSpPr>
          <p:spPr bwMode="gray">
            <a:xfrm rot="16200000">
              <a:off x="5369147" y="3436152"/>
              <a:ext cx="400604" cy="400604"/>
            </a:xfrm>
            <a:prstGeom prst="rect">
              <a:avLst/>
            </a:prstGeom>
            <a:solidFill>
              <a:srgbClr val="80CA94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1937AF63-D4D6-462F-9ACC-C31D15B54F51}"/>
                </a:ext>
              </a:extLst>
            </p:cNvPr>
            <p:cNvSpPr/>
            <p:nvPr/>
          </p:nvSpPr>
          <p:spPr bwMode="gray">
            <a:xfrm rot="16200000">
              <a:off x="5769741" y="4637964"/>
              <a:ext cx="400604" cy="400604"/>
            </a:xfrm>
            <a:prstGeom prst="rect">
              <a:avLst/>
            </a:prstGeom>
            <a:solidFill>
              <a:srgbClr val="E8F4EE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44C67F46-09AB-46FA-82E3-18267A9E2791}"/>
                </a:ext>
              </a:extLst>
            </p:cNvPr>
            <p:cNvSpPr/>
            <p:nvPr/>
          </p:nvSpPr>
          <p:spPr bwMode="gray">
            <a:xfrm rot="16200000">
              <a:off x="5769738" y="4237360"/>
              <a:ext cx="400604" cy="400604"/>
            </a:xfrm>
            <a:prstGeom prst="rect">
              <a:avLst/>
            </a:prstGeom>
            <a:solidFill>
              <a:srgbClr val="DEF0E5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ACC9F3BA-8068-451A-BB8C-0BF878732DB2}"/>
                </a:ext>
              </a:extLst>
            </p:cNvPr>
            <p:cNvSpPr/>
            <p:nvPr/>
          </p:nvSpPr>
          <p:spPr bwMode="gray">
            <a:xfrm rot="16200000">
              <a:off x="5769741" y="3836756"/>
              <a:ext cx="400604" cy="400604"/>
            </a:xfrm>
            <a:prstGeom prst="rect">
              <a:avLst/>
            </a:prstGeom>
            <a:solidFill>
              <a:srgbClr val="CDE9D7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3BF0C682-193A-4832-904C-0950D4FDE30D}"/>
                </a:ext>
              </a:extLst>
            </p:cNvPr>
            <p:cNvSpPr/>
            <p:nvPr/>
          </p:nvSpPr>
          <p:spPr bwMode="gray">
            <a:xfrm rot="16200000">
              <a:off x="5769740" y="3436152"/>
              <a:ext cx="400604" cy="400604"/>
            </a:xfrm>
            <a:prstGeom prst="rect">
              <a:avLst/>
            </a:prstGeom>
            <a:solidFill>
              <a:srgbClr val="9FD6AE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1EBC82AD-8C39-45C4-92A0-B631A854D1E8}"/>
                </a:ext>
              </a:extLst>
            </p:cNvPr>
            <p:cNvSpPr/>
            <p:nvPr/>
          </p:nvSpPr>
          <p:spPr bwMode="gray">
            <a:xfrm rot="16200000">
              <a:off x="6170360" y="4637964"/>
              <a:ext cx="400604" cy="400604"/>
            </a:xfrm>
            <a:prstGeom prst="rect">
              <a:avLst/>
            </a:prstGeom>
            <a:solidFill>
              <a:srgbClr val="B6E0C3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1A30AD9C-784B-4B4F-A497-EC7EBFF44B03}"/>
                </a:ext>
              </a:extLst>
            </p:cNvPr>
            <p:cNvSpPr/>
            <p:nvPr/>
          </p:nvSpPr>
          <p:spPr bwMode="gray">
            <a:xfrm rot="16200000">
              <a:off x="6170358" y="4237360"/>
              <a:ext cx="400604" cy="400604"/>
            </a:xfrm>
            <a:prstGeom prst="rect">
              <a:avLst/>
            </a:prstGeom>
            <a:solidFill>
              <a:srgbClr val="D7EDDF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477F4809-2175-4FB6-9794-67B1C105F370}"/>
                </a:ext>
              </a:extLst>
            </p:cNvPr>
            <p:cNvSpPr/>
            <p:nvPr/>
          </p:nvSpPr>
          <p:spPr bwMode="gray">
            <a:xfrm rot="16200000">
              <a:off x="6170360" y="3836756"/>
              <a:ext cx="400604" cy="400604"/>
            </a:xfrm>
            <a:prstGeom prst="rect">
              <a:avLst/>
            </a:prstGeom>
            <a:solidFill>
              <a:srgbClr val="8ED0A0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9DCD07F9-6E72-40DF-BF1F-71954538D595}"/>
                </a:ext>
              </a:extLst>
            </p:cNvPr>
            <p:cNvSpPr/>
            <p:nvPr/>
          </p:nvSpPr>
          <p:spPr bwMode="gray">
            <a:xfrm rot="16200000">
              <a:off x="6170359" y="3436152"/>
              <a:ext cx="400604" cy="400604"/>
            </a:xfrm>
            <a:prstGeom prst="rect">
              <a:avLst/>
            </a:prstGeom>
            <a:solidFill>
              <a:srgbClr val="80CA94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8797FBE-408A-4528-9F08-A8C7F0BE2F6A}"/>
                </a:ext>
              </a:extLst>
            </p:cNvPr>
            <p:cNvSpPr/>
            <p:nvPr/>
          </p:nvSpPr>
          <p:spPr>
            <a:xfrm>
              <a:off x="5369153" y="2645794"/>
              <a:ext cx="391600" cy="1984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900" dirty="0"/>
                <a:t>2023</a:t>
              </a:r>
            </a:p>
          </p:txBody>
        </p:sp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0CFA0719-5987-4C35-B0BD-F250F277A2EC}"/>
                </a:ext>
              </a:extLst>
            </p:cNvPr>
            <p:cNvGrpSpPr/>
            <p:nvPr/>
          </p:nvGrpSpPr>
          <p:grpSpPr>
            <a:xfrm>
              <a:off x="4964442" y="5063766"/>
              <a:ext cx="436510" cy="420340"/>
              <a:chOff x="3716281" y="5157037"/>
              <a:chExt cx="507821" cy="489009"/>
            </a:xfrm>
          </p:grpSpPr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E27574A5-0819-474F-B70C-0223F455A551}"/>
                  </a:ext>
                </a:extLst>
              </p:cNvPr>
              <p:cNvSpPr/>
              <p:nvPr/>
            </p:nvSpPr>
            <p:spPr bwMode="gray">
              <a:xfrm rot="18960074" flipH="1" flipV="1">
                <a:off x="3895918" y="5339828"/>
                <a:ext cx="328184" cy="30621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</p:spPr>
            <p:txBody>
              <a:bodyPr vert="horz" lIns="36000" tIns="36000" rIns="36000" bIns="36000" rtlCol="0" anchor="ctr">
                <a:noAutofit/>
              </a:bodyPr>
              <a:lstStyle/>
              <a:p>
                <a:pPr algn="ctr" defTabSz="990571">
                  <a:spcAft>
                    <a:spcPts val="600"/>
                  </a:spcAft>
                  <a:buSzPct val="100000"/>
                  <a:buFont typeface="Arial" panose="020B0604020202020204" pitchFamily="34" charset="0"/>
                  <a:buNone/>
                </a:pPr>
                <a:endParaRPr lang="ru-RU" sz="1300" dirty="0" err="1">
                  <a:latin typeface="+mj-lt"/>
                  <a:cs typeface="Calibri Light" panose="020F0302020204030204" pitchFamily="34" charset="0"/>
                </a:endParaRPr>
              </a:p>
            </p:txBody>
          </p:sp>
          <p:grpSp>
            <p:nvGrpSpPr>
              <p:cNvPr id="313" name="Group 312">
                <a:extLst>
                  <a:ext uri="{FF2B5EF4-FFF2-40B4-BE49-F238E27FC236}">
                    <a16:creationId xmlns:a16="http://schemas.microsoft.com/office/drawing/2014/main" id="{24C8EE48-DDAB-47D0-AD78-6FB4A303427F}"/>
                  </a:ext>
                </a:extLst>
              </p:cNvPr>
              <p:cNvGrpSpPr/>
              <p:nvPr/>
            </p:nvGrpSpPr>
            <p:grpSpPr>
              <a:xfrm>
                <a:off x="3716281" y="5157037"/>
                <a:ext cx="460532" cy="393334"/>
                <a:chOff x="4424701" y="1740109"/>
                <a:chExt cx="304341" cy="259935"/>
              </a:xfrm>
            </p:grpSpPr>
            <p:sp>
              <p:nvSpPr>
                <p:cNvPr id="314" name="Freeform: Shape 313">
                  <a:extLst>
                    <a:ext uri="{FF2B5EF4-FFF2-40B4-BE49-F238E27FC236}">
                      <a16:creationId xmlns:a16="http://schemas.microsoft.com/office/drawing/2014/main" id="{A4F84877-96EC-4D1A-B2C1-4CFFF8A250C7}"/>
                    </a:ext>
                  </a:extLst>
                </p:cNvPr>
                <p:cNvSpPr/>
                <p:nvPr/>
              </p:nvSpPr>
              <p:spPr>
                <a:xfrm>
                  <a:off x="4432993" y="1740109"/>
                  <a:ext cx="296049" cy="112041"/>
                </a:xfrm>
                <a:custGeom>
                  <a:avLst/>
                  <a:gdLst>
                    <a:gd name="connsiteX0" fmla="*/ 24670 w 47625"/>
                    <a:gd name="connsiteY0" fmla="*/ 7144 h 19050"/>
                    <a:gd name="connsiteX1" fmla="*/ 7144 w 47625"/>
                    <a:gd name="connsiteY1" fmla="*/ 19717 h 19050"/>
                    <a:gd name="connsiteX2" fmla="*/ 42291 w 47625"/>
                    <a:gd name="connsiteY2" fmla="*/ 19717 h 19050"/>
                    <a:gd name="connsiteX3" fmla="*/ 24765 w 47625"/>
                    <a:gd name="connsiteY3" fmla="*/ 7144 h 19050"/>
                    <a:gd name="connsiteX4" fmla="*/ 24765 w 47625"/>
                    <a:gd name="connsiteY4" fmla="*/ 7144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625" h="19050">
                      <a:moveTo>
                        <a:pt x="24670" y="7144"/>
                      </a:moveTo>
                      <a:cubicBezTo>
                        <a:pt x="16478" y="7144"/>
                        <a:pt x="9716" y="12383"/>
                        <a:pt x="7144" y="19717"/>
                      </a:cubicBezTo>
                      <a:lnTo>
                        <a:pt x="42291" y="19717"/>
                      </a:lnTo>
                      <a:cubicBezTo>
                        <a:pt x="39719" y="12383"/>
                        <a:pt x="32957" y="7144"/>
                        <a:pt x="24765" y="7144"/>
                      </a:cubicBezTo>
                      <a:lnTo>
                        <a:pt x="24765" y="71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15" name="Freeform: Shape 314">
                  <a:extLst>
                    <a:ext uri="{FF2B5EF4-FFF2-40B4-BE49-F238E27FC236}">
                      <a16:creationId xmlns:a16="http://schemas.microsoft.com/office/drawing/2014/main" id="{4A57C6D4-DA4B-4FD5-86AB-24D359E74992}"/>
                    </a:ext>
                  </a:extLst>
                </p:cNvPr>
                <p:cNvSpPr/>
                <p:nvPr/>
              </p:nvSpPr>
              <p:spPr>
                <a:xfrm>
                  <a:off x="4424701" y="1814056"/>
                  <a:ext cx="296049" cy="112041"/>
                </a:xfrm>
                <a:custGeom>
                  <a:avLst/>
                  <a:gdLst>
                    <a:gd name="connsiteX0" fmla="*/ 44958 w 47625"/>
                    <a:gd name="connsiteY0" fmla="*/ 13430 h 19050"/>
                    <a:gd name="connsiteX1" fmla="*/ 43625 w 47625"/>
                    <a:gd name="connsiteY1" fmla="*/ 7144 h 19050"/>
                    <a:gd name="connsiteX2" fmla="*/ 8477 w 47625"/>
                    <a:gd name="connsiteY2" fmla="*/ 7144 h 19050"/>
                    <a:gd name="connsiteX3" fmla="*/ 7144 w 47625"/>
                    <a:gd name="connsiteY3" fmla="*/ 13430 h 19050"/>
                    <a:gd name="connsiteX4" fmla="*/ 8477 w 47625"/>
                    <a:gd name="connsiteY4" fmla="*/ 19621 h 19050"/>
                    <a:gd name="connsiteX5" fmla="*/ 43625 w 47625"/>
                    <a:gd name="connsiteY5" fmla="*/ 19621 h 19050"/>
                    <a:gd name="connsiteX6" fmla="*/ 44958 w 47625"/>
                    <a:gd name="connsiteY6" fmla="*/ 1343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7625" h="19050">
                      <a:moveTo>
                        <a:pt x="44958" y="13430"/>
                      </a:moveTo>
                      <a:cubicBezTo>
                        <a:pt x="44958" y="11240"/>
                        <a:pt x="44387" y="9049"/>
                        <a:pt x="43625" y="7144"/>
                      </a:cubicBezTo>
                      <a:lnTo>
                        <a:pt x="8477" y="7144"/>
                      </a:lnTo>
                      <a:cubicBezTo>
                        <a:pt x="7715" y="9049"/>
                        <a:pt x="7144" y="11240"/>
                        <a:pt x="7144" y="13430"/>
                      </a:cubicBezTo>
                      <a:cubicBezTo>
                        <a:pt x="7144" y="15621"/>
                        <a:pt x="7715" y="17717"/>
                        <a:pt x="8477" y="19621"/>
                      </a:cubicBezTo>
                      <a:lnTo>
                        <a:pt x="43625" y="19621"/>
                      </a:lnTo>
                      <a:cubicBezTo>
                        <a:pt x="44387" y="17621"/>
                        <a:pt x="44958" y="15621"/>
                        <a:pt x="44958" y="13430"/>
                      </a:cubicBezTo>
                      <a:close/>
                    </a:path>
                  </a:pathLst>
                </a:custGeom>
                <a:solidFill>
                  <a:srgbClr val="DD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16" name="Freeform: Shape 315">
                  <a:extLst>
                    <a:ext uri="{FF2B5EF4-FFF2-40B4-BE49-F238E27FC236}">
                      <a16:creationId xmlns:a16="http://schemas.microsoft.com/office/drawing/2014/main" id="{A047DBC4-09A5-4B0B-8B0D-C5579161DEC4}"/>
                    </a:ext>
                  </a:extLst>
                </p:cNvPr>
                <p:cNvSpPr/>
                <p:nvPr/>
              </p:nvSpPr>
              <p:spPr>
                <a:xfrm>
                  <a:off x="4432993" y="1888003"/>
                  <a:ext cx="296049" cy="112041"/>
                </a:xfrm>
                <a:custGeom>
                  <a:avLst/>
                  <a:gdLst>
                    <a:gd name="connsiteX0" fmla="*/ 42291 w 47625"/>
                    <a:gd name="connsiteY0" fmla="*/ 7144 h 19050"/>
                    <a:gd name="connsiteX1" fmla="*/ 7144 w 47625"/>
                    <a:gd name="connsiteY1" fmla="*/ 7144 h 19050"/>
                    <a:gd name="connsiteX2" fmla="*/ 24670 w 47625"/>
                    <a:gd name="connsiteY2" fmla="*/ 19717 h 19050"/>
                    <a:gd name="connsiteX3" fmla="*/ 42196 w 47625"/>
                    <a:gd name="connsiteY3" fmla="*/ 7144 h 19050"/>
                    <a:gd name="connsiteX4" fmla="*/ 42196 w 47625"/>
                    <a:gd name="connsiteY4" fmla="*/ 7144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625" h="19050">
                      <a:moveTo>
                        <a:pt x="42291" y="7144"/>
                      </a:moveTo>
                      <a:lnTo>
                        <a:pt x="7144" y="7144"/>
                      </a:lnTo>
                      <a:cubicBezTo>
                        <a:pt x="9716" y="14383"/>
                        <a:pt x="16478" y="19717"/>
                        <a:pt x="24670" y="19717"/>
                      </a:cubicBezTo>
                      <a:cubicBezTo>
                        <a:pt x="32861" y="19717"/>
                        <a:pt x="39624" y="14478"/>
                        <a:pt x="42196" y="7144"/>
                      </a:cubicBezTo>
                      <a:lnTo>
                        <a:pt x="42196" y="7144"/>
                      </a:lnTo>
                      <a:close/>
                    </a:path>
                  </a:pathLst>
                </a:custGeom>
                <a:solidFill>
                  <a:srgbClr val="FFCE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8EDAAACF-59CB-4606-9727-16B94AE4567B}"/>
                </a:ext>
              </a:extLst>
            </p:cNvPr>
            <p:cNvGrpSpPr/>
            <p:nvPr/>
          </p:nvGrpSpPr>
          <p:grpSpPr>
            <a:xfrm>
              <a:off x="5376606" y="5060881"/>
              <a:ext cx="425926" cy="423225"/>
              <a:chOff x="4195779" y="5153680"/>
              <a:chExt cx="495508" cy="492366"/>
            </a:xfrm>
          </p:grpSpPr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CC6E057D-657D-4F87-9491-A4B1EA5FBA81}"/>
                  </a:ext>
                </a:extLst>
              </p:cNvPr>
              <p:cNvSpPr/>
              <p:nvPr/>
            </p:nvSpPr>
            <p:spPr bwMode="gray">
              <a:xfrm rot="18960074" flipH="1" flipV="1">
                <a:off x="4363103" y="5339828"/>
                <a:ext cx="328184" cy="30621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</p:spPr>
            <p:txBody>
              <a:bodyPr vert="horz" lIns="36000" tIns="36000" rIns="36000" bIns="36000" rtlCol="0" anchor="ctr">
                <a:noAutofit/>
              </a:bodyPr>
              <a:lstStyle/>
              <a:p>
                <a:pPr algn="ctr" defTabSz="990571">
                  <a:spcAft>
                    <a:spcPts val="600"/>
                  </a:spcAft>
                  <a:buSzPct val="100000"/>
                  <a:buFont typeface="Arial" panose="020B0604020202020204" pitchFamily="34" charset="0"/>
                  <a:buNone/>
                </a:pPr>
                <a:endParaRPr lang="ru-RU" sz="1300" dirty="0" err="1">
                  <a:latin typeface="+mj-lt"/>
                  <a:cs typeface="Calibri Light" panose="020F0302020204030204" pitchFamily="34" charset="0"/>
                </a:endParaRPr>
              </a:p>
            </p:txBody>
          </p: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A31CD9FA-7B97-4CFC-9145-E9D4B2655BF0}"/>
                  </a:ext>
                </a:extLst>
              </p:cNvPr>
              <p:cNvGrpSpPr/>
              <p:nvPr/>
            </p:nvGrpSpPr>
            <p:grpSpPr>
              <a:xfrm>
                <a:off x="4195779" y="5153680"/>
                <a:ext cx="415242" cy="415242"/>
                <a:chOff x="3311221" y="688795"/>
                <a:chExt cx="48197" cy="47625"/>
              </a:xfrm>
            </p:grpSpPr>
            <p:sp>
              <p:nvSpPr>
                <p:cNvPr id="320" name="Freeform: Shape 319">
                  <a:extLst>
                    <a:ext uri="{FF2B5EF4-FFF2-40B4-BE49-F238E27FC236}">
                      <a16:creationId xmlns:a16="http://schemas.microsoft.com/office/drawing/2014/main" id="{33F52595-D0EA-4031-B23C-E15F06918F3A}"/>
                    </a:ext>
                  </a:extLst>
                </p:cNvPr>
                <p:cNvSpPr/>
                <p:nvPr/>
              </p:nvSpPr>
              <p:spPr>
                <a:xfrm>
                  <a:off x="3311221" y="691653"/>
                  <a:ext cx="19050" cy="38100"/>
                </a:xfrm>
                <a:custGeom>
                  <a:avLst/>
                  <a:gdLst>
                    <a:gd name="connsiteX0" fmla="*/ 7144 w 19050"/>
                    <a:gd name="connsiteY0" fmla="*/ 23717 h 38100"/>
                    <a:gd name="connsiteX1" fmla="*/ 16859 w 19050"/>
                    <a:gd name="connsiteY1" fmla="*/ 40195 h 38100"/>
                    <a:gd name="connsiteX2" fmla="*/ 16859 w 19050"/>
                    <a:gd name="connsiteY2" fmla="*/ 7144 h 38100"/>
                    <a:gd name="connsiteX3" fmla="*/ 7144 w 19050"/>
                    <a:gd name="connsiteY3" fmla="*/ 23622 h 38100"/>
                    <a:gd name="connsiteX4" fmla="*/ 7144 w 19050"/>
                    <a:gd name="connsiteY4" fmla="*/ 23622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38100">
                      <a:moveTo>
                        <a:pt x="7144" y="23717"/>
                      </a:moveTo>
                      <a:cubicBezTo>
                        <a:pt x="7144" y="30861"/>
                        <a:pt x="11144" y="36862"/>
                        <a:pt x="16859" y="40195"/>
                      </a:cubicBezTo>
                      <a:lnTo>
                        <a:pt x="16859" y="7144"/>
                      </a:lnTo>
                      <a:cubicBezTo>
                        <a:pt x="11144" y="10573"/>
                        <a:pt x="7144" y="16478"/>
                        <a:pt x="7144" y="23622"/>
                      </a:cubicBezTo>
                      <a:lnTo>
                        <a:pt x="7144" y="23622"/>
                      </a:lnTo>
                      <a:close/>
                    </a:path>
                  </a:pathLst>
                </a:custGeom>
                <a:solidFill>
                  <a:srgbClr val="00209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1" name="Freeform: Shape 320">
                  <a:extLst>
                    <a:ext uri="{FF2B5EF4-FFF2-40B4-BE49-F238E27FC236}">
                      <a16:creationId xmlns:a16="http://schemas.microsoft.com/office/drawing/2014/main" id="{8457D4B4-70F6-43C3-94D0-8C692BEA2540}"/>
                    </a:ext>
                  </a:extLst>
                </p:cNvPr>
                <p:cNvSpPr/>
                <p:nvPr/>
              </p:nvSpPr>
              <p:spPr>
                <a:xfrm>
                  <a:off x="3321032" y="688795"/>
                  <a:ext cx="28575" cy="47625"/>
                </a:xfrm>
                <a:custGeom>
                  <a:avLst/>
                  <a:gdLst>
                    <a:gd name="connsiteX0" fmla="*/ 26575 w 28575"/>
                    <a:gd name="connsiteY0" fmla="*/ 10096 h 47625"/>
                    <a:gd name="connsiteX1" fmla="*/ 16859 w 28575"/>
                    <a:gd name="connsiteY1" fmla="*/ 7144 h 47625"/>
                    <a:gd name="connsiteX2" fmla="*/ 7144 w 28575"/>
                    <a:gd name="connsiteY2" fmla="*/ 10096 h 47625"/>
                    <a:gd name="connsiteX3" fmla="*/ 7144 w 28575"/>
                    <a:gd name="connsiteY3" fmla="*/ 43148 h 47625"/>
                    <a:gd name="connsiteX4" fmla="*/ 16859 w 28575"/>
                    <a:gd name="connsiteY4" fmla="*/ 46101 h 47625"/>
                    <a:gd name="connsiteX5" fmla="*/ 26575 w 28575"/>
                    <a:gd name="connsiteY5" fmla="*/ 43148 h 47625"/>
                    <a:gd name="connsiteX6" fmla="*/ 26575 w 28575"/>
                    <a:gd name="connsiteY6" fmla="*/ 10096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8575" h="47625">
                      <a:moveTo>
                        <a:pt x="26575" y="10096"/>
                      </a:moveTo>
                      <a:cubicBezTo>
                        <a:pt x="23717" y="8382"/>
                        <a:pt x="20479" y="7144"/>
                        <a:pt x="16859" y="7144"/>
                      </a:cubicBezTo>
                      <a:cubicBezTo>
                        <a:pt x="13240" y="7144"/>
                        <a:pt x="10001" y="8382"/>
                        <a:pt x="7144" y="10096"/>
                      </a:cubicBezTo>
                      <a:lnTo>
                        <a:pt x="7144" y="43148"/>
                      </a:lnTo>
                      <a:cubicBezTo>
                        <a:pt x="10097" y="44863"/>
                        <a:pt x="13240" y="46101"/>
                        <a:pt x="16859" y="46101"/>
                      </a:cubicBezTo>
                      <a:cubicBezTo>
                        <a:pt x="20479" y="46101"/>
                        <a:pt x="23717" y="44863"/>
                        <a:pt x="26575" y="43148"/>
                      </a:cubicBezTo>
                      <a:lnTo>
                        <a:pt x="26575" y="10096"/>
                      </a:lnTo>
                      <a:close/>
                    </a:path>
                  </a:pathLst>
                </a:custGeom>
                <a:solidFill>
                  <a:srgbClr val="F9F9F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2" name="Freeform: Shape 321">
                  <a:extLst>
                    <a:ext uri="{FF2B5EF4-FFF2-40B4-BE49-F238E27FC236}">
                      <a16:creationId xmlns:a16="http://schemas.microsoft.com/office/drawing/2014/main" id="{99070A0B-D889-483C-8CA3-A8C8F284A322}"/>
                    </a:ext>
                  </a:extLst>
                </p:cNvPr>
                <p:cNvSpPr/>
                <p:nvPr/>
              </p:nvSpPr>
              <p:spPr>
                <a:xfrm>
                  <a:off x="3340368" y="691748"/>
                  <a:ext cx="19050" cy="38100"/>
                </a:xfrm>
                <a:custGeom>
                  <a:avLst/>
                  <a:gdLst>
                    <a:gd name="connsiteX0" fmla="*/ 16955 w 19050"/>
                    <a:gd name="connsiteY0" fmla="*/ 23622 h 38100"/>
                    <a:gd name="connsiteX1" fmla="*/ 7144 w 19050"/>
                    <a:gd name="connsiteY1" fmla="*/ 7144 h 38100"/>
                    <a:gd name="connsiteX2" fmla="*/ 7144 w 19050"/>
                    <a:gd name="connsiteY2" fmla="*/ 40196 h 38100"/>
                    <a:gd name="connsiteX3" fmla="*/ 16955 w 19050"/>
                    <a:gd name="connsiteY3" fmla="*/ 23717 h 38100"/>
                    <a:gd name="connsiteX4" fmla="*/ 16955 w 19050"/>
                    <a:gd name="connsiteY4" fmla="*/ 23717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38100">
                      <a:moveTo>
                        <a:pt x="16955" y="23622"/>
                      </a:moveTo>
                      <a:cubicBezTo>
                        <a:pt x="16955" y="16478"/>
                        <a:pt x="12954" y="10477"/>
                        <a:pt x="7144" y="7144"/>
                      </a:cubicBezTo>
                      <a:lnTo>
                        <a:pt x="7144" y="40196"/>
                      </a:lnTo>
                      <a:cubicBezTo>
                        <a:pt x="12954" y="36766"/>
                        <a:pt x="16955" y="30861"/>
                        <a:pt x="16955" y="23717"/>
                      </a:cubicBezTo>
                      <a:lnTo>
                        <a:pt x="16955" y="23717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333EEA7B-2149-4942-9E78-DEF0CDB8A203}"/>
                </a:ext>
              </a:extLst>
            </p:cNvPr>
            <p:cNvGrpSpPr/>
            <p:nvPr/>
          </p:nvGrpSpPr>
          <p:grpSpPr>
            <a:xfrm>
              <a:off x="6170481" y="5060784"/>
              <a:ext cx="430209" cy="423322"/>
              <a:chOff x="5111726" y="5153567"/>
              <a:chExt cx="500491" cy="492479"/>
            </a:xfrm>
          </p:grpSpPr>
          <p:sp>
            <p:nvSpPr>
              <p:cNvPr id="324" name="Rectangle 323">
                <a:extLst>
                  <a:ext uri="{FF2B5EF4-FFF2-40B4-BE49-F238E27FC236}">
                    <a16:creationId xmlns:a16="http://schemas.microsoft.com/office/drawing/2014/main" id="{EC721E0E-E6E0-4630-B2D3-74021F48ACDE}"/>
                  </a:ext>
                </a:extLst>
              </p:cNvPr>
              <p:cNvSpPr/>
              <p:nvPr/>
            </p:nvSpPr>
            <p:spPr bwMode="gray">
              <a:xfrm rot="18960074" flipH="1" flipV="1">
                <a:off x="5284033" y="5339828"/>
                <a:ext cx="328184" cy="30621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</p:spPr>
            <p:txBody>
              <a:bodyPr vert="horz" lIns="36000" tIns="36000" rIns="36000" bIns="36000" rtlCol="0" anchor="ctr">
                <a:noAutofit/>
              </a:bodyPr>
              <a:lstStyle/>
              <a:p>
                <a:pPr algn="ctr" defTabSz="990571">
                  <a:spcAft>
                    <a:spcPts val="600"/>
                  </a:spcAft>
                  <a:buSzPct val="100000"/>
                  <a:buFont typeface="Arial" panose="020B0604020202020204" pitchFamily="34" charset="0"/>
                  <a:buNone/>
                </a:pPr>
                <a:endParaRPr lang="ru-RU" sz="1300" dirty="0" err="1">
                  <a:latin typeface="+mj-lt"/>
                  <a:cs typeface="Calibri Light" panose="020F0302020204030204" pitchFamily="34" charset="0"/>
                </a:endParaRPr>
              </a:p>
            </p:txBody>
          </p:sp>
          <p:grpSp>
            <p:nvGrpSpPr>
              <p:cNvPr id="325" name="Group 324">
                <a:extLst>
                  <a:ext uri="{FF2B5EF4-FFF2-40B4-BE49-F238E27FC236}">
                    <a16:creationId xmlns:a16="http://schemas.microsoft.com/office/drawing/2014/main" id="{A591BD31-24BF-4A20-B8F0-0B154ABDD433}"/>
                  </a:ext>
                </a:extLst>
              </p:cNvPr>
              <p:cNvGrpSpPr/>
              <p:nvPr/>
            </p:nvGrpSpPr>
            <p:grpSpPr>
              <a:xfrm>
                <a:off x="5111726" y="5153567"/>
                <a:ext cx="429372" cy="429372"/>
                <a:chOff x="3148248" y="1189525"/>
                <a:chExt cx="46768" cy="47625"/>
              </a:xfrm>
            </p:grpSpPr>
            <p:sp>
              <p:nvSpPr>
                <p:cNvPr id="326" name="Freeform: Shape 325">
                  <a:extLst>
                    <a:ext uri="{FF2B5EF4-FFF2-40B4-BE49-F238E27FC236}">
                      <a16:creationId xmlns:a16="http://schemas.microsoft.com/office/drawing/2014/main" id="{43464088-2CD4-460D-AAC1-B85AA4F6A3B6}"/>
                    </a:ext>
                  </a:extLst>
                </p:cNvPr>
                <p:cNvSpPr/>
                <p:nvPr/>
              </p:nvSpPr>
              <p:spPr>
                <a:xfrm>
                  <a:off x="3148248" y="1192001"/>
                  <a:ext cx="19050" cy="38100"/>
                </a:xfrm>
                <a:custGeom>
                  <a:avLst/>
                  <a:gdLst>
                    <a:gd name="connsiteX0" fmla="*/ 7144 w 19050"/>
                    <a:gd name="connsiteY0" fmla="*/ 23432 h 38100"/>
                    <a:gd name="connsiteX1" fmla="*/ 17050 w 19050"/>
                    <a:gd name="connsiteY1" fmla="*/ 39719 h 38100"/>
                    <a:gd name="connsiteX2" fmla="*/ 17050 w 19050"/>
                    <a:gd name="connsiteY2" fmla="*/ 7144 h 38100"/>
                    <a:gd name="connsiteX3" fmla="*/ 7144 w 19050"/>
                    <a:gd name="connsiteY3" fmla="*/ 23432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0" h="38100">
                      <a:moveTo>
                        <a:pt x="7144" y="23432"/>
                      </a:moveTo>
                      <a:cubicBezTo>
                        <a:pt x="7144" y="30480"/>
                        <a:pt x="11144" y="36481"/>
                        <a:pt x="17050" y="39719"/>
                      </a:cubicBezTo>
                      <a:lnTo>
                        <a:pt x="17050" y="7144"/>
                      </a:lnTo>
                      <a:cubicBezTo>
                        <a:pt x="11240" y="10382"/>
                        <a:pt x="7144" y="16383"/>
                        <a:pt x="7144" y="2343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7" name="Freeform: Shape 326">
                  <a:extLst>
                    <a:ext uri="{FF2B5EF4-FFF2-40B4-BE49-F238E27FC236}">
                      <a16:creationId xmlns:a16="http://schemas.microsoft.com/office/drawing/2014/main" id="{D0AAEF63-EF7E-4B27-936D-81D30EC30770}"/>
                    </a:ext>
                  </a:extLst>
                </p:cNvPr>
                <p:cNvSpPr/>
                <p:nvPr/>
              </p:nvSpPr>
              <p:spPr>
                <a:xfrm>
                  <a:off x="3158154" y="1189525"/>
                  <a:ext cx="28575" cy="47625"/>
                </a:xfrm>
                <a:custGeom>
                  <a:avLst/>
                  <a:gdLst>
                    <a:gd name="connsiteX0" fmla="*/ 25051 w 28575"/>
                    <a:gd name="connsiteY0" fmla="*/ 9620 h 47625"/>
                    <a:gd name="connsiteX1" fmla="*/ 16097 w 28575"/>
                    <a:gd name="connsiteY1" fmla="*/ 7144 h 47625"/>
                    <a:gd name="connsiteX2" fmla="*/ 7144 w 28575"/>
                    <a:gd name="connsiteY2" fmla="*/ 9620 h 47625"/>
                    <a:gd name="connsiteX3" fmla="*/ 7144 w 28575"/>
                    <a:gd name="connsiteY3" fmla="*/ 42196 h 47625"/>
                    <a:gd name="connsiteX4" fmla="*/ 16097 w 28575"/>
                    <a:gd name="connsiteY4" fmla="*/ 44768 h 47625"/>
                    <a:gd name="connsiteX5" fmla="*/ 25051 w 28575"/>
                    <a:gd name="connsiteY5" fmla="*/ 42196 h 47625"/>
                    <a:gd name="connsiteX6" fmla="*/ 25051 w 28575"/>
                    <a:gd name="connsiteY6" fmla="*/ 9620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8575" h="47625">
                      <a:moveTo>
                        <a:pt x="25051" y="9620"/>
                      </a:moveTo>
                      <a:cubicBezTo>
                        <a:pt x="22289" y="8096"/>
                        <a:pt x="19336" y="7144"/>
                        <a:pt x="16097" y="7144"/>
                      </a:cubicBezTo>
                      <a:cubicBezTo>
                        <a:pt x="12859" y="7144"/>
                        <a:pt x="9811" y="8192"/>
                        <a:pt x="7144" y="9620"/>
                      </a:cubicBezTo>
                      <a:lnTo>
                        <a:pt x="7144" y="42196"/>
                      </a:lnTo>
                      <a:cubicBezTo>
                        <a:pt x="9811" y="43720"/>
                        <a:pt x="12859" y="44768"/>
                        <a:pt x="16097" y="44768"/>
                      </a:cubicBezTo>
                      <a:cubicBezTo>
                        <a:pt x="19336" y="44768"/>
                        <a:pt x="22289" y="43624"/>
                        <a:pt x="25051" y="42196"/>
                      </a:cubicBezTo>
                      <a:lnTo>
                        <a:pt x="25051" y="9620"/>
                      </a:lnTo>
                      <a:close/>
                    </a:path>
                  </a:pathLst>
                </a:custGeom>
                <a:solidFill>
                  <a:srgbClr val="FFE93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8" name="Freeform: Shape 327">
                  <a:extLst>
                    <a:ext uri="{FF2B5EF4-FFF2-40B4-BE49-F238E27FC236}">
                      <a16:creationId xmlns:a16="http://schemas.microsoft.com/office/drawing/2014/main" id="{78E53F60-B1CD-4CAE-8FB4-429D428704D2}"/>
                    </a:ext>
                  </a:extLst>
                </p:cNvPr>
                <p:cNvSpPr/>
                <p:nvPr/>
              </p:nvSpPr>
              <p:spPr>
                <a:xfrm>
                  <a:off x="3175966" y="1192001"/>
                  <a:ext cx="19050" cy="38100"/>
                </a:xfrm>
                <a:custGeom>
                  <a:avLst/>
                  <a:gdLst>
                    <a:gd name="connsiteX0" fmla="*/ 17050 w 19050"/>
                    <a:gd name="connsiteY0" fmla="*/ 23432 h 38100"/>
                    <a:gd name="connsiteX1" fmla="*/ 7144 w 19050"/>
                    <a:gd name="connsiteY1" fmla="*/ 7144 h 38100"/>
                    <a:gd name="connsiteX2" fmla="*/ 7144 w 19050"/>
                    <a:gd name="connsiteY2" fmla="*/ 39719 h 38100"/>
                    <a:gd name="connsiteX3" fmla="*/ 17050 w 19050"/>
                    <a:gd name="connsiteY3" fmla="*/ 23432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0" h="38100">
                      <a:moveTo>
                        <a:pt x="17050" y="23432"/>
                      </a:moveTo>
                      <a:cubicBezTo>
                        <a:pt x="17050" y="16383"/>
                        <a:pt x="12954" y="10382"/>
                        <a:pt x="7144" y="7144"/>
                      </a:cubicBezTo>
                      <a:lnTo>
                        <a:pt x="7144" y="39719"/>
                      </a:lnTo>
                      <a:cubicBezTo>
                        <a:pt x="12954" y="36481"/>
                        <a:pt x="17050" y="30480"/>
                        <a:pt x="17050" y="23432"/>
                      </a:cubicBezTo>
                      <a:close/>
                    </a:path>
                  </a:pathLst>
                </a:custGeom>
                <a:solidFill>
                  <a:srgbClr val="FF0F2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090B8224-7CB9-4016-A3CB-BE224F234E8A}"/>
                </a:ext>
              </a:extLst>
            </p:cNvPr>
            <p:cNvGrpSpPr/>
            <p:nvPr/>
          </p:nvGrpSpPr>
          <p:grpSpPr>
            <a:xfrm>
              <a:off x="4560893" y="5058315"/>
              <a:ext cx="432358" cy="425791"/>
              <a:chOff x="3254426" y="5150695"/>
              <a:chExt cx="502991" cy="495351"/>
            </a:xfrm>
          </p:grpSpPr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A9F62156-8EA1-48CC-9E76-6FE310A272A0}"/>
                  </a:ext>
                </a:extLst>
              </p:cNvPr>
              <p:cNvSpPr/>
              <p:nvPr/>
            </p:nvSpPr>
            <p:spPr bwMode="gray">
              <a:xfrm rot="18960074" flipH="1" flipV="1">
                <a:off x="3429233" y="5339828"/>
                <a:ext cx="328184" cy="30621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</p:spPr>
            <p:txBody>
              <a:bodyPr vert="horz" lIns="36000" tIns="36000" rIns="36000" bIns="36000" rtlCol="0" anchor="ctr">
                <a:noAutofit/>
              </a:bodyPr>
              <a:lstStyle/>
              <a:p>
                <a:pPr algn="ctr" defTabSz="990571">
                  <a:spcAft>
                    <a:spcPts val="600"/>
                  </a:spcAft>
                  <a:buSzPct val="100000"/>
                  <a:buFont typeface="Arial" panose="020B0604020202020204" pitchFamily="34" charset="0"/>
                  <a:buNone/>
                </a:pPr>
                <a:endParaRPr lang="ru-RU" sz="1300" dirty="0" err="1">
                  <a:latin typeface="+mj-lt"/>
                  <a:cs typeface="Calibri Light" panose="020F0302020204030204" pitchFamily="34" charset="0"/>
                </a:endParaRPr>
              </a:p>
            </p:txBody>
          </p:sp>
          <p:grpSp>
            <p:nvGrpSpPr>
              <p:cNvPr id="331" name="Group 330">
                <a:extLst>
                  <a:ext uri="{FF2B5EF4-FFF2-40B4-BE49-F238E27FC236}">
                    <a16:creationId xmlns:a16="http://schemas.microsoft.com/office/drawing/2014/main" id="{04AEF1C5-794C-46F6-BCF9-BE8A0E88C3D8}"/>
                  </a:ext>
                </a:extLst>
              </p:cNvPr>
              <p:cNvGrpSpPr/>
              <p:nvPr/>
            </p:nvGrpSpPr>
            <p:grpSpPr>
              <a:xfrm>
                <a:off x="3254426" y="5150695"/>
                <a:ext cx="450178" cy="450178"/>
                <a:chOff x="3875490" y="1740109"/>
                <a:chExt cx="312230" cy="312230"/>
              </a:xfrm>
            </p:grpSpPr>
            <p:sp>
              <p:nvSpPr>
                <p:cNvPr id="332" name="Freeform: Shape 331">
                  <a:extLst>
                    <a:ext uri="{FF2B5EF4-FFF2-40B4-BE49-F238E27FC236}">
                      <a16:creationId xmlns:a16="http://schemas.microsoft.com/office/drawing/2014/main" id="{A3D0ED11-41E5-4A42-8A36-826DC6E983B7}"/>
                    </a:ext>
                  </a:extLst>
                </p:cNvPr>
                <p:cNvSpPr/>
                <p:nvPr/>
              </p:nvSpPr>
              <p:spPr>
                <a:xfrm>
                  <a:off x="3911105" y="1744769"/>
                  <a:ext cx="118717" cy="116504"/>
                </a:xfrm>
                <a:custGeom>
                  <a:avLst/>
                  <a:gdLst>
                    <a:gd name="connsiteX0" fmla="*/ 15811 w 19050"/>
                    <a:gd name="connsiteY0" fmla="*/ 7144 h 19050"/>
                    <a:gd name="connsiteX1" fmla="*/ 7144 w 19050"/>
                    <a:gd name="connsiteY1" fmla="*/ 11716 h 19050"/>
                    <a:gd name="connsiteX2" fmla="*/ 15811 w 19050"/>
                    <a:gd name="connsiteY2" fmla="*/ 17717 h 19050"/>
                    <a:gd name="connsiteX3" fmla="*/ 15811 w 19050"/>
                    <a:gd name="connsiteY3" fmla="*/ 7144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0" h="19050">
                      <a:moveTo>
                        <a:pt x="15811" y="7144"/>
                      </a:moveTo>
                      <a:cubicBezTo>
                        <a:pt x="12478" y="8001"/>
                        <a:pt x="9430" y="9335"/>
                        <a:pt x="7144" y="11716"/>
                      </a:cubicBezTo>
                      <a:lnTo>
                        <a:pt x="15811" y="17717"/>
                      </a:lnTo>
                      <a:lnTo>
                        <a:pt x="15811" y="7144"/>
                      </a:ln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3" name="Freeform: Shape 332">
                  <a:extLst>
                    <a:ext uri="{FF2B5EF4-FFF2-40B4-BE49-F238E27FC236}">
                      <a16:creationId xmlns:a16="http://schemas.microsoft.com/office/drawing/2014/main" id="{07ED6934-E678-4963-AB0A-4A2C645F75A2}"/>
                    </a:ext>
                  </a:extLst>
                </p:cNvPr>
                <p:cNvSpPr/>
                <p:nvPr/>
              </p:nvSpPr>
              <p:spPr>
                <a:xfrm>
                  <a:off x="4020325" y="1744769"/>
                  <a:ext cx="118717" cy="116504"/>
                </a:xfrm>
                <a:custGeom>
                  <a:avLst/>
                  <a:gdLst>
                    <a:gd name="connsiteX0" fmla="*/ 15907 w 19050"/>
                    <a:gd name="connsiteY0" fmla="*/ 11716 h 19050"/>
                    <a:gd name="connsiteX1" fmla="*/ 7144 w 19050"/>
                    <a:gd name="connsiteY1" fmla="*/ 7144 h 19050"/>
                    <a:gd name="connsiteX2" fmla="*/ 7144 w 19050"/>
                    <a:gd name="connsiteY2" fmla="*/ 17717 h 19050"/>
                    <a:gd name="connsiteX3" fmla="*/ 15907 w 19050"/>
                    <a:gd name="connsiteY3" fmla="*/ 11716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0" h="19050">
                      <a:moveTo>
                        <a:pt x="15907" y="11716"/>
                      </a:moveTo>
                      <a:cubicBezTo>
                        <a:pt x="13526" y="9335"/>
                        <a:pt x="10478" y="8001"/>
                        <a:pt x="7144" y="7144"/>
                      </a:cubicBezTo>
                      <a:lnTo>
                        <a:pt x="7144" y="17717"/>
                      </a:lnTo>
                      <a:lnTo>
                        <a:pt x="15907" y="11716"/>
                      </a:ln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4" name="Freeform: Shape 333">
                  <a:extLst>
                    <a:ext uri="{FF2B5EF4-FFF2-40B4-BE49-F238E27FC236}">
                      <a16:creationId xmlns:a16="http://schemas.microsoft.com/office/drawing/2014/main" id="{1A5F0E12-13B9-45B7-B6DA-570603A492A1}"/>
                    </a:ext>
                  </a:extLst>
                </p:cNvPr>
                <p:cNvSpPr/>
                <p:nvPr/>
              </p:nvSpPr>
              <p:spPr>
                <a:xfrm>
                  <a:off x="4009644" y="1743020"/>
                  <a:ext cx="178076" cy="174756"/>
                </a:xfrm>
                <a:custGeom>
                  <a:avLst/>
                  <a:gdLst>
                    <a:gd name="connsiteX0" fmla="*/ 22479 w 28575"/>
                    <a:gd name="connsiteY0" fmla="*/ 21717 h 28575"/>
                    <a:gd name="connsiteX1" fmla="*/ 21907 w 28575"/>
                    <a:gd name="connsiteY1" fmla="*/ 19145 h 28575"/>
                    <a:gd name="connsiteX2" fmla="*/ 19336 w 28575"/>
                    <a:gd name="connsiteY2" fmla="*/ 19145 h 28575"/>
                    <a:gd name="connsiteX3" fmla="*/ 21527 w 28575"/>
                    <a:gd name="connsiteY3" fmla="*/ 17621 h 28575"/>
                    <a:gd name="connsiteX4" fmla="*/ 19526 w 28575"/>
                    <a:gd name="connsiteY4" fmla="*/ 14764 h 28575"/>
                    <a:gd name="connsiteX5" fmla="*/ 13430 w 28575"/>
                    <a:gd name="connsiteY5" fmla="*/ 19145 h 28575"/>
                    <a:gd name="connsiteX6" fmla="*/ 9430 w 28575"/>
                    <a:gd name="connsiteY6" fmla="*/ 19145 h 28575"/>
                    <a:gd name="connsiteX7" fmla="*/ 18383 w 28575"/>
                    <a:gd name="connsiteY7" fmla="*/ 12859 h 28575"/>
                    <a:gd name="connsiteX8" fmla="*/ 17717 w 28575"/>
                    <a:gd name="connsiteY8" fmla="*/ 12002 h 28575"/>
                    <a:gd name="connsiteX9" fmla="*/ 8954 w 28575"/>
                    <a:gd name="connsiteY9" fmla="*/ 18002 h 28575"/>
                    <a:gd name="connsiteX10" fmla="*/ 8954 w 28575"/>
                    <a:gd name="connsiteY10" fmla="*/ 7429 h 28575"/>
                    <a:gd name="connsiteX11" fmla="*/ 7144 w 28575"/>
                    <a:gd name="connsiteY11" fmla="*/ 7144 h 28575"/>
                    <a:gd name="connsiteX12" fmla="*/ 7144 w 28575"/>
                    <a:gd name="connsiteY12" fmla="*/ 21622 h 28575"/>
                    <a:gd name="connsiteX13" fmla="*/ 22479 w 28575"/>
                    <a:gd name="connsiteY13" fmla="*/ 21622 h 28575"/>
                    <a:gd name="connsiteX14" fmla="*/ 22479 w 28575"/>
                    <a:gd name="connsiteY14" fmla="*/ 21622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8575" h="28575">
                      <a:moveTo>
                        <a:pt x="22479" y="21717"/>
                      </a:moveTo>
                      <a:cubicBezTo>
                        <a:pt x="22289" y="20860"/>
                        <a:pt x="22289" y="19907"/>
                        <a:pt x="21907" y="19145"/>
                      </a:cubicBezTo>
                      <a:lnTo>
                        <a:pt x="19336" y="19145"/>
                      </a:lnTo>
                      <a:lnTo>
                        <a:pt x="21527" y="17621"/>
                      </a:lnTo>
                      <a:cubicBezTo>
                        <a:pt x="20955" y="16574"/>
                        <a:pt x="20193" y="15716"/>
                        <a:pt x="19526" y="14764"/>
                      </a:cubicBezTo>
                      <a:lnTo>
                        <a:pt x="13430" y="19145"/>
                      </a:lnTo>
                      <a:lnTo>
                        <a:pt x="9430" y="19145"/>
                      </a:lnTo>
                      <a:lnTo>
                        <a:pt x="18383" y="12859"/>
                      </a:lnTo>
                      <a:cubicBezTo>
                        <a:pt x="18383" y="12859"/>
                        <a:pt x="17907" y="12192"/>
                        <a:pt x="17717" y="12002"/>
                      </a:cubicBezTo>
                      <a:lnTo>
                        <a:pt x="8954" y="18002"/>
                      </a:lnTo>
                      <a:lnTo>
                        <a:pt x="8954" y="7429"/>
                      </a:lnTo>
                      <a:cubicBezTo>
                        <a:pt x="8382" y="7334"/>
                        <a:pt x="7810" y="7239"/>
                        <a:pt x="7144" y="7144"/>
                      </a:cubicBezTo>
                      <a:lnTo>
                        <a:pt x="7144" y="21622"/>
                      </a:lnTo>
                      <a:lnTo>
                        <a:pt x="22479" y="21622"/>
                      </a:lnTo>
                      <a:lnTo>
                        <a:pt x="22479" y="2162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5" name="Freeform: Shape 334">
                  <a:extLst>
                    <a:ext uri="{FF2B5EF4-FFF2-40B4-BE49-F238E27FC236}">
                      <a16:creationId xmlns:a16="http://schemas.microsoft.com/office/drawing/2014/main" id="{ACB5A218-DC9C-4E5A-8F32-CC14CF4C2D60}"/>
                    </a:ext>
                  </a:extLst>
                </p:cNvPr>
                <p:cNvSpPr/>
                <p:nvPr/>
              </p:nvSpPr>
              <p:spPr>
                <a:xfrm>
                  <a:off x="3880239" y="1743020"/>
                  <a:ext cx="178076" cy="174756"/>
                </a:xfrm>
                <a:custGeom>
                  <a:avLst/>
                  <a:gdLst>
                    <a:gd name="connsiteX0" fmla="*/ 22479 w 28575"/>
                    <a:gd name="connsiteY0" fmla="*/ 7144 h 28575"/>
                    <a:gd name="connsiteX1" fmla="*/ 20669 w 28575"/>
                    <a:gd name="connsiteY1" fmla="*/ 7429 h 28575"/>
                    <a:gd name="connsiteX2" fmla="*/ 20669 w 28575"/>
                    <a:gd name="connsiteY2" fmla="*/ 18002 h 28575"/>
                    <a:gd name="connsiteX3" fmla="*/ 12002 w 28575"/>
                    <a:gd name="connsiteY3" fmla="*/ 12002 h 28575"/>
                    <a:gd name="connsiteX4" fmla="*/ 10001 w 28575"/>
                    <a:gd name="connsiteY4" fmla="*/ 14764 h 28575"/>
                    <a:gd name="connsiteX5" fmla="*/ 16193 w 28575"/>
                    <a:gd name="connsiteY5" fmla="*/ 19145 h 28575"/>
                    <a:gd name="connsiteX6" fmla="*/ 12192 w 28575"/>
                    <a:gd name="connsiteY6" fmla="*/ 19145 h 28575"/>
                    <a:gd name="connsiteX7" fmla="*/ 8668 w 28575"/>
                    <a:gd name="connsiteY7" fmla="*/ 16764 h 28575"/>
                    <a:gd name="connsiteX8" fmla="*/ 8096 w 28575"/>
                    <a:gd name="connsiteY8" fmla="*/ 17717 h 28575"/>
                    <a:gd name="connsiteX9" fmla="*/ 10192 w 28575"/>
                    <a:gd name="connsiteY9" fmla="*/ 19241 h 28575"/>
                    <a:gd name="connsiteX10" fmla="*/ 7620 w 28575"/>
                    <a:gd name="connsiteY10" fmla="*/ 19241 h 28575"/>
                    <a:gd name="connsiteX11" fmla="*/ 7144 w 28575"/>
                    <a:gd name="connsiteY11" fmla="*/ 21812 h 28575"/>
                    <a:gd name="connsiteX12" fmla="*/ 22574 w 28575"/>
                    <a:gd name="connsiteY12" fmla="*/ 21812 h 28575"/>
                    <a:gd name="connsiteX13" fmla="*/ 22574 w 28575"/>
                    <a:gd name="connsiteY13" fmla="*/ 7144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8575" h="28575">
                      <a:moveTo>
                        <a:pt x="22479" y="7144"/>
                      </a:moveTo>
                      <a:cubicBezTo>
                        <a:pt x="21908" y="7144"/>
                        <a:pt x="21241" y="7334"/>
                        <a:pt x="20669" y="7429"/>
                      </a:cubicBezTo>
                      <a:lnTo>
                        <a:pt x="20669" y="18002"/>
                      </a:lnTo>
                      <a:lnTo>
                        <a:pt x="12002" y="12002"/>
                      </a:lnTo>
                      <a:cubicBezTo>
                        <a:pt x="11144" y="12764"/>
                        <a:pt x="10668" y="13906"/>
                        <a:pt x="10001" y="14764"/>
                      </a:cubicBezTo>
                      <a:lnTo>
                        <a:pt x="16193" y="19145"/>
                      </a:lnTo>
                      <a:lnTo>
                        <a:pt x="12192" y="19145"/>
                      </a:lnTo>
                      <a:lnTo>
                        <a:pt x="8668" y="16764"/>
                      </a:lnTo>
                      <a:cubicBezTo>
                        <a:pt x="8668" y="16764"/>
                        <a:pt x="8192" y="17335"/>
                        <a:pt x="8096" y="17717"/>
                      </a:cubicBezTo>
                      <a:lnTo>
                        <a:pt x="10192" y="19241"/>
                      </a:lnTo>
                      <a:lnTo>
                        <a:pt x="7620" y="19241"/>
                      </a:lnTo>
                      <a:cubicBezTo>
                        <a:pt x="7334" y="20002"/>
                        <a:pt x="7334" y="20955"/>
                        <a:pt x="7144" y="21812"/>
                      </a:cubicBezTo>
                      <a:lnTo>
                        <a:pt x="22574" y="21812"/>
                      </a:lnTo>
                      <a:lnTo>
                        <a:pt x="22574" y="71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6" name="Freeform: Shape 335">
                  <a:extLst>
                    <a:ext uri="{FF2B5EF4-FFF2-40B4-BE49-F238E27FC236}">
                      <a16:creationId xmlns:a16="http://schemas.microsoft.com/office/drawing/2014/main" id="{A7BBD1D3-4E88-4FFA-BEA0-FD195B6CA192}"/>
                    </a:ext>
                  </a:extLst>
                </p:cNvPr>
                <p:cNvSpPr/>
                <p:nvPr/>
              </p:nvSpPr>
              <p:spPr>
                <a:xfrm>
                  <a:off x="3875490" y="1740109"/>
                  <a:ext cx="296794" cy="291259"/>
                </a:xfrm>
                <a:custGeom>
                  <a:avLst/>
                  <a:gdLst>
                    <a:gd name="connsiteX0" fmla="*/ 28670 w 47625"/>
                    <a:gd name="connsiteY0" fmla="*/ 44196 h 47625"/>
                    <a:gd name="connsiteX1" fmla="*/ 28670 w 47625"/>
                    <a:gd name="connsiteY1" fmla="*/ 29718 h 47625"/>
                    <a:gd name="connsiteX2" fmla="*/ 44006 w 47625"/>
                    <a:gd name="connsiteY2" fmla="*/ 29718 h 47625"/>
                    <a:gd name="connsiteX3" fmla="*/ 44768 w 47625"/>
                    <a:gd name="connsiteY3" fmla="*/ 25908 h 47625"/>
                    <a:gd name="connsiteX4" fmla="*/ 44006 w 47625"/>
                    <a:gd name="connsiteY4" fmla="*/ 22193 h 47625"/>
                    <a:gd name="connsiteX5" fmla="*/ 28670 w 47625"/>
                    <a:gd name="connsiteY5" fmla="*/ 22193 h 47625"/>
                    <a:gd name="connsiteX6" fmla="*/ 28670 w 47625"/>
                    <a:gd name="connsiteY6" fmla="*/ 7715 h 47625"/>
                    <a:gd name="connsiteX7" fmla="*/ 26003 w 47625"/>
                    <a:gd name="connsiteY7" fmla="*/ 7144 h 47625"/>
                    <a:gd name="connsiteX8" fmla="*/ 23336 w 47625"/>
                    <a:gd name="connsiteY8" fmla="*/ 7715 h 47625"/>
                    <a:gd name="connsiteX9" fmla="*/ 23336 w 47625"/>
                    <a:gd name="connsiteY9" fmla="*/ 22193 h 47625"/>
                    <a:gd name="connsiteX10" fmla="*/ 7906 w 47625"/>
                    <a:gd name="connsiteY10" fmla="*/ 22193 h 47625"/>
                    <a:gd name="connsiteX11" fmla="*/ 7144 w 47625"/>
                    <a:gd name="connsiteY11" fmla="*/ 25908 h 47625"/>
                    <a:gd name="connsiteX12" fmla="*/ 7906 w 47625"/>
                    <a:gd name="connsiteY12" fmla="*/ 29718 h 47625"/>
                    <a:gd name="connsiteX13" fmla="*/ 23336 w 47625"/>
                    <a:gd name="connsiteY13" fmla="*/ 29718 h 47625"/>
                    <a:gd name="connsiteX14" fmla="*/ 23336 w 47625"/>
                    <a:gd name="connsiteY14" fmla="*/ 44196 h 47625"/>
                    <a:gd name="connsiteX15" fmla="*/ 26003 w 47625"/>
                    <a:gd name="connsiteY15" fmla="*/ 44672 h 47625"/>
                    <a:gd name="connsiteX16" fmla="*/ 28670 w 47625"/>
                    <a:gd name="connsiteY16" fmla="*/ 44196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7625" h="47625">
                      <a:moveTo>
                        <a:pt x="28670" y="44196"/>
                      </a:moveTo>
                      <a:lnTo>
                        <a:pt x="28670" y="29718"/>
                      </a:lnTo>
                      <a:lnTo>
                        <a:pt x="44006" y="29718"/>
                      </a:lnTo>
                      <a:cubicBezTo>
                        <a:pt x="44291" y="28384"/>
                        <a:pt x="44768" y="27146"/>
                        <a:pt x="44768" y="25908"/>
                      </a:cubicBezTo>
                      <a:cubicBezTo>
                        <a:pt x="44768" y="24574"/>
                        <a:pt x="44291" y="23336"/>
                        <a:pt x="44006" y="22193"/>
                      </a:cubicBezTo>
                      <a:lnTo>
                        <a:pt x="28670" y="22193"/>
                      </a:lnTo>
                      <a:lnTo>
                        <a:pt x="28670" y="7715"/>
                      </a:lnTo>
                      <a:cubicBezTo>
                        <a:pt x="27813" y="7525"/>
                        <a:pt x="26956" y="7144"/>
                        <a:pt x="26003" y="7144"/>
                      </a:cubicBezTo>
                      <a:cubicBezTo>
                        <a:pt x="25051" y="7144"/>
                        <a:pt x="24194" y="7525"/>
                        <a:pt x="23336" y="7715"/>
                      </a:cubicBezTo>
                      <a:lnTo>
                        <a:pt x="23336" y="22193"/>
                      </a:lnTo>
                      <a:lnTo>
                        <a:pt x="7906" y="22193"/>
                      </a:lnTo>
                      <a:cubicBezTo>
                        <a:pt x="7620" y="23336"/>
                        <a:pt x="7144" y="24574"/>
                        <a:pt x="7144" y="25908"/>
                      </a:cubicBezTo>
                      <a:cubicBezTo>
                        <a:pt x="7144" y="27146"/>
                        <a:pt x="7620" y="28384"/>
                        <a:pt x="7906" y="29718"/>
                      </a:cubicBezTo>
                      <a:lnTo>
                        <a:pt x="23336" y="29718"/>
                      </a:lnTo>
                      <a:lnTo>
                        <a:pt x="23336" y="44196"/>
                      </a:lnTo>
                      <a:cubicBezTo>
                        <a:pt x="24194" y="44196"/>
                        <a:pt x="25051" y="44672"/>
                        <a:pt x="26003" y="44672"/>
                      </a:cubicBezTo>
                      <a:cubicBezTo>
                        <a:pt x="26956" y="44672"/>
                        <a:pt x="27813" y="44291"/>
                        <a:pt x="28670" y="44196"/>
                      </a:cubicBezTo>
                      <a:close/>
                    </a:path>
                  </a:pathLst>
                </a:custGeom>
                <a:solidFill>
                  <a:srgbClr val="CF142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7" name="Freeform: Shape 336">
                  <a:extLst>
                    <a:ext uri="{FF2B5EF4-FFF2-40B4-BE49-F238E27FC236}">
                      <a16:creationId xmlns:a16="http://schemas.microsoft.com/office/drawing/2014/main" id="{50C5251B-5C36-470E-92C6-E9F86275CAE2}"/>
                    </a:ext>
                  </a:extLst>
                </p:cNvPr>
                <p:cNvSpPr/>
                <p:nvPr/>
              </p:nvSpPr>
              <p:spPr>
                <a:xfrm>
                  <a:off x="4020325" y="1899135"/>
                  <a:ext cx="118717" cy="116504"/>
                </a:xfrm>
                <a:custGeom>
                  <a:avLst/>
                  <a:gdLst>
                    <a:gd name="connsiteX0" fmla="*/ 7144 w 19050"/>
                    <a:gd name="connsiteY0" fmla="*/ 17812 h 19050"/>
                    <a:gd name="connsiteX1" fmla="*/ 15907 w 19050"/>
                    <a:gd name="connsiteY1" fmla="*/ 13240 h 19050"/>
                    <a:gd name="connsiteX2" fmla="*/ 7144 w 19050"/>
                    <a:gd name="connsiteY2" fmla="*/ 7144 h 19050"/>
                    <a:gd name="connsiteX3" fmla="*/ 7144 w 19050"/>
                    <a:gd name="connsiteY3" fmla="*/ 17717 h 19050"/>
                    <a:gd name="connsiteX4" fmla="*/ 7144 w 19050"/>
                    <a:gd name="connsiteY4" fmla="*/ 17717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7144" y="17812"/>
                      </a:moveTo>
                      <a:cubicBezTo>
                        <a:pt x="10478" y="16954"/>
                        <a:pt x="13430" y="15621"/>
                        <a:pt x="15907" y="13240"/>
                      </a:cubicBezTo>
                      <a:lnTo>
                        <a:pt x="7144" y="7144"/>
                      </a:lnTo>
                      <a:lnTo>
                        <a:pt x="7144" y="17717"/>
                      </a:lnTo>
                      <a:lnTo>
                        <a:pt x="7144" y="17717"/>
                      </a:ln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8" name="Freeform: Shape 337">
                  <a:extLst>
                    <a:ext uri="{FF2B5EF4-FFF2-40B4-BE49-F238E27FC236}">
                      <a16:creationId xmlns:a16="http://schemas.microsoft.com/office/drawing/2014/main" id="{5901DA31-BD4E-4275-9C7D-740749B2B66A}"/>
                    </a:ext>
                  </a:extLst>
                </p:cNvPr>
                <p:cNvSpPr/>
                <p:nvPr/>
              </p:nvSpPr>
              <p:spPr>
                <a:xfrm>
                  <a:off x="3910513" y="1899722"/>
                  <a:ext cx="118717" cy="116504"/>
                </a:xfrm>
                <a:custGeom>
                  <a:avLst/>
                  <a:gdLst>
                    <a:gd name="connsiteX0" fmla="*/ 7144 w 19050"/>
                    <a:gd name="connsiteY0" fmla="*/ 13144 h 19050"/>
                    <a:gd name="connsiteX1" fmla="*/ 15811 w 19050"/>
                    <a:gd name="connsiteY1" fmla="*/ 17717 h 19050"/>
                    <a:gd name="connsiteX2" fmla="*/ 15811 w 19050"/>
                    <a:gd name="connsiteY2" fmla="*/ 7144 h 19050"/>
                    <a:gd name="connsiteX3" fmla="*/ 7144 w 19050"/>
                    <a:gd name="connsiteY3" fmla="*/ 13240 h 19050"/>
                    <a:gd name="connsiteX4" fmla="*/ 7144 w 19050"/>
                    <a:gd name="connsiteY4" fmla="*/ 1324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7144" y="13144"/>
                      </a:moveTo>
                      <a:cubicBezTo>
                        <a:pt x="9525" y="15431"/>
                        <a:pt x="12573" y="16859"/>
                        <a:pt x="15811" y="17717"/>
                      </a:cubicBezTo>
                      <a:lnTo>
                        <a:pt x="15811" y="7144"/>
                      </a:lnTo>
                      <a:lnTo>
                        <a:pt x="7144" y="13240"/>
                      </a:lnTo>
                      <a:lnTo>
                        <a:pt x="7144" y="13240"/>
                      </a:ln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9" name="Freeform: Shape 338">
                  <a:extLst>
                    <a:ext uri="{FF2B5EF4-FFF2-40B4-BE49-F238E27FC236}">
                      <a16:creationId xmlns:a16="http://schemas.microsoft.com/office/drawing/2014/main" id="{8C19A2CA-832F-40E4-BE3D-B4166C14BBA2}"/>
                    </a:ext>
                  </a:extLst>
                </p:cNvPr>
                <p:cNvSpPr/>
                <p:nvPr/>
              </p:nvSpPr>
              <p:spPr>
                <a:xfrm>
                  <a:off x="3883205" y="1893313"/>
                  <a:ext cx="59359" cy="58252"/>
                </a:xfrm>
                <a:custGeom>
                  <a:avLst/>
                  <a:gdLst>
                    <a:gd name="connsiteX0" fmla="*/ 7144 w 9525"/>
                    <a:gd name="connsiteY0" fmla="*/ 7144 h 9525"/>
                    <a:gd name="connsiteX1" fmla="*/ 7620 w 9525"/>
                    <a:gd name="connsiteY1" fmla="*/ 8477 h 9525"/>
                    <a:gd name="connsiteX2" fmla="*/ 9715 w 9525"/>
                    <a:gd name="connsiteY2" fmla="*/ 7144 h 9525"/>
                    <a:gd name="connsiteX3" fmla="*/ 7144 w 9525"/>
                    <a:gd name="connsiteY3" fmla="*/ 7144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9525">
                      <a:moveTo>
                        <a:pt x="7144" y="7144"/>
                      </a:moveTo>
                      <a:cubicBezTo>
                        <a:pt x="7144" y="7144"/>
                        <a:pt x="7429" y="8001"/>
                        <a:pt x="7620" y="8477"/>
                      </a:cubicBezTo>
                      <a:lnTo>
                        <a:pt x="9715" y="7144"/>
                      </a:lnTo>
                      <a:cubicBezTo>
                        <a:pt x="9715" y="7144"/>
                        <a:pt x="7144" y="7144"/>
                        <a:pt x="7144" y="7144"/>
                      </a:cubicBez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0" name="Freeform: Shape 339">
                  <a:extLst>
                    <a:ext uri="{FF2B5EF4-FFF2-40B4-BE49-F238E27FC236}">
                      <a16:creationId xmlns:a16="http://schemas.microsoft.com/office/drawing/2014/main" id="{97B30CBA-9165-41BE-8372-8C09432AD46C}"/>
                    </a:ext>
                  </a:extLst>
                </p:cNvPr>
                <p:cNvSpPr/>
                <p:nvPr/>
              </p:nvSpPr>
              <p:spPr>
                <a:xfrm>
                  <a:off x="4085623" y="1807100"/>
                  <a:ext cx="59359" cy="58252"/>
                </a:xfrm>
                <a:custGeom>
                  <a:avLst/>
                  <a:gdLst>
                    <a:gd name="connsiteX0" fmla="*/ 9715 w 9525"/>
                    <a:gd name="connsiteY0" fmla="*/ 8668 h 9525"/>
                    <a:gd name="connsiteX1" fmla="*/ 9334 w 9525"/>
                    <a:gd name="connsiteY1" fmla="*/ 7144 h 9525"/>
                    <a:gd name="connsiteX2" fmla="*/ 7144 w 9525"/>
                    <a:gd name="connsiteY2" fmla="*/ 8668 h 9525"/>
                    <a:gd name="connsiteX3" fmla="*/ 9715 w 9525"/>
                    <a:gd name="connsiteY3" fmla="*/ 8668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9525">
                      <a:moveTo>
                        <a:pt x="9715" y="8668"/>
                      </a:moveTo>
                      <a:cubicBezTo>
                        <a:pt x="9715" y="8096"/>
                        <a:pt x="9525" y="7620"/>
                        <a:pt x="9334" y="7144"/>
                      </a:cubicBezTo>
                      <a:lnTo>
                        <a:pt x="7144" y="8668"/>
                      </a:lnTo>
                      <a:lnTo>
                        <a:pt x="9715" y="8668"/>
                      </a:ln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1" name="Freeform: Shape 340">
                  <a:extLst>
                    <a:ext uri="{FF2B5EF4-FFF2-40B4-BE49-F238E27FC236}">
                      <a16:creationId xmlns:a16="http://schemas.microsoft.com/office/drawing/2014/main" id="{4E7A6B8E-A6D3-4501-8441-D7ED3AD7EB86}"/>
                    </a:ext>
                  </a:extLst>
                </p:cNvPr>
                <p:cNvSpPr/>
                <p:nvPr/>
              </p:nvSpPr>
              <p:spPr>
                <a:xfrm>
                  <a:off x="3883205" y="1807100"/>
                  <a:ext cx="59359" cy="58252"/>
                </a:xfrm>
                <a:custGeom>
                  <a:avLst/>
                  <a:gdLst>
                    <a:gd name="connsiteX0" fmla="*/ 7620 w 9525"/>
                    <a:gd name="connsiteY0" fmla="*/ 7144 h 9525"/>
                    <a:gd name="connsiteX1" fmla="*/ 7144 w 9525"/>
                    <a:gd name="connsiteY1" fmla="*/ 8668 h 9525"/>
                    <a:gd name="connsiteX2" fmla="*/ 9715 w 9525"/>
                    <a:gd name="connsiteY2" fmla="*/ 8668 h 9525"/>
                    <a:gd name="connsiteX3" fmla="*/ 7620 w 9525"/>
                    <a:gd name="connsiteY3" fmla="*/ 7144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9525">
                      <a:moveTo>
                        <a:pt x="7620" y="7144"/>
                      </a:moveTo>
                      <a:cubicBezTo>
                        <a:pt x="7620" y="7144"/>
                        <a:pt x="7334" y="8096"/>
                        <a:pt x="7144" y="8668"/>
                      </a:cubicBezTo>
                      <a:lnTo>
                        <a:pt x="9715" y="8668"/>
                      </a:lnTo>
                      <a:cubicBezTo>
                        <a:pt x="9715" y="8668"/>
                        <a:pt x="7620" y="7144"/>
                        <a:pt x="7620" y="7144"/>
                      </a:cubicBez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2" name="Freeform: Shape 341">
                  <a:extLst>
                    <a:ext uri="{FF2B5EF4-FFF2-40B4-BE49-F238E27FC236}">
                      <a16:creationId xmlns:a16="http://schemas.microsoft.com/office/drawing/2014/main" id="{74EAA536-C6C2-4027-9BD7-223ECE88FC14}"/>
                    </a:ext>
                  </a:extLst>
                </p:cNvPr>
                <p:cNvSpPr/>
                <p:nvPr/>
              </p:nvSpPr>
              <p:spPr>
                <a:xfrm>
                  <a:off x="4085623" y="1893894"/>
                  <a:ext cx="59359" cy="58252"/>
                </a:xfrm>
                <a:custGeom>
                  <a:avLst/>
                  <a:gdLst>
                    <a:gd name="connsiteX0" fmla="*/ 9334 w 9525"/>
                    <a:gd name="connsiteY0" fmla="*/ 8477 h 9525"/>
                    <a:gd name="connsiteX1" fmla="*/ 9715 w 9525"/>
                    <a:gd name="connsiteY1" fmla="*/ 7144 h 9525"/>
                    <a:gd name="connsiteX2" fmla="*/ 7144 w 9525"/>
                    <a:gd name="connsiteY2" fmla="*/ 7144 h 9525"/>
                    <a:gd name="connsiteX3" fmla="*/ 9334 w 9525"/>
                    <a:gd name="connsiteY3" fmla="*/ 8477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9525">
                      <a:moveTo>
                        <a:pt x="9334" y="8477"/>
                      </a:moveTo>
                      <a:cubicBezTo>
                        <a:pt x="9525" y="8001"/>
                        <a:pt x="9620" y="7525"/>
                        <a:pt x="9715" y="7144"/>
                      </a:cubicBezTo>
                      <a:lnTo>
                        <a:pt x="7144" y="7144"/>
                      </a:lnTo>
                      <a:lnTo>
                        <a:pt x="9334" y="8477"/>
                      </a:ln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3" name="Freeform: Shape 342">
                  <a:extLst>
                    <a:ext uri="{FF2B5EF4-FFF2-40B4-BE49-F238E27FC236}">
                      <a16:creationId xmlns:a16="http://schemas.microsoft.com/office/drawing/2014/main" id="{A227C1CC-CF1F-45BD-B26A-049CA525E68D}"/>
                    </a:ext>
                  </a:extLst>
                </p:cNvPr>
                <p:cNvSpPr/>
                <p:nvPr/>
              </p:nvSpPr>
              <p:spPr>
                <a:xfrm>
                  <a:off x="4009644" y="1877583"/>
                  <a:ext cx="178076" cy="174756"/>
                </a:xfrm>
                <a:custGeom>
                  <a:avLst/>
                  <a:gdLst>
                    <a:gd name="connsiteX0" fmla="*/ 7144 w 28575"/>
                    <a:gd name="connsiteY0" fmla="*/ 21717 h 28575"/>
                    <a:gd name="connsiteX1" fmla="*/ 8954 w 28575"/>
                    <a:gd name="connsiteY1" fmla="*/ 21336 h 28575"/>
                    <a:gd name="connsiteX2" fmla="*/ 8954 w 28575"/>
                    <a:gd name="connsiteY2" fmla="*/ 10763 h 28575"/>
                    <a:gd name="connsiteX3" fmla="*/ 17717 w 28575"/>
                    <a:gd name="connsiteY3" fmla="*/ 16859 h 28575"/>
                    <a:gd name="connsiteX4" fmla="*/ 19621 w 28575"/>
                    <a:gd name="connsiteY4" fmla="*/ 14002 h 28575"/>
                    <a:gd name="connsiteX5" fmla="*/ 13526 w 28575"/>
                    <a:gd name="connsiteY5" fmla="*/ 9715 h 28575"/>
                    <a:gd name="connsiteX6" fmla="*/ 17621 w 28575"/>
                    <a:gd name="connsiteY6" fmla="*/ 9715 h 28575"/>
                    <a:gd name="connsiteX7" fmla="*/ 20955 w 28575"/>
                    <a:gd name="connsiteY7" fmla="*/ 12001 h 28575"/>
                    <a:gd name="connsiteX8" fmla="*/ 21717 w 28575"/>
                    <a:gd name="connsiteY8" fmla="*/ 11049 h 28575"/>
                    <a:gd name="connsiteX9" fmla="*/ 19526 w 28575"/>
                    <a:gd name="connsiteY9" fmla="*/ 9715 h 28575"/>
                    <a:gd name="connsiteX10" fmla="*/ 22098 w 28575"/>
                    <a:gd name="connsiteY10" fmla="*/ 9715 h 28575"/>
                    <a:gd name="connsiteX11" fmla="*/ 22669 w 28575"/>
                    <a:gd name="connsiteY11" fmla="*/ 7144 h 28575"/>
                    <a:gd name="connsiteX12" fmla="*/ 7334 w 28575"/>
                    <a:gd name="connsiteY12" fmla="*/ 7144 h 28575"/>
                    <a:gd name="connsiteX13" fmla="*/ 7334 w 28575"/>
                    <a:gd name="connsiteY13" fmla="*/ 21622 h 28575"/>
                    <a:gd name="connsiteX14" fmla="*/ 7144 w 28575"/>
                    <a:gd name="connsiteY14" fmla="*/ 21622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8575" h="28575">
                      <a:moveTo>
                        <a:pt x="7144" y="21717"/>
                      </a:moveTo>
                      <a:cubicBezTo>
                        <a:pt x="7810" y="21717"/>
                        <a:pt x="8382" y="21431"/>
                        <a:pt x="8954" y="21336"/>
                      </a:cubicBezTo>
                      <a:lnTo>
                        <a:pt x="8954" y="10763"/>
                      </a:lnTo>
                      <a:lnTo>
                        <a:pt x="17717" y="16859"/>
                      </a:lnTo>
                      <a:cubicBezTo>
                        <a:pt x="18479" y="16097"/>
                        <a:pt x="19050" y="14954"/>
                        <a:pt x="19621" y="14002"/>
                      </a:cubicBezTo>
                      <a:lnTo>
                        <a:pt x="13526" y="9715"/>
                      </a:lnTo>
                      <a:lnTo>
                        <a:pt x="17621" y="9715"/>
                      </a:lnTo>
                      <a:lnTo>
                        <a:pt x="20955" y="12001"/>
                      </a:lnTo>
                      <a:cubicBezTo>
                        <a:pt x="20955" y="12001"/>
                        <a:pt x="21527" y="11430"/>
                        <a:pt x="21717" y="11049"/>
                      </a:cubicBezTo>
                      <a:lnTo>
                        <a:pt x="19526" y="9715"/>
                      </a:lnTo>
                      <a:lnTo>
                        <a:pt x="22098" y="9715"/>
                      </a:lnTo>
                      <a:cubicBezTo>
                        <a:pt x="22479" y="8858"/>
                        <a:pt x="22479" y="8001"/>
                        <a:pt x="22669" y="7144"/>
                      </a:cubicBezTo>
                      <a:lnTo>
                        <a:pt x="7334" y="7144"/>
                      </a:lnTo>
                      <a:lnTo>
                        <a:pt x="7334" y="21622"/>
                      </a:lnTo>
                      <a:lnTo>
                        <a:pt x="7144" y="2162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4" name="Freeform: Shape 343">
                  <a:extLst>
                    <a:ext uri="{FF2B5EF4-FFF2-40B4-BE49-F238E27FC236}">
                      <a16:creationId xmlns:a16="http://schemas.microsoft.com/office/drawing/2014/main" id="{3BB4B953-001B-4E27-801F-C1633C0412D4}"/>
                    </a:ext>
                  </a:extLst>
                </p:cNvPr>
                <p:cNvSpPr/>
                <p:nvPr/>
              </p:nvSpPr>
              <p:spPr>
                <a:xfrm>
                  <a:off x="3879647" y="1877583"/>
                  <a:ext cx="178076" cy="174756"/>
                </a:xfrm>
                <a:custGeom>
                  <a:avLst/>
                  <a:gdLst>
                    <a:gd name="connsiteX0" fmla="*/ 7239 w 28575"/>
                    <a:gd name="connsiteY0" fmla="*/ 7239 h 28575"/>
                    <a:gd name="connsiteX1" fmla="*/ 7715 w 28575"/>
                    <a:gd name="connsiteY1" fmla="*/ 9811 h 28575"/>
                    <a:gd name="connsiteX2" fmla="*/ 10287 w 28575"/>
                    <a:gd name="connsiteY2" fmla="*/ 9811 h 28575"/>
                    <a:gd name="connsiteX3" fmla="*/ 8192 w 28575"/>
                    <a:gd name="connsiteY3" fmla="*/ 11144 h 28575"/>
                    <a:gd name="connsiteX4" fmla="*/ 10097 w 28575"/>
                    <a:gd name="connsiteY4" fmla="*/ 14002 h 28575"/>
                    <a:gd name="connsiteX5" fmla="*/ 16288 w 28575"/>
                    <a:gd name="connsiteY5" fmla="*/ 9715 h 28575"/>
                    <a:gd name="connsiteX6" fmla="*/ 20288 w 28575"/>
                    <a:gd name="connsiteY6" fmla="*/ 9715 h 28575"/>
                    <a:gd name="connsiteX7" fmla="*/ 11430 w 28575"/>
                    <a:gd name="connsiteY7" fmla="*/ 15811 h 28575"/>
                    <a:gd name="connsiteX8" fmla="*/ 12097 w 28575"/>
                    <a:gd name="connsiteY8" fmla="*/ 16764 h 28575"/>
                    <a:gd name="connsiteX9" fmla="*/ 20765 w 28575"/>
                    <a:gd name="connsiteY9" fmla="*/ 10668 h 28575"/>
                    <a:gd name="connsiteX10" fmla="*/ 20765 w 28575"/>
                    <a:gd name="connsiteY10" fmla="*/ 21241 h 28575"/>
                    <a:gd name="connsiteX11" fmla="*/ 22574 w 28575"/>
                    <a:gd name="connsiteY11" fmla="*/ 21622 h 28575"/>
                    <a:gd name="connsiteX12" fmla="*/ 22574 w 28575"/>
                    <a:gd name="connsiteY12" fmla="*/ 7144 h 28575"/>
                    <a:gd name="connsiteX13" fmla="*/ 7144 w 28575"/>
                    <a:gd name="connsiteY13" fmla="*/ 7144 h 28575"/>
                    <a:gd name="connsiteX14" fmla="*/ 7239 w 28575"/>
                    <a:gd name="connsiteY14" fmla="*/ 7144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8575" h="28575">
                      <a:moveTo>
                        <a:pt x="7239" y="7239"/>
                      </a:moveTo>
                      <a:cubicBezTo>
                        <a:pt x="7430" y="8096"/>
                        <a:pt x="7430" y="8953"/>
                        <a:pt x="7715" y="9811"/>
                      </a:cubicBezTo>
                      <a:lnTo>
                        <a:pt x="10287" y="9811"/>
                      </a:lnTo>
                      <a:lnTo>
                        <a:pt x="8192" y="11144"/>
                      </a:lnTo>
                      <a:cubicBezTo>
                        <a:pt x="8668" y="12287"/>
                        <a:pt x="9430" y="13144"/>
                        <a:pt x="10097" y="14002"/>
                      </a:cubicBezTo>
                      <a:lnTo>
                        <a:pt x="16288" y="9715"/>
                      </a:lnTo>
                      <a:lnTo>
                        <a:pt x="20288" y="9715"/>
                      </a:lnTo>
                      <a:lnTo>
                        <a:pt x="11430" y="15811"/>
                      </a:lnTo>
                      <a:cubicBezTo>
                        <a:pt x="11430" y="15811"/>
                        <a:pt x="11906" y="16573"/>
                        <a:pt x="12097" y="16764"/>
                      </a:cubicBezTo>
                      <a:lnTo>
                        <a:pt x="20765" y="10668"/>
                      </a:lnTo>
                      <a:lnTo>
                        <a:pt x="20765" y="21241"/>
                      </a:lnTo>
                      <a:cubicBezTo>
                        <a:pt x="21336" y="21241"/>
                        <a:pt x="21908" y="21526"/>
                        <a:pt x="22574" y="21622"/>
                      </a:cubicBezTo>
                      <a:lnTo>
                        <a:pt x="22574" y="7144"/>
                      </a:lnTo>
                      <a:lnTo>
                        <a:pt x="7144" y="7144"/>
                      </a:lnTo>
                      <a:lnTo>
                        <a:pt x="7239" y="71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5" name="Freeform: Shape 344">
                  <a:extLst>
                    <a:ext uri="{FF2B5EF4-FFF2-40B4-BE49-F238E27FC236}">
                      <a16:creationId xmlns:a16="http://schemas.microsoft.com/office/drawing/2014/main" id="{54166F9C-5B98-47A3-AB41-2C62CC426C4B}"/>
                    </a:ext>
                  </a:extLst>
                </p:cNvPr>
                <p:cNvSpPr/>
                <p:nvPr/>
              </p:nvSpPr>
              <p:spPr>
                <a:xfrm>
                  <a:off x="3898049" y="1893313"/>
                  <a:ext cx="118717" cy="116504"/>
                </a:xfrm>
                <a:custGeom>
                  <a:avLst/>
                  <a:gdLst>
                    <a:gd name="connsiteX0" fmla="*/ 13335 w 19050"/>
                    <a:gd name="connsiteY0" fmla="*/ 7144 h 19050"/>
                    <a:gd name="connsiteX1" fmla="*/ 7144 w 19050"/>
                    <a:gd name="connsiteY1" fmla="*/ 11430 h 19050"/>
                    <a:gd name="connsiteX2" fmla="*/ 8477 w 19050"/>
                    <a:gd name="connsiteY2" fmla="*/ 13335 h 19050"/>
                    <a:gd name="connsiteX3" fmla="*/ 17335 w 19050"/>
                    <a:gd name="connsiteY3" fmla="*/ 7239 h 19050"/>
                    <a:gd name="connsiteX4" fmla="*/ 13335 w 19050"/>
                    <a:gd name="connsiteY4" fmla="*/ 7239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13335" y="7144"/>
                      </a:moveTo>
                      <a:lnTo>
                        <a:pt x="7144" y="11430"/>
                      </a:lnTo>
                      <a:cubicBezTo>
                        <a:pt x="7620" y="12097"/>
                        <a:pt x="7906" y="12859"/>
                        <a:pt x="8477" y="13335"/>
                      </a:cubicBezTo>
                      <a:lnTo>
                        <a:pt x="17335" y="7239"/>
                      </a:lnTo>
                      <a:lnTo>
                        <a:pt x="13335" y="7239"/>
                      </a:lnTo>
                      <a:close/>
                    </a:path>
                  </a:pathLst>
                </a:custGeom>
                <a:solidFill>
                  <a:srgbClr val="CF142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6" name="Freeform: Shape 345">
                  <a:extLst>
                    <a:ext uri="{FF2B5EF4-FFF2-40B4-BE49-F238E27FC236}">
                      <a16:creationId xmlns:a16="http://schemas.microsoft.com/office/drawing/2014/main" id="{98B0C784-F038-42D9-917A-11444E77BE8D}"/>
                    </a:ext>
                  </a:extLst>
                </p:cNvPr>
                <p:cNvSpPr/>
                <p:nvPr/>
              </p:nvSpPr>
              <p:spPr>
                <a:xfrm>
                  <a:off x="3889736" y="1789622"/>
                  <a:ext cx="118717" cy="58252"/>
                </a:xfrm>
                <a:custGeom>
                  <a:avLst/>
                  <a:gdLst>
                    <a:gd name="connsiteX0" fmla="*/ 14669 w 19050"/>
                    <a:gd name="connsiteY0" fmla="*/ 11525 h 9525"/>
                    <a:gd name="connsiteX1" fmla="*/ 8477 w 19050"/>
                    <a:gd name="connsiteY1" fmla="*/ 7144 h 9525"/>
                    <a:gd name="connsiteX2" fmla="*/ 7144 w 19050"/>
                    <a:gd name="connsiteY2" fmla="*/ 9144 h 9525"/>
                    <a:gd name="connsiteX3" fmla="*/ 10668 w 19050"/>
                    <a:gd name="connsiteY3" fmla="*/ 11525 h 9525"/>
                    <a:gd name="connsiteX4" fmla="*/ 14669 w 19050"/>
                    <a:gd name="connsiteY4" fmla="*/ 11525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9525">
                      <a:moveTo>
                        <a:pt x="14669" y="11525"/>
                      </a:moveTo>
                      <a:lnTo>
                        <a:pt x="8477" y="7144"/>
                      </a:lnTo>
                      <a:cubicBezTo>
                        <a:pt x="8096" y="7810"/>
                        <a:pt x="7525" y="8382"/>
                        <a:pt x="7144" y="9144"/>
                      </a:cubicBezTo>
                      <a:lnTo>
                        <a:pt x="10668" y="11525"/>
                      </a:lnTo>
                      <a:cubicBezTo>
                        <a:pt x="10668" y="11525"/>
                        <a:pt x="14669" y="11525"/>
                        <a:pt x="14669" y="11525"/>
                      </a:cubicBezTo>
                      <a:close/>
                    </a:path>
                  </a:pathLst>
                </a:custGeom>
                <a:solidFill>
                  <a:srgbClr val="CF142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7" name="Freeform: Shape 346">
                  <a:extLst>
                    <a:ext uri="{FF2B5EF4-FFF2-40B4-BE49-F238E27FC236}">
                      <a16:creationId xmlns:a16="http://schemas.microsoft.com/office/drawing/2014/main" id="{CD8D760D-FB89-40EA-97F5-583ACD187AD2}"/>
                    </a:ext>
                  </a:extLst>
                </p:cNvPr>
                <p:cNvSpPr/>
                <p:nvPr/>
              </p:nvSpPr>
              <p:spPr>
                <a:xfrm>
                  <a:off x="4048225" y="1893313"/>
                  <a:ext cx="118717" cy="58252"/>
                </a:xfrm>
                <a:custGeom>
                  <a:avLst/>
                  <a:gdLst>
                    <a:gd name="connsiteX0" fmla="*/ 7144 w 19050"/>
                    <a:gd name="connsiteY0" fmla="*/ 7144 h 9525"/>
                    <a:gd name="connsiteX1" fmla="*/ 13240 w 19050"/>
                    <a:gd name="connsiteY1" fmla="*/ 11430 h 9525"/>
                    <a:gd name="connsiteX2" fmla="*/ 14573 w 19050"/>
                    <a:gd name="connsiteY2" fmla="*/ 9525 h 9525"/>
                    <a:gd name="connsiteX3" fmla="*/ 11240 w 19050"/>
                    <a:gd name="connsiteY3" fmla="*/ 7239 h 9525"/>
                    <a:gd name="connsiteX4" fmla="*/ 7144 w 19050"/>
                    <a:gd name="connsiteY4" fmla="*/ 7239 h 9525"/>
                    <a:gd name="connsiteX5" fmla="*/ 7144 w 19050"/>
                    <a:gd name="connsiteY5" fmla="*/ 7239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050" h="9525">
                      <a:moveTo>
                        <a:pt x="7144" y="7144"/>
                      </a:moveTo>
                      <a:lnTo>
                        <a:pt x="13240" y="11430"/>
                      </a:lnTo>
                      <a:cubicBezTo>
                        <a:pt x="13811" y="10763"/>
                        <a:pt x="14192" y="10287"/>
                        <a:pt x="14573" y="9525"/>
                      </a:cubicBezTo>
                      <a:lnTo>
                        <a:pt x="11240" y="7239"/>
                      </a:lnTo>
                      <a:lnTo>
                        <a:pt x="7144" y="7239"/>
                      </a:lnTo>
                      <a:lnTo>
                        <a:pt x="7144" y="7239"/>
                      </a:lnTo>
                      <a:close/>
                    </a:path>
                  </a:pathLst>
                </a:custGeom>
                <a:solidFill>
                  <a:srgbClr val="CF142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8" name="Freeform: Shape 347">
                  <a:extLst>
                    <a:ext uri="{FF2B5EF4-FFF2-40B4-BE49-F238E27FC236}">
                      <a16:creationId xmlns:a16="http://schemas.microsoft.com/office/drawing/2014/main" id="{B4C9BFF9-BD19-4CA9-88D9-D0895BF5F8E2}"/>
                    </a:ext>
                  </a:extLst>
                </p:cNvPr>
                <p:cNvSpPr/>
                <p:nvPr/>
              </p:nvSpPr>
              <p:spPr>
                <a:xfrm>
                  <a:off x="4022700" y="1777971"/>
                  <a:ext cx="118717" cy="116504"/>
                </a:xfrm>
                <a:custGeom>
                  <a:avLst/>
                  <a:gdLst>
                    <a:gd name="connsiteX0" fmla="*/ 11240 w 19050"/>
                    <a:gd name="connsiteY0" fmla="*/ 13430 h 19050"/>
                    <a:gd name="connsiteX1" fmla="*/ 17335 w 19050"/>
                    <a:gd name="connsiteY1" fmla="*/ 9049 h 19050"/>
                    <a:gd name="connsiteX2" fmla="*/ 16097 w 19050"/>
                    <a:gd name="connsiteY2" fmla="*/ 7144 h 19050"/>
                    <a:gd name="connsiteX3" fmla="*/ 7144 w 19050"/>
                    <a:gd name="connsiteY3" fmla="*/ 13430 h 19050"/>
                    <a:gd name="connsiteX4" fmla="*/ 11240 w 19050"/>
                    <a:gd name="connsiteY4" fmla="*/ 1343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11240" y="13430"/>
                      </a:moveTo>
                      <a:lnTo>
                        <a:pt x="17335" y="9049"/>
                      </a:lnTo>
                      <a:cubicBezTo>
                        <a:pt x="16955" y="8382"/>
                        <a:pt x="16573" y="7811"/>
                        <a:pt x="16097" y="7144"/>
                      </a:cubicBezTo>
                      <a:lnTo>
                        <a:pt x="7144" y="13430"/>
                      </a:lnTo>
                      <a:lnTo>
                        <a:pt x="11240" y="13430"/>
                      </a:lnTo>
                      <a:close/>
                    </a:path>
                  </a:pathLst>
                </a:custGeom>
                <a:solidFill>
                  <a:srgbClr val="CF142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49" name="Group 348">
              <a:extLst>
                <a:ext uri="{FF2B5EF4-FFF2-40B4-BE49-F238E27FC236}">
                  <a16:creationId xmlns:a16="http://schemas.microsoft.com/office/drawing/2014/main" id="{6C68475B-8894-4C41-A610-9257CDE7BD2D}"/>
                </a:ext>
              </a:extLst>
            </p:cNvPr>
            <p:cNvGrpSpPr/>
            <p:nvPr/>
          </p:nvGrpSpPr>
          <p:grpSpPr>
            <a:xfrm>
              <a:off x="5827423" y="5107634"/>
              <a:ext cx="382810" cy="376472"/>
              <a:chOff x="4712624" y="5208071"/>
              <a:chExt cx="445348" cy="437975"/>
            </a:xfrm>
          </p:grpSpPr>
          <p:sp>
            <p:nvSpPr>
              <p:cNvPr id="350" name="Rectangle 349">
                <a:extLst>
                  <a:ext uri="{FF2B5EF4-FFF2-40B4-BE49-F238E27FC236}">
                    <a16:creationId xmlns:a16="http://schemas.microsoft.com/office/drawing/2014/main" id="{0756574D-EC58-4A91-A4D0-F9ACCC921327}"/>
                  </a:ext>
                </a:extLst>
              </p:cNvPr>
              <p:cNvSpPr/>
              <p:nvPr/>
            </p:nvSpPr>
            <p:spPr bwMode="gray">
              <a:xfrm rot="18960074" flipH="1" flipV="1">
                <a:off x="4829788" y="5339828"/>
                <a:ext cx="328184" cy="30621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</p:spPr>
            <p:txBody>
              <a:bodyPr vert="horz" lIns="36000" tIns="36000" rIns="36000" bIns="36000" rtlCol="0" anchor="ctr">
                <a:noAutofit/>
              </a:bodyPr>
              <a:lstStyle/>
              <a:p>
                <a:pPr algn="ctr" defTabSz="990571">
                  <a:spcAft>
                    <a:spcPts val="600"/>
                  </a:spcAft>
                  <a:buSzPct val="100000"/>
                  <a:buFont typeface="Arial" panose="020B0604020202020204" pitchFamily="34" charset="0"/>
                  <a:buNone/>
                </a:pPr>
                <a:endParaRPr lang="ru-RU" sz="1300" dirty="0" err="1">
                  <a:latin typeface="+mj-lt"/>
                  <a:cs typeface="Calibri Light" panose="020F0302020204030204" pitchFamily="34" charset="0"/>
                </a:endParaRPr>
              </a:p>
            </p:txBody>
          </p:sp>
          <p:pic>
            <p:nvPicPr>
              <p:cNvPr id="351" name="Graphic 350">
                <a:extLst>
                  <a:ext uri="{FF2B5EF4-FFF2-40B4-BE49-F238E27FC236}">
                    <a16:creationId xmlns:a16="http://schemas.microsoft.com/office/drawing/2014/main" id="{3DDD84E0-F23E-4A53-8D7D-6A344DA871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V="1">
                <a:off x="4712624" y="5208071"/>
                <a:ext cx="346754" cy="346754"/>
              </a:xfrm>
              <a:prstGeom prst="rect">
                <a:avLst/>
              </a:prstGeom>
            </p:spPr>
          </p:pic>
        </p:grpSp>
      </p:grp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F5473A5E-2AD8-48D1-8519-53B2720A7C38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80916F-2ACC-4702-B816-23326213D763}"/>
              </a:ext>
            </a:extLst>
          </p:cNvPr>
          <p:cNvSpPr/>
          <p:nvPr/>
        </p:nvSpPr>
        <p:spPr>
          <a:xfrm>
            <a:off x="6913812" y="1615361"/>
            <a:ext cx="2611188" cy="707886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46304" indent="-146304"/>
            <a:r>
              <a:rPr lang="en-US" sz="800" b="1" dirty="0">
                <a:solidFill>
                  <a:srgbClr val="ED8B00"/>
                </a:solidFill>
                <a:latin typeface="Montserrat"/>
              </a:rPr>
              <a:t>[1] </a:t>
            </a:r>
            <a:r>
              <a:rPr lang="en-US" sz="800" dirty="0"/>
              <a:t>The </a:t>
            </a:r>
            <a:r>
              <a:rPr lang="en-US" sz="800" b="1" dirty="0">
                <a:latin typeface="+mj-lt"/>
              </a:rPr>
              <a:t>UK</a:t>
            </a:r>
            <a:r>
              <a:rPr lang="en-US" sz="800" dirty="0"/>
              <a:t> remains consistently </a:t>
            </a:r>
            <a:r>
              <a:rPr lang="en-US" sz="800" dirty="0">
                <a:solidFill>
                  <a:srgbClr val="86BC25"/>
                </a:solidFill>
                <a:latin typeface="Montserrat Medium" panose="00000600000000000000" pitchFamily="2" charset="-52"/>
              </a:rPr>
              <a:t>high in Doctorate graduates.</a:t>
            </a:r>
            <a:r>
              <a:rPr lang="en-US" sz="800" dirty="0"/>
              <a:t> And during the period under review, Government support for business R&amp;D has also increased significantly and Sales of innovative products have decreased slightly</a:t>
            </a: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73A892C-98AC-4279-AE34-4E93C15A6607}"/>
              </a:ext>
            </a:extLst>
          </p:cNvPr>
          <p:cNvGrpSpPr/>
          <p:nvPr/>
        </p:nvGrpSpPr>
        <p:grpSpPr>
          <a:xfrm>
            <a:off x="6665960" y="1623171"/>
            <a:ext cx="223292" cy="223292"/>
            <a:chOff x="3875490" y="1740109"/>
            <a:chExt cx="312230" cy="312230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004CE13D-9565-48F5-8DCD-A2BEA50BD614}"/>
                </a:ext>
              </a:extLst>
            </p:cNvPr>
            <p:cNvSpPr/>
            <p:nvPr/>
          </p:nvSpPr>
          <p:spPr>
            <a:xfrm>
              <a:off x="3911105" y="1744769"/>
              <a:ext cx="118717" cy="116504"/>
            </a:xfrm>
            <a:custGeom>
              <a:avLst/>
              <a:gdLst>
                <a:gd name="connsiteX0" fmla="*/ 15811 w 19050"/>
                <a:gd name="connsiteY0" fmla="*/ 7144 h 19050"/>
                <a:gd name="connsiteX1" fmla="*/ 7144 w 19050"/>
                <a:gd name="connsiteY1" fmla="*/ 11716 h 19050"/>
                <a:gd name="connsiteX2" fmla="*/ 15811 w 19050"/>
                <a:gd name="connsiteY2" fmla="*/ 17717 h 19050"/>
                <a:gd name="connsiteX3" fmla="*/ 15811 w 19050"/>
                <a:gd name="connsiteY3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9050">
                  <a:moveTo>
                    <a:pt x="15811" y="7144"/>
                  </a:moveTo>
                  <a:cubicBezTo>
                    <a:pt x="12478" y="8001"/>
                    <a:pt x="9430" y="9335"/>
                    <a:pt x="7144" y="11716"/>
                  </a:cubicBezTo>
                  <a:lnTo>
                    <a:pt x="15811" y="17717"/>
                  </a:lnTo>
                  <a:lnTo>
                    <a:pt x="15811" y="7144"/>
                  </a:ln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240B8A5E-8D20-4BD9-A01D-FEB6CD9A0E70}"/>
                </a:ext>
              </a:extLst>
            </p:cNvPr>
            <p:cNvSpPr/>
            <p:nvPr/>
          </p:nvSpPr>
          <p:spPr>
            <a:xfrm>
              <a:off x="4020325" y="1744769"/>
              <a:ext cx="118717" cy="116504"/>
            </a:xfrm>
            <a:custGeom>
              <a:avLst/>
              <a:gdLst>
                <a:gd name="connsiteX0" fmla="*/ 15907 w 19050"/>
                <a:gd name="connsiteY0" fmla="*/ 11716 h 19050"/>
                <a:gd name="connsiteX1" fmla="*/ 7144 w 19050"/>
                <a:gd name="connsiteY1" fmla="*/ 7144 h 19050"/>
                <a:gd name="connsiteX2" fmla="*/ 7144 w 19050"/>
                <a:gd name="connsiteY2" fmla="*/ 17717 h 19050"/>
                <a:gd name="connsiteX3" fmla="*/ 15907 w 19050"/>
                <a:gd name="connsiteY3" fmla="*/ 1171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9050">
                  <a:moveTo>
                    <a:pt x="15907" y="11716"/>
                  </a:moveTo>
                  <a:cubicBezTo>
                    <a:pt x="13526" y="9335"/>
                    <a:pt x="10478" y="8001"/>
                    <a:pt x="7144" y="7144"/>
                  </a:cubicBezTo>
                  <a:lnTo>
                    <a:pt x="7144" y="17717"/>
                  </a:lnTo>
                  <a:lnTo>
                    <a:pt x="15907" y="11716"/>
                  </a:ln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D9E320C3-1603-47C4-B548-6BD0C119BC12}"/>
                </a:ext>
              </a:extLst>
            </p:cNvPr>
            <p:cNvSpPr/>
            <p:nvPr/>
          </p:nvSpPr>
          <p:spPr>
            <a:xfrm>
              <a:off x="4009644" y="1743020"/>
              <a:ext cx="178076" cy="174756"/>
            </a:xfrm>
            <a:custGeom>
              <a:avLst/>
              <a:gdLst>
                <a:gd name="connsiteX0" fmla="*/ 22479 w 28575"/>
                <a:gd name="connsiteY0" fmla="*/ 21717 h 28575"/>
                <a:gd name="connsiteX1" fmla="*/ 21907 w 28575"/>
                <a:gd name="connsiteY1" fmla="*/ 19145 h 28575"/>
                <a:gd name="connsiteX2" fmla="*/ 19336 w 28575"/>
                <a:gd name="connsiteY2" fmla="*/ 19145 h 28575"/>
                <a:gd name="connsiteX3" fmla="*/ 21527 w 28575"/>
                <a:gd name="connsiteY3" fmla="*/ 17621 h 28575"/>
                <a:gd name="connsiteX4" fmla="*/ 19526 w 28575"/>
                <a:gd name="connsiteY4" fmla="*/ 14764 h 28575"/>
                <a:gd name="connsiteX5" fmla="*/ 13430 w 28575"/>
                <a:gd name="connsiteY5" fmla="*/ 19145 h 28575"/>
                <a:gd name="connsiteX6" fmla="*/ 9430 w 28575"/>
                <a:gd name="connsiteY6" fmla="*/ 19145 h 28575"/>
                <a:gd name="connsiteX7" fmla="*/ 18383 w 28575"/>
                <a:gd name="connsiteY7" fmla="*/ 12859 h 28575"/>
                <a:gd name="connsiteX8" fmla="*/ 17717 w 28575"/>
                <a:gd name="connsiteY8" fmla="*/ 12002 h 28575"/>
                <a:gd name="connsiteX9" fmla="*/ 8954 w 28575"/>
                <a:gd name="connsiteY9" fmla="*/ 18002 h 28575"/>
                <a:gd name="connsiteX10" fmla="*/ 8954 w 28575"/>
                <a:gd name="connsiteY10" fmla="*/ 7429 h 28575"/>
                <a:gd name="connsiteX11" fmla="*/ 7144 w 28575"/>
                <a:gd name="connsiteY11" fmla="*/ 7144 h 28575"/>
                <a:gd name="connsiteX12" fmla="*/ 7144 w 28575"/>
                <a:gd name="connsiteY12" fmla="*/ 21622 h 28575"/>
                <a:gd name="connsiteX13" fmla="*/ 22479 w 28575"/>
                <a:gd name="connsiteY13" fmla="*/ 21622 h 28575"/>
                <a:gd name="connsiteX14" fmla="*/ 22479 w 28575"/>
                <a:gd name="connsiteY14" fmla="*/ 2162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575" h="28575">
                  <a:moveTo>
                    <a:pt x="22479" y="21717"/>
                  </a:moveTo>
                  <a:cubicBezTo>
                    <a:pt x="22289" y="20860"/>
                    <a:pt x="22289" y="19907"/>
                    <a:pt x="21907" y="19145"/>
                  </a:cubicBezTo>
                  <a:lnTo>
                    <a:pt x="19336" y="19145"/>
                  </a:lnTo>
                  <a:lnTo>
                    <a:pt x="21527" y="17621"/>
                  </a:lnTo>
                  <a:cubicBezTo>
                    <a:pt x="20955" y="16574"/>
                    <a:pt x="20193" y="15716"/>
                    <a:pt x="19526" y="14764"/>
                  </a:cubicBezTo>
                  <a:lnTo>
                    <a:pt x="13430" y="19145"/>
                  </a:lnTo>
                  <a:lnTo>
                    <a:pt x="9430" y="19145"/>
                  </a:lnTo>
                  <a:lnTo>
                    <a:pt x="18383" y="12859"/>
                  </a:lnTo>
                  <a:cubicBezTo>
                    <a:pt x="18383" y="12859"/>
                    <a:pt x="17907" y="12192"/>
                    <a:pt x="17717" y="12002"/>
                  </a:cubicBezTo>
                  <a:lnTo>
                    <a:pt x="8954" y="18002"/>
                  </a:lnTo>
                  <a:lnTo>
                    <a:pt x="8954" y="7429"/>
                  </a:lnTo>
                  <a:cubicBezTo>
                    <a:pt x="8382" y="7334"/>
                    <a:pt x="7810" y="7239"/>
                    <a:pt x="7144" y="7144"/>
                  </a:cubicBezTo>
                  <a:lnTo>
                    <a:pt x="7144" y="21622"/>
                  </a:lnTo>
                  <a:lnTo>
                    <a:pt x="22479" y="21622"/>
                  </a:lnTo>
                  <a:lnTo>
                    <a:pt x="22479" y="2162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8FD78016-C74D-48DA-BDDE-3F8DE0852BD2}"/>
                </a:ext>
              </a:extLst>
            </p:cNvPr>
            <p:cNvSpPr/>
            <p:nvPr/>
          </p:nvSpPr>
          <p:spPr>
            <a:xfrm>
              <a:off x="3880239" y="1743020"/>
              <a:ext cx="178076" cy="174756"/>
            </a:xfrm>
            <a:custGeom>
              <a:avLst/>
              <a:gdLst>
                <a:gd name="connsiteX0" fmla="*/ 22479 w 28575"/>
                <a:gd name="connsiteY0" fmla="*/ 7144 h 28575"/>
                <a:gd name="connsiteX1" fmla="*/ 20669 w 28575"/>
                <a:gd name="connsiteY1" fmla="*/ 7429 h 28575"/>
                <a:gd name="connsiteX2" fmla="*/ 20669 w 28575"/>
                <a:gd name="connsiteY2" fmla="*/ 18002 h 28575"/>
                <a:gd name="connsiteX3" fmla="*/ 12002 w 28575"/>
                <a:gd name="connsiteY3" fmla="*/ 12002 h 28575"/>
                <a:gd name="connsiteX4" fmla="*/ 10001 w 28575"/>
                <a:gd name="connsiteY4" fmla="*/ 14764 h 28575"/>
                <a:gd name="connsiteX5" fmla="*/ 16193 w 28575"/>
                <a:gd name="connsiteY5" fmla="*/ 19145 h 28575"/>
                <a:gd name="connsiteX6" fmla="*/ 12192 w 28575"/>
                <a:gd name="connsiteY6" fmla="*/ 19145 h 28575"/>
                <a:gd name="connsiteX7" fmla="*/ 8668 w 28575"/>
                <a:gd name="connsiteY7" fmla="*/ 16764 h 28575"/>
                <a:gd name="connsiteX8" fmla="*/ 8096 w 28575"/>
                <a:gd name="connsiteY8" fmla="*/ 17717 h 28575"/>
                <a:gd name="connsiteX9" fmla="*/ 10192 w 28575"/>
                <a:gd name="connsiteY9" fmla="*/ 19241 h 28575"/>
                <a:gd name="connsiteX10" fmla="*/ 7620 w 28575"/>
                <a:gd name="connsiteY10" fmla="*/ 19241 h 28575"/>
                <a:gd name="connsiteX11" fmla="*/ 7144 w 28575"/>
                <a:gd name="connsiteY11" fmla="*/ 21812 h 28575"/>
                <a:gd name="connsiteX12" fmla="*/ 22574 w 28575"/>
                <a:gd name="connsiteY12" fmla="*/ 21812 h 28575"/>
                <a:gd name="connsiteX13" fmla="*/ 22574 w 28575"/>
                <a:gd name="connsiteY1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575" h="28575">
                  <a:moveTo>
                    <a:pt x="22479" y="7144"/>
                  </a:moveTo>
                  <a:cubicBezTo>
                    <a:pt x="21908" y="7144"/>
                    <a:pt x="21241" y="7334"/>
                    <a:pt x="20669" y="7429"/>
                  </a:cubicBezTo>
                  <a:lnTo>
                    <a:pt x="20669" y="18002"/>
                  </a:lnTo>
                  <a:lnTo>
                    <a:pt x="12002" y="12002"/>
                  </a:lnTo>
                  <a:cubicBezTo>
                    <a:pt x="11144" y="12764"/>
                    <a:pt x="10668" y="13906"/>
                    <a:pt x="10001" y="14764"/>
                  </a:cubicBezTo>
                  <a:lnTo>
                    <a:pt x="16193" y="19145"/>
                  </a:lnTo>
                  <a:lnTo>
                    <a:pt x="12192" y="19145"/>
                  </a:lnTo>
                  <a:lnTo>
                    <a:pt x="8668" y="16764"/>
                  </a:lnTo>
                  <a:cubicBezTo>
                    <a:pt x="8668" y="16764"/>
                    <a:pt x="8192" y="17335"/>
                    <a:pt x="8096" y="17717"/>
                  </a:cubicBezTo>
                  <a:lnTo>
                    <a:pt x="10192" y="19241"/>
                  </a:lnTo>
                  <a:lnTo>
                    <a:pt x="7620" y="19241"/>
                  </a:lnTo>
                  <a:cubicBezTo>
                    <a:pt x="7334" y="20002"/>
                    <a:pt x="7334" y="20955"/>
                    <a:pt x="7144" y="21812"/>
                  </a:cubicBezTo>
                  <a:lnTo>
                    <a:pt x="22574" y="21812"/>
                  </a:lnTo>
                  <a:lnTo>
                    <a:pt x="22574" y="714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7F2309C8-87D5-46F5-9CDC-53BE15557CDA}"/>
                </a:ext>
              </a:extLst>
            </p:cNvPr>
            <p:cNvSpPr/>
            <p:nvPr/>
          </p:nvSpPr>
          <p:spPr>
            <a:xfrm>
              <a:off x="3875490" y="1740109"/>
              <a:ext cx="296794" cy="291259"/>
            </a:xfrm>
            <a:custGeom>
              <a:avLst/>
              <a:gdLst>
                <a:gd name="connsiteX0" fmla="*/ 28670 w 47625"/>
                <a:gd name="connsiteY0" fmla="*/ 44196 h 47625"/>
                <a:gd name="connsiteX1" fmla="*/ 28670 w 47625"/>
                <a:gd name="connsiteY1" fmla="*/ 29718 h 47625"/>
                <a:gd name="connsiteX2" fmla="*/ 44006 w 47625"/>
                <a:gd name="connsiteY2" fmla="*/ 29718 h 47625"/>
                <a:gd name="connsiteX3" fmla="*/ 44768 w 47625"/>
                <a:gd name="connsiteY3" fmla="*/ 25908 h 47625"/>
                <a:gd name="connsiteX4" fmla="*/ 44006 w 47625"/>
                <a:gd name="connsiteY4" fmla="*/ 22193 h 47625"/>
                <a:gd name="connsiteX5" fmla="*/ 28670 w 47625"/>
                <a:gd name="connsiteY5" fmla="*/ 22193 h 47625"/>
                <a:gd name="connsiteX6" fmla="*/ 28670 w 47625"/>
                <a:gd name="connsiteY6" fmla="*/ 7715 h 47625"/>
                <a:gd name="connsiteX7" fmla="*/ 26003 w 47625"/>
                <a:gd name="connsiteY7" fmla="*/ 7144 h 47625"/>
                <a:gd name="connsiteX8" fmla="*/ 23336 w 47625"/>
                <a:gd name="connsiteY8" fmla="*/ 7715 h 47625"/>
                <a:gd name="connsiteX9" fmla="*/ 23336 w 47625"/>
                <a:gd name="connsiteY9" fmla="*/ 22193 h 47625"/>
                <a:gd name="connsiteX10" fmla="*/ 7906 w 47625"/>
                <a:gd name="connsiteY10" fmla="*/ 22193 h 47625"/>
                <a:gd name="connsiteX11" fmla="*/ 7144 w 47625"/>
                <a:gd name="connsiteY11" fmla="*/ 25908 h 47625"/>
                <a:gd name="connsiteX12" fmla="*/ 7906 w 47625"/>
                <a:gd name="connsiteY12" fmla="*/ 29718 h 47625"/>
                <a:gd name="connsiteX13" fmla="*/ 23336 w 47625"/>
                <a:gd name="connsiteY13" fmla="*/ 29718 h 47625"/>
                <a:gd name="connsiteX14" fmla="*/ 23336 w 47625"/>
                <a:gd name="connsiteY14" fmla="*/ 44196 h 47625"/>
                <a:gd name="connsiteX15" fmla="*/ 26003 w 47625"/>
                <a:gd name="connsiteY15" fmla="*/ 44672 h 47625"/>
                <a:gd name="connsiteX16" fmla="*/ 28670 w 47625"/>
                <a:gd name="connsiteY16" fmla="*/ 4419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28670" y="44196"/>
                  </a:moveTo>
                  <a:lnTo>
                    <a:pt x="28670" y="29718"/>
                  </a:lnTo>
                  <a:lnTo>
                    <a:pt x="44006" y="29718"/>
                  </a:lnTo>
                  <a:cubicBezTo>
                    <a:pt x="44291" y="28384"/>
                    <a:pt x="44768" y="27146"/>
                    <a:pt x="44768" y="25908"/>
                  </a:cubicBezTo>
                  <a:cubicBezTo>
                    <a:pt x="44768" y="24574"/>
                    <a:pt x="44291" y="23336"/>
                    <a:pt x="44006" y="22193"/>
                  </a:cubicBezTo>
                  <a:lnTo>
                    <a:pt x="28670" y="22193"/>
                  </a:lnTo>
                  <a:lnTo>
                    <a:pt x="28670" y="7715"/>
                  </a:lnTo>
                  <a:cubicBezTo>
                    <a:pt x="27813" y="7525"/>
                    <a:pt x="26956" y="7144"/>
                    <a:pt x="26003" y="7144"/>
                  </a:cubicBezTo>
                  <a:cubicBezTo>
                    <a:pt x="25051" y="7144"/>
                    <a:pt x="24194" y="7525"/>
                    <a:pt x="23336" y="7715"/>
                  </a:cubicBezTo>
                  <a:lnTo>
                    <a:pt x="23336" y="22193"/>
                  </a:lnTo>
                  <a:lnTo>
                    <a:pt x="7906" y="22193"/>
                  </a:lnTo>
                  <a:cubicBezTo>
                    <a:pt x="7620" y="23336"/>
                    <a:pt x="7144" y="24574"/>
                    <a:pt x="7144" y="25908"/>
                  </a:cubicBezTo>
                  <a:cubicBezTo>
                    <a:pt x="7144" y="27146"/>
                    <a:pt x="7620" y="28384"/>
                    <a:pt x="7906" y="29718"/>
                  </a:cubicBezTo>
                  <a:lnTo>
                    <a:pt x="23336" y="29718"/>
                  </a:lnTo>
                  <a:lnTo>
                    <a:pt x="23336" y="44196"/>
                  </a:lnTo>
                  <a:cubicBezTo>
                    <a:pt x="24194" y="44196"/>
                    <a:pt x="25051" y="44672"/>
                    <a:pt x="26003" y="44672"/>
                  </a:cubicBezTo>
                  <a:cubicBezTo>
                    <a:pt x="26956" y="44672"/>
                    <a:pt x="27813" y="44291"/>
                    <a:pt x="28670" y="44196"/>
                  </a:cubicBezTo>
                  <a:close/>
                </a:path>
              </a:pathLst>
            </a:custGeom>
            <a:solidFill>
              <a:srgbClr val="CF142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D56F626E-DF1E-494D-9BEA-F2A37AD014E8}"/>
                </a:ext>
              </a:extLst>
            </p:cNvPr>
            <p:cNvSpPr/>
            <p:nvPr/>
          </p:nvSpPr>
          <p:spPr>
            <a:xfrm>
              <a:off x="4020325" y="1899135"/>
              <a:ext cx="118717" cy="116504"/>
            </a:xfrm>
            <a:custGeom>
              <a:avLst/>
              <a:gdLst>
                <a:gd name="connsiteX0" fmla="*/ 7144 w 19050"/>
                <a:gd name="connsiteY0" fmla="*/ 17812 h 19050"/>
                <a:gd name="connsiteX1" fmla="*/ 15907 w 19050"/>
                <a:gd name="connsiteY1" fmla="*/ 13240 h 19050"/>
                <a:gd name="connsiteX2" fmla="*/ 7144 w 19050"/>
                <a:gd name="connsiteY2" fmla="*/ 7144 h 19050"/>
                <a:gd name="connsiteX3" fmla="*/ 7144 w 19050"/>
                <a:gd name="connsiteY3" fmla="*/ 17717 h 19050"/>
                <a:gd name="connsiteX4" fmla="*/ 7144 w 19050"/>
                <a:gd name="connsiteY4" fmla="*/ 17717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7144" y="17812"/>
                  </a:moveTo>
                  <a:cubicBezTo>
                    <a:pt x="10478" y="16954"/>
                    <a:pt x="13430" y="15621"/>
                    <a:pt x="15907" y="13240"/>
                  </a:cubicBezTo>
                  <a:lnTo>
                    <a:pt x="7144" y="7144"/>
                  </a:lnTo>
                  <a:lnTo>
                    <a:pt x="7144" y="17717"/>
                  </a:lnTo>
                  <a:lnTo>
                    <a:pt x="7144" y="17717"/>
                  </a:ln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8B5C48A0-62A7-47D3-8CEF-750E9046152D}"/>
                </a:ext>
              </a:extLst>
            </p:cNvPr>
            <p:cNvSpPr/>
            <p:nvPr/>
          </p:nvSpPr>
          <p:spPr>
            <a:xfrm>
              <a:off x="3910513" y="1899722"/>
              <a:ext cx="118717" cy="116504"/>
            </a:xfrm>
            <a:custGeom>
              <a:avLst/>
              <a:gdLst>
                <a:gd name="connsiteX0" fmla="*/ 7144 w 19050"/>
                <a:gd name="connsiteY0" fmla="*/ 13144 h 19050"/>
                <a:gd name="connsiteX1" fmla="*/ 15811 w 19050"/>
                <a:gd name="connsiteY1" fmla="*/ 17717 h 19050"/>
                <a:gd name="connsiteX2" fmla="*/ 15811 w 19050"/>
                <a:gd name="connsiteY2" fmla="*/ 7144 h 19050"/>
                <a:gd name="connsiteX3" fmla="*/ 7144 w 19050"/>
                <a:gd name="connsiteY3" fmla="*/ 13240 h 19050"/>
                <a:gd name="connsiteX4" fmla="*/ 7144 w 19050"/>
                <a:gd name="connsiteY4" fmla="*/ 1324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7144" y="13144"/>
                  </a:moveTo>
                  <a:cubicBezTo>
                    <a:pt x="9525" y="15431"/>
                    <a:pt x="12573" y="16859"/>
                    <a:pt x="15811" y="17717"/>
                  </a:cubicBezTo>
                  <a:lnTo>
                    <a:pt x="15811" y="7144"/>
                  </a:lnTo>
                  <a:lnTo>
                    <a:pt x="7144" y="13240"/>
                  </a:lnTo>
                  <a:lnTo>
                    <a:pt x="7144" y="13240"/>
                  </a:ln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B3C4EC8D-2B57-455E-AD5E-C95D81F9C7BA}"/>
                </a:ext>
              </a:extLst>
            </p:cNvPr>
            <p:cNvSpPr/>
            <p:nvPr/>
          </p:nvSpPr>
          <p:spPr>
            <a:xfrm>
              <a:off x="3883205" y="1893313"/>
              <a:ext cx="59359" cy="58252"/>
            </a:xfrm>
            <a:custGeom>
              <a:avLst/>
              <a:gdLst>
                <a:gd name="connsiteX0" fmla="*/ 7144 w 9525"/>
                <a:gd name="connsiteY0" fmla="*/ 7144 h 9525"/>
                <a:gd name="connsiteX1" fmla="*/ 7620 w 9525"/>
                <a:gd name="connsiteY1" fmla="*/ 8477 h 9525"/>
                <a:gd name="connsiteX2" fmla="*/ 9715 w 9525"/>
                <a:gd name="connsiteY2" fmla="*/ 7144 h 9525"/>
                <a:gd name="connsiteX3" fmla="*/ 7144 w 9525"/>
                <a:gd name="connsiteY3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cubicBezTo>
                    <a:pt x="7144" y="7144"/>
                    <a:pt x="7429" y="8001"/>
                    <a:pt x="7620" y="8477"/>
                  </a:cubicBezTo>
                  <a:lnTo>
                    <a:pt x="9715" y="7144"/>
                  </a:lnTo>
                  <a:cubicBezTo>
                    <a:pt x="9715" y="7144"/>
                    <a:pt x="7144" y="7144"/>
                    <a:pt x="7144" y="7144"/>
                  </a:cubicBez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95406201-CA4E-4D42-9102-F23FF6858D5B}"/>
                </a:ext>
              </a:extLst>
            </p:cNvPr>
            <p:cNvSpPr/>
            <p:nvPr/>
          </p:nvSpPr>
          <p:spPr>
            <a:xfrm>
              <a:off x="4085623" y="1807100"/>
              <a:ext cx="59359" cy="58252"/>
            </a:xfrm>
            <a:custGeom>
              <a:avLst/>
              <a:gdLst>
                <a:gd name="connsiteX0" fmla="*/ 9715 w 9525"/>
                <a:gd name="connsiteY0" fmla="*/ 8668 h 9525"/>
                <a:gd name="connsiteX1" fmla="*/ 9334 w 9525"/>
                <a:gd name="connsiteY1" fmla="*/ 7144 h 9525"/>
                <a:gd name="connsiteX2" fmla="*/ 7144 w 9525"/>
                <a:gd name="connsiteY2" fmla="*/ 8668 h 9525"/>
                <a:gd name="connsiteX3" fmla="*/ 9715 w 9525"/>
                <a:gd name="connsiteY3" fmla="*/ 8668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9715" y="8668"/>
                  </a:moveTo>
                  <a:cubicBezTo>
                    <a:pt x="9715" y="8096"/>
                    <a:pt x="9525" y="7620"/>
                    <a:pt x="9334" y="7144"/>
                  </a:cubicBezTo>
                  <a:lnTo>
                    <a:pt x="7144" y="8668"/>
                  </a:lnTo>
                  <a:lnTo>
                    <a:pt x="9715" y="8668"/>
                  </a:ln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E0AC3FBD-DE96-4784-81F6-718B20C83444}"/>
                </a:ext>
              </a:extLst>
            </p:cNvPr>
            <p:cNvSpPr/>
            <p:nvPr/>
          </p:nvSpPr>
          <p:spPr>
            <a:xfrm>
              <a:off x="3883205" y="1807100"/>
              <a:ext cx="59359" cy="58252"/>
            </a:xfrm>
            <a:custGeom>
              <a:avLst/>
              <a:gdLst>
                <a:gd name="connsiteX0" fmla="*/ 7620 w 9525"/>
                <a:gd name="connsiteY0" fmla="*/ 7144 h 9525"/>
                <a:gd name="connsiteX1" fmla="*/ 7144 w 9525"/>
                <a:gd name="connsiteY1" fmla="*/ 8668 h 9525"/>
                <a:gd name="connsiteX2" fmla="*/ 9715 w 9525"/>
                <a:gd name="connsiteY2" fmla="*/ 8668 h 9525"/>
                <a:gd name="connsiteX3" fmla="*/ 7620 w 9525"/>
                <a:gd name="connsiteY3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7620" y="7144"/>
                  </a:moveTo>
                  <a:cubicBezTo>
                    <a:pt x="7620" y="7144"/>
                    <a:pt x="7334" y="8096"/>
                    <a:pt x="7144" y="8668"/>
                  </a:cubicBezTo>
                  <a:lnTo>
                    <a:pt x="9715" y="8668"/>
                  </a:lnTo>
                  <a:cubicBezTo>
                    <a:pt x="9715" y="8668"/>
                    <a:pt x="7620" y="7144"/>
                    <a:pt x="7620" y="7144"/>
                  </a:cubicBez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7A47A65E-42FE-4EA1-8D71-B61EE304F1F8}"/>
                </a:ext>
              </a:extLst>
            </p:cNvPr>
            <p:cNvSpPr/>
            <p:nvPr/>
          </p:nvSpPr>
          <p:spPr>
            <a:xfrm>
              <a:off x="4085623" y="1893894"/>
              <a:ext cx="59359" cy="58252"/>
            </a:xfrm>
            <a:custGeom>
              <a:avLst/>
              <a:gdLst>
                <a:gd name="connsiteX0" fmla="*/ 9334 w 9525"/>
                <a:gd name="connsiteY0" fmla="*/ 8477 h 9525"/>
                <a:gd name="connsiteX1" fmla="*/ 9715 w 9525"/>
                <a:gd name="connsiteY1" fmla="*/ 7144 h 9525"/>
                <a:gd name="connsiteX2" fmla="*/ 7144 w 9525"/>
                <a:gd name="connsiteY2" fmla="*/ 7144 h 9525"/>
                <a:gd name="connsiteX3" fmla="*/ 9334 w 9525"/>
                <a:gd name="connsiteY3" fmla="*/ 8477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9334" y="8477"/>
                  </a:moveTo>
                  <a:cubicBezTo>
                    <a:pt x="9525" y="8001"/>
                    <a:pt x="9620" y="7525"/>
                    <a:pt x="9715" y="7144"/>
                  </a:cubicBezTo>
                  <a:lnTo>
                    <a:pt x="7144" y="7144"/>
                  </a:lnTo>
                  <a:lnTo>
                    <a:pt x="9334" y="8477"/>
                  </a:ln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CC9F34E7-8B96-4BD5-863C-0D08C422DFF9}"/>
                </a:ext>
              </a:extLst>
            </p:cNvPr>
            <p:cNvSpPr/>
            <p:nvPr/>
          </p:nvSpPr>
          <p:spPr>
            <a:xfrm>
              <a:off x="4009644" y="1877583"/>
              <a:ext cx="178076" cy="174756"/>
            </a:xfrm>
            <a:custGeom>
              <a:avLst/>
              <a:gdLst>
                <a:gd name="connsiteX0" fmla="*/ 7144 w 28575"/>
                <a:gd name="connsiteY0" fmla="*/ 21717 h 28575"/>
                <a:gd name="connsiteX1" fmla="*/ 8954 w 28575"/>
                <a:gd name="connsiteY1" fmla="*/ 21336 h 28575"/>
                <a:gd name="connsiteX2" fmla="*/ 8954 w 28575"/>
                <a:gd name="connsiteY2" fmla="*/ 10763 h 28575"/>
                <a:gd name="connsiteX3" fmla="*/ 17717 w 28575"/>
                <a:gd name="connsiteY3" fmla="*/ 16859 h 28575"/>
                <a:gd name="connsiteX4" fmla="*/ 19621 w 28575"/>
                <a:gd name="connsiteY4" fmla="*/ 14002 h 28575"/>
                <a:gd name="connsiteX5" fmla="*/ 13526 w 28575"/>
                <a:gd name="connsiteY5" fmla="*/ 9715 h 28575"/>
                <a:gd name="connsiteX6" fmla="*/ 17621 w 28575"/>
                <a:gd name="connsiteY6" fmla="*/ 9715 h 28575"/>
                <a:gd name="connsiteX7" fmla="*/ 20955 w 28575"/>
                <a:gd name="connsiteY7" fmla="*/ 12001 h 28575"/>
                <a:gd name="connsiteX8" fmla="*/ 21717 w 28575"/>
                <a:gd name="connsiteY8" fmla="*/ 11049 h 28575"/>
                <a:gd name="connsiteX9" fmla="*/ 19526 w 28575"/>
                <a:gd name="connsiteY9" fmla="*/ 9715 h 28575"/>
                <a:gd name="connsiteX10" fmla="*/ 22098 w 28575"/>
                <a:gd name="connsiteY10" fmla="*/ 9715 h 28575"/>
                <a:gd name="connsiteX11" fmla="*/ 22669 w 28575"/>
                <a:gd name="connsiteY11" fmla="*/ 7144 h 28575"/>
                <a:gd name="connsiteX12" fmla="*/ 7334 w 28575"/>
                <a:gd name="connsiteY12" fmla="*/ 7144 h 28575"/>
                <a:gd name="connsiteX13" fmla="*/ 7334 w 28575"/>
                <a:gd name="connsiteY13" fmla="*/ 21622 h 28575"/>
                <a:gd name="connsiteX14" fmla="*/ 7144 w 28575"/>
                <a:gd name="connsiteY14" fmla="*/ 2162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575" h="28575">
                  <a:moveTo>
                    <a:pt x="7144" y="21717"/>
                  </a:moveTo>
                  <a:cubicBezTo>
                    <a:pt x="7810" y="21717"/>
                    <a:pt x="8382" y="21431"/>
                    <a:pt x="8954" y="21336"/>
                  </a:cubicBezTo>
                  <a:lnTo>
                    <a:pt x="8954" y="10763"/>
                  </a:lnTo>
                  <a:lnTo>
                    <a:pt x="17717" y="16859"/>
                  </a:lnTo>
                  <a:cubicBezTo>
                    <a:pt x="18479" y="16097"/>
                    <a:pt x="19050" y="14954"/>
                    <a:pt x="19621" y="14002"/>
                  </a:cubicBezTo>
                  <a:lnTo>
                    <a:pt x="13526" y="9715"/>
                  </a:lnTo>
                  <a:lnTo>
                    <a:pt x="17621" y="9715"/>
                  </a:lnTo>
                  <a:lnTo>
                    <a:pt x="20955" y="12001"/>
                  </a:lnTo>
                  <a:cubicBezTo>
                    <a:pt x="20955" y="12001"/>
                    <a:pt x="21527" y="11430"/>
                    <a:pt x="21717" y="11049"/>
                  </a:cubicBezTo>
                  <a:lnTo>
                    <a:pt x="19526" y="9715"/>
                  </a:lnTo>
                  <a:lnTo>
                    <a:pt x="22098" y="9715"/>
                  </a:lnTo>
                  <a:cubicBezTo>
                    <a:pt x="22479" y="8858"/>
                    <a:pt x="22479" y="8001"/>
                    <a:pt x="22669" y="7144"/>
                  </a:cubicBezTo>
                  <a:lnTo>
                    <a:pt x="7334" y="7144"/>
                  </a:lnTo>
                  <a:lnTo>
                    <a:pt x="7334" y="21622"/>
                  </a:lnTo>
                  <a:lnTo>
                    <a:pt x="7144" y="2162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2024EC54-CB8A-4B81-B882-D8F20878C660}"/>
                </a:ext>
              </a:extLst>
            </p:cNvPr>
            <p:cNvSpPr/>
            <p:nvPr/>
          </p:nvSpPr>
          <p:spPr>
            <a:xfrm>
              <a:off x="3879647" y="1877583"/>
              <a:ext cx="178076" cy="174756"/>
            </a:xfrm>
            <a:custGeom>
              <a:avLst/>
              <a:gdLst>
                <a:gd name="connsiteX0" fmla="*/ 7239 w 28575"/>
                <a:gd name="connsiteY0" fmla="*/ 7239 h 28575"/>
                <a:gd name="connsiteX1" fmla="*/ 7715 w 28575"/>
                <a:gd name="connsiteY1" fmla="*/ 9811 h 28575"/>
                <a:gd name="connsiteX2" fmla="*/ 10287 w 28575"/>
                <a:gd name="connsiteY2" fmla="*/ 9811 h 28575"/>
                <a:gd name="connsiteX3" fmla="*/ 8192 w 28575"/>
                <a:gd name="connsiteY3" fmla="*/ 11144 h 28575"/>
                <a:gd name="connsiteX4" fmla="*/ 10097 w 28575"/>
                <a:gd name="connsiteY4" fmla="*/ 14002 h 28575"/>
                <a:gd name="connsiteX5" fmla="*/ 16288 w 28575"/>
                <a:gd name="connsiteY5" fmla="*/ 9715 h 28575"/>
                <a:gd name="connsiteX6" fmla="*/ 20288 w 28575"/>
                <a:gd name="connsiteY6" fmla="*/ 9715 h 28575"/>
                <a:gd name="connsiteX7" fmla="*/ 11430 w 28575"/>
                <a:gd name="connsiteY7" fmla="*/ 15811 h 28575"/>
                <a:gd name="connsiteX8" fmla="*/ 12097 w 28575"/>
                <a:gd name="connsiteY8" fmla="*/ 16764 h 28575"/>
                <a:gd name="connsiteX9" fmla="*/ 20765 w 28575"/>
                <a:gd name="connsiteY9" fmla="*/ 10668 h 28575"/>
                <a:gd name="connsiteX10" fmla="*/ 20765 w 28575"/>
                <a:gd name="connsiteY10" fmla="*/ 21241 h 28575"/>
                <a:gd name="connsiteX11" fmla="*/ 22574 w 28575"/>
                <a:gd name="connsiteY11" fmla="*/ 21622 h 28575"/>
                <a:gd name="connsiteX12" fmla="*/ 22574 w 28575"/>
                <a:gd name="connsiteY12" fmla="*/ 7144 h 28575"/>
                <a:gd name="connsiteX13" fmla="*/ 7144 w 28575"/>
                <a:gd name="connsiteY13" fmla="*/ 7144 h 28575"/>
                <a:gd name="connsiteX14" fmla="*/ 7239 w 28575"/>
                <a:gd name="connsiteY14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575" h="28575">
                  <a:moveTo>
                    <a:pt x="7239" y="7239"/>
                  </a:moveTo>
                  <a:cubicBezTo>
                    <a:pt x="7430" y="8096"/>
                    <a:pt x="7430" y="8953"/>
                    <a:pt x="7715" y="9811"/>
                  </a:cubicBezTo>
                  <a:lnTo>
                    <a:pt x="10287" y="9811"/>
                  </a:lnTo>
                  <a:lnTo>
                    <a:pt x="8192" y="11144"/>
                  </a:lnTo>
                  <a:cubicBezTo>
                    <a:pt x="8668" y="12287"/>
                    <a:pt x="9430" y="13144"/>
                    <a:pt x="10097" y="14002"/>
                  </a:cubicBezTo>
                  <a:lnTo>
                    <a:pt x="16288" y="9715"/>
                  </a:lnTo>
                  <a:lnTo>
                    <a:pt x="20288" y="9715"/>
                  </a:lnTo>
                  <a:lnTo>
                    <a:pt x="11430" y="15811"/>
                  </a:lnTo>
                  <a:cubicBezTo>
                    <a:pt x="11430" y="15811"/>
                    <a:pt x="11906" y="16573"/>
                    <a:pt x="12097" y="16764"/>
                  </a:cubicBezTo>
                  <a:lnTo>
                    <a:pt x="20765" y="10668"/>
                  </a:lnTo>
                  <a:lnTo>
                    <a:pt x="20765" y="21241"/>
                  </a:lnTo>
                  <a:cubicBezTo>
                    <a:pt x="21336" y="21241"/>
                    <a:pt x="21908" y="21526"/>
                    <a:pt x="22574" y="21622"/>
                  </a:cubicBezTo>
                  <a:lnTo>
                    <a:pt x="22574" y="7144"/>
                  </a:lnTo>
                  <a:lnTo>
                    <a:pt x="7144" y="7144"/>
                  </a:lnTo>
                  <a:lnTo>
                    <a:pt x="7239" y="714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B69B0FD-CEF0-4EEA-AB44-BD858BDD5C9C}"/>
                </a:ext>
              </a:extLst>
            </p:cNvPr>
            <p:cNvSpPr/>
            <p:nvPr/>
          </p:nvSpPr>
          <p:spPr>
            <a:xfrm>
              <a:off x="3898049" y="1893313"/>
              <a:ext cx="118717" cy="116504"/>
            </a:xfrm>
            <a:custGeom>
              <a:avLst/>
              <a:gdLst>
                <a:gd name="connsiteX0" fmla="*/ 13335 w 19050"/>
                <a:gd name="connsiteY0" fmla="*/ 7144 h 19050"/>
                <a:gd name="connsiteX1" fmla="*/ 7144 w 19050"/>
                <a:gd name="connsiteY1" fmla="*/ 11430 h 19050"/>
                <a:gd name="connsiteX2" fmla="*/ 8477 w 19050"/>
                <a:gd name="connsiteY2" fmla="*/ 13335 h 19050"/>
                <a:gd name="connsiteX3" fmla="*/ 17335 w 19050"/>
                <a:gd name="connsiteY3" fmla="*/ 7239 h 19050"/>
                <a:gd name="connsiteX4" fmla="*/ 13335 w 19050"/>
                <a:gd name="connsiteY4" fmla="*/ 7239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3335" y="7144"/>
                  </a:moveTo>
                  <a:lnTo>
                    <a:pt x="7144" y="11430"/>
                  </a:lnTo>
                  <a:cubicBezTo>
                    <a:pt x="7620" y="12097"/>
                    <a:pt x="7906" y="12859"/>
                    <a:pt x="8477" y="13335"/>
                  </a:cubicBezTo>
                  <a:lnTo>
                    <a:pt x="17335" y="7239"/>
                  </a:lnTo>
                  <a:lnTo>
                    <a:pt x="13335" y="7239"/>
                  </a:lnTo>
                  <a:close/>
                </a:path>
              </a:pathLst>
            </a:custGeom>
            <a:solidFill>
              <a:srgbClr val="CF142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550AC52B-FF0E-462C-BA5D-F9935B996AC7}"/>
                </a:ext>
              </a:extLst>
            </p:cNvPr>
            <p:cNvSpPr/>
            <p:nvPr/>
          </p:nvSpPr>
          <p:spPr>
            <a:xfrm>
              <a:off x="3889736" y="1789622"/>
              <a:ext cx="118717" cy="58252"/>
            </a:xfrm>
            <a:custGeom>
              <a:avLst/>
              <a:gdLst>
                <a:gd name="connsiteX0" fmla="*/ 14669 w 19050"/>
                <a:gd name="connsiteY0" fmla="*/ 11525 h 9525"/>
                <a:gd name="connsiteX1" fmla="*/ 8477 w 19050"/>
                <a:gd name="connsiteY1" fmla="*/ 7144 h 9525"/>
                <a:gd name="connsiteX2" fmla="*/ 7144 w 19050"/>
                <a:gd name="connsiteY2" fmla="*/ 9144 h 9525"/>
                <a:gd name="connsiteX3" fmla="*/ 10668 w 19050"/>
                <a:gd name="connsiteY3" fmla="*/ 11525 h 9525"/>
                <a:gd name="connsiteX4" fmla="*/ 14669 w 19050"/>
                <a:gd name="connsiteY4" fmla="*/ 11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9525">
                  <a:moveTo>
                    <a:pt x="14669" y="11525"/>
                  </a:moveTo>
                  <a:lnTo>
                    <a:pt x="8477" y="7144"/>
                  </a:lnTo>
                  <a:cubicBezTo>
                    <a:pt x="8096" y="7810"/>
                    <a:pt x="7525" y="8382"/>
                    <a:pt x="7144" y="9144"/>
                  </a:cubicBezTo>
                  <a:lnTo>
                    <a:pt x="10668" y="11525"/>
                  </a:lnTo>
                  <a:cubicBezTo>
                    <a:pt x="10668" y="11525"/>
                    <a:pt x="14669" y="11525"/>
                    <a:pt x="14669" y="11525"/>
                  </a:cubicBezTo>
                  <a:close/>
                </a:path>
              </a:pathLst>
            </a:custGeom>
            <a:solidFill>
              <a:srgbClr val="CF142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C2D511D7-8E64-4108-8D05-86C4295CACA4}"/>
                </a:ext>
              </a:extLst>
            </p:cNvPr>
            <p:cNvSpPr/>
            <p:nvPr/>
          </p:nvSpPr>
          <p:spPr>
            <a:xfrm>
              <a:off x="4048225" y="1893313"/>
              <a:ext cx="118717" cy="58252"/>
            </a:xfrm>
            <a:custGeom>
              <a:avLst/>
              <a:gdLst>
                <a:gd name="connsiteX0" fmla="*/ 7144 w 19050"/>
                <a:gd name="connsiteY0" fmla="*/ 7144 h 9525"/>
                <a:gd name="connsiteX1" fmla="*/ 13240 w 19050"/>
                <a:gd name="connsiteY1" fmla="*/ 11430 h 9525"/>
                <a:gd name="connsiteX2" fmla="*/ 14573 w 19050"/>
                <a:gd name="connsiteY2" fmla="*/ 9525 h 9525"/>
                <a:gd name="connsiteX3" fmla="*/ 11240 w 19050"/>
                <a:gd name="connsiteY3" fmla="*/ 7239 h 9525"/>
                <a:gd name="connsiteX4" fmla="*/ 7144 w 19050"/>
                <a:gd name="connsiteY4" fmla="*/ 7239 h 9525"/>
                <a:gd name="connsiteX5" fmla="*/ 7144 w 19050"/>
                <a:gd name="connsiteY5" fmla="*/ 723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50" h="9525">
                  <a:moveTo>
                    <a:pt x="7144" y="7144"/>
                  </a:moveTo>
                  <a:lnTo>
                    <a:pt x="13240" y="11430"/>
                  </a:lnTo>
                  <a:cubicBezTo>
                    <a:pt x="13811" y="10763"/>
                    <a:pt x="14192" y="10287"/>
                    <a:pt x="14573" y="9525"/>
                  </a:cubicBezTo>
                  <a:lnTo>
                    <a:pt x="11240" y="7239"/>
                  </a:lnTo>
                  <a:lnTo>
                    <a:pt x="7144" y="7239"/>
                  </a:lnTo>
                  <a:lnTo>
                    <a:pt x="7144" y="7239"/>
                  </a:lnTo>
                  <a:close/>
                </a:path>
              </a:pathLst>
            </a:custGeom>
            <a:solidFill>
              <a:srgbClr val="CF142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084C138D-7D86-4695-8B59-350B91005CE2}"/>
                </a:ext>
              </a:extLst>
            </p:cNvPr>
            <p:cNvSpPr/>
            <p:nvPr/>
          </p:nvSpPr>
          <p:spPr>
            <a:xfrm>
              <a:off x="4022700" y="1777971"/>
              <a:ext cx="118717" cy="116504"/>
            </a:xfrm>
            <a:custGeom>
              <a:avLst/>
              <a:gdLst>
                <a:gd name="connsiteX0" fmla="*/ 11240 w 19050"/>
                <a:gd name="connsiteY0" fmla="*/ 13430 h 19050"/>
                <a:gd name="connsiteX1" fmla="*/ 17335 w 19050"/>
                <a:gd name="connsiteY1" fmla="*/ 9049 h 19050"/>
                <a:gd name="connsiteX2" fmla="*/ 16097 w 19050"/>
                <a:gd name="connsiteY2" fmla="*/ 7144 h 19050"/>
                <a:gd name="connsiteX3" fmla="*/ 7144 w 19050"/>
                <a:gd name="connsiteY3" fmla="*/ 13430 h 19050"/>
                <a:gd name="connsiteX4" fmla="*/ 11240 w 19050"/>
                <a:gd name="connsiteY4" fmla="*/ 1343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1240" y="13430"/>
                  </a:moveTo>
                  <a:lnTo>
                    <a:pt x="17335" y="9049"/>
                  </a:lnTo>
                  <a:cubicBezTo>
                    <a:pt x="16955" y="8382"/>
                    <a:pt x="16573" y="7811"/>
                    <a:pt x="16097" y="7144"/>
                  </a:cubicBezTo>
                  <a:lnTo>
                    <a:pt x="7144" y="13430"/>
                  </a:lnTo>
                  <a:lnTo>
                    <a:pt x="11240" y="13430"/>
                  </a:lnTo>
                  <a:close/>
                </a:path>
              </a:pathLst>
            </a:custGeom>
            <a:solidFill>
              <a:srgbClr val="CF142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9C61DCB0-9A5A-4181-B25A-08096DFA0178}"/>
              </a:ext>
            </a:extLst>
          </p:cNvPr>
          <p:cNvGrpSpPr/>
          <p:nvPr/>
        </p:nvGrpSpPr>
        <p:grpSpPr>
          <a:xfrm>
            <a:off x="6663392" y="2514745"/>
            <a:ext cx="228428" cy="195098"/>
            <a:chOff x="4424701" y="1740109"/>
            <a:chExt cx="304341" cy="259935"/>
          </a:xfrm>
        </p:grpSpPr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2F03AEE1-B5F3-4865-AC0C-733B6DECCF12}"/>
                </a:ext>
              </a:extLst>
            </p:cNvPr>
            <p:cNvSpPr/>
            <p:nvPr/>
          </p:nvSpPr>
          <p:spPr>
            <a:xfrm>
              <a:off x="4432993" y="1740109"/>
              <a:ext cx="296049" cy="112041"/>
            </a:xfrm>
            <a:custGeom>
              <a:avLst/>
              <a:gdLst>
                <a:gd name="connsiteX0" fmla="*/ 24670 w 47625"/>
                <a:gd name="connsiteY0" fmla="*/ 7144 h 19050"/>
                <a:gd name="connsiteX1" fmla="*/ 7144 w 47625"/>
                <a:gd name="connsiteY1" fmla="*/ 19717 h 19050"/>
                <a:gd name="connsiteX2" fmla="*/ 42291 w 47625"/>
                <a:gd name="connsiteY2" fmla="*/ 19717 h 19050"/>
                <a:gd name="connsiteX3" fmla="*/ 24765 w 47625"/>
                <a:gd name="connsiteY3" fmla="*/ 7144 h 19050"/>
                <a:gd name="connsiteX4" fmla="*/ 24765 w 47625"/>
                <a:gd name="connsiteY4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9050">
                  <a:moveTo>
                    <a:pt x="24670" y="7144"/>
                  </a:moveTo>
                  <a:cubicBezTo>
                    <a:pt x="16478" y="7144"/>
                    <a:pt x="9716" y="12383"/>
                    <a:pt x="7144" y="19717"/>
                  </a:cubicBezTo>
                  <a:lnTo>
                    <a:pt x="42291" y="19717"/>
                  </a:lnTo>
                  <a:cubicBezTo>
                    <a:pt x="39719" y="12383"/>
                    <a:pt x="32957" y="7144"/>
                    <a:pt x="24765" y="7144"/>
                  </a:cubicBezTo>
                  <a:lnTo>
                    <a:pt x="24765" y="714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5C15DF5-E21D-4F04-A05A-3B6E5AEF78E9}"/>
                </a:ext>
              </a:extLst>
            </p:cNvPr>
            <p:cNvSpPr/>
            <p:nvPr/>
          </p:nvSpPr>
          <p:spPr>
            <a:xfrm>
              <a:off x="4424701" y="1814056"/>
              <a:ext cx="296049" cy="112041"/>
            </a:xfrm>
            <a:custGeom>
              <a:avLst/>
              <a:gdLst>
                <a:gd name="connsiteX0" fmla="*/ 44958 w 47625"/>
                <a:gd name="connsiteY0" fmla="*/ 13430 h 19050"/>
                <a:gd name="connsiteX1" fmla="*/ 43625 w 47625"/>
                <a:gd name="connsiteY1" fmla="*/ 7144 h 19050"/>
                <a:gd name="connsiteX2" fmla="*/ 8477 w 47625"/>
                <a:gd name="connsiteY2" fmla="*/ 7144 h 19050"/>
                <a:gd name="connsiteX3" fmla="*/ 7144 w 47625"/>
                <a:gd name="connsiteY3" fmla="*/ 13430 h 19050"/>
                <a:gd name="connsiteX4" fmla="*/ 8477 w 47625"/>
                <a:gd name="connsiteY4" fmla="*/ 19621 h 19050"/>
                <a:gd name="connsiteX5" fmla="*/ 43625 w 47625"/>
                <a:gd name="connsiteY5" fmla="*/ 19621 h 19050"/>
                <a:gd name="connsiteX6" fmla="*/ 44958 w 47625"/>
                <a:gd name="connsiteY6" fmla="*/ 1343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19050">
                  <a:moveTo>
                    <a:pt x="44958" y="13430"/>
                  </a:moveTo>
                  <a:cubicBezTo>
                    <a:pt x="44958" y="11240"/>
                    <a:pt x="44387" y="9049"/>
                    <a:pt x="43625" y="7144"/>
                  </a:cubicBezTo>
                  <a:lnTo>
                    <a:pt x="8477" y="7144"/>
                  </a:lnTo>
                  <a:cubicBezTo>
                    <a:pt x="7715" y="9049"/>
                    <a:pt x="7144" y="11240"/>
                    <a:pt x="7144" y="13430"/>
                  </a:cubicBezTo>
                  <a:cubicBezTo>
                    <a:pt x="7144" y="15621"/>
                    <a:pt x="7715" y="17717"/>
                    <a:pt x="8477" y="19621"/>
                  </a:cubicBezTo>
                  <a:lnTo>
                    <a:pt x="43625" y="19621"/>
                  </a:lnTo>
                  <a:cubicBezTo>
                    <a:pt x="44387" y="17621"/>
                    <a:pt x="44958" y="15621"/>
                    <a:pt x="44958" y="13430"/>
                  </a:cubicBezTo>
                  <a:close/>
                </a:path>
              </a:pathLst>
            </a:custGeom>
            <a:solidFill>
              <a:srgbClr val="DD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0F89A685-4D47-4E14-982A-3EEEDD1EA06E}"/>
                </a:ext>
              </a:extLst>
            </p:cNvPr>
            <p:cNvSpPr/>
            <p:nvPr/>
          </p:nvSpPr>
          <p:spPr>
            <a:xfrm>
              <a:off x="4432993" y="1888003"/>
              <a:ext cx="296049" cy="112041"/>
            </a:xfrm>
            <a:custGeom>
              <a:avLst/>
              <a:gdLst>
                <a:gd name="connsiteX0" fmla="*/ 42291 w 47625"/>
                <a:gd name="connsiteY0" fmla="*/ 7144 h 19050"/>
                <a:gd name="connsiteX1" fmla="*/ 7144 w 47625"/>
                <a:gd name="connsiteY1" fmla="*/ 7144 h 19050"/>
                <a:gd name="connsiteX2" fmla="*/ 24670 w 47625"/>
                <a:gd name="connsiteY2" fmla="*/ 19717 h 19050"/>
                <a:gd name="connsiteX3" fmla="*/ 42196 w 47625"/>
                <a:gd name="connsiteY3" fmla="*/ 7144 h 19050"/>
                <a:gd name="connsiteX4" fmla="*/ 42196 w 47625"/>
                <a:gd name="connsiteY4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9050">
                  <a:moveTo>
                    <a:pt x="42291" y="7144"/>
                  </a:moveTo>
                  <a:lnTo>
                    <a:pt x="7144" y="7144"/>
                  </a:lnTo>
                  <a:cubicBezTo>
                    <a:pt x="9716" y="14383"/>
                    <a:pt x="16478" y="19717"/>
                    <a:pt x="24670" y="19717"/>
                  </a:cubicBezTo>
                  <a:cubicBezTo>
                    <a:pt x="32861" y="19717"/>
                    <a:pt x="39624" y="14478"/>
                    <a:pt x="42196" y="7144"/>
                  </a:cubicBezTo>
                  <a:lnTo>
                    <a:pt x="42196" y="7144"/>
                  </a:lnTo>
                  <a:close/>
                </a:path>
              </a:pathLst>
            </a:custGeom>
            <a:solidFill>
              <a:srgbClr val="FFCE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50F72726-0E04-4D6B-A694-31E8EE79BA2D}"/>
              </a:ext>
            </a:extLst>
          </p:cNvPr>
          <p:cNvGrpSpPr/>
          <p:nvPr/>
        </p:nvGrpSpPr>
        <p:grpSpPr>
          <a:xfrm>
            <a:off x="6664464" y="3522557"/>
            <a:ext cx="205964" cy="205964"/>
            <a:chOff x="3311221" y="688795"/>
            <a:chExt cx="48197" cy="47625"/>
          </a:xfrm>
        </p:grpSpPr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F164336-DBD3-4884-9072-176D7F020A83}"/>
                </a:ext>
              </a:extLst>
            </p:cNvPr>
            <p:cNvSpPr/>
            <p:nvPr/>
          </p:nvSpPr>
          <p:spPr>
            <a:xfrm>
              <a:off x="3311221" y="691653"/>
              <a:ext cx="19050" cy="38100"/>
            </a:xfrm>
            <a:custGeom>
              <a:avLst/>
              <a:gdLst>
                <a:gd name="connsiteX0" fmla="*/ 7144 w 19050"/>
                <a:gd name="connsiteY0" fmla="*/ 23717 h 38100"/>
                <a:gd name="connsiteX1" fmla="*/ 16859 w 19050"/>
                <a:gd name="connsiteY1" fmla="*/ 40195 h 38100"/>
                <a:gd name="connsiteX2" fmla="*/ 16859 w 19050"/>
                <a:gd name="connsiteY2" fmla="*/ 7144 h 38100"/>
                <a:gd name="connsiteX3" fmla="*/ 7144 w 19050"/>
                <a:gd name="connsiteY3" fmla="*/ 23622 h 38100"/>
                <a:gd name="connsiteX4" fmla="*/ 7144 w 19050"/>
                <a:gd name="connsiteY4" fmla="*/ 2362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38100">
                  <a:moveTo>
                    <a:pt x="7144" y="23717"/>
                  </a:moveTo>
                  <a:cubicBezTo>
                    <a:pt x="7144" y="30861"/>
                    <a:pt x="11144" y="36862"/>
                    <a:pt x="16859" y="40195"/>
                  </a:cubicBezTo>
                  <a:lnTo>
                    <a:pt x="16859" y="7144"/>
                  </a:lnTo>
                  <a:cubicBezTo>
                    <a:pt x="11144" y="10573"/>
                    <a:pt x="7144" y="16478"/>
                    <a:pt x="7144" y="23622"/>
                  </a:cubicBezTo>
                  <a:lnTo>
                    <a:pt x="7144" y="23622"/>
                  </a:lnTo>
                  <a:close/>
                </a:path>
              </a:pathLst>
            </a:custGeom>
            <a:solidFill>
              <a:srgbClr val="0020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37B21ECF-0F27-4D98-81DF-29F1446B462E}"/>
                </a:ext>
              </a:extLst>
            </p:cNvPr>
            <p:cNvSpPr/>
            <p:nvPr/>
          </p:nvSpPr>
          <p:spPr>
            <a:xfrm>
              <a:off x="3321032" y="688795"/>
              <a:ext cx="28575" cy="47625"/>
            </a:xfrm>
            <a:custGeom>
              <a:avLst/>
              <a:gdLst>
                <a:gd name="connsiteX0" fmla="*/ 26575 w 28575"/>
                <a:gd name="connsiteY0" fmla="*/ 10096 h 47625"/>
                <a:gd name="connsiteX1" fmla="*/ 16859 w 28575"/>
                <a:gd name="connsiteY1" fmla="*/ 7144 h 47625"/>
                <a:gd name="connsiteX2" fmla="*/ 7144 w 28575"/>
                <a:gd name="connsiteY2" fmla="*/ 10096 h 47625"/>
                <a:gd name="connsiteX3" fmla="*/ 7144 w 28575"/>
                <a:gd name="connsiteY3" fmla="*/ 43148 h 47625"/>
                <a:gd name="connsiteX4" fmla="*/ 16859 w 28575"/>
                <a:gd name="connsiteY4" fmla="*/ 46101 h 47625"/>
                <a:gd name="connsiteX5" fmla="*/ 26575 w 28575"/>
                <a:gd name="connsiteY5" fmla="*/ 43148 h 47625"/>
                <a:gd name="connsiteX6" fmla="*/ 26575 w 28575"/>
                <a:gd name="connsiteY6" fmla="*/ 1009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>
                  <a:moveTo>
                    <a:pt x="26575" y="10096"/>
                  </a:moveTo>
                  <a:cubicBezTo>
                    <a:pt x="23717" y="8382"/>
                    <a:pt x="20479" y="7144"/>
                    <a:pt x="16859" y="7144"/>
                  </a:cubicBezTo>
                  <a:cubicBezTo>
                    <a:pt x="13240" y="7144"/>
                    <a:pt x="10001" y="8382"/>
                    <a:pt x="7144" y="10096"/>
                  </a:cubicBezTo>
                  <a:lnTo>
                    <a:pt x="7144" y="43148"/>
                  </a:lnTo>
                  <a:cubicBezTo>
                    <a:pt x="10097" y="44863"/>
                    <a:pt x="13240" y="46101"/>
                    <a:pt x="16859" y="46101"/>
                  </a:cubicBezTo>
                  <a:cubicBezTo>
                    <a:pt x="20479" y="46101"/>
                    <a:pt x="23717" y="44863"/>
                    <a:pt x="26575" y="43148"/>
                  </a:cubicBezTo>
                  <a:lnTo>
                    <a:pt x="26575" y="10096"/>
                  </a:lnTo>
                  <a:close/>
                </a:path>
              </a:pathLst>
            </a:custGeom>
            <a:solidFill>
              <a:srgbClr val="F9F9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CDB8FC9D-D666-440D-A951-8268214DD4C6}"/>
                </a:ext>
              </a:extLst>
            </p:cNvPr>
            <p:cNvSpPr/>
            <p:nvPr/>
          </p:nvSpPr>
          <p:spPr>
            <a:xfrm>
              <a:off x="3340368" y="691748"/>
              <a:ext cx="19050" cy="38100"/>
            </a:xfrm>
            <a:custGeom>
              <a:avLst/>
              <a:gdLst>
                <a:gd name="connsiteX0" fmla="*/ 16955 w 19050"/>
                <a:gd name="connsiteY0" fmla="*/ 23622 h 38100"/>
                <a:gd name="connsiteX1" fmla="*/ 7144 w 19050"/>
                <a:gd name="connsiteY1" fmla="*/ 7144 h 38100"/>
                <a:gd name="connsiteX2" fmla="*/ 7144 w 19050"/>
                <a:gd name="connsiteY2" fmla="*/ 40196 h 38100"/>
                <a:gd name="connsiteX3" fmla="*/ 16955 w 19050"/>
                <a:gd name="connsiteY3" fmla="*/ 23717 h 38100"/>
                <a:gd name="connsiteX4" fmla="*/ 16955 w 19050"/>
                <a:gd name="connsiteY4" fmla="*/ 23717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38100">
                  <a:moveTo>
                    <a:pt x="16955" y="23622"/>
                  </a:moveTo>
                  <a:cubicBezTo>
                    <a:pt x="16955" y="16478"/>
                    <a:pt x="12954" y="10477"/>
                    <a:pt x="7144" y="7144"/>
                  </a:cubicBezTo>
                  <a:lnTo>
                    <a:pt x="7144" y="40196"/>
                  </a:lnTo>
                  <a:cubicBezTo>
                    <a:pt x="12954" y="36766"/>
                    <a:pt x="16955" y="30861"/>
                    <a:pt x="16955" y="23717"/>
                  </a:cubicBezTo>
                  <a:lnTo>
                    <a:pt x="16955" y="23717"/>
                  </a:lnTo>
                  <a:close/>
                </a:path>
              </a:pathLst>
            </a:custGeom>
            <a:solidFill>
              <a:srgbClr val="FF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207" name="Graphic 206">
            <a:extLst>
              <a:ext uri="{FF2B5EF4-FFF2-40B4-BE49-F238E27FC236}">
                <a16:creationId xmlns:a16="http://schemas.microsoft.com/office/drawing/2014/main" id="{66A9B96D-9548-4882-8CC4-90AACC9AC9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6696689" y="5052917"/>
            <a:ext cx="171994" cy="171992"/>
          </a:xfrm>
          <a:prstGeom prst="rect">
            <a:avLst/>
          </a:prstGeom>
        </p:spPr>
      </p:pic>
      <p:grpSp>
        <p:nvGrpSpPr>
          <p:cNvPr id="210" name="Group 209">
            <a:extLst>
              <a:ext uri="{FF2B5EF4-FFF2-40B4-BE49-F238E27FC236}">
                <a16:creationId xmlns:a16="http://schemas.microsoft.com/office/drawing/2014/main" id="{3B28A3EB-9A4C-4D94-A810-7EF35CAB3A67}"/>
              </a:ext>
            </a:extLst>
          </p:cNvPr>
          <p:cNvGrpSpPr/>
          <p:nvPr/>
        </p:nvGrpSpPr>
        <p:grpSpPr>
          <a:xfrm>
            <a:off x="6666040" y="5787304"/>
            <a:ext cx="212972" cy="212972"/>
            <a:chOff x="3148248" y="1189525"/>
            <a:chExt cx="46768" cy="47625"/>
          </a:xfrm>
        </p:grpSpPr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375BDA29-BFFE-4FEB-B3F4-C76BC6102514}"/>
                </a:ext>
              </a:extLst>
            </p:cNvPr>
            <p:cNvSpPr/>
            <p:nvPr/>
          </p:nvSpPr>
          <p:spPr>
            <a:xfrm>
              <a:off x="3148248" y="1192001"/>
              <a:ext cx="19050" cy="38100"/>
            </a:xfrm>
            <a:custGeom>
              <a:avLst/>
              <a:gdLst>
                <a:gd name="connsiteX0" fmla="*/ 7144 w 19050"/>
                <a:gd name="connsiteY0" fmla="*/ 23432 h 38100"/>
                <a:gd name="connsiteX1" fmla="*/ 17050 w 19050"/>
                <a:gd name="connsiteY1" fmla="*/ 39719 h 38100"/>
                <a:gd name="connsiteX2" fmla="*/ 17050 w 19050"/>
                <a:gd name="connsiteY2" fmla="*/ 7144 h 38100"/>
                <a:gd name="connsiteX3" fmla="*/ 7144 w 19050"/>
                <a:gd name="connsiteY3" fmla="*/ 2343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38100">
                  <a:moveTo>
                    <a:pt x="7144" y="23432"/>
                  </a:moveTo>
                  <a:cubicBezTo>
                    <a:pt x="7144" y="30480"/>
                    <a:pt x="11144" y="36481"/>
                    <a:pt x="17050" y="39719"/>
                  </a:cubicBezTo>
                  <a:lnTo>
                    <a:pt x="17050" y="7144"/>
                  </a:lnTo>
                  <a:cubicBezTo>
                    <a:pt x="11240" y="10382"/>
                    <a:pt x="7144" y="16383"/>
                    <a:pt x="7144" y="234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BBD8266-4A4F-4F09-9198-EDF7B5FC433F}"/>
                </a:ext>
              </a:extLst>
            </p:cNvPr>
            <p:cNvSpPr/>
            <p:nvPr/>
          </p:nvSpPr>
          <p:spPr>
            <a:xfrm>
              <a:off x="3158154" y="1189525"/>
              <a:ext cx="28575" cy="47625"/>
            </a:xfrm>
            <a:custGeom>
              <a:avLst/>
              <a:gdLst>
                <a:gd name="connsiteX0" fmla="*/ 25051 w 28575"/>
                <a:gd name="connsiteY0" fmla="*/ 9620 h 47625"/>
                <a:gd name="connsiteX1" fmla="*/ 16097 w 28575"/>
                <a:gd name="connsiteY1" fmla="*/ 7144 h 47625"/>
                <a:gd name="connsiteX2" fmla="*/ 7144 w 28575"/>
                <a:gd name="connsiteY2" fmla="*/ 9620 h 47625"/>
                <a:gd name="connsiteX3" fmla="*/ 7144 w 28575"/>
                <a:gd name="connsiteY3" fmla="*/ 42196 h 47625"/>
                <a:gd name="connsiteX4" fmla="*/ 16097 w 28575"/>
                <a:gd name="connsiteY4" fmla="*/ 44768 h 47625"/>
                <a:gd name="connsiteX5" fmla="*/ 25051 w 28575"/>
                <a:gd name="connsiteY5" fmla="*/ 42196 h 47625"/>
                <a:gd name="connsiteX6" fmla="*/ 25051 w 28575"/>
                <a:gd name="connsiteY6" fmla="*/ 962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>
                  <a:moveTo>
                    <a:pt x="25051" y="9620"/>
                  </a:moveTo>
                  <a:cubicBezTo>
                    <a:pt x="22289" y="8096"/>
                    <a:pt x="19336" y="7144"/>
                    <a:pt x="16097" y="7144"/>
                  </a:cubicBezTo>
                  <a:cubicBezTo>
                    <a:pt x="12859" y="7144"/>
                    <a:pt x="9811" y="8192"/>
                    <a:pt x="7144" y="9620"/>
                  </a:cubicBezTo>
                  <a:lnTo>
                    <a:pt x="7144" y="42196"/>
                  </a:lnTo>
                  <a:cubicBezTo>
                    <a:pt x="9811" y="43720"/>
                    <a:pt x="12859" y="44768"/>
                    <a:pt x="16097" y="44768"/>
                  </a:cubicBezTo>
                  <a:cubicBezTo>
                    <a:pt x="19336" y="44768"/>
                    <a:pt x="22289" y="43624"/>
                    <a:pt x="25051" y="42196"/>
                  </a:cubicBezTo>
                  <a:lnTo>
                    <a:pt x="25051" y="9620"/>
                  </a:lnTo>
                  <a:close/>
                </a:path>
              </a:pathLst>
            </a:custGeom>
            <a:solidFill>
              <a:srgbClr val="FFE93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B3364C1D-87FF-4B6C-87D3-56A53B178069}"/>
                </a:ext>
              </a:extLst>
            </p:cNvPr>
            <p:cNvSpPr/>
            <p:nvPr/>
          </p:nvSpPr>
          <p:spPr>
            <a:xfrm>
              <a:off x="3175966" y="1192001"/>
              <a:ext cx="19050" cy="38100"/>
            </a:xfrm>
            <a:custGeom>
              <a:avLst/>
              <a:gdLst>
                <a:gd name="connsiteX0" fmla="*/ 17050 w 19050"/>
                <a:gd name="connsiteY0" fmla="*/ 23432 h 38100"/>
                <a:gd name="connsiteX1" fmla="*/ 7144 w 19050"/>
                <a:gd name="connsiteY1" fmla="*/ 7144 h 38100"/>
                <a:gd name="connsiteX2" fmla="*/ 7144 w 19050"/>
                <a:gd name="connsiteY2" fmla="*/ 39719 h 38100"/>
                <a:gd name="connsiteX3" fmla="*/ 17050 w 19050"/>
                <a:gd name="connsiteY3" fmla="*/ 2343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38100">
                  <a:moveTo>
                    <a:pt x="17050" y="23432"/>
                  </a:moveTo>
                  <a:cubicBezTo>
                    <a:pt x="17050" y="16383"/>
                    <a:pt x="12954" y="10382"/>
                    <a:pt x="7144" y="7144"/>
                  </a:cubicBezTo>
                  <a:lnTo>
                    <a:pt x="7144" y="39719"/>
                  </a:lnTo>
                  <a:cubicBezTo>
                    <a:pt x="12954" y="36481"/>
                    <a:pt x="17050" y="30480"/>
                    <a:pt x="17050" y="23432"/>
                  </a:cubicBezTo>
                  <a:close/>
                </a:path>
              </a:pathLst>
            </a:custGeom>
            <a:solidFill>
              <a:srgbClr val="FF0F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26" name="Rectangle 225">
            <a:extLst>
              <a:ext uri="{FF2B5EF4-FFF2-40B4-BE49-F238E27FC236}">
                <a16:creationId xmlns:a16="http://schemas.microsoft.com/office/drawing/2014/main" id="{4D472047-3550-4ACD-BDC2-41974992EB58}"/>
              </a:ext>
            </a:extLst>
          </p:cNvPr>
          <p:cNvSpPr/>
          <p:nvPr/>
        </p:nvSpPr>
        <p:spPr>
          <a:xfrm>
            <a:off x="6913812" y="2505672"/>
            <a:ext cx="2611188" cy="830997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73736" indent="-173736"/>
            <a:r>
              <a:rPr lang="en-US" sz="800" b="1" dirty="0">
                <a:solidFill>
                  <a:srgbClr val="ED8B00"/>
                </a:solidFill>
                <a:latin typeface="Montserrat"/>
              </a:rPr>
              <a:t>[2] </a:t>
            </a:r>
            <a:r>
              <a:rPr lang="en-US" sz="800" b="1" dirty="0">
                <a:latin typeface="+mj-lt"/>
              </a:rPr>
              <a:t>Germany's</a:t>
            </a:r>
            <a:r>
              <a:rPr lang="en-US" sz="800" dirty="0"/>
              <a:t> indicators have remained largely unchanged, but it is worth noting that Germany stands out among other countries in this sample for its </a:t>
            </a:r>
            <a:r>
              <a:rPr lang="en-US" sz="800" dirty="0">
                <a:solidFill>
                  <a:srgbClr val="86BC25"/>
                </a:solidFill>
                <a:latin typeface="Montserrat Medium" panose="00000600000000000000" pitchFamily="2" charset="-52"/>
              </a:rPr>
              <a:t>lowest level of Government support for business R&amp;D</a:t>
            </a:r>
            <a:r>
              <a:rPr lang="en-US" sz="800" dirty="0"/>
              <a:t>, which has not changed over 2016-2023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ED15DA94-1689-46D2-9515-33F5D233ABF8}"/>
              </a:ext>
            </a:extLst>
          </p:cNvPr>
          <p:cNvSpPr/>
          <p:nvPr/>
        </p:nvSpPr>
        <p:spPr>
          <a:xfrm>
            <a:off x="6913812" y="3519094"/>
            <a:ext cx="2611188" cy="132343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73736" indent="-173736"/>
            <a:r>
              <a:rPr lang="en-US" sz="800" b="1" dirty="0">
                <a:solidFill>
                  <a:srgbClr val="ED8B00"/>
                </a:solidFill>
                <a:latin typeface="Montserrat"/>
              </a:rPr>
              <a:t>[3] </a:t>
            </a:r>
            <a:r>
              <a:rPr lang="en-US" sz="800" b="1" dirty="0">
                <a:latin typeface="+mj-lt"/>
              </a:rPr>
              <a:t>France</a:t>
            </a:r>
            <a:r>
              <a:rPr lang="en-US" sz="800" dirty="0"/>
              <a:t> is also characterized by the absence of significant changes in the indicators for the specified period. At the same time, </a:t>
            </a:r>
            <a:r>
              <a:rPr lang="en-US" sz="800" dirty="0">
                <a:solidFill>
                  <a:srgbClr val="86BC25"/>
                </a:solidFill>
                <a:latin typeface="Montserrat Medium" panose="00000600000000000000" pitchFamily="2" charset="-52"/>
              </a:rPr>
              <a:t>Sales of innovative products fell noticeably</a:t>
            </a:r>
            <a:r>
              <a:rPr lang="en-US" sz="800" dirty="0"/>
              <a:t> (the most noticeable fall compared to other countries) and the level of Doctorate graduates decreased slightly. France is also characterized by a </a:t>
            </a:r>
            <a:r>
              <a:rPr lang="en-US" sz="800" dirty="0">
                <a:solidFill>
                  <a:srgbClr val="86BC25"/>
                </a:solidFill>
                <a:latin typeface="Montserrat Medium" panose="00000600000000000000" pitchFamily="2" charset="-52"/>
              </a:rPr>
              <a:t>high level</a:t>
            </a:r>
            <a:r>
              <a:rPr lang="en-US" sz="800" dirty="0"/>
              <a:t> compared to other countries </a:t>
            </a:r>
            <a:r>
              <a:rPr lang="en-US" sz="800" dirty="0">
                <a:solidFill>
                  <a:srgbClr val="86BC25"/>
                </a:solidFill>
                <a:latin typeface="Montserrat Medium" panose="00000600000000000000" pitchFamily="2" charset="-52"/>
              </a:rPr>
              <a:t>of Government support for business R&amp;D </a:t>
            </a:r>
            <a:r>
              <a:rPr lang="en-US" sz="800" dirty="0"/>
              <a:t>(but less than in the UK)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4840B535-14C5-4142-BDBD-A3CED3D4E530}"/>
              </a:ext>
            </a:extLst>
          </p:cNvPr>
          <p:cNvSpPr/>
          <p:nvPr/>
        </p:nvSpPr>
        <p:spPr>
          <a:xfrm>
            <a:off x="6913812" y="5024958"/>
            <a:ext cx="2620917" cy="58477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73736" indent="-173736"/>
            <a:r>
              <a:rPr lang="en-US" sz="800" b="1" dirty="0">
                <a:solidFill>
                  <a:srgbClr val="ED8B00"/>
                </a:solidFill>
                <a:latin typeface="Montserrat"/>
              </a:rPr>
              <a:t>[4] </a:t>
            </a:r>
            <a:r>
              <a:rPr lang="en-US" sz="800" dirty="0">
                <a:latin typeface="+mj-lt"/>
              </a:rPr>
              <a:t>The </a:t>
            </a:r>
            <a:r>
              <a:rPr lang="en-US" sz="800" b="1" dirty="0">
                <a:latin typeface="+mj-lt"/>
              </a:rPr>
              <a:t>Netherlands</a:t>
            </a:r>
            <a:r>
              <a:rPr lang="en-US" sz="800" dirty="0">
                <a:latin typeface="+mj-lt"/>
              </a:rPr>
              <a:t> </a:t>
            </a:r>
            <a:r>
              <a:rPr lang="en-US" sz="800" dirty="0"/>
              <a:t>shows a slight decline across all indicators, with the decline in Employment in innovative enterprises standing out more noticeably than others</a:t>
            </a:r>
            <a:endParaRPr lang="de-DE" sz="800" dirty="0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FD3B480B-5F58-49BD-9443-2BE32E2AFE59}"/>
              </a:ext>
            </a:extLst>
          </p:cNvPr>
          <p:cNvSpPr/>
          <p:nvPr/>
        </p:nvSpPr>
        <p:spPr>
          <a:xfrm>
            <a:off x="6913812" y="5792158"/>
            <a:ext cx="2611188" cy="4616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73736" indent="-173736"/>
            <a:r>
              <a:rPr lang="en-US" sz="800" b="1" dirty="0">
                <a:solidFill>
                  <a:srgbClr val="ED8B00"/>
                </a:solidFill>
                <a:latin typeface="Montserrat"/>
              </a:rPr>
              <a:t>[5] </a:t>
            </a:r>
            <a:r>
              <a:rPr lang="en-US" sz="800" dirty="0">
                <a:latin typeface="+mj-lt"/>
              </a:rPr>
              <a:t>Belgium</a:t>
            </a:r>
            <a:r>
              <a:rPr lang="en-US" sz="800" dirty="0"/>
              <a:t> sees growth in Government support for business R&amp;D and Sales of innovative products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9EB5A1C-8E36-49DD-AD02-96C03E6A1A7C}"/>
              </a:ext>
            </a:extLst>
          </p:cNvPr>
          <p:cNvGrpSpPr/>
          <p:nvPr/>
        </p:nvGrpSpPr>
        <p:grpSpPr>
          <a:xfrm>
            <a:off x="1912262" y="2711099"/>
            <a:ext cx="4195182" cy="1645920"/>
            <a:chOff x="1912262" y="2711099"/>
            <a:chExt cx="4195182" cy="164592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6BFB351-5C7D-4F4C-8A0D-0A8292A2263B}"/>
                </a:ext>
              </a:extLst>
            </p:cNvPr>
            <p:cNvCxnSpPr>
              <a:cxnSpLocks/>
            </p:cNvCxnSpPr>
            <p:nvPr/>
          </p:nvCxnSpPr>
          <p:spPr>
            <a:xfrm>
              <a:off x="1912262" y="2990019"/>
              <a:ext cx="2593115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F80DEC9C-6EC7-4895-BCFE-794022155BE7}"/>
                </a:ext>
              </a:extLst>
            </p:cNvPr>
            <p:cNvCxnSpPr>
              <a:cxnSpLocks/>
            </p:cNvCxnSpPr>
            <p:nvPr/>
          </p:nvCxnSpPr>
          <p:spPr>
            <a:xfrm>
              <a:off x="2718025" y="2711099"/>
              <a:ext cx="2593115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05F1FB08-F6AE-4934-934D-D380FCCD01D4}"/>
                </a:ext>
              </a:extLst>
            </p:cNvPr>
            <p:cNvCxnSpPr>
              <a:cxnSpLocks/>
            </p:cNvCxnSpPr>
            <p:nvPr/>
          </p:nvCxnSpPr>
          <p:spPr>
            <a:xfrm>
              <a:off x="3167605" y="3503579"/>
              <a:ext cx="2570255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EFBF4065-C6BB-48FF-972E-54A73A156EFF}"/>
                </a:ext>
              </a:extLst>
            </p:cNvPr>
            <p:cNvCxnSpPr>
              <a:cxnSpLocks/>
            </p:cNvCxnSpPr>
            <p:nvPr/>
          </p:nvCxnSpPr>
          <p:spPr>
            <a:xfrm>
              <a:off x="2781851" y="4235099"/>
              <a:ext cx="2521669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287DFEF8-9E32-4222-892A-5E3463CB6F68}"/>
                </a:ext>
              </a:extLst>
            </p:cNvPr>
            <p:cNvCxnSpPr>
              <a:cxnSpLocks/>
            </p:cNvCxnSpPr>
            <p:nvPr/>
          </p:nvCxnSpPr>
          <p:spPr>
            <a:xfrm>
              <a:off x="3555295" y="4357019"/>
              <a:ext cx="2521669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72C0128D-7259-4533-AD48-92EB27C621BC}"/>
                </a:ext>
              </a:extLst>
            </p:cNvPr>
            <p:cNvCxnSpPr>
              <a:cxnSpLocks/>
            </p:cNvCxnSpPr>
            <p:nvPr/>
          </p:nvCxnSpPr>
          <p:spPr>
            <a:xfrm>
              <a:off x="2359885" y="3101896"/>
              <a:ext cx="2524535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0F2658FE-FFCE-4C1B-9637-AF810A86FD02}"/>
                </a:ext>
              </a:extLst>
            </p:cNvPr>
            <p:cNvCxnSpPr>
              <a:cxnSpLocks/>
            </p:cNvCxnSpPr>
            <p:nvPr/>
          </p:nvCxnSpPr>
          <p:spPr>
            <a:xfrm>
              <a:off x="3585775" y="3213774"/>
              <a:ext cx="2521669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E70AF-9A08-4362-9723-7E901BB4D36E}"/>
              </a:ext>
            </a:extLst>
          </p:cNvPr>
          <p:cNvGrpSpPr/>
          <p:nvPr/>
        </p:nvGrpSpPr>
        <p:grpSpPr>
          <a:xfrm>
            <a:off x="1822690" y="2608869"/>
            <a:ext cx="1826343" cy="1864272"/>
            <a:chOff x="1822690" y="2608869"/>
            <a:chExt cx="1826343" cy="1864272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1A8B1E5-ACFA-4810-9299-EEEBA69EDFE5}"/>
                </a:ext>
              </a:extLst>
            </p:cNvPr>
            <p:cNvSpPr/>
            <p:nvPr/>
          </p:nvSpPr>
          <p:spPr bwMode="gray">
            <a:xfrm>
              <a:off x="2646319" y="2608869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3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38CC30A1-8E9F-42A8-B7DF-4755FB734996}"/>
                </a:ext>
              </a:extLst>
            </p:cNvPr>
            <p:cNvSpPr/>
            <p:nvPr/>
          </p:nvSpPr>
          <p:spPr bwMode="gray">
            <a:xfrm>
              <a:off x="1822690" y="2906556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1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8A02C227-1C4A-4BEB-ADAC-691DF51EFF1A}"/>
                </a:ext>
              </a:extLst>
            </p:cNvPr>
            <p:cNvSpPr/>
            <p:nvPr/>
          </p:nvSpPr>
          <p:spPr bwMode="gray">
            <a:xfrm>
              <a:off x="2260936" y="3009809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2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C0397578-1A96-49B1-8C74-2C4C44CD8AB5}"/>
                </a:ext>
              </a:extLst>
            </p:cNvPr>
            <p:cNvSpPr/>
            <p:nvPr/>
          </p:nvSpPr>
          <p:spPr bwMode="gray">
            <a:xfrm>
              <a:off x="3063042" y="3402387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4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32420F10-753B-46D1-8253-8F7261C5CBB6}"/>
                </a:ext>
              </a:extLst>
            </p:cNvPr>
            <p:cNvSpPr/>
            <p:nvPr/>
          </p:nvSpPr>
          <p:spPr bwMode="gray">
            <a:xfrm>
              <a:off x="2686802" y="4139217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3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036BE291-C00C-40E5-A08B-ADE68CC2E414}"/>
                </a:ext>
              </a:extLst>
            </p:cNvPr>
            <p:cNvSpPr/>
            <p:nvPr/>
          </p:nvSpPr>
          <p:spPr bwMode="gray">
            <a:xfrm>
              <a:off x="3452820" y="4276928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5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7B12BF99-1E3E-4DEF-AC58-1A477831139D}"/>
                </a:ext>
              </a:extLst>
            </p:cNvPr>
            <p:cNvSpPr/>
            <p:nvPr/>
          </p:nvSpPr>
          <p:spPr bwMode="gray">
            <a:xfrm>
              <a:off x="3452820" y="3115219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5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</p:grpSp>
      <p:sp>
        <p:nvSpPr>
          <p:cNvPr id="273" name="Rectangle 272">
            <a:extLst>
              <a:ext uri="{FF2B5EF4-FFF2-40B4-BE49-F238E27FC236}">
                <a16:creationId xmlns:a16="http://schemas.microsoft.com/office/drawing/2014/main" id="{5DE56F84-F66E-4C24-A4CE-F8850F646ACF}"/>
              </a:ext>
            </a:extLst>
          </p:cNvPr>
          <p:cNvSpPr/>
          <p:nvPr/>
        </p:nvSpPr>
        <p:spPr>
          <a:xfrm>
            <a:off x="6705168" y="1271016"/>
            <a:ext cx="755015" cy="184666"/>
          </a:xfrm>
          <a:prstGeom prst="rect">
            <a:avLst/>
          </a:prstGeom>
        </p:spPr>
        <p:txBody>
          <a:bodyPr wrap="none" lIns="0" tIns="0" rIns="0">
            <a:spAutoFit/>
          </a:bodyPr>
          <a:lstStyle/>
          <a:p>
            <a:r>
              <a:rPr lang="de-DE" sz="900" b="1" dirty="0">
                <a:latin typeface="+mj-lt"/>
              </a:rPr>
              <a:t>Key </a:t>
            </a:r>
            <a:r>
              <a:rPr lang="en-US" sz="900" b="1" dirty="0">
                <a:latin typeface="+mj-lt"/>
              </a:rPr>
              <a:t>findings</a:t>
            </a:r>
            <a:endParaRPr lang="ru-RU" sz="900" b="1" dirty="0"/>
          </a:p>
        </p:txBody>
      </p:sp>
    </p:spTree>
    <p:extLst>
      <p:ext uri="{BB962C8B-B14F-4D97-AF65-F5344CB8AC3E}">
        <p14:creationId xmlns:p14="http://schemas.microsoft.com/office/powerpoint/2010/main" val="46359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BC9D46E-2B77-4FC6-8EC2-1EE175ADF35D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739E89-E045-467B-9B21-0941237211B8}"/>
              </a:ext>
            </a:extLst>
          </p:cNvPr>
          <p:cNvCxnSpPr>
            <a:cxnSpLocks/>
          </p:cNvCxnSpPr>
          <p:nvPr/>
        </p:nvCxnSpPr>
        <p:spPr>
          <a:xfrm flipH="1">
            <a:off x="5339291" y="3752604"/>
            <a:ext cx="4221831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4EAAB983-89DD-47EA-912B-8B7CB8209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92" y="2116594"/>
            <a:ext cx="4071605" cy="31668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2B6679-4736-47DF-A43A-123DF62FA36B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Area chart</a:t>
            </a:r>
            <a:endParaRPr lang="ru-RU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AC5DFF8-1C35-4622-9B09-CACBFF4A93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7168512"/>
              </p:ext>
            </p:extLst>
          </p:nvPr>
        </p:nvGraphicFramePr>
        <p:xfrm>
          <a:off x="5043642" y="2695050"/>
          <a:ext cx="4643202" cy="20295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2" name="Group 51">
            <a:extLst>
              <a:ext uri="{FF2B5EF4-FFF2-40B4-BE49-F238E27FC236}">
                <a16:creationId xmlns:a16="http://schemas.microsoft.com/office/drawing/2014/main" id="{1288842E-5EBB-474C-BDD8-BA03CBA23A6C}"/>
              </a:ext>
            </a:extLst>
          </p:cNvPr>
          <p:cNvGrpSpPr/>
          <p:nvPr/>
        </p:nvGrpSpPr>
        <p:grpSpPr>
          <a:xfrm>
            <a:off x="5339292" y="4506769"/>
            <a:ext cx="705165" cy="435651"/>
            <a:chOff x="5342396" y="4907350"/>
            <a:chExt cx="793366" cy="522503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54130A2-13E7-4D74-9D51-29240BDAC082}"/>
                </a:ext>
              </a:extLst>
            </p:cNvPr>
            <p:cNvSpPr txBox="1"/>
            <p:nvPr/>
          </p:nvSpPr>
          <p:spPr>
            <a:xfrm rot="16200000">
              <a:off x="5190918" y="5058828"/>
              <a:ext cx="522503" cy="219548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800" dirty="0"/>
                <a:t>Aug-22</a:t>
              </a:r>
              <a:endParaRPr lang="ru-RU" sz="800" dirty="0" err="1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D46B55F-6C6A-4558-9397-1357C7F56EEE}"/>
                </a:ext>
              </a:extLst>
            </p:cNvPr>
            <p:cNvSpPr txBox="1"/>
            <p:nvPr/>
          </p:nvSpPr>
          <p:spPr>
            <a:xfrm rot="16200000">
              <a:off x="5477827" y="5058828"/>
              <a:ext cx="522503" cy="219548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800" dirty="0"/>
                <a:t>Aug-23</a:t>
              </a:r>
              <a:endParaRPr lang="ru-RU" sz="800" dirty="0" err="1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D864A09-21A7-41F2-894B-F298910E1960}"/>
                </a:ext>
              </a:extLst>
            </p:cNvPr>
            <p:cNvSpPr txBox="1"/>
            <p:nvPr/>
          </p:nvSpPr>
          <p:spPr>
            <a:xfrm rot="16200000">
              <a:off x="5764736" y="5058828"/>
              <a:ext cx="522503" cy="219548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800" dirty="0"/>
                <a:t>Aug-24</a:t>
              </a:r>
              <a:endParaRPr lang="ru-RU" sz="800" dirty="0" err="1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C8664FA8-1DFF-46E2-8C42-B2BB9A26FFF1}"/>
              </a:ext>
            </a:extLst>
          </p:cNvPr>
          <p:cNvSpPr txBox="1"/>
          <p:nvPr/>
        </p:nvSpPr>
        <p:spPr>
          <a:xfrm>
            <a:off x="5530453" y="4204005"/>
            <a:ext cx="282508" cy="22634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+mj-lt"/>
              </a:rPr>
              <a:t>India</a:t>
            </a:r>
            <a:endParaRPr lang="ru-RU" sz="8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430B5D-B421-4744-8115-7D5921347692}"/>
              </a:ext>
            </a:extLst>
          </p:cNvPr>
          <p:cNvSpPr txBox="1"/>
          <p:nvPr/>
        </p:nvSpPr>
        <p:spPr>
          <a:xfrm>
            <a:off x="6211546" y="4204005"/>
            <a:ext cx="355930" cy="1964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+mj-lt"/>
              </a:rPr>
              <a:t>China</a:t>
            </a:r>
            <a:endParaRPr lang="ru-RU" sz="8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CE65A9-EE27-4E44-83B5-43A6A79FCC3A}"/>
              </a:ext>
            </a:extLst>
          </p:cNvPr>
          <p:cNvSpPr txBox="1"/>
          <p:nvPr/>
        </p:nvSpPr>
        <p:spPr>
          <a:xfrm>
            <a:off x="6955663" y="4204005"/>
            <a:ext cx="342383" cy="184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+mj-lt"/>
              </a:rPr>
              <a:t>Japan</a:t>
            </a:r>
            <a:endParaRPr lang="ru-RU" sz="8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4D21C8-B099-4795-B0A0-151BF1CFAE2A}"/>
              </a:ext>
            </a:extLst>
          </p:cNvPr>
          <p:cNvSpPr txBox="1"/>
          <p:nvPr/>
        </p:nvSpPr>
        <p:spPr>
          <a:xfrm>
            <a:off x="7596402" y="4143828"/>
            <a:ext cx="464415" cy="27881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800" b="1" dirty="0">
                <a:solidFill>
                  <a:schemeClr val="bg1"/>
                </a:solidFill>
                <a:latin typeface="+mj-lt"/>
              </a:rPr>
              <a:t>Euro </a:t>
            </a:r>
          </a:p>
          <a:p>
            <a:pPr algn="ctr"/>
            <a:r>
              <a:rPr lang="en-US" sz="800" b="1" dirty="0">
                <a:solidFill>
                  <a:schemeClr val="bg1"/>
                </a:solidFill>
                <a:latin typeface="+mj-lt"/>
              </a:rPr>
              <a:t>area</a:t>
            </a:r>
            <a:endParaRPr lang="ru-RU" sz="8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F7225F-050A-43C0-B318-EFEA89B9140E}"/>
              </a:ext>
            </a:extLst>
          </p:cNvPr>
          <p:cNvSpPr txBox="1"/>
          <p:nvPr/>
        </p:nvSpPr>
        <p:spPr>
          <a:xfrm>
            <a:off x="8301773" y="4204005"/>
            <a:ext cx="464415" cy="17388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+mj-lt"/>
              </a:rPr>
              <a:t>Germany</a:t>
            </a:r>
            <a:endParaRPr lang="ru-RU" sz="8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D03E27-FADE-4F42-8878-BA6D59694984}"/>
              </a:ext>
            </a:extLst>
          </p:cNvPr>
          <p:cNvSpPr txBox="1"/>
          <p:nvPr/>
        </p:nvSpPr>
        <p:spPr>
          <a:xfrm>
            <a:off x="9174229" y="4204005"/>
            <a:ext cx="271589" cy="17388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+mj-lt"/>
              </a:rPr>
              <a:t>U.S.</a:t>
            </a:r>
            <a:endParaRPr lang="ru-RU" sz="800" b="1" dirty="0" err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62E67B9-9A14-49BC-B3AA-3FD5767938CB}"/>
              </a:ext>
            </a:extLst>
          </p:cNvPr>
          <p:cNvGrpSpPr/>
          <p:nvPr/>
        </p:nvGrpSpPr>
        <p:grpSpPr>
          <a:xfrm>
            <a:off x="6060547" y="4400409"/>
            <a:ext cx="3609703" cy="539290"/>
            <a:chOff x="5399484" y="4747260"/>
            <a:chExt cx="4061200" cy="424657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D75BA57-DAD9-44A0-9BAC-A5F2D0738C01}"/>
                </a:ext>
              </a:extLst>
            </p:cNvPr>
            <p:cNvGrpSpPr/>
            <p:nvPr/>
          </p:nvGrpSpPr>
          <p:grpSpPr>
            <a:xfrm>
              <a:off x="5399484" y="4747260"/>
              <a:ext cx="793366" cy="424657"/>
              <a:chOff x="5342396" y="4907350"/>
              <a:chExt cx="793366" cy="522503"/>
            </a:xfrm>
          </p:grpSpPr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78965D6-266F-4890-A7B3-4D61B1725D4B}"/>
                  </a:ext>
                </a:extLst>
              </p:cNvPr>
              <p:cNvSpPr txBox="1"/>
              <p:nvPr/>
            </p:nvSpPr>
            <p:spPr>
              <a:xfrm rot="16200000">
                <a:off x="5190918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Aug-22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9F89C82-05E9-4508-9532-6C7767551EE7}"/>
                  </a:ext>
                </a:extLst>
              </p:cNvPr>
              <p:cNvSpPr txBox="1"/>
              <p:nvPr/>
            </p:nvSpPr>
            <p:spPr>
              <a:xfrm rot="16200000">
                <a:off x="5477827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Aug-23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29030A2-C7B1-44FD-BDA7-8A6F5FC7883F}"/>
                  </a:ext>
                </a:extLst>
              </p:cNvPr>
              <p:cNvSpPr txBox="1"/>
              <p:nvPr/>
            </p:nvSpPr>
            <p:spPr>
              <a:xfrm rot="16200000">
                <a:off x="5764736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Aug-24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5966B7A-221A-4572-A1B0-8C603DECA4CB}"/>
                </a:ext>
              </a:extLst>
            </p:cNvPr>
            <p:cNvGrpSpPr/>
            <p:nvPr/>
          </p:nvGrpSpPr>
          <p:grpSpPr>
            <a:xfrm>
              <a:off x="6217952" y="4747260"/>
              <a:ext cx="793366" cy="424657"/>
              <a:chOff x="5342396" y="4907350"/>
              <a:chExt cx="793366" cy="522503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1DBB58D-35DB-4F8B-8F65-D54268DF88AE}"/>
                  </a:ext>
                </a:extLst>
              </p:cNvPr>
              <p:cNvSpPr txBox="1"/>
              <p:nvPr/>
            </p:nvSpPr>
            <p:spPr>
              <a:xfrm rot="16200000">
                <a:off x="5190918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Aug-22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CF161FE-B56B-4CA3-AC24-04B0805852CB}"/>
                  </a:ext>
                </a:extLst>
              </p:cNvPr>
              <p:cNvSpPr txBox="1"/>
              <p:nvPr/>
            </p:nvSpPr>
            <p:spPr>
              <a:xfrm rot="16200000">
                <a:off x="5477827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Aug-23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F872473-5603-45CB-8267-61BBDA9C1814}"/>
                  </a:ext>
                </a:extLst>
              </p:cNvPr>
              <p:cNvSpPr txBox="1"/>
              <p:nvPr/>
            </p:nvSpPr>
            <p:spPr>
              <a:xfrm rot="16200000">
                <a:off x="5764736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Aug-24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AB4AF8D-3607-40BC-8FBC-680C76710EC9}"/>
                </a:ext>
              </a:extLst>
            </p:cNvPr>
            <p:cNvGrpSpPr/>
            <p:nvPr/>
          </p:nvGrpSpPr>
          <p:grpSpPr>
            <a:xfrm>
              <a:off x="7029420" y="4747260"/>
              <a:ext cx="793366" cy="424657"/>
              <a:chOff x="5342396" y="4907350"/>
              <a:chExt cx="793366" cy="522503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1DB6478-1075-49D3-BC87-128E17873001}"/>
                  </a:ext>
                </a:extLst>
              </p:cNvPr>
              <p:cNvSpPr txBox="1"/>
              <p:nvPr/>
            </p:nvSpPr>
            <p:spPr>
              <a:xfrm rot="16200000">
                <a:off x="5190918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Aug-22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4DAB07D-1AA0-4D2D-AE3F-CB68D4F4BEED}"/>
                  </a:ext>
                </a:extLst>
              </p:cNvPr>
              <p:cNvSpPr txBox="1"/>
              <p:nvPr/>
            </p:nvSpPr>
            <p:spPr>
              <a:xfrm rot="16200000">
                <a:off x="5477827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Aug-23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6BE2965-A31F-4C67-B2AC-C44CCEDE1345}"/>
                  </a:ext>
                </a:extLst>
              </p:cNvPr>
              <p:cNvSpPr txBox="1"/>
              <p:nvPr/>
            </p:nvSpPr>
            <p:spPr>
              <a:xfrm rot="16200000">
                <a:off x="5764736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Aug-24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76796BE-8175-4130-9648-3055FA00B1E1}"/>
                </a:ext>
              </a:extLst>
            </p:cNvPr>
            <p:cNvGrpSpPr/>
            <p:nvPr/>
          </p:nvGrpSpPr>
          <p:grpSpPr>
            <a:xfrm>
              <a:off x="7855850" y="4747260"/>
              <a:ext cx="793366" cy="424657"/>
              <a:chOff x="5342396" y="4907350"/>
              <a:chExt cx="793366" cy="522503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3DC58F4-B0A8-4E4C-9E80-BBC29D424E02}"/>
                  </a:ext>
                </a:extLst>
              </p:cNvPr>
              <p:cNvSpPr txBox="1"/>
              <p:nvPr/>
            </p:nvSpPr>
            <p:spPr>
              <a:xfrm rot="16200000">
                <a:off x="5190918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Aug-22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DF104C3-719D-41CB-BBF6-AD7285CF1E53}"/>
                  </a:ext>
                </a:extLst>
              </p:cNvPr>
              <p:cNvSpPr txBox="1"/>
              <p:nvPr/>
            </p:nvSpPr>
            <p:spPr>
              <a:xfrm rot="16200000">
                <a:off x="5477827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Aug-23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663A935-82FE-46DF-9EAD-9DD4AFFE3E33}"/>
                  </a:ext>
                </a:extLst>
              </p:cNvPr>
              <p:cNvSpPr txBox="1"/>
              <p:nvPr/>
            </p:nvSpPr>
            <p:spPr>
              <a:xfrm rot="16200000">
                <a:off x="5764736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Aug-24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A1CABF85-CA03-4C6F-B555-0E14D6F2252F}"/>
                </a:ext>
              </a:extLst>
            </p:cNvPr>
            <p:cNvGrpSpPr/>
            <p:nvPr/>
          </p:nvGrpSpPr>
          <p:grpSpPr>
            <a:xfrm>
              <a:off x="8667318" y="4747260"/>
              <a:ext cx="793366" cy="424657"/>
              <a:chOff x="5342396" y="4907350"/>
              <a:chExt cx="793366" cy="522503"/>
            </a:xfrm>
          </p:grpSpPr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581D5D1-DD39-4734-8D18-9F2998EF5CE0}"/>
                  </a:ext>
                </a:extLst>
              </p:cNvPr>
              <p:cNvSpPr txBox="1"/>
              <p:nvPr/>
            </p:nvSpPr>
            <p:spPr>
              <a:xfrm rot="16200000">
                <a:off x="5190918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Aug-22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4927C61-1F4B-4FA3-958F-8FB129E54185}"/>
                  </a:ext>
                </a:extLst>
              </p:cNvPr>
              <p:cNvSpPr txBox="1"/>
              <p:nvPr/>
            </p:nvSpPr>
            <p:spPr>
              <a:xfrm rot="16200000">
                <a:off x="5477827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Aug-23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1FAF4B7-8D3A-40E8-9BEF-03D31C1E451A}"/>
                  </a:ext>
                </a:extLst>
              </p:cNvPr>
              <p:cNvSpPr txBox="1"/>
              <p:nvPr/>
            </p:nvSpPr>
            <p:spPr>
              <a:xfrm rot="16200000">
                <a:off x="5764736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Aug-24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1005F210-2EED-4580-AE88-0D4263614B97}"/>
              </a:ext>
            </a:extLst>
          </p:cNvPr>
          <p:cNvSpPr txBox="1"/>
          <p:nvPr/>
        </p:nvSpPr>
        <p:spPr>
          <a:xfrm>
            <a:off x="384048" y="1271016"/>
            <a:ext cx="2465929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Composite output PMI </a:t>
            </a:r>
            <a:r>
              <a:rPr lang="en-US" sz="900" b="1" baseline="30000" dirty="0">
                <a:latin typeface="+mj-lt"/>
              </a:rPr>
              <a:t>1</a:t>
            </a:r>
            <a:r>
              <a:rPr lang="en-US" sz="900" b="1" dirty="0">
                <a:latin typeface="+mj-lt"/>
              </a:rPr>
              <a:t> (diffusion index)</a:t>
            </a:r>
            <a:endParaRPr lang="ru-RU" sz="900" b="1" dirty="0" err="1">
              <a:latin typeface="+mj-lt"/>
            </a:endParaRPr>
          </a:p>
        </p:txBody>
      </p:sp>
      <p:sp>
        <p:nvSpPr>
          <p:cNvPr id="76" name="Rectangle 75">
            <a:hlinkClick r:id="rId4"/>
            <a:extLst>
              <a:ext uri="{FF2B5EF4-FFF2-40B4-BE49-F238E27FC236}">
                <a16:creationId xmlns:a16="http://schemas.microsoft.com/office/drawing/2014/main" id="{F271F827-37D6-4243-A293-E563305D9701}"/>
              </a:ext>
            </a:extLst>
          </p:cNvPr>
          <p:cNvSpPr/>
          <p:nvPr/>
        </p:nvSpPr>
        <p:spPr>
          <a:xfrm>
            <a:off x="400692" y="5883857"/>
            <a:ext cx="3811983" cy="17785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OECD Economic Outlook, Interim Report, September 2024</a:t>
            </a:r>
            <a:endParaRPr lang="ru-RU" sz="8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54740FD-E6AF-4D42-9B1A-9DC3ABF28651}"/>
              </a:ext>
            </a:extLst>
          </p:cNvPr>
          <p:cNvSpPr txBox="1"/>
          <p:nvPr/>
        </p:nvSpPr>
        <p:spPr>
          <a:xfrm>
            <a:off x="2242060" y="1830112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Before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439B8FC-C9C1-437F-BE17-E11F2961AE34}"/>
              </a:ext>
            </a:extLst>
          </p:cNvPr>
          <p:cNvSpPr txBox="1"/>
          <p:nvPr/>
        </p:nvSpPr>
        <p:spPr>
          <a:xfrm>
            <a:off x="7177767" y="1830112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After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4" name="Arrow: Chevron 83">
            <a:extLst>
              <a:ext uri="{FF2B5EF4-FFF2-40B4-BE49-F238E27FC236}">
                <a16:creationId xmlns:a16="http://schemas.microsoft.com/office/drawing/2014/main" id="{8B7FEB8E-06FB-4DDB-83D0-06B5AA059DE7}"/>
              </a:ext>
            </a:extLst>
          </p:cNvPr>
          <p:cNvSpPr/>
          <p:nvPr/>
        </p:nvSpPr>
        <p:spPr bwMode="gray">
          <a:xfrm>
            <a:off x="4705221" y="3428686"/>
            <a:ext cx="203420" cy="377356"/>
          </a:xfrm>
          <a:prstGeom prst="chevron">
            <a:avLst>
              <a:gd name="adj" fmla="val 62222"/>
            </a:avLst>
          </a:prstGeom>
          <a:solidFill>
            <a:schemeClr val="bg1">
              <a:lumMod val="6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7F4584E-BFAB-4D11-9973-4099EF460196}"/>
              </a:ext>
            </a:extLst>
          </p:cNvPr>
          <p:cNvCxnSpPr/>
          <p:nvPr/>
        </p:nvCxnSpPr>
        <p:spPr>
          <a:xfrm flipV="1">
            <a:off x="4796056" y="2209800"/>
            <a:ext cx="0" cy="10972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B365CA-9FDA-4A27-A5CD-F0C84F28CD5B}"/>
              </a:ext>
            </a:extLst>
          </p:cNvPr>
          <p:cNvCxnSpPr/>
          <p:nvPr/>
        </p:nvCxnSpPr>
        <p:spPr>
          <a:xfrm flipV="1">
            <a:off x="4796056" y="3927649"/>
            <a:ext cx="0" cy="10972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9CB862B-1ADE-4FC3-8371-70E0657BC07D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DE64720-6C0F-454B-AEB5-15E9441BF243}"/>
              </a:ext>
            </a:extLst>
          </p:cNvPr>
          <p:cNvSpPr/>
          <p:nvPr/>
        </p:nvSpPr>
        <p:spPr>
          <a:xfrm>
            <a:off x="400692" y="5678045"/>
            <a:ext cx="3811983" cy="17785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aseline="30000" dirty="0"/>
              <a:t>1 </a:t>
            </a:r>
            <a:r>
              <a:rPr lang="en-US" sz="800" dirty="0"/>
              <a:t>Purchasing managers' indexes 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4207570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16DC2CE-F87B-4CBB-8FBD-962E54DA8B21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22DBB00B-B5A5-4FAD-BEC0-9152F86AFA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9942765"/>
              </p:ext>
            </p:extLst>
          </p:nvPr>
        </p:nvGraphicFramePr>
        <p:xfrm>
          <a:off x="380999" y="1265411"/>
          <a:ext cx="6097621" cy="4425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60DEF56-F222-4799-A811-6F9CCA84494D}"/>
              </a:ext>
            </a:extLst>
          </p:cNvPr>
          <p:cNvSpPr txBox="1"/>
          <p:nvPr/>
        </p:nvSpPr>
        <p:spPr>
          <a:xfrm>
            <a:off x="381000" y="576001"/>
            <a:ext cx="6943927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Combined stacked and clustered bar charts</a:t>
            </a:r>
            <a:r>
              <a:rPr lang="en-US" baseline="30000" dirty="0"/>
              <a:t>1</a:t>
            </a:r>
            <a:endParaRPr lang="ru-RU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6CE769B-1CB5-41AE-80A0-B02647367945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60CE40-80C8-43C3-AB9B-4A1E203072FE}"/>
              </a:ext>
            </a:extLst>
          </p:cNvPr>
          <p:cNvSpPr txBox="1"/>
          <p:nvPr/>
        </p:nvSpPr>
        <p:spPr>
          <a:xfrm>
            <a:off x="381000" y="1271016"/>
            <a:ext cx="3453272" cy="18462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Deposits in excess of loans (EOP, USD </a:t>
            </a:r>
            <a:r>
              <a:rPr lang="en-US" sz="900" b="1" dirty="0" err="1">
                <a:latin typeface="+mj-lt"/>
              </a:rPr>
              <a:t>bln</a:t>
            </a:r>
            <a:r>
              <a:rPr lang="en-US" sz="900" b="1" dirty="0">
                <a:latin typeface="+mj-lt"/>
              </a:rPr>
              <a:t>)</a:t>
            </a:r>
            <a:endParaRPr lang="ru-RU" sz="900" b="1" dirty="0">
              <a:latin typeface="+mj-lt"/>
            </a:endParaRPr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62DB2AF4-1D8C-449F-8A26-0D04BDE1E3BB}"/>
              </a:ext>
            </a:extLst>
          </p:cNvPr>
          <p:cNvSpPr/>
          <p:nvPr/>
        </p:nvSpPr>
        <p:spPr>
          <a:xfrm>
            <a:off x="381000" y="5944828"/>
            <a:ext cx="3050555" cy="26141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dirty="0"/>
              <a:t>Source: Bank of America – 2Q</a:t>
            </a:r>
            <a:r>
              <a:rPr lang="ru-RU" sz="800" dirty="0"/>
              <a:t> 20</a:t>
            </a:r>
            <a:r>
              <a:rPr lang="en-US" sz="800" dirty="0"/>
              <a:t>23 Financial Results</a:t>
            </a:r>
            <a:endParaRPr lang="ru-RU" sz="800" dirty="0"/>
          </a:p>
          <a:p>
            <a:r>
              <a:rPr lang="en-US" sz="1000" baseline="30000" dirty="0"/>
              <a:t>1 </a:t>
            </a:r>
            <a:r>
              <a:rPr lang="en-US" sz="800" dirty="0"/>
              <a:t>Single chart, without overlapping of two separate charts</a:t>
            </a:r>
            <a:endParaRPr lang="ru-RU" sz="8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3DEB378-057F-4990-9B36-0ACA249FE2C8}"/>
              </a:ext>
            </a:extLst>
          </p:cNvPr>
          <p:cNvGrpSpPr/>
          <p:nvPr/>
        </p:nvGrpSpPr>
        <p:grpSpPr>
          <a:xfrm>
            <a:off x="894943" y="4896259"/>
            <a:ext cx="4907604" cy="230832"/>
            <a:chOff x="894943" y="4896259"/>
            <a:chExt cx="4907604" cy="2308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56B8F1-996D-4AEC-A617-6E45FFC814F8}"/>
                </a:ext>
              </a:extLst>
            </p:cNvPr>
            <p:cNvSpPr/>
            <p:nvPr/>
          </p:nvSpPr>
          <p:spPr>
            <a:xfrm>
              <a:off x="894943" y="4896259"/>
              <a:ext cx="58366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de-DE" sz="900" dirty="0"/>
                <a:t>2Q20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0E23190-766C-483A-9DE1-6CABFE90E6E6}"/>
                </a:ext>
              </a:extLst>
            </p:cNvPr>
            <p:cNvSpPr/>
            <p:nvPr/>
          </p:nvSpPr>
          <p:spPr>
            <a:xfrm>
              <a:off x="3764834" y="4896259"/>
              <a:ext cx="58366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de-DE" sz="900" dirty="0"/>
                <a:t>2Q21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88F76E5-D65F-418D-8011-4470FBB92DB3}"/>
                </a:ext>
              </a:extLst>
            </p:cNvPr>
            <p:cNvSpPr/>
            <p:nvPr/>
          </p:nvSpPr>
          <p:spPr>
            <a:xfrm>
              <a:off x="2339732" y="4896259"/>
              <a:ext cx="58366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de-DE" sz="900" dirty="0"/>
                <a:t>2Q22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930FEB6-9125-40E8-BB01-61066A77450F}"/>
                </a:ext>
              </a:extLst>
            </p:cNvPr>
            <p:cNvSpPr/>
            <p:nvPr/>
          </p:nvSpPr>
          <p:spPr>
            <a:xfrm>
              <a:off x="5218887" y="4896259"/>
              <a:ext cx="58366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de-DE" sz="900" dirty="0"/>
                <a:t>2Q23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509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9AFE3625-123D-469B-AC25-47FFF7242FF3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7E1841-C379-4CC2-AC17-1AF4215A9DCC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 err="1"/>
              <a:t>Mekko</a:t>
            </a:r>
            <a:r>
              <a:rPr lang="en-US" dirty="0"/>
              <a:t> </a:t>
            </a:r>
            <a:endParaRPr lang="ru-RU" dirty="0" err="1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61883A-3C15-4C65-A000-68E609D7A17A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FE4791-337E-4213-94A8-D417A6E58E17}"/>
              </a:ext>
            </a:extLst>
          </p:cNvPr>
          <p:cNvSpPr txBox="1"/>
          <p:nvPr/>
        </p:nvSpPr>
        <p:spPr>
          <a:xfrm>
            <a:off x="384048" y="1271016"/>
            <a:ext cx="4005081" cy="16297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Danone 9M 2024 sales </a:t>
            </a:r>
            <a:r>
              <a:rPr lang="en-US" sz="900" b="1" dirty="0" err="1">
                <a:latin typeface="+mj-lt"/>
              </a:rPr>
              <a:t>ву</a:t>
            </a:r>
            <a:r>
              <a:rPr lang="en-US" sz="900" b="1" dirty="0">
                <a:latin typeface="+mj-lt"/>
              </a:rPr>
              <a:t> category and geography</a:t>
            </a:r>
            <a:endParaRPr lang="ru-RU" sz="900" b="1" dirty="0">
              <a:latin typeface="+mj-lt"/>
            </a:endParaRPr>
          </a:p>
        </p:txBody>
      </p:sp>
      <p:sp>
        <p:nvSpPr>
          <p:cNvPr id="32" name="Rectangle 31">
            <a:hlinkClick r:id="rId2"/>
            <a:extLst>
              <a:ext uri="{FF2B5EF4-FFF2-40B4-BE49-F238E27FC236}">
                <a16:creationId xmlns:a16="http://schemas.microsoft.com/office/drawing/2014/main" id="{47E1007B-6A52-4F38-91D0-D0B1933A62B8}"/>
              </a:ext>
            </a:extLst>
          </p:cNvPr>
          <p:cNvSpPr/>
          <p:nvPr/>
        </p:nvSpPr>
        <p:spPr>
          <a:xfrm>
            <a:off x="381000" y="5976644"/>
            <a:ext cx="1945128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dirty="0"/>
              <a:t>Source: Danone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A6B11A8-8E79-462E-B6E7-0CE2672A71D6}"/>
              </a:ext>
            </a:extLst>
          </p:cNvPr>
          <p:cNvSpPr/>
          <p:nvPr/>
        </p:nvSpPr>
        <p:spPr bwMode="gray">
          <a:xfrm>
            <a:off x="302606" y="1968485"/>
            <a:ext cx="6036116" cy="3287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2C8406F-2999-482E-ABFA-B7C555CC61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1009105"/>
              </p:ext>
            </p:extLst>
          </p:nvPr>
        </p:nvGraphicFramePr>
        <p:xfrm>
          <a:off x="246379" y="1912457"/>
          <a:ext cx="6153250" cy="34052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88C235CB-CF4F-418C-A92A-4778DBC49128}"/>
              </a:ext>
            </a:extLst>
          </p:cNvPr>
          <p:cNvSpPr/>
          <p:nvPr/>
        </p:nvSpPr>
        <p:spPr>
          <a:xfrm>
            <a:off x="6476283" y="4840812"/>
            <a:ext cx="1031958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solidFill>
                  <a:srgbClr val="0076A8"/>
                </a:solidFill>
                <a:latin typeface="+mj-lt"/>
              </a:rPr>
              <a:t>Dairy and plant-based products</a:t>
            </a:r>
            <a:endParaRPr lang="ru-RU" sz="900" b="1" dirty="0">
              <a:solidFill>
                <a:srgbClr val="0076A8"/>
              </a:solidFill>
              <a:latin typeface="+mj-lt"/>
            </a:endParaRPr>
          </a:p>
          <a:p>
            <a:r>
              <a:rPr lang="ru-RU" sz="900" b="1" dirty="0">
                <a:solidFill>
                  <a:srgbClr val="0076A8"/>
                </a:solidFill>
                <a:latin typeface="+mj-lt"/>
              </a:rPr>
              <a:t>(</a:t>
            </a:r>
            <a:r>
              <a:rPr lang="en-US" sz="900" b="1" dirty="0">
                <a:solidFill>
                  <a:srgbClr val="0076A8"/>
                </a:solidFill>
                <a:latin typeface="+mj-lt"/>
              </a:rPr>
              <a:t>EDP</a:t>
            </a:r>
            <a:r>
              <a:rPr lang="ru-RU" sz="900" b="1" dirty="0">
                <a:solidFill>
                  <a:srgbClr val="0076A8"/>
                </a:solidFill>
                <a:latin typeface="+mj-lt"/>
              </a:rPr>
              <a:t>)</a:t>
            </a:r>
            <a:r>
              <a:rPr lang="en-US" sz="900" b="1" dirty="0">
                <a:solidFill>
                  <a:srgbClr val="0076A8"/>
                </a:solidFill>
                <a:latin typeface="+mj-lt"/>
              </a:rPr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AB4062-FC87-454C-84FF-C51712FDC9CC}"/>
              </a:ext>
            </a:extLst>
          </p:cNvPr>
          <p:cNvSpPr/>
          <p:nvPr/>
        </p:nvSpPr>
        <p:spPr>
          <a:xfrm>
            <a:off x="6476282" y="3666072"/>
            <a:ext cx="78405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solidFill>
                  <a:srgbClr val="008BBC"/>
                </a:solidFill>
                <a:latin typeface="+mj-lt"/>
              </a:rPr>
              <a:t>Specialized nutrition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C2BB8E-5E33-4138-8D86-65DD554562CA}"/>
              </a:ext>
            </a:extLst>
          </p:cNvPr>
          <p:cNvSpPr/>
          <p:nvPr/>
        </p:nvSpPr>
        <p:spPr>
          <a:xfrm>
            <a:off x="6476282" y="2350814"/>
            <a:ext cx="485699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solidFill>
                  <a:srgbClr val="71CCFF"/>
                </a:solidFill>
                <a:latin typeface="+mj-lt"/>
              </a:rPr>
              <a:t>Waters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96D305-A22D-4EA5-8821-EE51BB9A7FCC}"/>
              </a:ext>
            </a:extLst>
          </p:cNvPr>
          <p:cNvSpPr/>
          <p:nvPr/>
        </p:nvSpPr>
        <p:spPr>
          <a:xfrm>
            <a:off x="1168737" y="5317743"/>
            <a:ext cx="453860" cy="1097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900" dirty="0"/>
              <a:t>Europe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C77060-02E6-464C-95CA-E021E5CDEBF9}"/>
              </a:ext>
            </a:extLst>
          </p:cNvPr>
          <p:cNvSpPr/>
          <p:nvPr/>
        </p:nvSpPr>
        <p:spPr>
          <a:xfrm>
            <a:off x="2626947" y="5317743"/>
            <a:ext cx="1225976" cy="1097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900" dirty="0"/>
              <a:t>AMEA, CIS, </a:t>
            </a:r>
            <a:r>
              <a:rPr lang="de-DE" sz="900" dirty="0" err="1"/>
              <a:t>Latin</a:t>
            </a:r>
            <a:r>
              <a:rPr lang="de-DE" sz="900" dirty="0"/>
              <a:t> America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A3B79F-08FA-46C7-9761-92CEB05530EC}"/>
              </a:ext>
            </a:extLst>
          </p:cNvPr>
          <p:cNvSpPr/>
          <p:nvPr/>
        </p:nvSpPr>
        <p:spPr>
          <a:xfrm>
            <a:off x="4349285" y="5317743"/>
            <a:ext cx="775977" cy="1097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900" dirty="0"/>
              <a:t>North America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C1C79A7-8785-42B7-B04A-36CE1C2CFED0}"/>
              </a:ext>
            </a:extLst>
          </p:cNvPr>
          <p:cNvSpPr/>
          <p:nvPr/>
        </p:nvSpPr>
        <p:spPr>
          <a:xfrm>
            <a:off x="5429449" y="5317743"/>
            <a:ext cx="90927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900" dirty="0"/>
              <a:t>China, North</a:t>
            </a:r>
            <a:br>
              <a:rPr lang="de-DE" sz="900" dirty="0"/>
            </a:br>
            <a:r>
              <a:rPr lang="de-DE" sz="900" dirty="0"/>
              <a:t>Asia &amp; Oceania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0360773-3AC7-4938-BDC6-000B72BB4419}"/>
              </a:ext>
            </a:extLst>
          </p:cNvPr>
          <p:cNvSpPr/>
          <p:nvPr/>
        </p:nvSpPr>
        <p:spPr>
          <a:xfrm>
            <a:off x="378342" y="1463612"/>
            <a:ext cx="622034" cy="4616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800" i="1" dirty="0"/>
              <a:t>Sales by geography, M Euro</a:t>
            </a:r>
            <a:endParaRPr lang="ru-RU" sz="800" i="1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5BA21FD-5E23-4C68-A674-043D3860A6B3}"/>
              </a:ext>
            </a:extLst>
          </p:cNvPr>
          <p:cNvGrpSpPr/>
          <p:nvPr/>
        </p:nvGrpSpPr>
        <p:grpSpPr>
          <a:xfrm>
            <a:off x="1239505" y="1750053"/>
            <a:ext cx="4830750" cy="138499"/>
            <a:chOff x="1669275" y="1605505"/>
            <a:chExt cx="6418686" cy="174814"/>
          </a:xfrm>
          <a:noFill/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8B97AD0-B548-4DA2-9A2A-97AB19DCFEE7}"/>
                </a:ext>
              </a:extLst>
            </p:cNvPr>
            <p:cNvSpPr/>
            <p:nvPr/>
          </p:nvSpPr>
          <p:spPr>
            <a:xfrm>
              <a:off x="1669275" y="1605505"/>
              <a:ext cx="433132" cy="174814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ru-RU" sz="900" b="1" dirty="0">
                  <a:latin typeface="+mj-lt"/>
                </a:rPr>
                <a:t>7</a:t>
              </a:r>
              <a:r>
                <a:rPr lang="en-US" sz="900" b="1" dirty="0">
                  <a:latin typeface="+mj-lt"/>
                </a:rPr>
                <a:t>,</a:t>
              </a:r>
              <a:r>
                <a:rPr lang="ru-RU" sz="900" b="1" dirty="0">
                  <a:latin typeface="+mj-lt"/>
                </a:rPr>
                <a:t>210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953BA1E-EDC8-4DB3-8D62-EA7E966B2140}"/>
                </a:ext>
              </a:extLst>
            </p:cNvPr>
            <p:cNvSpPr/>
            <p:nvPr/>
          </p:nvSpPr>
          <p:spPr>
            <a:xfrm>
              <a:off x="4146826" y="1605505"/>
              <a:ext cx="421911" cy="174814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ru-RU" sz="900" b="1" dirty="0">
                  <a:latin typeface="+mj-lt"/>
                </a:rPr>
                <a:t>5</a:t>
              </a:r>
              <a:r>
                <a:rPr lang="en-US" sz="900" b="1" dirty="0">
                  <a:latin typeface="+mj-lt"/>
                </a:rPr>
                <a:t>,</a:t>
              </a:r>
              <a:r>
                <a:rPr lang="ru-RU" sz="900" b="1" dirty="0">
                  <a:latin typeface="+mj-lt"/>
                </a:rPr>
                <a:t>615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7CC903D-B031-4AC2-BEAC-69093F0EEF3D}"/>
                </a:ext>
              </a:extLst>
            </p:cNvPr>
            <p:cNvSpPr/>
            <p:nvPr/>
          </p:nvSpPr>
          <p:spPr>
            <a:xfrm>
              <a:off x="6081254" y="1605505"/>
              <a:ext cx="468398" cy="174814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ru-RU" sz="900" b="1" dirty="0">
                  <a:latin typeface="+mj-lt"/>
                </a:rPr>
                <a:t>4</a:t>
              </a:r>
              <a:r>
                <a:rPr lang="en-US" sz="900" b="1" dirty="0">
                  <a:latin typeface="+mj-lt"/>
                </a:rPr>
                <a:t>,</a:t>
              </a:r>
              <a:r>
                <a:rPr lang="ru-RU" sz="900" b="1" dirty="0">
                  <a:latin typeface="+mj-lt"/>
                </a:rPr>
                <a:t>943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E6F238B-60F6-4908-9D88-04C445BE17EF}"/>
                </a:ext>
              </a:extLst>
            </p:cNvPr>
            <p:cNvSpPr/>
            <p:nvPr/>
          </p:nvSpPr>
          <p:spPr>
            <a:xfrm>
              <a:off x="7614755" y="1605505"/>
              <a:ext cx="473206" cy="174814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ru-RU" sz="900" b="1" dirty="0">
                  <a:latin typeface="+mj-lt"/>
                </a:rPr>
                <a:t>2</a:t>
              </a:r>
              <a:r>
                <a:rPr lang="en-US" sz="900" b="1" dirty="0">
                  <a:latin typeface="+mj-lt"/>
                </a:rPr>
                <a:t>,</a:t>
              </a:r>
              <a:r>
                <a:rPr lang="ru-RU" sz="900" b="1" dirty="0">
                  <a:latin typeface="+mj-lt"/>
                </a:rPr>
                <a:t>808</a:t>
              </a:r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6278E26D-0FE3-444F-98BD-38DD07D8F0E8}"/>
              </a:ext>
            </a:extLst>
          </p:cNvPr>
          <p:cNvSpPr/>
          <p:nvPr/>
        </p:nvSpPr>
        <p:spPr>
          <a:xfrm>
            <a:off x="6466545" y="1650454"/>
            <a:ext cx="738927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800" i="1" dirty="0"/>
              <a:t>Category</a:t>
            </a:r>
            <a:endParaRPr lang="ru-RU" sz="800" i="1" dirty="0"/>
          </a:p>
        </p:txBody>
      </p:sp>
      <p:sp>
        <p:nvSpPr>
          <p:cNvPr id="41" name="Freeform 9">
            <a:extLst>
              <a:ext uri="{FF2B5EF4-FFF2-40B4-BE49-F238E27FC236}">
                <a16:creationId xmlns:a16="http://schemas.microsoft.com/office/drawing/2014/main" id="{C2531426-77B4-4C4D-AD26-28BE21E084E7}"/>
              </a:ext>
            </a:extLst>
          </p:cNvPr>
          <p:cNvSpPr>
            <a:spLocks noEditPoints="1"/>
          </p:cNvSpPr>
          <p:nvPr/>
        </p:nvSpPr>
        <p:spPr bwMode="auto">
          <a:xfrm>
            <a:off x="456100" y="3414513"/>
            <a:ext cx="271554" cy="251559"/>
          </a:xfrm>
          <a:custGeom>
            <a:avLst/>
            <a:gdLst>
              <a:gd name="T0" fmla="*/ 91 w 127"/>
              <a:gd name="T1" fmla="*/ 0 h 111"/>
              <a:gd name="T2" fmla="*/ 127 w 127"/>
              <a:gd name="T3" fmla="*/ 37 h 111"/>
              <a:gd name="T4" fmla="*/ 68 w 127"/>
              <a:gd name="T5" fmla="*/ 109 h 111"/>
              <a:gd name="T6" fmla="*/ 63 w 127"/>
              <a:gd name="T7" fmla="*/ 111 h 111"/>
              <a:gd name="T8" fmla="*/ 58 w 127"/>
              <a:gd name="T9" fmla="*/ 109 h 111"/>
              <a:gd name="T10" fmla="*/ 0 w 127"/>
              <a:gd name="T11" fmla="*/ 37 h 111"/>
              <a:gd name="T12" fmla="*/ 36 w 127"/>
              <a:gd name="T13" fmla="*/ 0 h 111"/>
              <a:gd name="T14" fmla="*/ 63 w 127"/>
              <a:gd name="T15" fmla="*/ 17 h 111"/>
              <a:gd name="T16" fmla="*/ 91 w 127"/>
              <a:gd name="T17" fmla="*/ 0 h 111"/>
              <a:gd name="T18" fmla="*/ 91 w 127"/>
              <a:gd name="T19" fmla="*/ 8 h 111"/>
              <a:gd name="T20" fmla="*/ 70 w 127"/>
              <a:gd name="T21" fmla="*/ 21 h 111"/>
              <a:gd name="T22" fmla="*/ 63 w 127"/>
              <a:gd name="T23" fmla="*/ 32 h 111"/>
              <a:gd name="T24" fmla="*/ 57 w 127"/>
              <a:gd name="T25" fmla="*/ 21 h 111"/>
              <a:gd name="T26" fmla="*/ 36 w 127"/>
              <a:gd name="T27" fmla="*/ 8 h 111"/>
              <a:gd name="T28" fmla="*/ 8 w 127"/>
              <a:gd name="T29" fmla="*/ 37 h 111"/>
              <a:gd name="T30" fmla="*/ 63 w 127"/>
              <a:gd name="T31" fmla="*/ 102 h 111"/>
              <a:gd name="T32" fmla="*/ 63 w 127"/>
              <a:gd name="T33" fmla="*/ 103 h 111"/>
              <a:gd name="T34" fmla="*/ 63 w 127"/>
              <a:gd name="T35" fmla="*/ 103 h 111"/>
              <a:gd name="T36" fmla="*/ 64 w 127"/>
              <a:gd name="T37" fmla="*/ 102 h 111"/>
              <a:gd name="T38" fmla="*/ 64 w 127"/>
              <a:gd name="T39" fmla="*/ 102 h 111"/>
              <a:gd name="T40" fmla="*/ 119 w 127"/>
              <a:gd name="T41" fmla="*/ 37 h 111"/>
              <a:gd name="T42" fmla="*/ 91 w 127"/>
              <a:gd name="T43" fmla="*/ 8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7" h="111">
                <a:moveTo>
                  <a:pt x="91" y="0"/>
                </a:moveTo>
                <a:cubicBezTo>
                  <a:pt x="111" y="0"/>
                  <a:pt x="127" y="15"/>
                  <a:pt x="127" y="37"/>
                </a:cubicBezTo>
                <a:cubicBezTo>
                  <a:pt x="127" y="62"/>
                  <a:pt x="104" y="87"/>
                  <a:pt x="68" y="109"/>
                </a:cubicBezTo>
                <a:cubicBezTo>
                  <a:pt x="67" y="110"/>
                  <a:pt x="65" y="111"/>
                  <a:pt x="63" y="111"/>
                </a:cubicBezTo>
                <a:cubicBezTo>
                  <a:pt x="62" y="111"/>
                  <a:pt x="60" y="110"/>
                  <a:pt x="58" y="109"/>
                </a:cubicBezTo>
                <a:cubicBezTo>
                  <a:pt x="22" y="87"/>
                  <a:pt x="0" y="62"/>
                  <a:pt x="0" y="37"/>
                </a:cubicBezTo>
                <a:cubicBezTo>
                  <a:pt x="0" y="15"/>
                  <a:pt x="16" y="0"/>
                  <a:pt x="36" y="0"/>
                </a:cubicBezTo>
                <a:cubicBezTo>
                  <a:pt x="48" y="0"/>
                  <a:pt x="58" y="7"/>
                  <a:pt x="63" y="17"/>
                </a:cubicBezTo>
                <a:cubicBezTo>
                  <a:pt x="69" y="7"/>
                  <a:pt x="78" y="0"/>
                  <a:pt x="91" y="0"/>
                </a:cubicBezTo>
                <a:moveTo>
                  <a:pt x="91" y="8"/>
                </a:moveTo>
                <a:cubicBezTo>
                  <a:pt x="82" y="8"/>
                  <a:pt x="75" y="12"/>
                  <a:pt x="70" y="21"/>
                </a:cubicBezTo>
                <a:cubicBezTo>
                  <a:pt x="63" y="32"/>
                  <a:pt x="63" y="32"/>
                  <a:pt x="63" y="32"/>
                </a:cubicBezTo>
                <a:cubicBezTo>
                  <a:pt x="57" y="21"/>
                  <a:pt x="57" y="21"/>
                  <a:pt x="57" y="21"/>
                </a:cubicBezTo>
                <a:cubicBezTo>
                  <a:pt x="52" y="12"/>
                  <a:pt x="45" y="8"/>
                  <a:pt x="36" y="8"/>
                </a:cubicBezTo>
                <a:cubicBezTo>
                  <a:pt x="20" y="8"/>
                  <a:pt x="8" y="20"/>
                  <a:pt x="8" y="37"/>
                </a:cubicBezTo>
                <a:cubicBezTo>
                  <a:pt x="8" y="58"/>
                  <a:pt x="27" y="81"/>
                  <a:pt x="63" y="102"/>
                </a:cubicBezTo>
                <a:cubicBezTo>
                  <a:pt x="63" y="103"/>
                  <a:pt x="63" y="103"/>
                  <a:pt x="63" y="103"/>
                </a:cubicBezTo>
                <a:cubicBezTo>
                  <a:pt x="63" y="103"/>
                  <a:pt x="63" y="103"/>
                  <a:pt x="63" y="103"/>
                </a:cubicBezTo>
                <a:cubicBezTo>
                  <a:pt x="64" y="102"/>
                  <a:pt x="64" y="102"/>
                  <a:pt x="64" y="102"/>
                </a:cubicBezTo>
                <a:cubicBezTo>
                  <a:pt x="64" y="102"/>
                  <a:pt x="64" y="102"/>
                  <a:pt x="64" y="102"/>
                </a:cubicBezTo>
                <a:cubicBezTo>
                  <a:pt x="100" y="81"/>
                  <a:pt x="119" y="58"/>
                  <a:pt x="119" y="37"/>
                </a:cubicBezTo>
                <a:cubicBezTo>
                  <a:pt x="119" y="20"/>
                  <a:pt x="107" y="8"/>
                  <a:pt x="91" y="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0" name="Freeform 21">
            <a:extLst>
              <a:ext uri="{FF2B5EF4-FFF2-40B4-BE49-F238E27FC236}">
                <a16:creationId xmlns:a16="http://schemas.microsoft.com/office/drawing/2014/main" id="{001B0136-01A2-4C50-A811-006DC1823B34}"/>
              </a:ext>
            </a:extLst>
          </p:cNvPr>
          <p:cNvSpPr>
            <a:spLocks noEditPoints="1"/>
          </p:cNvSpPr>
          <p:nvPr/>
        </p:nvSpPr>
        <p:spPr bwMode="auto">
          <a:xfrm>
            <a:off x="443587" y="4748761"/>
            <a:ext cx="358023" cy="337468"/>
          </a:xfrm>
          <a:custGeom>
            <a:avLst/>
            <a:gdLst>
              <a:gd name="T0" fmla="*/ 275 w 752"/>
              <a:gd name="T1" fmla="*/ 575 h 675"/>
              <a:gd name="T2" fmla="*/ 200 w 752"/>
              <a:gd name="T3" fmla="*/ 550 h 675"/>
              <a:gd name="T4" fmla="*/ 275 w 752"/>
              <a:gd name="T5" fmla="*/ 525 h 675"/>
              <a:gd name="T6" fmla="*/ 525 w 752"/>
              <a:gd name="T7" fmla="*/ 525 h 675"/>
              <a:gd name="T8" fmla="*/ 450 w 752"/>
              <a:gd name="T9" fmla="*/ 550 h 675"/>
              <a:gd name="T10" fmla="*/ 525 w 752"/>
              <a:gd name="T11" fmla="*/ 575 h 675"/>
              <a:gd name="T12" fmla="*/ 525 w 752"/>
              <a:gd name="T13" fmla="*/ 525 h 675"/>
              <a:gd name="T14" fmla="*/ 325 w 752"/>
              <a:gd name="T15" fmla="*/ 338 h 675"/>
              <a:gd name="T16" fmla="*/ 250 w 752"/>
              <a:gd name="T17" fmla="*/ 338 h 675"/>
              <a:gd name="T18" fmla="*/ 463 w 752"/>
              <a:gd name="T19" fmla="*/ 375 h 675"/>
              <a:gd name="T20" fmla="*/ 463 w 752"/>
              <a:gd name="T21" fmla="*/ 300 h 675"/>
              <a:gd name="T22" fmla="*/ 463 w 752"/>
              <a:gd name="T23" fmla="*/ 375 h 675"/>
              <a:gd name="T24" fmla="*/ 700 w 752"/>
              <a:gd name="T25" fmla="*/ 350 h 675"/>
              <a:gd name="T26" fmla="*/ 600 w 752"/>
              <a:gd name="T27" fmla="*/ 450 h 675"/>
              <a:gd name="T28" fmla="*/ 525 w 752"/>
              <a:gd name="T29" fmla="*/ 675 h 675"/>
              <a:gd name="T30" fmla="*/ 100 w 752"/>
              <a:gd name="T31" fmla="*/ 550 h 675"/>
              <a:gd name="T32" fmla="*/ 150 w 752"/>
              <a:gd name="T33" fmla="*/ 350 h 675"/>
              <a:gd name="T34" fmla="*/ 0 w 752"/>
              <a:gd name="T35" fmla="*/ 300 h 675"/>
              <a:gd name="T36" fmla="*/ 173 w 752"/>
              <a:gd name="T37" fmla="*/ 150 h 675"/>
              <a:gd name="T38" fmla="*/ 125 w 752"/>
              <a:gd name="T39" fmla="*/ 25 h 675"/>
              <a:gd name="T40" fmla="*/ 175 w 752"/>
              <a:gd name="T41" fmla="*/ 25 h 675"/>
              <a:gd name="T42" fmla="*/ 450 w 752"/>
              <a:gd name="T43" fmla="*/ 150 h 675"/>
              <a:gd name="T44" fmla="*/ 600 w 752"/>
              <a:gd name="T45" fmla="*/ 0 h 675"/>
              <a:gd name="T46" fmla="*/ 572 w 752"/>
              <a:gd name="T47" fmla="*/ 150 h 675"/>
              <a:gd name="T48" fmla="*/ 749 w 752"/>
              <a:gd name="T49" fmla="*/ 291 h 675"/>
              <a:gd name="T50" fmla="*/ 200 w 752"/>
              <a:gd name="T51" fmla="*/ 428 h 675"/>
              <a:gd name="T52" fmla="*/ 525 w 752"/>
              <a:gd name="T53" fmla="*/ 425 h 675"/>
              <a:gd name="T54" fmla="*/ 550 w 752"/>
              <a:gd name="T55" fmla="*/ 275 h 675"/>
              <a:gd name="T56" fmla="*/ 275 w 752"/>
              <a:gd name="T57" fmla="*/ 200 h 675"/>
              <a:gd name="T58" fmla="*/ 200 w 752"/>
              <a:gd name="T59" fmla="*/ 428 h 675"/>
              <a:gd name="T60" fmla="*/ 150 w 752"/>
              <a:gd name="T61" fmla="*/ 275 h 675"/>
              <a:gd name="T62" fmla="*/ 173 w 752"/>
              <a:gd name="T63" fmla="*/ 200 h 675"/>
              <a:gd name="T64" fmla="*/ 150 w 752"/>
              <a:gd name="T65" fmla="*/ 300 h 675"/>
              <a:gd name="T66" fmla="*/ 525 w 752"/>
              <a:gd name="T67" fmla="*/ 475 h 675"/>
              <a:gd name="T68" fmla="*/ 150 w 752"/>
              <a:gd name="T69" fmla="*/ 550 h 675"/>
              <a:gd name="T70" fmla="*/ 525 w 752"/>
              <a:gd name="T71" fmla="*/ 625 h 675"/>
              <a:gd name="T72" fmla="*/ 700 w 752"/>
              <a:gd name="T73" fmla="*/ 300 h 675"/>
              <a:gd name="T74" fmla="*/ 575 w 752"/>
              <a:gd name="T75" fmla="*/ 200 h 675"/>
              <a:gd name="T76" fmla="*/ 600 w 752"/>
              <a:gd name="T77" fmla="*/ 300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752" h="675">
                <a:moveTo>
                  <a:pt x="300" y="550"/>
                </a:moveTo>
                <a:cubicBezTo>
                  <a:pt x="300" y="564"/>
                  <a:pt x="289" y="575"/>
                  <a:pt x="275" y="575"/>
                </a:cubicBezTo>
                <a:cubicBezTo>
                  <a:pt x="225" y="575"/>
                  <a:pt x="225" y="575"/>
                  <a:pt x="225" y="575"/>
                </a:cubicBezTo>
                <a:cubicBezTo>
                  <a:pt x="211" y="575"/>
                  <a:pt x="200" y="564"/>
                  <a:pt x="200" y="550"/>
                </a:cubicBezTo>
                <a:cubicBezTo>
                  <a:pt x="200" y="537"/>
                  <a:pt x="211" y="525"/>
                  <a:pt x="225" y="525"/>
                </a:cubicBezTo>
                <a:cubicBezTo>
                  <a:pt x="275" y="525"/>
                  <a:pt x="275" y="525"/>
                  <a:pt x="275" y="525"/>
                </a:cubicBezTo>
                <a:cubicBezTo>
                  <a:pt x="289" y="525"/>
                  <a:pt x="300" y="537"/>
                  <a:pt x="300" y="550"/>
                </a:cubicBezTo>
                <a:moveTo>
                  <a:pt x="525" y="525"/>
                </a:moveTo>
                <a:cubicBezTo>
                  <a:pt x="475" y="525"/>
                  <a:pt x="475" y="525"/>
                  <a:pt x="475" y="525"/>
                </a:cubicBezTo>
                <a:cubicBezTo>
                  <a:pt x="461" y="525"/>
                  <a:pt x="450" y="537"/>
                  <a:pt x="450" y="550"/>
                </a:cubicBezTo>
                <a:cubicBezTo>
                  <a:pt x="450" y="564"/>
                  <a:pt x="461" y="575"/>
                  <a:pt x="475" y="575"/>
                </a:cubicBezTo>
                <a:cubicBezTo>
                  <a:pt x="525" y="575"/>
                  <a:pt x="525" y="575"/>
                  <a:pt x="525" y="575"/>
                </a:cubicBezTo>
                <a:cubicBezTo>
                  <a:pt x="539" y="575"/>
                  <a:pt x="550" y="564"/>
                  <a:pt x="550" y="550"/>
                </a:cubicBezTo>
                <a:cubicBezTo>
                  <a:pt x="550" y="537"/>
                  <a:pt x="539" y="525"/>
                  <a:pt x="525" y="525"/>
                </a:cubicBezTo>
                <a:moveTo>
                  <a:pt x="288" y="375"/>
                </a:moveTo>
                <a:cubicBezTo>
                  <a:pt x="308" y="375"/>
                  <a:pt x="325" y="359"/>
                  <a:pt x="325" y="338"/>
                </a:cubicBezTo>
                <a:cubicBezTo>
                  <a:pt x="325" y="317"/>
                  <a:pt x="308" y="300"/>
                  <a:pt x="288" y="300"/>
                </a:cubicBezTo>
                <a:cubicBezTo>
                  <a:pt x="267" y="300"/>
                  <a:pt x="250" y="317"/>
                  <a:pt x="250" y="338"/>
                </a:cubicBezTo>
                <a:cubicBezTo>
                  <a:pt x="250" y="359"/>
                  <a:pt x="267" y="375"/>
                  <a:pt x="288" y="375"/>
                </a:cubicBezTo>
                <a:moveTo>
                  <a:pt x="463" y="375"/>
                </a:moveTo>
                <a:cubicBezTo>
                  <a:pt x="483" y="375"/>
                  <a:pt x="500" y="359"/>
                  <a:pt x="500" y="338"/>
                </a:cubicBezTo>
                <a:cubicBezTo>
                  <a:pt x="500" y="317"/>
                  <a:pt x="483" y="300"/>
                  <a:pt x="463" y="300"/>
                </a:cubicBezTo>
                <a:cubicBezTo>
                  <a:pt x="442" y="300"/>
                  <a:pt x="425" y="317"/>
                  <a:pt x="425" y="338"/>
                </a:cubicBezTo>
                <a:cubicBezTo>
                  <a:pt x="425" y="359"/>
                  <a:pt x="442" y="375"/>
                  <a:pt x="463" y="375"/>
                </a:cubicBezTo>
                <a:moveTo>
                  <a:pt x="739" y="332"/>
                </a:moveTo>
                <a:cubicBezTo>
                  <a:pt x="729" y="344"/>
                  <a:pt x="715" y="350"/>
                  <a:pt x="700" y="350"/>
                </a:cubicBezTo>
                <a:cubicBezTo>
                  <a:pt x="600" y="350"/>
                  <a:pt x="600" y="350"/>
                  <a:pt x="600" y="350"/>
                </a:cubicBezTo>
                <a:cubicBezTo>
                  <a:pt x="600" y="450"/>
                  <a:pt x="600" y="450"/>
                  <a:pt x="600" y="450"/>
                </a:cubicBezTo>
                <a:cubicBezTo>
                  <a:pt x="655" y="492"/>
                  <a:pt x="666" y="570"/>
                  <a:pt x="625" y="625"/>
                </a:cubicBezTo>
                <a:cubicBezTo>
                  <a:pt x="601" y="657"/>
                  <a:pt x="564" y="675"/>
                  <a:pt x="525" y="675"/>
                </a:cubicBezTo>
                <a:cubicBezTo>
                  <a:pt x="225" y="675"/>
                  <a:pt x="225" y="675"/>
                  <a:pt x="225" y="675"/>
                </a:cubicBezTo>
                <a:cubicBezTo>
                  <a:pt x="156" y="675"/>
                  <a:pt x="100" y="619"/>
                  <a:pt x="100" y="550"/>
                </a:cubicBezTo>
                <a:cubicBezTo>
                  <a:pt x="100" y="511"/>
                  <a:pt x="119" y="474"/>
                  <a:pt x="150" y="450"/>
                </a:cubicBezTo>
                <a:cubicBezTo>
                  <a:pt x="150" y="350"/>
                  <a:pt x="150" y="350"/>
                  <a:pt x="150" y="350"/>
                </a:cubicBezTo>
                <a:cubicBezTo>
                  <a:pt x="50" y="350"/>
                  <a:pt x="50" y="350"/>
                  <a:pt x="50" y="350"/>
                </a:cubicBezTo>
                <a:cubicBezTo>
                  <a:pt x="22" y="350"/>
                  <a:pt x="0" y="328"/>
                  <a:pt x="0" y="300"/>
                </a:cubicBezTo>
                <a:cubicBezTo>
                  <a:pt x="0" y="297"/>
                  <a:pt x="0" y="294"/>
                  <a:pt x="1" y="291"/>
                </a:cubicBezTo>
                <a:cubicBezTo>
                  <a:pt x="18" y="209"/>
                  <a:pt x="89" y="151"/>
                  <a:pt x="173" y="150"/>
                </a:cubicBezTo>
                <a:cubicBezTo>
                  <a:pt x="178" y="150"/>
                  <a:pt x="178" y="150"/>
                  <a:pt x="178" y="150"/>
                </a:cubicBezTo>
                <a:cubicBezTo>
                  <a:pt x="144" y="118"/>
                  <a:pt x="125" y="73"/>
                  <a:pt x="125" y="25"/>
                </a:cubicBezTo>
                <a:cubicBezTo>
                  <a:pt x="125" y="12"/>
                  <a:pt x="136" y="0"/>
                  <a:pt x="150" y="0"/>
                </a:cubicBezTo>
                <a:cubicBezTo>
                  <a:pt x="164" y="0"/>
                  <a:pt x="175" y="12"/>
                  <a:pt x="175" y="25"/>
                </a:cubicBezTo>
                <a:cubicBezTo>
                  <a:pt x="175" y="94"/>
                  <a:pt x="231" y="150"/>
                  <a:pt x="300" y="150"/>
                </a:cubicBezTo>
                <a:cubicBezTo>
                  <a:pt x="450" y="150"/>
                  <a:pt x="450" y="150"/>
                  <a:pt x="450" y="150"/>
                </a:cubicBezTo>
                <a:cubicBezTo>
                  <a:pt x="519" y="150"/>
                  <a:pt x="575" y="94"/>
                  <a:pt x="575" y="25"/>
                </a:cubicBezTo>
                <a:cubicBezTo>
                  <a:pt x="575" y="12"/>
                  <a:pt x="586" y="0"/>
                  <a:pt x="600" y="0"/>
                </a:cubicBezTo>
                <a:cubicBezTo>
                  <a:pt x="614" y="0"/>
                  <a:pt x="625" y="12"/>
                  <a:pt x="625" y="25"/>
                </a:cubicBezTo>
                <a:cubicBezTo>
                  <a:pt x="625" y="73"/>
                  <a:pt x="606" y="118"/>
                  <a:pt x="572" y="150"/>
                </a:cubicBezTo>
                <a:cubicBezTo>
                  <a:pt x="577" y="150"/>
                  <a:pt x="577" y="150"/>
                  <a:pt x="577" y="150"/>
                </a:cubicBezTo>
                <a:cubicBezTo>
                  <a:pt x="661" y="151"/>
                  <a:pt x="733" y="209"/>
                  <a:pt x="749" y="291"/>
                </a:cubicBezTo>
                <a:cubicBezTo>
                  <a:pt x="752" y="306"/>
                  <a:pt x="748" y="321"/>
                  <a:pt x="739" y="332"/>
                </a:cubicBezTo>
                <a:moveTo>
                  <a:pt x="200" y="428"/>
                </a:moveTo>
                <a:cubicBezTo>
                  <a:pt x="208" y="426"/>
                  <a:pt x="217" y="425"/>
                  <a:pt x="225" y="425"/>
                </a:cubicBezTo>
                <a:cubicBezTo>
                  <a:pt x="525" y="425"/>
                  <a:pt x="525" y="425"/>
                  <a:pt x="525" y="425"/>
                </a:cubicBezTo>
                <a:cubicBezTo>
                  <a:pt x="533" y="425"/>
                  <a:pt x="542" y="426"/>
                  <a:pt x="550" y="428"/>
                </a:cubicBezTo>
                <a:cubicBezTo>
                  <a:pt x="550" y="275"/>
                  <a:pt x="550" y="275"/>
                  <a:pt x="550" y="275"/>
                </a:cubicBezTo>
                <a:cubicBezTo>
                  <a:pt x="550" y="234"/>
                  <a:pt x="516" y="200"/>
                  <a:pt x="475" y="200"/>
                </a:cubicBezTo>
                <a:cubicBezTo>
                  <a:pt x="275" y="200"/>
                  <a:pt x="275" y="200"/>
                  <a:pt x="275" y="200"/>
                </a:cubicBezTo>
                <a:cubicBezTo>
                  <a:pt x="234" y="200"/>
                  <a:pt x="200" y="234"/>
                  <a:pt x="200" y="275"/>
                </a:cubicBezTo>
                <a:lnTo>
                  <a:pt x="200" y="428"/>
                </a:lnTo>
                <a:close/>
                <a:moveTo>
                  <a:pt x="150" y="300"/>
                </a:moveTo>
                <a:cubicBezTo>
                  <a:pt x="150" y="275"/>
                  <a:pt x="150" y="275"/>
                  <a:pt x="150" y="275"/>
                </a:cubicBezTo>
                <a:cubicBezTo>
                  <a:pt x="150" y="248"/>
                  <a:pt x="159" y="222"/>
                  <a:pt x="175" y="200"/>
                </a:cubicBezTo>
                <a:cubicBezTo>
                  <a:pt x="173" y="200"/>
                  <a:pt x="173" y="200"/>
                  <a:pt x="173" y="200"/>
                </a:cubicBezTo>
                <a:cubicBezTo>
                  <a:pt x="113" y="201"/>
                  <a:pt x="62" y="242"/>
                  <a:pt x="50" y="300"/>
                </a:cubicBezTo>
                <a:lnTo>
                  <a:pt x="150" y="300"/>
                </a:lnTo>
                <a:close/>
                <a:moveTo>
                  <a:pt x="600" y="550"/>
                </a:moveTo>
                <a:cubicBezTo>
                  <a:pt x="600" y="509"/>
                  <a:pt x="566" y="475"/>
                  <a:pt x="525" y="475"/>
                </a:cubicBezTo>
                <a:cubicBezTo>
                  <a:pt x="225" y="475"/>
                  <a:pt x="225" y="475"/>
                  <a:pt x="225" y="475"/>
                </a:cubicBezTo>
                <a:cubicBezTo>
                  <a:pt x="184" y="475"/>
                  <a:pt x="150" y="509"/>
                  <a:pt x="150" y="550"/>
                </a:cubicBezTo>
                <a:cubicBezTo>
                  <a:pt x="150" y="592"/>
                  <a:pt x="184" y="625"/>
                  <a:pt x="225" y="625"/>
                </a:cubicBezTo>
                <a:cubicBezTo>
                  <a:pt x="525" y="625"/>
                  <a:pt x="525" y="625"/>
                  <a:pt x="525" y="625"/>
                </a:cubicBezTo>
                <a:cubicBezTo>
                  <a:pt x="566" y="625"/>
                  <a:pt x="600" y="592"/>
                  <a:pt x="600" y="550"/>
                </a:cubicBezTo>
                <a:moveTo>
                  <a:pt x="700" y="300"/>
                </a:moveTo>
                <a:cubicBezTo>
                  <a:pt x="688" y="242"/>
                  <a:pt x="637" y="201"/>
                  <a:pt x="578" y="200"/>
                </a:cubicBezTo>
                <a:cubicBezTo>
                  <a:pt x="575" y="200"/>
                  <a:pt x="575" y="200"/>
                  <a:pt x="575" y="200"/>
                </a:cubicBezTo>
                <a:cubicBezTo>
                  <a:pt x="591" y="222"/>
                  <a:pt x="600" y="248"/>
                  <a:pt x="600" y="275"/>
                </a:cubicBezTo>
                <a:cubicBezTo>
                  <a:pt x="600" y="300"/>
                  <a:pt x="600" y="300"/>
                  <a:pt x="600" y="300"/>
                </a:cubicBezTo>
                <a:lnTo>
                  <a:pt x="700" y="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2FC1D5F-B38D-4FEA-8AF0-52181DB4EF8A}"/>
              </a:ext>
            </a:extLst>
          </p:cNvPr>
          <p:cNvGrpSpPr/>
          <p:nvPr/>
        </p:nvGrpSpPr>
        <p:grpSpPr>
          <a:xfrm>
            <a:off x="481819" y="2329117"/>
            <a:ext cx="209968" cy="284483"/>
            <a:chOff x="508412" y="2222932"/>
            <a:chExt cx="349764" cy="450169"/>
          </a:xfrm>
          <a:noFill/>
        </p:grpSpPr>
        <p:sp>
          <p:nvSpPr>
            <p:cNvPr id="69" name="Freeform 26">
              <a:extLst>
                <a:ext uri="{FF2B5EF4-FFF2-40B4-BE49-F238E27FC236}">
                  <a16:creationId xmlns:a16="http://schemas.microsoft.com/office/drawing/2014/main" id="{6B77F0E9-6730-46C8-BA94-A9F0E3C9C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12" y="2222932"/>
              <a:ext cx="349764" cy="450169"/>
            </a:xfrm>
            <a:custGeom>
              <a:avLst/>
              <a:gdLst>
                <a:gd name="T0" fmla="*/ 180 w 465"/>
                <a:gd name="T1" fmla="*/ 57 h 601"/>
                <a:gd name="T2" fmla="*/ 227 w 465"/>
                <a:gd name="T3" fmla="*/ 0 h 601"/>
                <a:gd name="T4" fmla="*/ 239 w 465"/>
                <a:gd name="T5" fmla="*/ 0 h 601"/>
                <a:gd name="T6" fmla="*/ 285 w 465"/>
                <a:gd name="T7" fmla="*/ 57 h 601"/>
                <a:gd name="T8" fmla="*/ 341 w 465"/>
                <a:gd name="T9" fmla="*/ 151 h 601"/>
                <a:gd name="T10" fmla="*/ 431 w 465"/>
                <a:gd name="T11" fmla="*/ 362 h 601"/>
                <a:gd name="T12" fmla="*/ 251 w 465"/>
                <a:gd name="T13" fmla="*/ 601 h 601"/>
                <a:gd name="T14" fmla="*/ 215 w 465"/>
                <a:gd name="T15" fmla="*/ 601 h 601"/>
                <a:gd name="T16" fmla="*/ 34 w 465"/>
                <a:gd name="T17" fmla="*/ 362 h 601"/>
                <a:gd name="T18" fmla="*/ 125 w 465"/>
                <a:gd name="T19" fmla="*/ 151 h 601"/>
                <a:gd name="T20" fmla="*/ 180 w 465"/>
                <a:gd name="T21" fmla="*/ 57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5" h="601">
                  <a:moveTo>
                    <a:pt x="180" y="57"/>
                  </a:moveTo>
                  <a:cubicBezTo>
                    <a:pt x="201" y="21"/>
                    <a:pt x="212" y="3"/>
                    <a:pt x="227" y="0"/>
                  </a:cubicBezTo>
                  <a:cubicBezTo>
                    <a:pt x="231" y="0"/>
                    <a:pt x="235" y="0"/>
                    <a:pt x="239" y="0"/>
                  </a:cubicBezTo>
                  <a:cubicBezTo>
                    <a:pt x="254" y="3"/>
                    <a:pt x="264" y="21"/>
                    <a:pt x="285" y="57"/>
                  </a:cubicBezTo>
                  <a:cubicBezTo>
                    <a:pt x="341" y="151"/>
                    <a:pt x="341" y="151"/>
                    <a:pt x="341" y="151"/>
                  </a:cubicBezTo>
                  <a:cubicBezTo>
                    <a:pt x="380" y="217"/>
                    <a:pt x="410" y="288"/>
                    <a:pt x="431" y="362"/>
                  </a:cubicBezTo>
                  <a:cubicBezTo>
                    <a:pt x="465" y="481"/>
                    <a:pt x="375" y="601"/>
                    <a:pt x="251" y="601"/>
                  </a:cubicBezTo>
                  <a:cubicBezTo>
                    <a:pt x="215" y="601"/>
                    <a:pt x="215" y="601"/>
                    <a:pt x="215" y="601"/>
                  </a:cubicBezTo>
                  <a:cubicBezTo>
                    <a:pt x="90" y="601"/>
                    <a:pt x="0" y="481"/>
                    <a:pt x="34" y="362"/>
                  </a:cubicBezTo>
                  <a:cubicBezTo>
                    <a:pt x="55" y="288"/>
                    <a:pt x="86" y="217"/>
                    <a:pt x="125" y="151"/>
                  </a:cubicBezTo>
                  <a:lnTo>
                    <a:pt x="180" y="5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1" name="Arc 70">
              <a:extLst>
                <a:ext uri="{FF2B5EF4-FFF2-40B4-BE49-F238E27FC236}">
                  <a16:creationId xmlns:a16="http://schemas.microsoft.com/office/drawing/2014/main" id="{D3FF62FC-1F39-4BE8-9F9A-DCCE2235ED05}"/>
                </a:ext>
              </a:extLst>
            </p:cNvPr>
            <p:cNvSpPr/>
            <p:nvPr/>
          </p:nvSpPr>
          <p:spPr>
            <a:xfrm flipH="1" flipV="1">
              <a:off x="589875" y="2431830"/>
              <a:ext cx="172305" cy="172305"/>
            </a:xfrm>
            <a:prstGeom prst="arc">
              <a:avLst/>
            </a:prstGeom>
            <a:grpFill/>
            <a:ln w="12700" cap="rnd">
              <a:solidFill>
                <a:schemeClr val="bg1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39F5A8-4D44-4656-ACC3-E8C6B7170993}"/>
              </a:ext>
            </a:extLst>
          </p:cNvPr>
          <p:cNvCxnSpPr>
            <a:cxnSpLocks/>
          </p:cNvCxnSpPr>
          <p:nvPr/>
        </p:nvCxnSpPr>
        <p:spPr>
          <a:xfrm>
            <a:off x="6705600" y="1951222"/>
            <a:ext cx="0" cy="31699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DF3B714-117F-4514-8C7D-643AA9552DDA}"/>
              </a:ext>
            </a:extLst>
          </p:cNvPr>
          <p:cNvCxnSpPr>
            <a:cxnSpLocks/>
          </p:cNvCxnSpPr>
          <p:nvPr/>
        </p:nvCxnSpPr>
        <p:spPr>
          <a:xfrm>
            <a:off x="6705600" y="2582711"/>
            <a:ext cx="0" cy="99004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CEFB75A-6F78-4015-B590-762C0741E6B7}"/>
              </a:ext>
            </a:extLst>
          </p:cNvPr>
          <p:cNvCxnSpPr>
            <a:cxnSpLocks/>
          </p:cNvCxnSpPr>
          <p:nvPr/>
        </p:nvCxnSpPr>
        <p:spPr>
          <a:xfrm>
            <a:off x="6705600" y="4038131"/>
            <a:ext cx="0" cy="71063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9F21D6-FE5A-4CDF-812C-DEDA52D79558}"/>
              </a:ext>
            </a:extLst>
          </p:cNvPr>
          <p:cNvCxnSpPr>
            <a:cxnSpLocks/>
          </p:cNvCxnSpPr>
          <p:nvPr/>
        </p:nvCxnSpPr>
        <p:spPr>
          <a:xfrm>
            <a:off x="7546286" y="1225042"/>
            <a:ext cx="0" cy="340187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E0ED295-04B6-49ED-A035-C85E829E59BA}"/>
              </a:ext>
            </a:extLst>
          </p:cNvPr>
          <p:cNvSpPr txBox="1"/>
          <p:nvPr/>
        </p:nvSpPr>
        <p:spPr>
          <a:xfrm>
            <a:off x="7759035" y="1143555"/>
            <a:ext cx="1836719" cy="46447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Key findings</a:t>
            </a:r>
            <a:r>
              <a:rPr lang="ru-RU" sz="900" b="1" baseline="30000" dirty="0">
                <a:latin typeface="+mj-lt"/>
              </a:rPr>
              <a:t> 1</a:t>
            </a:r>
            <a:endParaRPr lang="en-US" sz="900" b="1" dirty="0">
              <a:latin typeface="+mj-lt"/>
            </a:endParaRPr>
          </a:p>
          <a:p>
            <a:endParaRPr lang="en-US" sz="900" dirty="0"/>
          </a:p>
          <a:p>
            <a:r>
              <a:rPr lang="en-US" sz="900" dirty="0"/>
              <a:t>The largest sales in North America are for Dairy and plant-based products (90%). These products are also more popular among European buyers (45%)</a:t>
            </a:r>
            <a:r>
              <a:rPr lang="ru-RU" sz="900" dirty="0"/>
              <a:t>.</a:t>
            </a:r>
          </a:p>
          <a:p>
            <a:endParaRPr lang="ru-RU" sz="900" dirty="0"/>
          </a:p>
          <a:p>
            <a:r>
              <a:rPr lang="en-US" sz="900" dirty="0"/>
              <a:t>In Asia, buyers most often buy Specialized nutrition (66%)</a:t>
            </a:r>
            <a:r>
              <a:rPr lang="ru-RU" sz="900" dirty="0"/>
              <a:t>.</a:t>
            </a:r>
          </a:p>
          <a:p>
            <a:endParaRPr lang="ru-RU" sz="900" dirty="0"/>
          </a:p>
          <a:p>
            <a:r>
              <a:rPr lang="en-US" sz="900" dirty="0"/>
              <a:t>While in AMEA, CIS and Latin America, all Danone products are equally in demand with a slight advantage for Specialized nutrition and Dairy and plant-based products (38% and 37%, respectively).</a:t>
            </a:r>
            <a:endParaRPr lang="ru-RU" sz="900" dirty="0"/>
          </a:p>
          <a:p>
            <a:endParaRPr lang="ru-RU" sz="900" dirty="0"/>
          </a:p>
          <a:p>
            <a:r>
              <a:rPr lang="en-US" sz="900" dirty="0"/>
              <a:t>The largest sales volume is in Europe (35%). The least Danone products for 9M 2024 were purchased in Asia (14% of all sales)</a:t>
            </a:r>
            <a:r>
              <a:rPr lang="ru-RU" sz="900" dirty="0"/>
              <a:t>.</a:t>
            </a:r>
          </a:p>
        </p:txBody>
      </p:sp>
      <p:sp>
        <p:nvSpPr>
          <p:cNvPr id="55" name="Rectangle 54">
            <a:hlinkClick r:id="rId2"/>
            <a:extLst>
              <a:ext uri="{FF2B5EF4-FFF2-40B4-BE49-F238E27FC236}">
                <a16:creationId xmlns:a16="http://schemas.microsoft.com/office/drawing/2014/main" id="{3813EB19-0381-487B-8773-83F40F6CB648}"/>
              </a:ext>
            </a:extLst>
          </p:cNvPr>
          <p:cNvSpPr/>
          <p:nvPr/>
        </p:nvSpPr>
        <p:spPr>
          <a:xfrm>
            <a:off x="381000" y="5841779"/>
            <a:ext cx="1945128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baseline="30000" dirty="0"/>
              <a:t>1 </a:t>
            </a:r>
            <a:r>
              <a:rPr lang="en-US" sz="800" dirty="0"/>
              <a:t>I. Daraev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059155D-5E1E-49CB-8DBD-CFD51A001176}"/>
              </a:ext>
            </a:extLst>
          </p:cNvPr>
          <p:cNvCxnSpPr>
            <a:cxnSpLocks/>
          </p:cNvCxnSpPr>
          <p:nvPr/>
        </p:nvCxnSpPr>
        <p:spPr>
          <a:xfrm rot="5400000">
            <a:off x="982490" y="1643427"/>
            <a:ext cx="0" cy="31699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5BB9BE-9BE9-4BFA-8491-89ED8E9489B0}"/>
              </a:ext>
            </a:extLst>
          </p:cNvPr>
          <p:cNvCxnSpPr>
            <a:cxnSpLocks/>
          </p:cNvCxnSpPr>
          <p:nvPr/>
        </p:nvCxnSpPr>
        <p:spPr>
          <a:xfrm flipH="1">
            <a:off x="1622597" y="1801923"/>
            <a:ext cx="139492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F787B12-7904-4759-A420-C0DD0FC7E36A}"/>
              </a:ext>
            </a:extLst>
          </p:cNvPr>
          <p:cNvCxnSpPr>
            <a:cxnSpLocks/>
          </p:cNvCxnSpPr>
          <p:nvPr/>
        </p:nvCxnSpPr>
        <p:spPr>
          <a:xfrm flipH="1">
            <a:off x="3474138" y="1801923"/>
            <a:ext cx="10247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CF0A2E0-18AC-4B60-8B7E-1F4D45D5A1E6}"/>
              </a:ext>
            </a:extLst>
          </p:cNvPr>
          <p:cNvCxnSpPr>
            <a:cxnSpLocks/>
          </p:cNvCxnSpPr>
          <p:nvPr/>
        </p:nvCxnSpPr>
        <p:spPr>
          <a:xfrm flipH="1">
            <a:off x="4967570" y="1801923"/>
            <a:ext cx="67123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120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CCCE20B6-F5AE-47FC-AC63-D3E872649F96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525330D-5633-4704-84BC-828D66B24F74}"/>
              </a:ext>
            </a:extLst>
          </p:cNvPr>
          <p:cNvSpPr/>
          <p:nvPr/>
        </p:nvSpPr>
        <p:spPr>
          <a:xfrm>
            <a:off x="373306" y="6194202"/>
            <a:ext cx="165429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sz="800" dirty="0">
                <a:solidFill>
                  <a:prstClr val="black"/>
                </a:solidFill>
              </a:rPr>
              <a:t>Data research &amp; design: I. Daraev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1D2FD6-C31D-4F35-A61D-F78626D68771}"/>
              </a:ext>
            </a:extLst>
          </p:cNvPr>
          <p:cNvCxnSpPr>
            <a:cxnSpLocks/>
          </p:cNvCxnSpPr>
          <p:nvPr/>
        </p:nvCxnSpPr>
        <p:spPr>
          <a:xfrm flipV="1">
            <a:off x="1340401" y="3495790"/>
            <a:ext cx="5686567" cy="1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B038EF2-96A8-4563-8597-9101C0975A44}"/>
              </a:ext>
            </a:extLst>
          </p:cNvPr>
          <p:cNvCxnSpPr>
            <a:cxnSpLocks/>
          </p:cNvCxnSpPr>
          <p:nvPr/>
        </p:nvCxnSpPr>
        <p:spPr>
          <a:xfrm flipV="1">
            <a:off x="1340401" y="4399643"/>
            <a:ext cx="5686567" cy="1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594835E-2C70-4E50-9F57-8E5FDDA37DD3}"/>
              </a:ext>
            </a:extLst>
          </p:cNvPr>
          <p:cNvSpPr txBox="1"/>
          <p:nvPr/>
        </p:nvSpPr>
        <p:spPr>
          <a:xfrm>
            <a:off x="381001" y="576001"/>
            <a:ext cx="4113178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 err="1"/>
              <a:t>Joyplot</a:t>
            </a:r>
            <a:r>
              <a:rPr lang="en-US" dirty="0"/>
              <a:t> (ridgeline)</a:t>
            </a:r>
            <a:endParaRPr lang="ru-RU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B2D3B3-7F7D-4A98-A174-297FF200C605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7" name="Диаграмма 7">
            <a:extLst>
              <a:ext uri="{FF2B5EF4-FFF2-40B4-BE49-F238E27FC236}">
                <a16:creationId xmlns:a16="http://schemas.microsoft.com/office/drawing/2014/main" id="{106FA76A-467B-4737-B844-31BFAC5CAE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6718155"/>
              </p:ext>
            </p:extLst>
          </p:nvPr>
        </p:nvGraphicFramePr>
        <p:xfrm>
          <a:off x="730870" y="2188379"/>
          <a:ext cx="6374296" cy="3464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2CB877E-6E80-456B-9968-34F8887E7C3D}"/>
              </a:ext>
            </a:extLst>
          </p:cNvPr>
          <p:cNvCxnSpPr>
            <a:cxnSpLocks/>
          </p:cNvCxnSpPr>
          <p:nvPr/>
        </p:nvCxnSpPr>
        <p:spPr>
          <a:xfrm>
            <a:off x="4355085" y="2961423"/>
            <a:ext cx="0" cy="1768812"/>
          </a:xfrm>
          <a:prstGeom prst="straightConnector1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5AFDBDC-0B35-4317-B906-CAE7B426E1D4}"/>
              </a:ext>
            </a:extLst>
          </p:cNvPr>
          <p:cNvCxnSpPr>
            <a:cxnSpLocks/>
          </p:cNvCxnSpPr>
          <p:nvPr/>
        </p:nvCxnSpPr>
        <p:spPr>
          <a:xfrm>
            <a:off x="6355589" y="3459480"/>
            <a:ext cx="0" cy="1470660"/>
          </a:xfrm>
          <a:prstGeom prst="straightConnector1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5ECF97B-411D-4B8E-92C9-32343BA1DE03}"/>
              </a:ext>
            </a:extLst>
          </p:cNvPr>
          <p:cNvCxnSpPr>
            <a:cxnSpLocks/>
          </p:cNvCxnSpPr>
          <p:nvPr/>
        </p:nvCxnSpPr>
        <p:spPr>
          <a:xfrm>
            <a:off x="5354829" y="2997999"/>
            <a:ext cx="0" cy="1116801"/>
          </a:xfrm>
          <a:prstGeom prst="straightConnector1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E79649-763F-4CC3-A479-1AD683DB7DC7}"/>
              </a:ext>
            </a:extLst>
          </p:cNvPr>
          <p:cNvCxnSpPr>
            <a:cxnSpLocks/>
          </p:cNvCxnSpPr>
          <p:nvPr/>
        </p:nvCxnSpPr>
        <p:spPr>
          <a:xfrm>
            <a:off x="1340401" y="2184450"/>
            <a:ext cx="0" cy="3077809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38005FB-446B-44BA-850F-DB6A9262948D}"/>
              </a:ext>
            </a:extLst>
          </p:cNvPr>
          <p:cNvSpPr txBox="1"/>
          <p:nvPr/>
        </p:nvSpPr>
        <p:spPr>
          <a:xfrm>
            <a:off x="3217249" y="2200640"/>
            <a:ext cx="266812" cy="20983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2500</a:t>
            </a:r>
            <a:endParaRPr lang="ru-RU" sz="900" dirty="0" err="1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C9178E-FC43-468D-B9EF-B280E5900861}"/>
              </a:ext>
            </a:extLst>
          </p:cNvPr>
          <p:cNvCxnSpPr>
            <a:cxnSpLocks/>
          </p:cNvCxnSpPr>
          <p:nvPr/>
        </p:nvCxnSpPr>
        <p:spPr>
          <a:xfrm>
            <a:off x="3356340" y="2467518"/>
            <a:ext cx="0" cy="2226402"/>
          </a:xfrm>
          <a:prstGeom prst="straightConnector1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C4A42BC-0FF3-43E8-97CB-6A9436FB09CE}"/>
              </a:ext>
            </a:extLst>
          </p:cNvPr>
          <p:cNvSpPr txBox="1"/>
          <p:nvPr/>
        </p:nvSpPr>
        <p:spPr>
          <a:xfrm>
            <a:off x="5537385" y="4146027"/>
            <a:ext cx="264436" cy="14994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+mj-lt"/>
              </a:rPr>
              <a:t>2500</a:t>
            </a:r>
            <a:endParaRPr lang="ru-RU" sz="9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4507D8-F873-415B-B529-2F0181E3CBF5}"/>
              </a:ext>
            </a:extLst>
          </p:cNvPr>
          <p:cNvSpPr txBox="1"/>
          <p:nvPr/>
        </p:nvSpPr>
        <p:spPr>
          <a:xfrm>
            <a:off x="5211804" y="2729118"/>
            <a:ext cx="264436" cy="20983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1300</a:t>
            </a:r>
            <a:endParaRPr lang="ru-RU" sz="900" dirty="0" err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189426-6411-40CE-A796-12A270C8BFF7}"/>
              </a:ext>
            </a:extLst>
          </p:cNvPr>
          <p:cNvSpPr txBox="1"/>
          <p:nvPr/>
        </p:nvSpPr>
        <p:spPr>
          <a:xfrm>
            <a:off x="2229871" y="3166632"/>
            <a:ext cx="276628" cy="20983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300</a:t>
            </a:r>
            <a:endParaRPr lang="ru-RU" sz="900" dirty="0" err="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E8C490-9A79-4CA8-8E67-E447ED4D18BE}"/>
              </a:ext>
            </a:extLst>
          </p:cNvPr>
          <p:cNvSpPr txBox="1"/>
          <p:nvPr/>
        </p:nvSpPr>
        <p:spPr>
          <a:xfrm>
            <a:off x="4235935" y="2729118"/>
            <a:ext cx="320825" cy="20983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1350</a:t>
            </a:r>
            <a:endParaRPr lang="ru-RU" sz="900" dirty="0" err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DF0F5A-862D-4372-91B5-646B8D71A89A}"/>
              </a:ext>
            </a:extLst>
          </p:cNvPr>
          <p:cNvSpPr txBox="1"/>
          <p:nvPr/>
        </p:nvSpPr>
        <p:spPr>
          <a:xfrm>
            <a:off x="6286732" y="3134215"/>
            <a:ext cx="276628" cy="20983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250</a:t>
            </a:r>
            <a:endParaRPr lang="ru-RU" sz="900" dirty="0" err="1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5DD5CB-0A08-4698-9539-355DF461B07B}"/>
              </a:ext>
            </a:extLst>
          </p:cNvPr>
          <p:cNvSpPr/>
          <p:nvPr/>
        </p:nvSpPr>
        <p:spPr>
          <a:xfrm>
            <a:off x="381001" y="1271016"/>
            <a:ext cx="3792705" cy="184666"/>
          </a:xfrm>
          <a:prstGeom prst="rect">
            <a:avLst/>
          </a:prstGeom>
        </p:spPr>
        <p:txBody>
          <a:bodyPr wrap="none" lIns="0" tIns="0" rIns="0">
            <a:spAutoFit/>
          </a:bodyPr>
          <a:lstStyle/>
          <a:p>
            <a:r>
              <a:rPr lang="en-US" sz="900" b="1" dirty="0">
                <a:latin typeface="+mj-lt"/>
              </a:rPr>
              <a:t>NASA’s science and engineering workforce trend in 2000-2020</a:t>
            </a:r>
            <a:endParaRPr lang="ru-RU" sz="9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72A837-D965-47C4-869B-339EAA2E16A9}"/>
              </a:ext>
            </a:extLst>
          </p:cNvPr>
          <p:cNvSpPr/>
          <p:nvPr/>
        </p:nvSpPr>
        <p:spPr>
          <a:xfrm>
            <a:off x="381001" y="1883240"/>
            <a:ext cx="2165657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r>
              <a:rPr lang="en-US" sz="800" i="1" dirty="0"/>
              <a:t>Total full-time equivalent positions, by year</a:t>
            </a:r>
            <a:endParaRPr lang="ru-RU" sz="800" i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3E56AD-AE06-4062-BD52-9F93AA7D4F71}"/>
              </a:ext>
            </a:extLst>
          </p:cNvPr>
          <p:cNvSpPr/>
          <p:nvPr/>
        </p:nvSpPr>
        <p:spPr>
          <a:xfrm>
            <a:off x="3909392" y="5566085"/>
            <a:ext cx="203582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r>
              <a:rPr lang="en-US" sz="800" i="1" dirty="0"/>
              <a:t>Age</a:t>
            </a:r>
            <a:endParaRPr lang="ru-RU" sz="800" i="1" dirty="0"/>
          </a:p>
        </p:txBody>
      </p:sp>
      <p:grpSp>
        <p:nvGrpSpPr>
          <p:cNvPr id="75" name="Обводка сверху графиков">
            <a:extLst>
              <a:ext uri="{FF2B5EF4-FFF2-40B4-BE49-F238E27FC236}">
                <a16:creationId xmlns:a16="http://schemas.microsoft.com/office/drawing/2014/main" id="{B76D15D0-F85F-4976-AAC1-42D7CADF302A}"/>
              </a:ext>
            </a:extLst>
          </p:cNvPr>
          <p:cNvGrpSpPr/>
          <p:nvPr/>
        </p:nvGrpSpPr>
        <p:grpSpPr>
          <a:xfrm>
            <a:off x="1341327" y="2397932"/>
            <a:ext cx="5509746" cy="2865958"/>
            <a:chOff x="1341327" y="2686049"/>
            <a:chExt cx="5509746" cy="2865958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933FB04-F7ED-4B5D-A76B-2B260C528114}"/>
                </a:ext>
              </a:extLst>
            </p:cNvPr>
            <p:cNvSpPr/>
            <p:nvPr/>
          </p:nvSpPr>
          <p:spPr bwMode="gray">
            <a:xfrm>
              <a:off x="1615440" y="2686049"/>
              <a:ext cx="5229744" cy="1086769"/>
            </a:xfrm>
            <a:custGeom>
              <a:avLst/>
              <a:gdLst>
                <a:gd name="connsiteX0" fmla="*/ 0 w 5215890"/>
                <a:gd name="connsiteY0" fmla="*/ 1085850 h 1085850"/>
                <a:gd name="connsiteX1" fmla="*/ 240030 w 5215890"/>
                <a:gd name="connsiteY1" fmla="*/ 1085850 h 1085850"/>
                <a:gd name="connsiteX2" fmla="*/ 739140 w 5215890"/>
                <a:gd name="connsiteY2" fmla="*/ 963930 h 1085850"/>
                <a:gd name="connsiteX3" fmla="*/ 994410 w 5215890"/>
                <a:gd name="connsiteY3" fmla="*/ 693420 h 1085850"/>
                <a:gd name="connsiteX4" fmla="*/ 1238250 w 5215890"/>
                <a:gd name="connsiteY4" fmla="*/ 430530 h 1085850"/>
                <a:gd name="connsiteX5" fmla="*/ 1737360 w 5215890"/>
                <a:gd name="connsiteY5" fmla="*/ 0 h 1085850"/>
                <a:gd name="connsiteX6" fmla="*/ 2724150 w 5215890"/>
                <a:gd name="connsiteY6" fmla="*/ 502920 h 1085850"/>
                <a:gd name="connsiteX7" fmla="*/ 3242310 w 5215890"/>
                <a:gd name="connsiteY7" fmla="*/ 575310 h 1085850"/>
                <a:gd name="connsiteX8" fmla="*/ 3729990 w 5215890"/>
                <a:gd name="connsiteY8" fmla="*/ 521970 h 1085850"/>
                <a:gd name="connsiteX9" fmla="*/ 4732020 w 5215890"/>
                <a:gd name="connsiteY9" fmla="*/ 994410 h 1085850"/>
                <a:gd name="connsiteX10" fmla="*/ 5215890 w 5215890"/>
                <a:gd name="connsiteY10" fmla="*/ 1085850 h 1085850"/>
                <a:gd name="connsiteX0" fmla="*/ 0 w 5229744"/>
                <a:gd name="connsiteY0" fmla="*/ 1085850 h 1085850"/>
                <a:gd name="connsiteX1" fmla="*/ 240030 w 5229744"/>
                <a:gd name="connsiteY1" fmla="*/ 1085850 h 1085850"/>
                <a:gd name="connsiteX2" fmla="*/ 739140 w 5229744"/>
                <a:gd name="connsiteY2" fmla="*/ 963930 h 1085850"/>
                <a:gd name="connsiteX3" fmla="*/ 994410 w 5229744"/>
                <a:gd name="connsiteY3" fmla="*/ 693420 h 1085850"/>
                <a:gd name="connsiteX4" fmla="*/ 1238250 w 5229744"/>
                <a:gd name="connsiteY4" fmla="*/ 430530 h 1085850"/>
                <a:gd name="connsiteX5" fmla="*/ 1737360 w 5229744"/>
                <a:gd name="connsiteY5" fmla="*/ 0 h 1085850"/>
                <a:gd name="connsiteX6" fmla="*/ 2724150 w 5229744"/>
                <a:gd name="connsiteY6" fmla="*/ 502920 h 1085850"/>
                <a:gd name="connsiteX7" fmla="*/ 3242310 w 5229744"/>
                <a:gd name="connsiteY7" fmla="*/ 575310 h 1085850"/>
                <a:gd name="connsiteX8" fmla="*/ 3729990 w 5229744"/>
                <a:gd name="connsiteY8" fmla="*/ 521970 h 1085850"/>
                <a:gd name="connsiteX9" fmla="*/ 4732020 w 5229744"/>
                <a:gd name="connsiteY9" fmla="*/ 994410 h 1085850"/>
                <a:gd name="connsiteX10" fmla="*/ 5229744 w 5229744"/>
                <a:gd name="connsiteY10" fmla="*/ 1080308 h 1085850"/>
                <a:gd name="connsiteX0" fmla="*/ 0 w 5229744"/>
                <a:gd name="connsiteY0" fmla="*/ 1085850 h 1085850"/>
                <a:gd name="connsiteX1" fmla="*/ 240030 w 5229744"/>
                <a:gd name="connsiteY1" fmla="*/ 1085850 h 1085850"/>
                <a:gd name="connsiteX2" fmla="*/ 739140 w 5229744"/>
                <a:gd name="connsiteY2" fmla="*/ 963930 h 1085850"/>
                <a:gd name="connsiteX3" fmla="*/ 994410 w 5229744"/>
                <a:gd name="connsiteY3" fmla="*/ 693420 h 1085850"/>
                <a:gd name="connsiteX4" fmla="*/ 1238250 w 5229744"/>
                <a:gd name="connsiteY4" fmla="*/ 430530 h 1085850"/>
                <a:gd name="connsiteX5" fmla="*/ 1737360 w 5229744"/>
                <a:gd name="connsiteY5" fmla="*/ 0 h 1085850"/>
                <a:gd name="connsiteX6" fmla="*/ 2724150 w 5229744"/>
                <a:gd name="connsiteY6" fmla="*/ 502920 h 1085850"/>
                <a:gd name="connsiteX7" fmla="*/ 3242310 w 5229744"/>
                <a:gd name="connsiteY7" fmla="*/ 575310 h 1085850"/>
                <a:gd name="connsiteX8" fmla="*/ 3729990 w 5229744"/>
                <a:gd name="connsiteY8" fmla="*/ 521970 h 1085850"/>
                <a:gd name="connsiteX9" fmla="*/ 4732020 w 5229744"/>
                <a:gd name="connsiteY9" fmla="*/ 994410 h 1085850"/>
                <a:gd name="connsiteX10" fmla="*/ 5229744 w 5229744"/>
                <a:gd name="connsiteY10" fmla="*/ 1080308 h 1085850"/>
                <a:gd name="connsiteX0" fmla="*/ 0 w 5229744"/>
                <a:gd name="connsiteY0" fmla="*/ 1097280 h 1097280"/>
                <a:gd name="connsiteX1" fmla="*/ 240030 w 5229744"/>
                <a:gd name="connsiteY1" fmla="*/ 1097280 h 1097280"/>
                <a:gd name="connsiteX2" fmla="*/ 739140 w 5229744"/>
                <a:gd name="connsiteY2" fmla="*/ 975360 h 1097280"/>
                <a:gd name="connsiteX3" fmla="*/ 994410 w 5229744"/>
                <a:gd name="connsiteY3" fmla="*/ 704850 h 1097280"/>
                <a:gd name="connsiteX4" fmla="*/ 1238250 w 5229744"/>
                <a:gd name="connsiteY4" fmla="*/ 441960 h 1097280"/>
                <a:gd name="connsiteX5" fmla="*/ 1737360 w 5229744"/>
                <a:gd name="connsiteY5" fmla="*/ 0 h 1097280"/>
                <a:gd name="connsiteX6" fmla="*/ 2724150 w 5229744"/>
                <a:gd name="connsiteY6" fmla="*/ 514350 h 1097280"/>
                <a:gd name="connsiteX7" fmla="*/ 3242310 w 5229744"/>
                <a:gd name="connsiteY7" fmla="*/ 586740 h 1097280"/>
                <a:gd name="connsiteX8" fmla="*/ 3729990 w 5229744"/>
                <a:gd name="connsiteY8" fmla="*/ 533400 h 1097280"/>
                <a:gd name="connsiteX9" fmla="*/ 4732020 w 5229744"/>
                <a:gd name="connsiteY9" fmla="*/ 1005840 h 1097280"/>
                <a:gd name="connsiteX10" fmla="*/ 5229744 w 5229744"/>
                <a:gd name="connsiteY10" fmla="*/ 1091738 h 1097280"/>
                <a:gd name="connsiteX0" fmla="*/ 0 w 5229744"/>
                <a:gd name="connsiteY0" fmla="*/ 1097280 h 1097280"/>
                <a:gd name="connsiteX1" fmla="*/ 240030 w 5229744"/>
                <a:gd name="connsiteY1" fmla="*/ 1086769 h 1097280"/>
                <a:gd name="connsiteX2" fmla="*/ 739140 w 5229744"/>
                <a:gd name="connsiteY2" fmla="*/ 975360 h 1097280"/>
                <a:gd name="connsiteX3" fmla="*/ 994410 w 5229744"/>
                <a:gd name="connsiteY3" fmla="*/ 704850 h 1097280"/>
                <a:gd name="connsiteX4" fmla="*/ 1238250 w 5229744"/>
                <a:gd name="connsiteY4" fmla="*/ 441960 h 1097280"/>
                <a:gd name="connsiteX5" fmla="*/ 1737360 w 5229744"/>
                <a:gd name="connsiteY5" fmla="*/ 0 h 1097280"/>
                <a:gd name="connsiteX6" fmla="*/ 2724150 w 5229744"/>
                <a:gd name="connsiteY6" fmla="*/ 514350 h 1097280"/>
                <a:gd name="connsiteX7" fmla="*/ 3242310 w 5229744"/>
                <a:gd name="connsiteY7" fmla="*/ 586740 h 1097280"/>
                <a:gd name="connsiteX8" fmla="*/ 3729990 w 5229744"/>
                <a:gd name="connsiteY8" fmla="*/ 533400 h 1097280"/>
                <a:gd name="connsiteX9" fmla="*/ 4732020 w 5229744"/>
                <a:gd name="connsiteY9" fmla="*/ 1005840 h 1097280"/>
                <a:gd name="connsiteX10" fmla="*/ 5229744 w 5229744"/>
                <a:gd name="connsiteY10" fmla="*/ 1091738 h 1097280"/>
                <a:gd name="connsiteX0" fmla="*/ 0 w 5229744"/>
                <a:gd name="connsiteY0" fmla="*/ 1090273 h 1091738"/>
                <a:gd name="connsiteX1" fmla="*/ 240030 w 5229744"/>
                <a:gd name="connsiteY1" fmla="*/ 1086769 h 1091738"/>
                <a:gd name="connsiteX2" fmla="*/ 739140 w 5229744"/>
                <a:gd name="connsiteY2" fmla="*/ 975360 h 1091738"/>
                <a:gd name="connsiteX3" fmla="*/ 994410 w 5229744"/>
                <a:gd name="connsiteY3" fmla="*/ 704850 h 1091738"/>
                <a:gd name="connsiteX4" fmla="*/ 1238250 w 5229744"/>
                <a:gd name="connsiteY4" fmla="*/ 441960 h 1091738"/>
                <a:gd name="connsiteX5" fmla="*/ 1737360 w 5229744"/>
                <a:gd name="connsiteY5" fmla="*/ 0 h 1091738"/>
                <a:gd name="connsiteX6" fmla="*/ 2724150 w 5229744"/>
                <a:gd name="connsiteY6" fmla="*/ 514350 h 1091738"/>
                <a:gd name="connsiteX7" fmla="*/ 3242310 w 5229744"/>
                <a:gd name="connsiteY7" fmla="*/ 586740 h 1091738"/>
                <a:gd name="connsiteX8" fmla="*/ 3729990 w 5229744"/>
                <a:gd name="connsiteY8" fmla="*/ 533400 h 1091738"/>
                <a:gd name="connsiteX9" fmla="*/ 4732020 w 5229744"/>
                <a:gd name="connsiteY9" fmla="*/ 1005840 h 1091738"/>
                <a:gd name="connsiteX10" fmla="*/ 5229744 w 5229744"/>
                <a:gd name="connsiteY10" fmla="*/ 1091738 h 1091738"/>
                <a:gd name="connsiteX0" fmla="*/ 0 w 5229744"/>
                <a:gd name="connsiteY0" fmla="*/ 1090273 h 1091738"/>
                <a:gd name="connsiteX1" fmla="*/ 240030 w 5229744"/>
                <a:gd name="connsiteY1" fmla="*/ 1086769 h 1091738"/>
                <a:gd name="connsiteX2" fmla="*/ 739140 w 5229744"/>
                <a:gd name="connsiteY2" fmla="*/ 975360 h 1091738"/>
                <a:gd name="connsiteX3" fmla="*/ 994410 w 5229744"/>
                <a:gd name="connsiteY3" fmla="*/ 704850 h 1091738"/>
                <a:gd name="connsiteX4" fmla="*/ 1238250 w 5229744"/>
                <a:gd name="connsiteY4" fmla="*/ 441960 h 1091738"/>
                <a:gd name="connsiteX5" fmla="*/ 1737360 w 5229744"/>
                <a:gd name="connsiteY5" fmla="*/ 0 h 1091738"/>
                <a:gd name="connsiteX6" fmla="*/ 2724150 w 5229744"/>
                <a:gd name="connsiteY6" fmla="*/ 514350 h 1091738"/>
                <a:gd name="connsiteX7" fmla="*/ 3242310 w 5229744"/>
                <a:gd name="connsiteY7" fmla="*/ 586740 h 1091738"/>
                <a:gd name="connsiteX8" fmla="*/ 3729990 w 5229744"/>
                <a:gd name="connsiteY8" fmla="*/ 533400 h 1091738"/>
                <a:gd name="connsiteX9" fmla="*/ 4735524 w 5229744"/>
                <a:gd name="connsiteY9" fmla="*/ 1005840 h 1091738"/>
                <a:gd name="connsiteX10" fmla="*/ 5229744 w 5229744"/>
                <a:gd name="connsiteY10" fmla="*/ 1091738 h 1091738"/>
                <a:gd name="connsiteX0" fmla="*/ 0 w 5229744"/>
                <a:gd name="connsiteY0" fmla="*/ 1090273 h 1091738"/>
                <a:gd name="connsiteX1" fmla="*/ 240030 w 5229744"/>
                <a:gd name="connsiteY1" fmla="*/ 1086769 h 1091738"/>
                <a:gd name="connsiteX2" fmla="*/ 739140 w 5229744"/>
                <a:gd name="connsiteY2" fmla="*/ 975360 h 1091738"/>
                <a:gd name="connsiteX3" fmla="*/ 994410 w 5229744"/>
                <a:gd name="connsiteY3" fmla="*/ 704850 h 1091738"/>
                <a:gd name="connsiteX4" fmla="*/ 1238250 w 5229744"/>
                <a:gd name="connsiteY4" fmla="*/ 441960 h 1091738"/>
                <a:gd name="connsiteX5" fmla="*/ 1737360 w 5229744"/>
                <a:gd name="connsiteY5" fmla="*/ 0 h 1091738"/>
                <a:gd name="connsiteX6" fmla="*/ 2724150 w 5229744"/>
                <a:gd name="connsiteY6" fmla="*/ 514350 h 1091738"/>
                <a:gd name="connsiteX7" fmla="*/ 3242310 w 5229744"/>
                <a:gd name="connsiteY7" fmla="*/ 586740 h 1091738"/>
                <a:gd name="connsiteX8" fmla="*/ 3729990 w 5229744"/>
                <a:gd name="connsiteY8" fmla="*/ 533400 h 1091738"/>
                <a:gd name="connsiteX9" fmla="*/ 4242326 w 5229744"/>
                <a:gd name="connsiteY9" fmla="*/ 775357 h 1091738"/>
                <a:gd name="connsiteX10" fmla="*/ 4735524 w 5229744"/>
                <a:gd name="connsiteY10" fmla="*/ 1005840 h 1091738"/>
                <a:gd name="connsiteX11" fmla="*/ 5229744 w 5229744"/>
                <a:gd name="connsiteY11" fmla="*/ 1091738 h 1091738"/>
                <a:gd name="connsiteX0" fmla="*/ 0 w 5229744"/>
                <a:gd name="connsiteY0" fmla="*/ 1090273 h 1091738"/>
                <a:gd name="connsiteX1" fmla="*/ 240030 w 5229744"/>
                <a:gd name="connsiteY1" fmla="*/ 1086769 h 1091738"/>
                <a:gd name="connsiteX2" fmla="*/ 739140 w 5229744"/>
                <a:gd name="connsiteY2" fmla="*/ 975360 h 1091738"/>
                <a:gd name="connsiteX3" fmla="*/ 994410 w 5229744"/>
                <a:gd name="connsiteY3" fmla="*/ 704850 h 1091738"/>
                <a:gd name="connsiteX4" fmla="*/ 1238250 w 5229744"/>
                <a:gd name="connsiteY4" fmla="*/ 441960 h 1091738"/>
                <a:gd name="connsiteX5" fmla="*/ 1737360 w 5229744"/>
                <a:gd name="connsiteY5" fmla="*/ 0 h 1091738"/>
                <a:gd name="connsiteX6" fmla="*/ 2724150 w 5229744"/>
                <a:gd name="connsiteY6" fmla="*/ 514350 h 1091738"/>
                <a:gd name="connsiteX7" fmla="*/ 3242310 w 5229744"/>
                <a:gd name="connsiteY7" fmla="*/ 586740 h 1091738"/>
                <a:gd name="connsiteX8" fmla="*/ 3729990 w 5229744"/>
                <a:gd name="connsiteY8" fmla="*/ 533400 h 1091738"/>
                <a:gd name="connsiteX9" fmla="*/ 4242326 w 5229744"/>
                <a:gd name="connsiteY9" fmla="*/ 764847 h 1091738"/>
                <a:gd name="connsiteX10" fmla="*/ 4735524 w 5229744"/>
                <a:gd name="connsiteY10" fmla="*/ 1005840 h 1091738"/>
                <a:gd name="connsiteX11" fmla="*/ 5229744 w 5229744"/>
                <a:gd name="connsiteY11" fmla="*/ 1091738 h 1091738"/>
                <a:gd name="connsiteX0" fmla="*/ 0 w 5229744"/>
                <a:gd name="connsiteY0" fmla="*/ 1090273 h 1090273"/>
                <a:gd name="connsiteX1" fmla="*/ 240030 w 5229744"/>
                <a:gd name="connsiteY1" fmla="*/ 1086769 h 1090273"/>
                <a:gd name="connsiteX2" fmla="*/ 739140 w 5229744"/>
                <a:gd name="connsiteY2" fmla="*/ 975360 h 1090273"/>
                <a:gd name="connsiteX3" fmla="*/ 994410 w 5229744"/>
                <a:gd name="connsiteY3" fmla="*/ 704850 h 1090273"/>
                <a:gd name="connsiteX4" fmla="*/ 1238250 w 5229744"/>
                <a:gd name="connsiteY4" fmla="*/ 441960 h 1090273"/>
                <a:gd name="connsiteX5" fmla="*/ 1737360 w 5229744"/>
                <a:gd name="connsiteY5" fmla="*/ 0 h 1090273"/>
                <a:gd name="connsiteX6" fmla="*/ 2724150 w 5229744"/>
                <a:gd name="connsiteY6" fmla="*/ 514350 h 1090273"/>
                <a:gd name="connsiteX7" fmla="*/ 3242310 w 5229744"/>
                <a:gd name="connsiteY7" fmla="*/ 586740 h 1090273"/>
                <a:gd name="connsiteX8" fmla="*/ 3729990 w 5229744"/>
                <a:gd name="connsiteY8" fmla="*/ 533400 h 1090273"/>
                <a:gd name="connsiteX9" fmla="*/ 4242326 w 5229744"/>
                <a:gd name="connsiteY9" fmla="*/ 764847 h 1090273"/>
                <a:gd name="connsiteX10" fmla="*/ 4735524 w 5229744"/>
                <a:gd name="connsiteY10" fmla="*/ 1005840 h 1090273"/>
                <a:gd name="connsiteX11" fmla="*/ 5229744 w 5229744"/>
                <a:gd name="connsiteY11" fmla="*/ 1084731 h 1090273"/>
                <a:gd name="connsiteX0" fmla="*/ 0 w 5229744"/>
                <a:gd name="connsiteY0" fmla="*/ 1085547 h 1086769"/>
                <a:gd name="connsiteX1" fmla="*/ 240030 w 5229744"/>
                <a:gd name="connsiteY1" fmla="*/ 1086769 h 1086769"/>
                <a:gd name="connsiteX2" fmla="*/ 739140 w 5229744"/>
                <a:gd name="connsiteY2" fmla="*/ 975360 h 1086769"/>
                <a:gd name="connsiteX3" fmla="*/ 994410 w 5229744"/>
                <a:gd name="connsiteY3" fmla="*/ 704850 h 1086769"/>
                <a:gd name="connsiteX4" fmla="*/ 1238250 w 5229744"/>
                <a:gd name="connsiteY4" fmla="*/ 441960 h 1086769"/>
                <a:gd name="connsiteX5" fmla="*/ 1737360 w 5229744"/>
                <a:gd name="connsiteY5" fmla="*/ 0 h 1086769"/>
                <a:gd name="connsiteX6" fmla="*/ 2724150 w 5229744"/>
                <a:gd name="connsiteY6" fmla="*/ 514350 h 1086769"/>
                <a:gd name="connsiteX7" fmla="*/ 3242310 w 5229744"/>
                <a:gd name="connsiteY7" fmla="*/ 586740 h 1086769"/>
                <a:gd name="connsiteX8" fmla="*/ 3729990 w 5229744"/>
                <a:gd name="connsiteY8" fmla="*/ 533400 h 1086769"/>
                <a:gd name="connsiteX9" fmla="*/ 4242326 w 5229744"/>
                <a:gd name="connsiteY9" fmla="*/ 764847 h 1086769"/>
                <a:gd name="connsiteX10" fmla="*/ 4735524 w 5229744"/>
                <a:gd name="connsiteY10" fmla="*/ 1005840 h 1086769"/>
                <a:gd name="connsiteX11" fmla="*/ 5229744 w 5229744"/>
                <a:gd name="connsiteY11" fmla="*/ 1084731 h 1086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29744" h="1086769">
                  <a:moveTo>
                    <a:pt x="0" y="1085547"/>
                  </a:moveTo>
                  <a:lnTo>
                    <a:pt x="240030" y="1086769"/>
                  </a:lnTo>
                  <a:lnTo>
                    <a:pt x="739140" y="975360"/>
                  </a:lnTo>
                  <a:lnTo>
                    <a:pt x="994410" y="704850"/>
                  </a:lnTo>
                  <a:lnTo>
                    <a:pt x="1238250" y="441960"/>
                  </a:lnTo>
                  <a:lnTo>
                    <a:pt x="1737360" y="0"/>
                  </a:lnTo>
                  <a:lnTo>
                    <a:pt x="2724150" y="514350"/>
                  </a:lnTo>
                  <a:lnTo>
                    <a:pt x="3242310" y="586740"/>
                  </a:lnTo>
                  <a:lnTo>
                    <a:pt x="3729990" y="533400"/>
                  </a:lnTo>
                  <a:lnTo>
                    <a:pt x="4242326" y="764847"/>
                  </a:lnTo>
                  <a:lnTo>
                    <a:pt x="4735524" y="1005840"/>
                  </a:lnTo>
                  <a:cubicBezTo>
                    <a:pt x="4896814" y="1036320"/>
                    <a:pt x="5068454" y="1054251"/>
                    <a:pt x="5229744" y="1084731"/>
                  </a:cubicBezTo>
                </a:path>
              </a:pathLst>
            </a:custGeom>
            <a:noFill/>
            <a:ln w="6350">
              <a:noFill/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63C44DC-92C5-44E2-989C-B7DD8E40B263}"/>
                </a:ext>
              </a:extLst>
            </p:cNvPr>
            <p:cNvSpPr/>
            <p:nvPr/>
          </p:nvSpPr>
          <p:spPr bwMode="gray">
            <a:xfrm>
              <a:off x="1341327" y="3348990"/>
              <a:ext cx="5508014" cy="1324965"/>
            </a:xfrm>
            <a:custGeom>
              <a:avLst/>
              <a:gdLst>
                <a:gd name="connsiteX0" fmla="*/ 0 w 5417820"/>
                <a:gd name="connsiteY0" fmla="*/ 1341120 h 1341120"/>
                <a:gd name="connsiteX1" fmla="*/ 419100 w 5417820"/>
                <a:gd name="connsiteY1" fmla="*/ 1291590 h 1341120"/>
                <a:gd name="connsiteX2" fmla="*/ 925830 w 5417820"/>
                <a:gd name="connsiteY2" fmla="*/ 1005840 h 1341120"/>
                <a:gd name="connsiteX3" fmla="*/ 1924050 w 5417820"/>
                <a:gd name="connsiteY3" fmla="*/ 963930 h 1341120"/>
                <a:gd name="connsiteX4" fmla="*/ 2914650 w 5417820"/>
                <a:gd name="connsiteY4" fmla="*/ 0 h 1341120"/>
                <a:gd name="connsiteX5" fmla="*/ 3432810 w 5417820"/>
                <a:gd name="connsiteY5" fmla="*/ 358140 h 1341120"/>
                <a:gd name="connsiteX6" fmla="*/ 3912870 w 5417820"/>
                <a:gd name="connsiteY6" fmla="*/ 796290 h 1341120"/>
                <a:gd name="connsiteX7" fmla="*/ 4419600 w 5417820"/>
                <a:gd name="connsiteY7" fmla="*/ 1024890 h 1341120"/>
                <a:gd name="connsiteX8" fmla="*/ 4907280 w 5417820"/>
                <a:gd name="connsiteY8" fmla="*/ 1173480 h 1341120"/>
                <a:gd name="connsiteX9" fmla="*/ 5417820 w 5417820"/>
                <a:gd name="connsiteY9" fmla="*/ 1287780 h 1341120"/>
                <a:gd name="connsiteX0" fmla="*/ 0 w 5417820"/>
                <a:gd name="connsiteY0" fmla="*/ 1341120 h 1341120"/>
                <a:gd name="connsiteX1" fmla="*/ 419100 w 5417820"/>
                <a:gd name="connsiteY1" fmla="*/ 1291590 h 1341120"/>
                <a:gd name="connsiteX2" fmla="*/ 925830 w 5417820"/>
                <a:gd name="connsiteY2" fmla="*/ 1005840 h 1341120"/>
                <a:gd name="connsiteX3" fmla="*/ 1924050 w 5417820"/>
                <a:gd name="connsiteY3" fmla="*/ 963930 h 1341120"/>
                <a:gd name="connsiteX4" fmla="*/ 2926080 w 5417820"/>
                <a:gd name="connsiteY4" fmla="*/ 0 h 1341120"/>
                <a:gd name="connsiteX5" fmla="*/ 3432810 w 5417820"/>
                <a:gd name="connsiteY5" fmla="*/ 358140 h 1341120"/>
                <a:gd name="connsiteX6" fmla="*/ 3912870 w 5417820"/>
                <a:gd name="connsiteY6" fmla="*/ 796290 h 1341120"/>
                <a:gd name="connsiteX7" fmla="*/ 4419600 w 5417820"/>
                <a:gd name="connsiteY7" fmla="*/ 1024890 h 1341120"/>
                <a:gd name="connsiteX8" fmla="*/ 4907280 w 5417820"/>
                <a:gd name="connsiteY8" fmla="*/ 1173480 h 1341120"/>
                <a:gd name="connsiteX9" fmla="*/ 5417820 w 5417820"/>
                <a:gd name="connsiteY9" fmla="*/ 1287780 h 1341120"/>
                <a:gd name="connsiteX0" fmla="*/ 0 w 5417820"/>
                <a:gd name="connsiteY0" fmla="*/ 1341120 h 1341120"/>
                <a:gd name="connsiteX1" fmla="*/ 419100 w 5417820"/>
                <a:gd name="connsiteY1" fmla="*/ 1291590 h 1341120"/>
                <a:gd name="connsiteX2" fmla="*/ 925830 w 5417820"/>
                <a:gd name="connsiteY2" fmla="*/ 1005840 h 1341120"/>
                <a:gd name="connsiteX3" fmla="*/ 1924050 w 5417820"/>
                <a:gd name="connsiteY3" fmla="*/ 963930 h 1341120"/>
                <a:gd name="connsiteX4" fmla="*/ 2926080 w 5417820"/>
                <a:gd name="connsiteY4" fmla="*/ 0 h 1341120"/>
                <a:gd name="connsiteX5" fmla="*/ 3432810 w 5417820"/>
                <a:gd name="connsiteY5" fmla="*/ 365760 h 1341120"/>
                <a:gd name="connsiteX6" fmla="*/ 3912870 w 5417820"/>
                <a:gd name="connsiteY6" fmla="*/ 796290 h 1341120"/>
                <a:gd name="connsiteX7" fmla="*/ 4419600 w 5417820"/>
                <a:gd name="connsiteY7" fmla="*/ 1024890 h 1341120"/>
                <a:gd name="connsiteX8" fmla="*/ 4907280 w 5417820"/>
                <a:gd name="connsiteY8" fmla="*/ 1173480 h 1341120"/>
                <a:gd name="connsiteX9" fmla="*/ 5417820 w 5417820"/>
                <a:gd name="connsiteY9" fmla="*/ 1287780 h 1341120"/>
                <a:gd name="connsiteX0" fmla="*/ 0 w 5417820"/>
                <a:gd name="connsiteY0" fmla="*/ 1344930 h 1344930"/>
                <a:gd name="connsiteX1" fmla="*/ 419100 w 5417820"/>
                <a:gd name="connsiteY1" fmla="*/ 1295400 h 1344930"/>
                <a:gd name="connsiteX2" fmla="*/ 925830 w 5417820"/>
                <a:gd name="connsiteY2" fmla="*/ 1009650 h 1344930"/>
                <a:gd name="connsiteX3" fmla="*/ 1924050 w 5417820"/>
                <a:gd name="connsiteY3" fmla="*/ 967740 h 1344930"/>
                <a:gd name="connsiteX4" fmla="*/ 2922270 w 5417820"/>
                <a:gd name="connsiteY4" fmla="*/ 0 h 1344930"/>
                <a:gd name="connsiteX5" fmla="*/ 3432810 w 5417820"/>
                <a:gd name="connsiteY5" fmla="*/ 369570 h 1344930"/>
                <a:gd name="connsiteX6" fmla="*/ 3912870 w 5417820"/>
                <a:gd name="connsiteY6" fmla="*/ 800100 h 1344930"/>
                <a:gd name="connsiteX7" fmla="*/ 4419600 w 5417820"/>
                <a:gd name="connsiteY7" fmla="*/ 1028700 h 1344930"/>
                <a:gd name="connsiteX8" fmla="*/ 4907280 w 5417820"/>
                <a:gd name="connsiteY8" fmla="*/ 1177290 h 1344930"/>
                <a:gd name="connsiteX9" fmla="*/ 5417820 w 5417820"/>
                <a:gd name="connsiteY9" fmla="*/ 1291590 h 1344930"/>
                <a:gd name="connsiteX0" fmla="*/ 0 w 5417820"/>
                <a:gd name="connsiteY0" fmla="*/ 1344930 h 1344930"/>
                <a:gd name="connsiteX1" fmla="*/ 419100 w 5417820"/>
                <a:gd name="connsiteY1" fmla="*/ 1295400 h 1344930"/>
                <a:gd name="connsiteX2" fmla="*/ 925830 w 5417820"/>
                <a:gd name="connsiteY2" fmla="*/ 1009650 h 1344930"/>
                <a:gd name="connsiteX3" fmla="*/ 1924050 w 5417820"/>
                <a:gd name="connsiteY3" fmla="*/ 963930 h 1344930"/>
                <a:gd name="connsiteX4" fmla="*/ 2922270 w 5417820"/>
                <a:gd name="connsiteY4" fmla="*/ 0 h 1344930"/>
                <a:gd name="connsiteX5" fmla="*/ 3432810 w 5417820"/>
                <a:gd name="connsiteY5" fmla="*/ 369570 h 1344930"/>
                <a:gd name="connsiteX6" fmla="*/ 3912870 w 5417820"/>
                <a:gd name="connsiteY6" fmla="*/ 800100 h 1344930"/>
                <a:gd name="connsiteX7" fmla="*/ 4419600 w 5417820"/>
                <a:gd name="connsiteY7" fmla="*/ 1028700 h 1344930"/>
                <a:gd name="connsiteX8" fmla="*/ 4907280 w 5417820"/>
                <a:gd name="connsiteY8" fmla="*/ 1177290 h 1344930"/>
                <a:gd name="connsiteX9" fmla="*/ 5417820 w 5417820"/>
                <a:gd name="connsiteY9" fmla="*/ 1291590 h 1344930"/>
                <a:gd name="connsiteX0" fmla="*/ 0 w 5417820"/>
                <a:gd name="connsiteY0" fmla="*/ 1329690 h 1329690"/>
                <a:gd name="connsiteX1" fmla="*/ 419100 w 5417820"/>
                <a:gd name="connsiteY1" fmla="*/ 1295400 h 1329690"/>
                <a:gd name="connsiteX2" fmla="*/ 925830 w 5417820"/>
                <a:gd name="connsiteY2" fmla="*/ 1009650 h 1329690"/>
                <a:gd name="connsiteX3" fmla="*/ 1924050 w 5417820"/>
                <a:gd name="connsiteY3" fmla="*/ 963930 h 1329690"/>
                <a:gd name="connsiteX4" fmla="*/ 2922270 w 5417820"/>
                <a:gd name="connsiteY4" fmla="*/ 0 h 1329690"/>
                <a:gd name="connsiteX5" fmla="*/ 3432810 w 5417820"/>
                <a:gd name="connsiteY5" fmla="*/ 369570 h 1329690"/>
                <a:gd name="connsiteX6" fmla="*/ 3912870 w 5417820"/>
                <a:gd name="connsiteY6" fmla="*/ 800100 h 1329690"/>
                <a:gd name="connsiteX7" fmla="*/ 4419600 w 5417820"/>
                <a:gd name="connsiteY7" fmla="*/ 1028700 h 1329690"/>
                <a:gd name="connsiteX8" fmla="*/ 4907280 w 5417820"/>
                <a:gd name="connsiteY8" fmla="*/ 1177290 h 1329690"/>
                <a:gd name="connsiteX9" fmla="*/ 5417820 w 5417820"/>
                <a:gd name="connsiteY9" fmla="*/ 1291590 h 1329690"/>
                <a:gd name="connsiteX0" fmla="*/ 0 w 5420591"/>
                <a:gd name="connsiteY0" fmla="*/ 1329690 h 1329690"/>
                <a:gd name="connsiteX1" fmla="*/ 419100 w 5420591"/>
                <a:gd name="connsiteY1" fmla="*/ 1295400 h 1329690"/>
                <a:gd name="connsiteX2" fmla="*/ 925830 w 5420591"/>
                <a:gd name="connsiteY2" fmla="*/ 1009650 h 1329690"/>
                <a:gd name="connsiteX3" fmla="*/ 1924050 w 5420591"/>
                <a:gd name="connsiteY3" fmla="*/ 963930 h 1329690"/>
                <a:gd name="connsiteX4" fmla="*/ 2922270 w 5420591"/>
                <a:gd name="connsiteY4" fmla="*/ 0 h 1329690"/>
                <a:gd name="connsiteX5" fmla="*/ 3432810 w 5420591"/>
                <a:gd name="connsiteY5" fmla="*/ 369570 h 1329690"/>
                <a:gd name="connsiteX6" fmla="*/ 3912870 w 5420591"/>
                <a:gd name="connsiteY6" fmla="*/ 800100 h 1329690"/>
                <a:gd name="connsiteX7" fmla="*/ 4419600 w 5420591"/>
                <a:gd name="connsiteY7" fmla="*/ 1028700 h 1329690"/>
                <a:gd name="connsiteX8" fmla="*/ 4907280 w 5420591"/>
                <a:gd name="connsiteY8" fmla="*/ 1177290 h 1329690"/>
                <a:gd name="connsiteX9" fmla="*/ 5420591 w 5420591"/>
                <a:gd name="connsiteY9" fmla="*/ 1291590 h 1329690"/>
                <a:gd name="connsiteX0" fmla="*/ 0 w 5420591"/>
                <a:gd name="connsiteY0" fmla="*/ 1329690 h 1329690"/>
                <a:gd name="connsiteX1" fmla="*/ 419100 w 5420591"/>
                <a:gd name="connsiteY1" fmla="*/ 1295400 h 1329690"/>
                <a:gd name="connsiteX2" fmla="*/ 922326 w 5420591"/>
                <a:gd name="connsiteY2" fmla="*/ 1002643 h 1329690"/>
                <a:gd name="connsiteX3" fmla="*/ 1924050 w 5420591"/>
                <a:gd name="connsiteY3" fmla="*/ 963930 h 1329690"/>
                <a:gd name="connsiteX4" fmla="*/ 2922270 w 5420591"/>
                <a:gd name="connsiteY4" fmla="*/ 0 h 1329690"/>
                <a:gd name="connsiteX5" fmla="*/ 3432810 w 5420591"/>
                <a:gd name="connsiteY5" fmla="*/ 369570 h 1329690"/>
                <a:gd name="connsiteX6" fmla="*/ 3912870 w 5420591"/>
                <a:gd name="connsiteY6" fmla="*/ 800100 h 1329690"/>
                <a:gd name="connsiteX7" fmla="*/ 4419600 w 5420591"/>
                <a:gd name="connsiteY7" fmla="*/ 1028700 h 1329690"/>
                <a:gd name="connsiteX8" fmla="*/ 4907280 w 5420591"/>
                <a:gd name="connsiteY8" fmla="*/ 1177290 h 1329690"/>
                <a:gd name="connsiteX9" fmla="*/ 5420591 w 5420591"/>
                <a:gd name="connsiteY9" fmla="*/ 1291590 h 1329690"/>
                <a:gd name="connsiteX0" fmla="*/ 0 w 5420591"/>
                <a:gd name="connsiteY0" fmla="*/ 1322602 h 1322602"/>
                <a:gd name="connsiteX1" fmla="*/ 419100 w 5420591"/>
                <a:gd name="connsiteY1" fmla="*/ 1295400 h 1322602"/>
                <a:gd name="connsiteX2" fmla="*/ 922326 w 5420591"/>
                <a:gd name="connsiteY2" fmla="*/ 1002643 h 1322602"/>
                <a:gd name="connsiteX3" fmla="*/ 1924050 w 5420591"/>
                <a:gd name="connsiteY3" fmla="*/ 963930 h 1322602"/>
                <a:gd name="connsiteX4" fmla="*/ 2922270 w 5420591"/>
                <a:gd name="connsiteY4" fmla="*/ 0 h 1322602"/>
                <a:gd name="connsiteX5" fmla="*/ 3432810 w 5420591"/>
                <a:gd name="connsiteY5" fmla="*/ 369570 h 1322602"/>
                <a:gd name="connsiteX6" fmla="*/ 3912870 w 5420591"/>
                <a:gd name="connsiteY6" fmla="*/ 800100 h 1322602"/>
                <a:gd name="connsiteX7" fmla="*/ 4419600 w 5420591"/>
                <a:gd name="connsiteY7" fmla="*/ 1028700 h 1322602"/>
                <a:gd name="connsiteX8" fmla="*/ 4907280 w 5420591"/>
                <a:gd name="connsiteY8" fmla="*/ 1177290 h 1322602"/>
                <a:gd name="connsiteX9" fmla="*/ 5420591 w 5420591"/>
                <a:gd name="connsiteY9" fmla="*/ 1291590 h 1322602"/>
                <a:gd name="connsiteX0" fmla="*/ 0 w 5508014"/>
                <a:gd name="connsiteY0" fmla="*/ 1324965 h 1324965"/>
                <a:gd name="connsiteX1" fmla="*/ 506523 w 5508014"/>
                <a:gd name="connsiteY1" fmla="*/ 1295400 h 1324965"/>
                <a:gd name="connsiteX2" fmla="*/ 1009749 w 5508014"/>
                <a:gd name="connsiteY2" fmla="*/ 1002643 h 1324965"/>
                <a:gd name="connsiteX3" fmla="*/ 2011473 w 5508014"/>
                <a:gd name="connsiteY3" fmla="*/ 963930 h 1324965"/>
                <a:gd name="connsiteX4" fmla="*/ 3009693 w 5508014"/>
                <a:gd name="connsiteY4" fmla="*/ 0 h 1324965"/>
                <a:gd name="connsiteX5" fmla="*/ 3520233 w 5508014"/>
                <a:gd name="connsiteY5" fmla="*/ 369570 h 1324965"/>
                <a:gd name="connsiteX6" fmla="*/ 4000293 w 5508014"/>
                <a:gd name="connsiteY6" fmla="*/ 800100 h 1324965"/>
                <a:gd name="connsiteX7" fmla="*/ 4507023 w 5508014"/>
                <a:gd name="connsiteY7" fmla="*/ 1028700 h 1324965"/>
                <a:gd name="connsiteX8" fmla="*/ 4994703 w 5508014"/>
                <a:gd name="connsiteY8" fmla="*/ 1177290 h 1324965"/>
                <a:gd name="connsiteX9" fmla="*/ 5508014 w 5508014"/>
                <a:gd name="connsiteY9" fmla="*/ 1291590 h 1324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8014" h="1324965">
                  <a:moveTo>
                    <a:pt x="0" y="1324965"/>
                  </a:moveTo>
                  <a:lnTo>
                    <a:pt x="506523" y="1295400"/>
                  </a:lnTo>
                  <a:lnTo>
                    <a:pt x="1009749" y="1002643"/>
                  </a:lnTo>
                  <a:lnTo>
                    <a:pt x="2011473" y="963930"/>
                  </a:lnTo>
                  <a:lnTo>
                    <a:pt x="3009693" y="0"/>
                  </a:lnTo>
                  <a:lnTo>
                    <a:pt x="3520233" y="369570"/>
                  </a:lnTo>
                  <a:lnTo>
                    <a:pt x="4000293" y="800100"/>
                  </a:lnTo>
                  <a:lnTo>
                    <a:pt x="4507023" y="1028700"/>
                  </a:lnTo>
                  <a:lnTo>
                    <a:pt x="4994703" y="1177290"/>
                  </a:lnTo>
                  <a:lnTo>
                    <a:pt x="5508014" y="1291590"/>
                  </a:lnTo>
                </a:path>
              </a:pathLst>
            </a:custGeom>
            <a:noFill/>
            <a:ln w="19050">
              <a:noFill/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251CBC1-870C-4889-A1DA-DA1F15A92AC4}"/>
                </a:ext>
              </a:extLst>
            </p:cNvPr>
            <p:cNvSpPr/>
            <p:nvPr/>
          </p:nvSpPr>
          <p:spPr bwMode="gray">
            <a:xfrm>
              <a:off x="1376443" y="4461509"/>
              <a:ext cx="5474630" cy="1090498"/>
            </a:xfrm>
            <a:custGeom>
              <a:avLst/>
              <a:gdLst>
                <a:gd name="connsiteX0" fmla="*/ 0 w 5334000"/>
                <a:gd name="connsiteY0" fmla="*/ 1101090 h 1101090"/>
                <a:gd name="connsiteX1" fmla="*/ 331470 w 5334000"/>
                <a:gd name="connsiteY1" fmla="*/ 1066800 h 1101090"/>
                <a:gd name="connsiteX2" fmla="*/ 815340 w 5334000"/>
                <a:gd name="connsiteY2" fmla="*/ 788670 h 1101090"/>
                <a:gd name="connsiteX3" fmla="*/ 1318260 w 5334000"/>
                <a:gd name="connsiteY3" fmla="*/ 628650 h 1101090"/>
                <a:gd name="connsiteX4" fmla="*/ 1847850 w 5334000"/>
                <a:gd name="connsiteY4" fmla="*/ 556260 h 1101090"/>
                <a:gd name="connsiteX5" fmla="*/ 2346960 w 5334000"/>
                <a:gd name="connsiteY5" fmla="*/ 628650 h 1101090"/>
                <a:gd name="connsiteX6" fmla="*/ 2861310 w 5334000"/>
                <a:gd name="connsiteY6" fmla="*/ 621030 h 1101090"/>
                <a:gd name="connsiteX7" fmla="*/ 3352800 w 5334000"/>
                <a:gd name="connsiteY7" fmla="*/ 217170 h 1101090"/>
                <a:gd name="connsiteX8" fmla="*/ 3840480 w 5334000"/>
                <a:gd name="connsiteY8" fmla="*/ 0 h 1101090"/>
                <a:gd name="connsiteX9" fmla="*/ 4278630 w 5334000"/>
                <a:gd name="connsiteY9" fmla="*/ 438150 h 1101090"/>
                <a:gd name="connsiteX10" fmla="*/ 4842510 w 5334000"/>
                <a:gd name="connsiteY10" fmla="*/ 895350 h 1101090"/>
                <a:gd name="connsiteX11" fmla="*/ 5334000 w 5334000"/>
                <a:gd name="connsiteY11" fmla="*/ 1043940 h 1101090"/>
                <a:gd name="connsiteX0" fmla="*/ 0 w 5334000"/>
                <a:gd name="connsiteY0" fmla="*/ 1101090 h 1101090"/>
                <a:gd name="connsiteX1" fmla="*/ 331470 w 5334000"/>
                <a:gd name="connsiteY1" fmla="*/ 1066800 h 1101090"/>
                <a:gd name="connsiteX2" fmla="*/ 815340 w 5334000"/>
                <a:gd name="connsiteY2" fmla="*/ 788670 h 1101090"/>
                <a:gd name="connsiteX3" fmla="*/ 1318260 w 5334000"/>
                <a:gd name="connsiteY3" fmla="*/ 628650 h 1101090"/>
                <a:gd name="connsiteX4" fmla="*/ 1847850 w 5334000"/>
                <a:gd name="connsiteY4" fmla="*/ 556260 h 1101090"/>
                <a:gd name="connsiteX5" fmla="*/ 2346960 w 5334000"/>
                <a:gd name="connsiteY5" fmla="*/ 628650 h 1101090"/>
                <a:gd name="connsiteX6" fmla="*/ 2861310 w 5334000"/>
                <a:gd name="connsiteY6" fmla="*/ 617220 h 1101090"/>
                <a:gd name="connsiteX7" fmla="*/ 3352800 w 5334000"/>
                <a:gd name="connsiteY7" fmla="*/ 217170 h 1101090"/>
                <a:gd name="connsiteX8" fmla="*/ 3840480 w 5334000"/>
                <a:gd name="connsiteY8" fmla="*/ 0 h 1101090"/>
                <a:gd name="connsiteX9" fmla="*/ 4278630 w 5334000"/>
                <a:gd name="connsiteY9" fmla="*/ 438150 h 1101090"/>
                <a:gd name="connsiteX10" fmla="*/ 4842510 w 5334000"/>
                <a:gd name="connsiteY10" fmla="*/ 895350 h 1101090"/>
                <a:gd name="connsiteX11" fmla="*/ 5334000 w 5334000"/>
                <a:gd name="connsiteY11" fmla="*/ 1043940 h 1101090"/>
                <a:gd name="connsiteX0" fmla="*/ 0 w 5342313"/>
                <a:gd name="connsiteY0" fmla="*/ 1101090 h 1101090"/>
                <a:gd name="connsiteX1" fmla="*/ 331470 w 5342313"/>
                <a:gd name="connsiteY1" fmla="*/ 1066800 h 1101090"/>
                <a:gd name="connsiteX2" fmla="*/ 815340 w 5342313"/>
                <a:gd name="connsiteY2" fmla="*/ 788670 h 1101090"/>
                <a:gd name="connsiteX3" fmla="*/ 1318260 w 5342313"/>
                <a:gd name="connsiteY3" fmla="*/ 628650 h 1101090"/>
                <a:gd name="connsiteX4" fmla="*/ 1847850 w 5342313"/>
                <a:gd name="connsiteY4" fmla="*/ 556260 h 1101090"/>
                <a:gd name="connsiteX5" fmla="*/ 2346960 w 5342313"/>
                <a:gd name="connsiteY5" fmla="*/ 628650 h 1101090"/>
                <a:gd name="connsiteX6" fmla="*/ 2861310 w 5342313"/>
                <a:gd name="connsiteY6" fmla="*/ 617220 h 1101090"/>
                <a:gd name="connsiteX7" fmla="*/ 3352800 w 5342313"/>
                <a:gd name="connsiteY7" fmla="*/ 217170 h 1101090"/>
                <a:gd name="connsiteX8" fmla="*/ 3840480 w 5342313"/>
                <a:gd name="connsiteY8" fmla="*/ 0 h 1101090"/>
                <a:gd name="connsiteX9" fmla="*/ 4278630 w 5342313"/>
                <a:gd name="connsiteY9" fmla="*/ 438150 h 1101090"/>
                <a:gd name="connsiteX10" fmla="*/ 4842510 w 5342313"/>
                <a:gd name="connsiteY10" fmla="*/ 895350 h 1101090"/>
                <a:gd name="connsiteX11" fmla="*/ 5342313 w 5342313"/>
                <a:gd name="connsiteY11" fmla="*/ 1043940 h 1101090"/>
                <a:gd name="connsiteX0" fmla="*/ 0 w 5342313"/>
                <a:gd name="connsiteY0" fmla="*/ 1097587 h 1097587"/>
                <a:gd name="connsiteX1" fmla="*/ 331470 w 5342313"/>
                <a:gd name="connsiteY1" fmla="*/ 1066800 h 1097587"/>
                <a:gd name="connsiteX2" fmla="*/ 815340 w 5342313"/>
                <a:gd name="connsiteY2" fmla="*/ 788670 h 1097587"/>
                <a:gd name="connsiteX3" fmla="*/ 1318260 w 5342313"/>
                <a:gd name="connsiteY3" fmla="*/ 628650 h 1097587"/>
                <a:gd name="connsiteX4" fmla="*/ 1847850 w 5342313"/>
                <a:gd name="connsiteY4" fmla="*/ 556260 h 1097587"/>
                <a:gd name="connsiteX5" fmla="*/ 2346960 w 5342313"/>
                <a:gd name="connsiteY5" fmla="*/ 628650 h 1097587"/>
                <a:gd name="connsiteX6" fmla="*/ 2861310 w 5342313"/>
                <a:gd name="connsiteY6" fmla="*/ 617220 h 1097587"/>
                <a:gd name="connsiteX7" fmla="*/ 3352800 w 5342313"/>
                <a:gd name="connsiteY7" fmla="*/ 217170 h 1097587"/>
                <a:gd name="connsiteX8" fmla="*/ 3840480 w 5342313"/>
                <a:gd name="connsiteY8" fmla="*/ 0 h 1097587"/>
                <a:gd name="connsiteX9" fmla="*/ 4278630 w 5342313"/>
                <a:gd name="connsiteY9" fmla="*/ 438150 h 1097587"/>
                <a:gd name="connsiteX10" fmla="*/ 4842510 w 5342313"/>
                <a:gd name="connsiteY10" fmla="*/ 895350 h 1097587"/>
                <a:gd name="connsiteX11" fmla="*/ 5342313 w 5342313"/>
                <a:gd name="connsiteY11" fmla="*/ 1043940 h 1097587"/>
                <a:gd name="connsiteX0" fmla="*/ 0 w 5342313"/>
                <a:gd name="connsiteY0" fmla="*/ 1097587 h 1097587"/>
                <a:gd name="connsiteX1" fmla="*/ 331470 w 5342313"/>
                <a:gd name="connsiteY1" fmla="*/ 1066800 h 1097587"/>
                <a:gd name="connsiteX2" fmla="*/ 815340 w 5342313"/>
                <a:gd name="connsiteY2" fmla="*/ 788670 h 1097587"/>
                <a:gd name="connsiteX3" fmla="*/ 1318260 w 5342313"/>
                <a:gd name="connsiteY3" fmla="*/ 628650 h 1097587"/>
                <a:gd name="connsiteX4" fmla="*/ 1847850 w 5342313"/>
                <a:gd name="connsiteY4" fmla="*/ 556260 h 1097587"/>
                <a:gd name="connsiteX5" fmla="*/ 2346960 w 5342313"/>
                <a:gd name="connsiteY5" fmla="*/ 628650 h 1097587"/>
                <a:gd name="connsiteX6" fmla="*/ 2854303 w 5342313"/>
                <a:gd name="connsiteY6" fmla="*/ 617220 h 1097587"/>
                <a:gd name="connsiteX7" fmla="*/ 3352800 w 5342313"/>
                <a:gd name="connsiteY7" fmla="*/ 217170 h 1097587"/>
                <a:gd name="connsiteX8" fmla="*/ 3840480 w 5342313"/>
                <a:gd name="connsiteY8" fmla="*/ 0 h 1097587"/>
                <a:gd name="connsiteX9" fmla="*/ 4278630 w 5342313"/>
                <a:gd name="connsiteY9" fmla="*/ 438150 h 1097587"/>
                <a:gd name="connsiteX10" fmla="*/ 4842510 w 5342313"/>
                <a:gd name="connsiteY10" fmla="*/ 895350 h 1097587"/>
                <a:gd name="connsiteX11" fmla="*/ 5342313 w 5342313"/>
                <a:gd name="connsiteY11" fmla="*/ 1043940 h 1097587"/>
                <a:gd name="connsiteX0" fmla="*/ 0 w 5462816"/>
                <a:gd name="connsiteY0" fmla="*/ 1095224 h 1095224"/>
                <a:gd name="connsiteX1" fmla="*/ 451973 w 5462816"/>
                <a:gd name="connsiteY1" fmla="*/ 1066800 h 1095224"/>
                <a:gd name="connsiteX2" fmla="*/ 935843 w 5462816"/>
                <a:gd name="connsiteY2" fmla="*/ 788670 h 1095224"/>
                <a:gd name="connsiteX3" fmla="*/ 1438763 w 5462816"/>
                <a:gd name="connsiteY3" fmla="*/ 628650 h 1095224"/>
                <a:gd name="connsiteX4" fmla="*/ 1968353 w 5462816"/>
                <a:gd name="connsiteY4" fmla="*/ 556260 h 1095224"/>
                <a:gd name="connsiteX5" fmla="*/ 2467463 w 5462816"/>
                <a:gd name="connsiteY5" fmla="*/ 628650 h 1095224"/>
                <a:gd name="connsiteX6" fmla="*/ 2974806 w 5462816"/>
                <a:gd name="connsiteY6" fmla="*/ 617220 h 1095224"/>
                <a:gd name="connsiteX7" fmla="*/ 3473303 w 5462816"/>
                <a:gd name="connsiteY7" fmla="*/ 217170 h 1095224"/>
                <a:gd name="connsiteX8" fmla="*/ 3960983 w 5462816"/>
                <a:gd name="connsiteY8" fmla="*/ 0 h 1095224"/>
                <a:gd name="connsiteX9" fmla="*/ 4399133 w 5462816"/>
                <a:gd name="connsiteY9" fmla="*/ 438150 h 1095224"/>
                <a:gd name="connsiteX10" fmla="*/ 4963013 w 5462816"/>
                <a:gd name="connsiteY10" fmla="*/ 895350 h 1095224"/>
                <a:gd name="connsiteX11" fmla="*/ 5462816 w 5462816"/>
                <a:gd name="connsiteY11" fmla="*/ 1043940 h 1095224"/>
                <a:gd name="connsiteX0" fmla="*/ 0 w 5474630"/>
                <a:gd name="connsiteY0" fmla="*/ 1090498 h 1090498"/>
                <a:gd name="connsiteX1" fmla="*/ 463787 w 5474630"/>
                <a:gd name="connsiteY1" fmla="*/ 1066800 h 1090498"/>
                <a:gd name="connsiteX2" fmla="*/ 947657 w 5474630"/>
                <a:gd name="connsiteY2" fmla="*/ 788670 h 1090498"/>
                <a:gd name="connsiteX3" fmla="*/ 1450577 w 5474630"/>
                <a:gd name="connsiteY3" fmla="*/ 628650 h 1090498"/>
                <a:gd name="connsiteX4" fmla="*/ 1980167 w 5474630"/>
                <a:gd name="connsiteY4" fmla="*/ 556260 h 1090498"/>
                <a:gd name="connsiteX5" fmla="*/ 2479277 w 5474630"/>
                <a:gd name="connsiteY5" fmla="*/ 628650 h 1090498"/>
                <a:gd name="connsiteX6" fmla="*/ 2986620 w 5474630"/>
                <a:gd name="connsiteY6" fmla="*/ 617220 h 1090498"/>
                <a:gd name="connsiteX7" fmla="*/ 3485117 w 5474630"/>
                <a:gd name="connsiteY7" fmla="*/ 217170 h 1090498"/>
                <a:gd name="connsiteX8" fmla="*/ 3972797 w 5474630"/>
                <a:gd name="connsiteY8" fmla="*/ 0 h 1090498"/>
                <a:gd name="connsiteX9" fmla="*/ 4410947 w 5474630"/>
                <a:gd name="connsiteY9" fmla="*/ 438150 h 1090498"/>
                <a:gd name="connsiteX10" fmla="*/ 4974827 w 5474630"/>
                <a:gd name="connsiteY10" fmla="*/ 895350 h 1090498"/>
                <a:gd name="connsiteX11" fmla="*/ 5474630 w 5474630"/>
                <a:gd name="connsiteY11" fmla="*/ 1043940 h 1090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74630" h="1090498">
                  <a:moveTo>
                    <a:pt x="0" y="1090498"/>
                  </a:moveTo>
                  <a:lnTo>
                    <a:pt x="463787" y="1066800"/>
                  </a:lnTo>
                  <a:lnTo>
                    <a:pt x="947657" y="788670"/>
                  </a:lnTo>
                  <a:lnTo>
                    <a:pt x="1450577" y="628650"/>
                  </a:lnTo>
                  <a:lnTo>
                    <a:pt x="1980167" y="556260"/>
                  </a:lnTo>
                  <a:lnTo>
                    <a:pt x="2479277" y="628650"/>
                  </a:lnTo>
                  <a:lnTo>
                    <a:pt x="2986620" y="617220"/>
                  </a:lnTo>
                  <a:lnTo>
                    <a:pt x="3485117" y="217170"/>
                  </a:lnTo>
                  <a:lnTo>
                    <a:pt x="3972797" y="0"/>
                  </a:lnTo>
                  <a:lnTo>
                    <a:pt x="4410947" y="438150"/>
                  </a:lnTo>
                  <a:lnTo>
                    <a:pt x="4974827" y="895350"/>
                  </a:lnTo>
                  <a:lnTo>
                    <a:pt x="5474630" y="1043940"/>
                  </a:lnTo>
                </a:path>
              </a:pathLst>
            </a:custGeom>
            <a:noFill/>
            <a:ln w="19050">
              <a:noFill/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4" name="точки">
            <a:extLst>
              <a:ext uri="{FF2B5EF4-FFF2-40B4-BE49-F238E27FC236}">
                <a16:creationId xmlns:a16="http://schemas.microsoft.com/office/drawing/2014/main" id="{EB262AFB-86C0-4341-A3B2-492B62A039F3}"/>
              </a:ext>
            </a:extLst>
          </p:cNvPr>
          <p:cNvGrpSpPr/>
          <p:nvPr/>
        </p:nvGrpSpPr>
        <p:grpSpPr>
          <a:xfrm>
            <a:off x="2334996" y="2370070"/>
            <a:ext cx="4056350" cy="2741210"/>
            <a:chOff x="2334996" y="2658187"/>
            <a:chExt cx="4056350" cy="2741210"/>
          </a:xfrm>
          <a:solidFill>
            <a:schemeClr val="tx1"/>
          </a:solidFill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EAD84C7-8214-4A52-9F43-CB3746EEA990}"/>
                </a:ext>
              </a:extLst>
            </p:cNvPr>
            <p:cNvSpPr/>
            <p:nvPr/>
          </p:nvSpPr>
          <p:spPr bwMode="gray">
            <a:xfrm>
              <a:off x="3322831" y="2658187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B2D6BCD-6216-4E2F-AC35-14344C98BCB1}"/>
                </a:ext>
              </a:extLst>
            </p:cNvPr>
            <p:cNvSpPr/>
            <p:nvPr/>
          </p:nvSpPr>
          <p:spPr bwMode="gray">
            <a:xfrm>
              <a:off x="4321051" y="3163537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0DF122F-E2C2-4155-BD8C-7244AFBFFA97}"/>
                </a:ext>
              </a:extLst>
            </p:cNvPr>
            <p:cNvSpPr/>
            <p:nvPr/>
          </p:nvSpPr>
          <p:spPr bwMode="gray">
            <a:xfrm>
              <a:off x="5317440" y="3181471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3242B02-0701-4CCE-AEC7-CD884EF7D752}"/>
                </a:ext>
              </a:extLst>
            </p:cNvPr>
            <p:cNvSpPr/>
            <p:nvPr/>
          </p:nvSpPr>
          <p:spPr bwMode="gray">
            <a:xfrm>
              <a:off x="6323277" y="3654741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D566867-DD6B-4015-9A7A-6709C10A4454}"/>
                </a:ext>
              </a:extLst>
            </p:cNvPr>
            <p:cNvSpPr/>
            <p:nvPr/>
          </p:nvSpPr>
          <p:spPr bwMode="gray">
            <a:xfrm>
              <a:off x="2334996" y="3613014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1491A54-2B47-4D6C-8B60-FDE07973F483}"/>
                </a:ext>
              </a:extLst>
            </p:cNvPr>
            <p:cNvSpPr/>
            <p:nvPr/>
          </p:nvSpPr>
          <p:spPr bwMode="gray">
            <a:xfrm>
              <a:off x="2334996" y="4323011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88E1B37-1BEF-4BF9-9981-1DA9AE2ACFB4}"/>
                </a:ext>
              </a:extLst>
            </p:cNvPr>
            <p:cNvSpPr/>
            <p:nvPr/>
          </p:nvSpPr>
          <p:spPr bwMode="gray">
            <a:xfrm>
              <a:off x="2334996" y="5205983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86D7A33-AA5E-4021-81D3-48F440CCCE45}"/>
                </a:ext>
              </a:extLst>
            </p:cNvPr>
            <p:cNvSpPr/>
            <p:nvPr/>
          </p:nvSpPr>
          <p:spPr bwMode="gray">
            <a:xfrm>
              <a:off x="3322831" y="4283930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D807140-4EFA-49A0-B1F4-E07018A07F8F}"/>
                </a:ext>
              </a:extLst>
            </p:cNvPr>
            <p:cNvSpPr/>
            <p:nvPr/>
          </p:nvSpPr>
          <p:spPr bwMode="gray">
            <a:xfrm>
              <a:off x="3322831" y="4984318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BD70E78-E2CD-4B77-AC31-2502DFC6B856}"/>
                </a:ext>
              </a:extLst>
            </p:cNvPr>
            <p:cNvSpPr/>
            <p:nvPr/>
          </p:nvSpPr>
          <p:spPr bwMode="gray">
            <a:xfrm>
              <a:off x="4321051" y="3315918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DCB12A8-FB65-4937-9A57-42BECE4F7701}"/>
                </a:ext>
              </a:extLst>
            </p:cNvPr>
            <p:cNvSpPr/>
            <p:nvPr/>
          </p:nvSpPr>
          <p:spPr bwMode="gray">
            <a:xfrm>
              <a:off x="4321051" y="5050558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B006EAC-03EB-48C7-9C6C-134982C84866}"/>
                </a:ext>
              </a:extLst>
            </p:cNvPr>
            <p:cNvSpPr/>
            <p:nvPr/>
          </p:nvSpPr>
          <p:spPr bwMode="gray">
            <a:xfrm>
              <a:off x="5317440" y="4115305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718DBB8-E42E-4224-B4BC-3B5558940BFF}"/>
                </a:ext>
              </a:extLst>
            </p:cNvPr>
            <p:cNvSpPr/>
            <p:nvPr/>
          </p:nvSpPr>
          <p:spPr bwMode="gray">
            <a:xfrm>
              <a:off x="5317440" y="4435075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CE64D418-51C1-44BF-BD39-F4B79C607294}"/>
                </a:ext>
              </a:extLst>
            </p:cNvPr>
            <p:cNvSpPr/>
            <p:nvPr/>
          </p:nvSpPr>
          <p:spPr bwMode="gray">
            <a:xfrm>
              <a:off x="6323277" y="4503195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CA47C43-754D-4817-A049-3BE65AC7E89B}"/>
                </a:ext>
              </a:extLst>
            </p:cNvPr>
            <p:cNvSpPr/>
            <p:nvPr/>
          </p:nvSpPr>
          <p:spPr bwMode="gray">
            <a:xfrm>
              <a:off x="6323277" y="5331328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FA27096-6FE2-4BCF-8886-8E65991F69A0}"/>
              </a:ext>
            </a:extLst>
          </p:cNvPr>
          <p:cNvSpPr txBox="1"/>
          <p:nvPr/>
        </p:nvSpPr>
        <p:spPr>
          <a:xfrm>
            <a:off x="3217249" y="3775296"/>
            <a:ext cx="203317" cy="146463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850</a:t>
            </a:r>
            <a:endParaRPr lang="ru-RU" sz="900" dirty="0" err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5AE49-6E38-4769-92FA-00291916507E}"/>
              </a:ext>
            </a:extLst>
          </p:cNvPr>
          <p:cNvSpPr txBox="1"/>
          <p:nvPr/>
        </p:nvSpPr>
        <p:spPr>
          <a:xfrm>
            <a:off x="5219256" y="3615393"/>
            <a:ext cx="264436" cy="113944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1200</a:t>
            </a:r>
            <a:endParaRPr lang="ru-RU" sz="900" dirty="0" err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DC07DD-7075-4C5B-A800-AE44B057EFB3}"/>
              </a:ext>
            </a:extLst>
          </p:cNvPr>
          <p:cNvSpPr txBox="1"/>
          <p:nvPr/>
        </p:nvSpPr>
        <p:spPr>
          <a:xfrm>
            <a:off x="2229871" y="3874710"/>
            <a:ext cx="276628" cy="124487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750</a:t>
            </a:r>
            <a:endParaRPr lang="ru-RU" sz="900" dirty="0" err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D221C1-3481-436E-9787-51FBBCF9C054}"/>
              </a:ext>
            </a:extLst>
          </p:cNvPr>
          <p:cNvSpPr txBox="1"/>
          <p:nvPr/>
        </p:nvSpPr>
        <p:spPr>
          <a:xfrm>
            <a:off x="2229871" y="4742070"/>
            <a:ext cx="276627" cy="124091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750</a:t>
            </a:r>
            <a:endParaRPr lang="ru-RU" sz="900" dirty="0" err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EF6631-29A5-4234-A4E2-4232BA4F9A6E}"/>
              </a:ext>
            </a:extLst>
          </p:cNvPr>
          <p:cNvSpPr txBox="1"/>
          <p:nvPr/>
        </p:nvSpPr>
        <p:spPr>
          <a:xfrm>
            <a:off x="3217249" y="4420747"/>
            <a:ext cx="266812" cy="136594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1250</a:t>
            </a:r>
            <a:endParaRPr lang="ru-RU" sz="900" dirty="0" err="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933790-8ED9-4143-BF95-470C95CFD394}"/>
              </a:ext>
            </a:extLst>
          </p:cNvPr>
          <p:cNvSpPr txBox="1"/>
          <p:nvPr/>
        </p:nvSpPr>
        <p:spPr>
          <a:xfrm>
            <a:off x="4235936" y="4467194"/>
            <a:ext cx="212534" cy="128700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1100</a:t>
            </a:r>
            <a:endParaRPr lang="ru-RU" sz="900" dirty="0" err="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B4F613-4638-4CB3-9D4B-B8B68B8B1249}"/>
              </a:ext>
            </a:extLst>
          </p:cNvPr>
          <p:cNvSpPr txBox="1"/>
          <p:nvPr/>
        </p:nvSpPr>
        <p:spPr>
          <a:xfrm>
            <a:off x="6256252" y="4002875"/>
            <a:ext cx="276628" cy="142740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350</a:t>
            </a:r>
            <a:endParaRPr lang="ru-RU" sz="900" dirty="0" err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E1A55F-A820-4944-BC1F-F98047904142}"/>
              </a:ext>
            </a:extLst>
          </p:cNvPr>
          <p:cNvSpPr txBox="1"/>
          <p:nvPr/>
        </p:nvSpPr>
        <p:spPr>
          <a:xfrm>
            <a:off x="5933438" y="5025468"/>
            <a:ext cx="276628" cy="12861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>
                <a:solidFill>
                  <a:srgbClr val="86BC25"/>
                </a:solidFill>
                <a:latin typeface="+mj-lt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</a:rPr>
              <a:t>500</a:t>
            </a:r>
            <a:endParaRPr lang="ru-RU" b="1" dirty="0" err="1">
              <a:solidFill>
                <a:schemeClr val="bg1"/>
              </a:solidFill>
            </a:endParaRPr>
          </a:p>
        </p:txBody>
      </p:sp>
      <p:sp>
        <p:nvSpPr>
          <p:cNvPr id="77" name="Rectangle 76">
            <a:hlinkClick r:id="rId3"/>
            <a:extLst>
              <a:ext uri="{FF2B5EF4-FFF2-40B4-BE49-F238E27FC236}">
                <a16:creationId xmlns:a16="http://schemas.microsoft.com/office/drawing/2014/main" id="{051DC0D3-B14F-4C59-B609-BD066ED84D99}"/>
              </a:ext>
            </a:extLst>
          </p:cNvPr>
          <p:cNvSpPr/>
          <p:nvPr/>
        </p:nvSpPr>
        <p:spPr>
          <a:xfrm>
            <a:off x="371701" y="6045827"/>
            <a:ext cx="3811983" cy="17785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NASA (report </a:t>
            </a:r>
            <a:r>
              <a:rPr lang="ru-RU" sz="800" dirty="0"/>
              <a:t>№ </a:t>
            </a:r>
            <a:r>
              <a:rPr lang="en-US" sz="800" dirty="0"/>
              <a:t>IG-20-023)</a:t>
            </a:r>
            <a:endParaRPr lang="ru-RU" sz="8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8D28590E-7A3A-4956-9B55-5E5FACDCE18C}"/>
              </a:ext>
            </a:extLst>
          </p:cNvPr>
          <p:cNvSpPr/>
          <p:nvPr/>
        </p:nvSpPr>
        <p:spPr bwMode="gray">
          <a:xfrm>
            <a:off x="5219256" y="4047851"/>
            <a:ext cx="264436" cy="264436"/>
          </a:xfrm>
          <a:prstGeom prst="ellipse">
            <a:avLst/>
          </a:prstGeom>
          <a:solidFill>
            <a:schemeClr val="tx1">
              <a:alpha val="37000"/>
            </a:schemeClr>
          </a:solidFill>
          <a:ln>
            <a:solidFill>
              <a:srgbClr val="86BC25">
                <a:alpha val="37000"/>
              </a:srgb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FDB83AC-9B36-4839-84AD-AA51C4FF008A}"/>
              </a:ext>
            </a:extLst>
          </p:cNvPr>
          <p:cNvSpPr/>
          <p:nvPr/>
        </p:nvSpPr>
        <p:spPr>
          <a:xfrm>
            <a:off x="7741425" y="3765542"/>
            <a:ext cx="1429921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r>
              <a:rPr lang="en-US" sz="800" dirty="0"/>
              <a:t>NASA faces a growing wave of retirements</a:t>
            </a:r>
            <a:endParaRPr lang="ru-RU" sz="8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29E56873-C866-4E8C-8136-551BA96277C8}"/>
              </a:ext>
            </a:extLst>
          </p:cNvPr>
          <p:cNvSpPr/>
          <p:nvPr/>
        </p:nvSpPr>
        <p:spPr bwMode="gray">
          <a:xfrm>
            <a:off x="6221754" y="4949484"/>
            <a:ext cx="264436" cy="264436"/>
          </a:xfrm>
          <a:prstGeom prst="ellipse">
            <a:avLst/>
          </a:prstGeom>
          <a:solidFill>
            <a:schemeClr val="tx1">
              <a:alpha val="37000"/>
            </a:schemeClr>
          </a:solidFill>
          <a:ln>
            <a:solidFill>
              <a:srgbClr val="86BC25">
                <a:alpha val="37000"/>
              </a:srgb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E6A4A6AD-4E37-4F6B-B7E0-E93639212299}"/>
              </a:ext>
            </a:extLst>
          </p:cNvPr>
          <p:cNvSpPr/>
          <p:nvPr/>
        </p:nvSpPr>
        <p:spPr bwMode="gray">
          <a:xfrm>
            <a:off x="5319446" y="4149014"/>
            <a:ext cx="68069" cy="68069"/>
          </a:xfrm>
          <a:prstGeom prst="ellipse">
            <a:avLst/>
          </a:prstGeom>
          <a:solidFill>
            <a:srgbClr val="75B2D1"/>
          </a:solidFill>
          <a:ln>
            <a:solidFill>
              <a:schemeClr val="bg1"/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4951823-D57C-46C1-8358-C70471E462CC}"/>
              </a:ext>
            </a:extLst>
          </p:cNvPr>
          <p:cNvSpPr/>
          <p:nvPr/>
        </p:nvSpPr>
        <p:spPr bwMode="gray">
          <a:xfrm>
            <a:off x="6325511" y="5040965"/>
            <a:ext cx="68069" cy="68069"/>
          </a:xfrm>
          <a:prstGeom prst="ellipse">
            <a:avLst/>
          </a:prstGeom>
          <a:solidFill>
            <a:srgbClr val="75B2D1"/>
          </a:solidFill>
          <a:ln>
            <a:solidFill>
              <a:schemeClr val="bg1"/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490B3D9A-6328-4308-A357-34CADE88B61A}"/>
              </a:ext>
            </a:extLst>
          </p:cNvPr>
          <p:cNvSpPr/>
          <p:nvPr/>
        </p:nvSpPr>
        <p:spPr bwMode="gray">
          <a:xfrm>
            <a:off x="5483692" y="3846668"/>
            <a:ext cx="2137410" cy="243840"/>
          </a:xfrm>
          <a:custGeom>
            <a:avLst/>
            <a:gdLst>
              <a:gd name="connsiteX0" fmla="*/ 0 w 1912620"/>
              <a:gd name="connsiteY0" fmla="*/ 243840 h 243840"/>
              <a:gd name="connsiteX1" fmla="*/ 243840 w 1912620"/>
              <a:gd name="connsiteY1" fmla="*/ 0 h 243840"/>
              <a:gd name="connsiteX2" fmla="*/ 1912620 w 1912620"/>
              <a:gd name="connsiteY2" fmla="*/ 0 h 243840"/>
              <a:gd name="connsiteX0" fmla="*/ 0 w 2030730"/>
              <a:gd name="connsiteY0" fmla="*/ 243840 h 243840"/>
              <a:gd name="connsiteX1" fmla="*/ 243840 w 2030730"/>
              <a:gd name="connsiteY1" fmla="*/ 0 h 243840"/>
              <a:gd name="connsiteX2" fmla="*/ 2030730 w 2030730"/>
              <a:gd name="connsiteY2" fmla="*/ 0 h 243840"/>
              <a:gd name="connsiteX0" fmla="*/ 0 w 2137410"/>
              <a:gd name="connsiteY0" fmla="*/ 243840 h 243840"/>
              <a:gd name="connsiteX1" fmla="*/ 243840 w 2137410"/>
              <a:gd name="connsiteY1" fmla="*/ 0 h 243840"/>
              <a:gd name="connsiteX2" fmla="*/ 2137410 w 2137410"/>
              <a:gd name="connsiteY2" fmla="*/ 0 h 24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37410" h="243840">
                <a:moveTo>
                  <a:pt x="0" y="243840"/>
                </a:moveTo>
                <a:lnTo>
                  <a:pt x="243840" y="0"/>
                </a:lnTo>
                <a:lnTo>
                  <a:pt x="2137410" y="0"/>
                </a:lnTo>
              </a:path>
            </a:pathLst>
          </a:cu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0ECCA053-5197-499E-82FF-69E76697BD69}"/>
              </a:ext>
            </a:extLst>
          </p:cNvPr>
          <p:cNvSpPr/>
          <p:nvPr/>
        </p:nvSpPr>
        <p:spPr bwMode="gray">
          <a:xfrm>
            <a:off x="6490573" y="3987668"/>
            <a:ext cx="1130102" cy="950124"/>
          </a:xfrm>
          <a:custGeom>
            <a:avLst/>
            <a:gdLst>
              <a:gd name="connsiteX0" fmla="*/ 0 w 981512"/>
              <a:gd name="connsiteY0" fmla="*/ 805344 h 805344"/>
              <a:gd name="connsiteX1" fmla="*/ 805344 w 981512"/>
              <a:gd name="connsiteY1" fmla="*/ 0 h 805344"/>
              <a:gd name="connsiteX2" fmla="*/ 981512 w 981512"/>
              <a:gd name="connsiteY2" fmla="*/ 0 h 805344"/>
              <a:gd name="connsiteX0" fmla="*/ 0 w 1130102"/>
              <a:gd name="connsiteY0" fmla="*/ 950124 h 950124"/>
              <a:gd name="connsiteX1" fmla="*/ 953934 w 1130102"/>
              <a:gd name="connsiteY1" fmla="*/ 0 h 950124"/>
              <a:gd name="connsiteX2" fmla="*/ 1130102 w 1130102"/>
              <a:gd name="connsiteY2" fmla="*/ 0 h 950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0102" h="950124">
                <a:moveTo>
                  <a:pt x="0" y="950124"/>
                </a:moveTo>
                <a:lnTo>
                  <a:pt x="953934" y="0"/>
                </a:lnTo>
                <a:lnTo>
                  <a:pt x="1130102" y="0"/>
                </a:lnTo>
              </a:path>
            </a:pathLst>
          </a:cu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442F08D-41BB-42AB-B6CA-2684B6C49E96}"/>
              </a:ext>
            </a:extLst>
          </p:cNvPr>
          <p:cNvSpPr txBox="1"/>
          <p:nvPr/>
        </p:nvSpPr>
        <p:spPr>
          <a:xfrm>
            <a:off x="3198239" y="4801198"/>
            <a:ext cx="266812" cy="13659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700" i="1" dirty="0"/>
              <a:t>Drop</a:t>
            </a:r>
            <a:endParaRPr lang="ru-RU" sz="700" i="1" dirty="0" err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E00DEF-5637-4332-9BDF-42EA513BB463}"/>
              </a:ext>
            </a:extLst>
          </p:cNvPr>
          <p:cNvSpPr txBox="1"/>
          <p:nvPr/>
        </p:nvSpPr>
        <p:spPr>
          <a:xfrm>
            <a:off x="4223235" y="3219983"/>
            <a:ext cx="320825" cy="146642"/>
          </a:xfrm>
          <a:prstGeom prst="rect">
            <a:avLst/>
          </a:prstGeom>
          <a:solidFill>
            <a:srgbClr val="75B2D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3000</a:t>
            </a:r>
            <a:endParaRPr lang="ru-RU" sz="900" dirty="0" err="1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6B972E3-74DF-4735-84B3-416504F46077}"/>
              </a:ext>
            </a:extLst>
          </p:cNvPr>
          <p:cNvSpPr txBox="1"/>
          <p:nvPr/>
        </p:nvSpPr>
        <p:spPr>
          <a:xfrm>
            <a:off x="4226851" y="4857048"/>
            <a:ext cx="266812" cy="13659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700" i="1" dirty="0"/>
              <a:t>Drop</a:t>
            </a:r>
            <a:endParaRPr lang="ru-RU" sz="700" i="1" dirty="0" err="1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EEEB80B-F3AC-4E88-9003-3B85D74E9DA6}"/>
              </a:ext>
            </a:extLst>
          </p:cNvPr>
          <p:cNvSpPr txBox="1"/>
          <p:nvPr/>
        </p:nvSpPr>
        <p:spPr>
          <a:xfrm>
            <a:off x="5173167" y="4352450"/>
            <a:ext cx="377749" cy="13659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700" i="1" dirty="0"/>
              <a:t>Growth</a:t>
            </a:r>
            <a:endParaRPr lang="ru-RU" sz="700" i="1" dirty="0" err="1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BD3B704-5060-45AF-9254-9EB4C9DF8146}"/>
              </a:ext>
            </a:extLst>
          </p:cNvPr>
          <p:cNvSpPr txBox="1"/>
          <p:nvPr/>
        </p:nvSpPr>
        <p:spPr>
          <a:xfrm>
            <a:off x="6174648" y="5187519"/>
            <a:ext cx="377749" cy="13659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700" i="1" dirty="0"/>
              <a:t>Growth</a:t>
            </a:r>
            <a:endParaRPr lang="ru-RU" sz="700" i="1" dirty="0" err="1"/>
          </a:p>
        </p:txBody>
      </p:sp>
    </p:spTree>
    <p:extLst>
      <p:ext uri="{BB962C8B-B14F-4D97-AF65-F5344CB8AC3E}">
        <p14:creationId xmlns:p14="http://schemas.microsoft.com/office/powerpoint/2010/main" val="31612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38547AE-5F62-45EA-B1B7-385CD6988041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E438591-CB7E-47B7-AE1E-F8F4198336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0893601"/>
              </p:ext>
            </p:extLst>
          </p:nvPr>
        </p:nvGraphicFramePr>
        <p:xfrm>
          <a:off x="730006" y="1518313"/>
          <a:ext cx="3368465" cy="1485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836E3D8-AA34-4695-969E-ECE1198D6376}"/>
              </a:ext>
            </a:extLst>
          </p:cNvPr>
          <p:cNvSpPr txBox="1"/>
          <p:nvPr/>
        </p:nvSpPr>
        <p:spPr>
          <a:xfrm>
            <a:off x="370083" y="2181945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rgbClr val="00A3E0"/>
                </a:solidFill>
                <a:latin typeface="+mj-lt"/>
              </a:rPr>
              <a:t>1.4x</a:t>
            </a:r>
            <a:endParaRPr lang="ru-RU" sz="1000" b="1" dirty="0" err="1">
              <a:solidFill>
                <a:srgbClr val="00A3E0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2BB12E-0348-4F43-8BB2-30D03384A938}"/>
              </a:ext>
            </a:extLst>
          </p:cNvPr>
          <p:cNvSpPr txBox="1"/>
          <p:nvPr/>
        </p:nvSpPr>
        <p:spPr>
          <a:xfrm>
            <a:off x="3575783" y="2174724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rgbClr val="00A3E0"/>
                </a:solidFill>
                <a:latin typeface="+mj-lt"/>
              </a:rPr>
              <a:t>1.8x</a:t>
            </a:r>
            <a:endParaRPr lang="ru-RU" sz="1000" b="1" dirty="0" err="1">
              <a:solidFill>
                <a:srgbClr val="00A3E0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3AE453-0115-4446-9663-73386186777F}"/>
              </a:ext>
            </a:extLst>
          </p:cNvPr>
          <p:cNvSpPr txBox="1"/>
          <p:nvPr/>
        </p:nvSpPr>
        <p:spPr>
          <a:xfrm>
            <a:off x="2852689" y="1586005"/>
            <a:ext cx="999247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EV/2025 EBIT</a:t>
            </a:r>
            <a:endParaRPr lang="ru-RU" sz="1000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B06092-14CD-4C78-A5B1-15D04DD8664E}"/>
              </a:ext>
            </a:extLst>
          </p:cNvPr>
          <p:cNvSpPr txBox="1"/>
          <p:nvPr/>
        </p:nvSpPr>
        <p:spPr>
          <a:xfrm>
            <a:off x="381000" y="576000"/>
            <a:ext cx="5725159" cy="47037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Barcode (stripe chart)</a:t>
            </a:r>
            <a:endParaRPr lang="ru-RU" dirty="0" err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C9E377-515E-44A6-AFB2-D7A871D84E94}"/>
              </a:ext>
            </a:extLst>
          </p:cNvPr>
          <p:cNvSpPr/>
          <p:nvPr/>
        </p:nvSpPr>
        <p:spPr>
          <a:xfrm>
            <a:off x="7354099" y="1622023"/>
            <a:ext cx="2181818" cy="1338828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dirty="0"/>
              <a:t>Our estimates of Company X’s business enterprise value are generally in line with market benchmarks, however the range is fairly wide.</a:t>
            </a:r>
          </a:p>
          <a:p>
            <a:endParaRPr lang="en-US" sz="900" dirty="0"/>
          </a:p>
          <a:p>
            <a:r>
              <a:rPr lang="en-US" sz="900" b="1" dirty="0">
                <a:solidFill>
                  <a:srgbClr val="ED8B00"/>
                </a:solidFill>
                <a:latin typeface="+mj-lt"/>
              </a:rPr>
              <a:t>[1] </a:t>
            </a:r>
            <a:r>
              <a:rPr lang="en-US" sz="900" dirty="0"/>
              <a:t>XXX</a:t>
            </a:r>
          </a:p>
          <a:p>
            <a:endParaRPr lang="en-US" sz="900" dirty="0"/>
          </a:p>
          <a:p>
            <a:r>
              <a:rPr lang="en-US" sz="900" b="1" dirty="0">
                <a:solidFill>
                  <a:srgbClr val="ED8B00"/>
                </a:solidFill>
                <a:latin typeface="+mj-lt"/>
              </a:rPr>
              <a:t>[2] </a:t>
            </a:r>
            <a:r>
              <a:rPr lang="en-US" sz="900" dirty="0"/>
              <a:t>XXX</a:t>
            </a:r>
            <a:endParaRPr lang="ru-RU" sz="900" dirty="0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2F036B-6C75-4075-88AC-6D03150A8BCC}"/>
              </a:ext>
            </a:extLst>
          </p:cNvPr>
          <p:cNvSpPr txBox="1"/>
          <p:nvPr/>
        </p:nvSpPr>
        <p:spPr>
          <a:xfrm>
            <a:off x="7354099" y="1312469"/>
            <a:ext cx="836590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 b="1">
                <a:latin typeface="+mj-lt"/>
              </a:defRPr>
            </a:lvl1pPr>
          </a:lstStyle>
          <a:p>
            <a:r>
              <a:rPr lang="en-US" dirty="0"/>
              <a:t>Key findings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5C6A11B-FA3D-4CA8-B5F3-4400D777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47" y="2549308"/>
            <a:ext cx="279608" cy="2893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86F6223-4132-41F8-B8BE-83D2977EB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2342" y="2549308"/>
            <a:ext cx="323441" cy="28939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372C678-1F0D-4290-8658-F6D2B7CF2A94}"/>
              </a:ext>
            </a:extLst>
          </p:cNvPr>
          <p:cNvSpPr txBox="1"/>
          <p:nvPr/>
        </p:nvSpPr>
        <p:spPr>
          <a:xfrm>
            <a:off x="709913" y="1312469"/>
            <a:ext cx="1202871" cy="15116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High-growth peers</a:t>
            </a:r>
          </a:p>
        </p:txBody>
      </p:sp>
      <p:graphicFrame>
        <p:nvGraphicFramePr>
          <p:cNvPr id="42" name="Chart 41">
            <a:extLst>
              <a:ext uri="{FF2B5EF4-FFF2-40B4-BE49-F238E27FC236}">
                <a16:creationId xmlns:a16="http://schemas.microsoft.com/office/drawing/2014/main" id="{288764DD-A103-4A55-BD85-FDC785EF90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2588389"/>
              </p:ext>
            </p:extLst>
          </p:nvPr>
        </p:nvGraphicFramePr>
        <p:xfrm>
          <a:off x="730006" y="3276641"/>
          <a:ext cx="6604000" cy="1485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9F561432-3D51-426A-8B88-FBBB001C2FCD}"/>
              </a:ext>
            </a:extLst>
          </p:cNvPr>
          <p:cNvSpPr txBox="1"/>
          <p:nvPr/>
        </p:nvSpPr>
        <p:spPr>
          <a:xfrm>
            <a:off x="370083" y="3940273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rgbClr val="00A3E0"/>
                </a:solidFill>
                <a:latin typeface="+mj-lt"/>
              </a:rPr>
              <a:t>30.0x</a:t>
            </a:r>
            <a:endParaRPr lang="ru-RU" sz="1000" b="1" dirty="0" err="1">
              <a:solidFill>
                <a:srgbClr val="00A3E0"/>
              </a:solidFill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8C741C-3897-47CD-A14C-CCCA7B34F378}"/>
              </a:ext>
            </a:extLst>
          </p:cNvPr>
          <p:cNvSpPr txBox="1"/>
          <p:nvPr/>
        </p:nvSpPr>
        <p:spPr>
          <a:xfrm>
            <a:off x="6130803" y="3940273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rgbClr val="00A3E0"/>
                </a:solidFill>
                <a:latin typeface="+mj-lt"/>
              </a:rPr>
              <a:t>170.3x</a:t>
            </a:r>
            <a:endParaRPr lang="ru-RU" sz="1000" b="1" dirty="0" err="1">
              <a:solidFill>
                <a:srgbClr val="00A3E0"/>
              </a:solidFill>
              <a:latin typeface="+mj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EDEF6B-BB77-4676-9B39-4CE9C46E1451}"/>
              </a:ext>
            </a:extLst>
          </p:cNvPr>
          <p:cNvSpPr txBox="1"/>
          <p:nvPr/>
        </p:nvSpPr>
        <p:spPr>
          <a:xfrm>
            <a:off x="2852689" y="3344644"/>
            <a:ext cx="999247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EV/2024 EBIT</a:t>
            </a:r>
            <a:endParaRPr lang="ru-RU" sz="1000" dirty="0" err="1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23288E0-4EC7-4678-9D3B-99E1396FED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913" y="4376001"/>
            <a:ext cx="362642" cy="19842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AE59A5C-D99C-40FD-836E-7A1A73BD1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859" y="3357126"/>
            <a:ext cx="279608" cy="28939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F7EEB0B-8CA0-4418-B32C-EFE83FF84A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5745" y="4357567"/>
            <a:ext cx="410967" cy="17650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C259437-8D1A-4643-8DC1-D97110468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237" y="4299285"/>
            <a:ext cx="323441" cy="28939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5E3E8E3-695B-4B41-94FF-6576F0F57D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2172" y="4332114"/>
            <a:ext cx="448926" cy="223736"/>
          </a:xfrm>
          <a:prstGeom prst="rect">
            <a:avLst/>
          </a:prstGeom>
        </p:spPr>
      </p:pic>
      <p:graphicFrame>
        <p:nvGraphicFramePr>
          <p:cNvPr id="51" name="Chart 50">
            <a:extLst>
              <a:ext uri="{FF2B5EF4-FFF2-40B4-BE49-F238E27FC236}">
                <a16:creationId xmlns:a16="http://schemas.microsoft.com/office/drawing/2014/main" id="{AB4C011D-80CB-4E56-BD7E-998EDC8896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7622754"/>
              </p:ext>
            </p:extLst>
          </p:nvPr>
        </p:nvGraphicFramePr>
        <p:xfrm>
          <a:off x="730006" y="4755772"/>
          <a:ext cx="6604000" cy="1485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B62EB76D-C55E-4499-AB95-34D8F0A3086C}"/>
              </a:ext>
            </a:extLst>
          </p:cNvPr>
          <p:cNvSpPr txBox="1"/>
          <p:nvPr/>
        </p:nvSpPr>
        <p:spPr>
          <a:xfrm>
            <a:off x="370083" y="5419404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rgbClr val="00A3E0"/>
                </a:solidFill>
                <a:latin typeface="+mj-lt"/>
              </a:rPr>
              <a:t>60.0x</a:t>
            </a:r>
            <a:endParaRPr lang="ru-RU" sz="1000" b="1" dirty="0" err="1">
              <a:solidFill>
                <a:srgbClr val="00A3E0"/>
              </a:solidFill>
              <a:latin typeface="+mj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0C1470-F0EF-4ACD-8233-6835D9777E20}"/>
              </a:ext>
            </a:extLst>
          </p:cNvPr>
          <p:cNvSpPr txBox="1"/>
          <p:nvPr/>
        </p:nvSpPr>
        <p:spPr>
          <a:xfrm>
            <a:off x="6130803" y="5419404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rgbClr val="00A3E0"/>
                </a:solidFill>
                <a:latin typeface="+mj-lt"/>
              </a:rPr>
              <a:t>200.5x</a:t>
            </a:r>
            <a:endParaRPr lang="ru-RU" sz="1000" b="1" dirty="0" err="1">
              <a:solidFill>
                <a:srgbClr val="00A3E0"/>
              </a:solidFill>
              <a:latin typeface="+mj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F6DF60-7F90-4568-AC57-7F102548FD8B}"/>
              </a:ext>
            </a:extLst>
          </p:cNvPr>
          <p:cNvSpPr txBox="1"/>
          <p:nvPr/>
        </p:nvSpPr>
        <p:spPr>
          <a:xfrm>
            <a:off x="2852689" y="4852958"/>
            <a:ext cx="999247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EV/2025 EBIT</a:t>
            </a:r>
            <a:endParaRPr lang="ru-RU" sz="1000" dirty="0" err="1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E8E15DE0-3811-4597-BEDF-6AF3778A8F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913" y="5855132"/>
            <a:ext cx="362642" cy="19842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FF11EF3-46C2-45C2-AA0E-940D5E8A7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626" y="4902886"/>
            <a:ext cx="279608" cy="289394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3A41F450-21D4-400A-B6C7-1EB2198C61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5011" y="5895587"/>
            <a:ext cx="410967" cy="17650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B302670-E552-4CDA-AD4D-DE48D5424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237" y="5778416"/>
            <a:ext cx="323441" cy="28939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829F0E2D-D4DE-440A-A488-552CAC6A64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3802" y="5811245"/>
            <a:ext cx="448926" cy="223736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847E7B90-2B9C-489A-8F62-34A925725392}"/>
              </a:ext>
            </a:extLst>
          </p:cNvPr>
          <p:cNvSpPr txBox="1"/>
          <p:nvPr/>
        </p:nvSpPr>
        <p:spPr>
          <a:xfrm>
            <a:off x="709913" y="3071618"/>
            <a:ext cx="1202871" cy="15116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 b="1">
                <a:latin typeface="+mj-lt"/>
              </a:defRPr>
            </a:lvl1pPr>
          </a:lstStyle>
          <a:p>
            <a:r>
              <a:rPr lang="en-US" dirty="0"/>
              <a:t>Automotive companies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A8BE80C-5F4D-4CB8-AA90-33A815618174}"/>
              </a:ext>
            </a:extLst>
          </p:cNvPr>
          <p:cNvSpPr/>
          <p:nvPr/>
        </p:nvSpPr>
        <p:spPr bwMode="gray">
          <a:xfrm>
            <a:off x="380999" y="1269783"/>
            <a:ext cx="202444" cy="202444"/>
          </a:xfrm>
          <a:prstGeom prst="ellipse">
            <a:avLst/>
          </a:prstGeom>
          <a:solidFill>
            <a:srgbClr val="ED8B0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1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1</a:t>
            </a:r>
            <a:endParaRPr lang="ru-RU" sz="1100" b="1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670366B-5C7A-4A85-ACC0-89107BF339CA}"/>
              </a:ext>
            </a:extLst>
          </p:cNvPr>
          <p:cNvSpPr/>
          <p:nvPr/>
        </p:nvSpPr>
        <p:spPr bwMode="gray">
          <a:xfrm>
            <a:off x="380999" y="3020340"/>
            <a:ext cx="202444" cy="202444"/>
          </a:xfrm>
          <a:prstGeom prst="ellipse">
            <a:avLst/>
          </a:prstGeom>
          <a:solidFill>
            <a:srgbClr val="ED8B0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1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2</a:t>
            </a:r>
            <a:endParaRPr lang="ru-RU" sz="1100" b="1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60858FA-C04A-4741-AB11-9CFFCF8E5FA1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57559DA-5F47-455A-912A-31114BD3B730}"/>
              </a:ext>
            </a:extLst>
          </p:cNvPr>
          <p:cNvSpPr/>
          <p:nvPr/>
        </p:nvSpPr>
        <p:spPr>
          <a:xfrm>
            <a:off x="370083" y="6231892"/>
            <a:ext cx="3811983" cy="246234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random data</a:t>
            </a:r>
          </a:p>
          <a:p>
            <a:r>
              <a:rPr lang="en-US" sz="800" dirty="0">
                <a:solidFill>
                  <a:prstClr val="black"/>
                </a:solidFill>
              </a:rPr>
              <a:t>Design: I. Daraev</a:t>
            </a:r>
            <a:endParaRPr lang="en-US" sz="800" dirty="0"/>
          </a:p>
          <a:p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80275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0C32B62-E877-48EA-BB0C-0ABB77007868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6F238A-C3FB-43E1-9190-EA4B00161876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Value map</a:t>
            </a:r>
            <a:endParaRPr lang="ru-RU" dirty="0" err="1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E0A51B9-044E-4003-93AE-75A52138B9DB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9092EFD-AFD1-462C-8EA2-8E093563AA8D}"/>
              </a:ext>
            </a:extLst>
          </p:cNvPr>
          <p:cNvSpPr/>
          <p:nvPr/>
        </p:nvSpPr>
        <p:spPr bwMode="gray">
          <a:xfrm>
            <a:off x="3714885" y="1595336"/>
            <a:ext cx="1021405" cy="43279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0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C2AFDD0-B2B0-4639-8CBC-4FE561AF9C6F}"/>
              </a:ext>
            </a:extLst>
          </p:cNvPr>
          <p:cNvCxnSpPr>
            <a:cxnSpLocks/>
          </p:cNvCxnSpPr>
          <p:nvPr/>
        </p:nvCxnSpPr>
        <p:spPr>
          <a:xfrm>
            <a:off x="4201291" y="1913698"/>
            <a:ext cx="0" cy="4029902"/>
          </a:xfrm>
          <a:prstGeom prst="line">
            <a:avLst/>
          </a:prstGeom>
          <a:ln>
            <a:solidFill>
              <a:srgbClr val="046A3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3" name="Chart 82">
            <a:extLst>
              <a:ext uri="{FF2B5EF4-FFF2-40B4-BE49-F238E27FC236}">
                <a16:creationId xmlns:a16="http://schemas.microsoft.com/office/drawing/2014/main" id="{BFC94792-877D-4BA0-A6E0-7276D61890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276121"/>
              </p:ext>
            </p:extLst>
          </p:nvPr>
        </p:nvGraphicFramePr>
        <p:xfrm>
          <a:off x="959255" y="1782142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A70AC6DA-05F4-4103-85FD-ECAA4FF0D211}"/>
              </a:ext>
            </a:extLst>
          </p:cNvPr>
          <p:cNvSpPr txBox="1"/>
          <p:nvPr/>
        </p:nvSpPr>
        <p:spPr>
          <a:xfrm>
            <a:off x="3280139" y="2590729"/>
            <a:ext cx="359923" cy="22373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1.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2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14BD039-7005-4645-87F7-A9C3F371B514}"/>
              </a:ext>
            </a:extLst>
          </p:cNvPr>
          <p:cNvSpPr txBox="1"/>
          <p:nvPr/>
        </p:nvSpPr>
        <p:spPr>
          <a:xfrm>
            <a:off x="5020199" y="2590729"/>
            <a:ext cx="359923" cy="31128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2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1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C54B1FE-E80D-459E-8535-164B72564101}"/>
              </a:ext>
            </a:extLst>
          </p:cNvPr>
          <p:cNvSpPr txBox="1"/>
          <p:nvPr/>
        </p:nvSpPr>
        <p:spPr>
          <a:xfrm>
            <a:off x="3130569" y="3569569"/>
            <a:ext cx="359923" cy="1942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0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9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DDB1737-B0C1-4C87-AB81-E755569EB07A}"/>
              </a:ext>
            </a:extLst>
          </p:cNvPr>
          <p:cNvSpPr txBox="1"/>
          <p:nvPr/>
        </p:nvSpPr>
        <p:spPr>
          <a:xfrm>
            <a:off x="4979024" y="3569569"/>
            <a:ext cx="359923" cy="31128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1.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8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B20BC22-A2AF-460E-8AB4-101F65521795}"/>
              </a:ext>
            </a:extLst>
          </p:cNvPr>
          <p:cNvSpPr txBox="1"/>
          <p:nvPr/>
        </p:nvSpPr>
        <p:spPr>
          <a:xfrm>
            <a:off x="2003681" y="4558489"/>
            <a:ext cx="359923" cy="22373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4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3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7BC9876-692F-4814-B21F-74ED0EDFED28}"/>
              </a:ext>
            </a:extLst>
          </p:cNvPr>
          <p:cNvSpPr txBox="1"/>
          <p:nvPr/>
        </p:nvSpPr>
        <p:spPr>
          <a:xfrm>
            <a:off x="2914715" y="4558489"/>
            <a:ext cx="359923" cy="22373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9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9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388C60C-A970-47BC-ADD6-F8F2A316CBC7}"/>
              </a:ext>
            </a:extLst>
          </p:cNvPr>
          <p:cNvSpPr txBox="1"/>
          <p:nvPr/>
        </p:nvSpPr>
        <p:spPr>
          <a:xfrm>
            <a:off x="2622468" y="5497312"/>
            <a:ext cx="359923" cy="21887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3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7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F239060-229B-4D38-B956-6836B6769B2E}"/>
              </a:ext>
            </a:extLst>
          </p:cNvPr>
          <p:cNvSpPr txBox="1"/>
          <p:nvPr/>
        </p:nvSpPr>
        <p:spPr>
          <a:xfrm>
            <a:off x="3877360" y="5497312"/>
            <a:ext cx="359923" cy="21887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6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9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9CA2822-30DA-4FFA-ACFF-3618926A3A7B}"/>
              </a:ext>
            </a:extLst>
          </p:cNvPr>
          <p:cNvSpPr txBox="1"/>
          <p:nvPr/>
        </p:nvSpPr>
        <p:spPr>
          <a:xfrm>
            <a:off x="370083" y="2840475"/>
            <a:ext cx="999247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EV/Revenue</a:t>
            </a:r>
            <a:endParaRPr lang="ru-RU" sz="1000" dirty="0" err="1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60A4706-52EC-4BC6-9081-A36E1C3AE726}"/>
              </a:ext>
            </a:extLst>
          </p:cNvPr>
          <p:cNvSpPr txBox="1"/>
          <p:nvPr/>
        </p:nvSpPr>
        <p:spPr>
          <a:xfrm>
            <a:off x="370083" y="4688730"/>
            <a:ext cx="999247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EV/EBITDA</a:t>
            </a:r>
            <a:endParaRPr lang="ru-RU" sz="1000" dirty="0" err="1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35E691B-712F-4F50-9A5F-0E428B3088A7}"/>
              </a:ext>
            </a:extLst>
          </p:cNvPr>
          <p:cNvCxnSpPr/>
          <p:nvPr/>
        </p:nvCxnSpPr>
        <p:spPr>
          <a:xfrm>
            <a:off x="3714885" y="1595336"/>
            <a:ext cx="1011677" cy="0"/>
          </a:xfrm>
          <a:prstGeom prst="line">
            <a:avLst/>
          </a:prstGeom>
          <a:ln>
            <a:solidFill>
              <a:schemeClr val="tx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E508F7B8-7767-4E67-A51C-A28303FEDBCC}"/>
              </a:ext>
            </a:extLst>
          </p:cNvPr>
          <p:cNvSpPr txBox="1"/>
          <p:nvPr/>
        </p:nvSpPr>
        <p:spPr>
          <a:xfrm>
            <a:off x="3689484" y="1174164"/>
            <a:ext cx="999247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dirty="0"/>
              <a:t>Range</a:t>
            </a:r>
            <a:endParaRPr lang="ru-RU" sz="1000" dirty="0" err="1"/>
          </a:p>
        </p:txBody>
      </p:sp>
      <p:sp>
        <p:nvSpPr>
          <p:cNvPr id="98" name="Isosceles Triangle 97">
            <a:extLst>
              <a:ext uri="{FF2B5EF4-FFF2-40B4-BE49-F238E27FC236}">
                <a16:creationId xmlns:a16="http://schemas.microsoft.com/office/drawing/2014/main" id="{672A9702-3D67-495C-95DE-8C4EF6FE4609}"/>
              </a:ext>
            </a:extLst>
          </p:cNvPr>
          <p:cNvSpPr/>
          <p:nvPr/>
        </p:nvSpPr>
        <p:spPr bwMode="gray">
          <a:xfrm flipV="1">
            <a:off x="4140642" y="1804154"/>
            <a:ext cx="121298" cy="67461"/>
          </a:xfrm>
          <a:prstGeom prst="triangle">
            <a:avLst/>
          </a:prstGeom>
          <a:solidFill>
            <a:srgbClr val="00A3E0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0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648472AB-27C3-45C8-BCC6-AE6B901F9D90}"/>
              </a:ext>
            </a:extLst>
          </p:cNvPr>
          <p:cNvCxnSpPr>
            <a:cxnSpLocks/>
          </p:cNvCxnSpPr>
          <p:nvPr/>
        </p:nvCxnSpPr>
        <p:spPr>
          <a:xfrm>
            <a:off x="381001" y="3895089"/>
            <a:ext cx="554711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4B212F92-9241-4E33-B7C1-C8B65900EC48}"/>
              </a:ext>
            </a:extLst>
          </p:cNvPr>
          <p:cNvSpPr txBox="1"/>
          <p:nvPr/>
        </p:nvSpPr>
        <p:spPr>
          <a:xfrm>
            <a:off x="385139" y="1271016"/>
            <a:ext cx="3152416" cy="1794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 b="1">
                <a:latin typeface="+mj-lt"/>
              </a:defRPr>
            </a:lvl1pPr>
          </a:lstStyle>
          <a:p>
            <a:r>
              <a:rPr lang="en-US" dirty="0"/>
              <a:t>IPO valuation</a:t>
            </a:r>
            <a:r>
              <a:rPr lang="ru-RU" dirty="0"/>
              <a:t>, </a:t>
            </a:r>
            <a:r>
              <a:rPr lang="en-US" dirty="0" err="1"/>
              <a:t>bln</a:t>
            </a:r>
            <a:r>
              <a:rPr lang="en-US" dirty="0"/>
              <a:t> USD</a:t>
            </a:r>
          </a:p>
          <a:p>
            <a:r>
              <a:rPr lang="en-US" dirty="0"/>
              <a:t> </a:t>
            </a:r>
            <a:endParaRPr lang="ru-RU" dirty="0" err="1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5681F38-8209-4218-B8F7-689823CDE929}"/>
              </a:ext>
            </a:extLst>
          </p:cNvPr>
          <p:cNvSpPr/>
          <p:nvPr/>
        </p:nvSpPr>
        <p:spPr>
          <a:xfrm>
            <a:off x="7354099" y="1585282"/>
            <a:ext cx="2181818" cy="300627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</a:pPr>
            <a:r>
              <a:rPr lang="de-DE" sz="900" dirty="0" err="1">
                <a:solidFill>
                  <a:srgbClr val="000000"/>
                </a:solidFill>
              </a:rPr>
              <a:t>Lorem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ipsum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sit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amet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consectetur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adipiscing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elit</a:t>
            </a:r>
            <a:r>
              <a:rPr lang="de-DE" sz="900" dirty="0">
                <a:solidFill>
                  <a:srgbClr val="000000"/>
                </a:solidFill>
              </a:rPr>
              <a:t>, sed do </a:t>
            </a:r>
            <a:r>
              <a:rPr lang="de-DE" sz="900" dirty="0" err="1">
                <a:solidFill>
                  <a:srgbClr val="000000"/>
                </a:solidFill>
              </a:rPr>
              <a:t>eiusmod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tempor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incididunt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labore</a:t>
            </a:r>
            <a:r>
              <a:rPr lang="de-DE" sz="900" dirty="0">
                <a:solidFill>
                  <a:srgbClr val="000000"/>
                </a:solidFill>
              </a:rPr>
              <a:t> et </a:t>
            </a:r>
            <a:r>
              <a:rPr lang="de-DE" sz="900" dirty="0" err="1">
                <a:solidFill>
                  <a:srgbClr val="000000"/>
                </a:solidFill>
              </a:rPr>
              <a:t>dolore</a:t>
            </a:r>
            <a:r>
              <a:rPr lang="de-DE" sz="900" dirty="0">
                <a:solidFill>
                  <a:srgbClr val="000000"/>
                </a:solidFill>
              </a:rPr>
              <a:t> magna </a:t>
            </a:r>
            <a:r>
              <a:rPr lang="de-DE" sz="900" dirty="0" err="1">
                <a:solidFill>
                  <a:srgbClr val="000000"/>
                </a:solidFill>
              </a:rPr>
              <a:t>aliqua</a:t>
            </a:r>
            <a:r>
              <a:rPr lang="de-DE" sz="900" dirty="0">
                <a:solidFill>
                  <a:srgbClr val="000000"/>
                </a:solidFill>
              </a:rPr>
              <a:t>.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enim</a:t>
            </a:r>
            <a:r>
              <a:rPr lang="de-DE" sz="900" dirty="0">
                <a:solidFill>
                  <a:srgbClr val="000000"/>
                </a:solidFill>
              </a:rPr>
              <a:t> ad minim </a:t>
            </a:r>
            <a:r>
              <a:rPr lang="de-DE" sz="900" dirty="0" err="1">
                <a:solidFill>
                  <a:srgbClr val="000000"/>
                </a:solidFill>
              </a:rPr>
              <a:t>veniam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quis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nostrud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exercitation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ullamco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laboris</a:t>
            </a:r>
            <a:r>
              <a:rPr lang="de-DE" sz="900" dirty="0">
                <a:solidFill>
                  <a:srgbClr val="000000"/>
                </a:solidFill>
              </a:rPr>
              <a:t> nisi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aliquip</a:t>
            </a:r>
            <a:r>
              <a:rPr lang="de-DE" sz="900" dirty="0">
                <a:solidFill>
                  <a:srgbClr val="000000"/>
                </a:solidFill>
              </a:rPr>
              <a:t> ex </a:t>
            </a:r>
            <a:r>
              <a:rPr lang="de-DE" sz="900" dirty="0" err="1">
                <a:solidFill>
                  <a:srgbClr val="000000"/>
                </a:solidFill>
              </a:rPr>
              <a:t>ea</a:t>
            </a:r>
            <a:r>
              <a:rPr lang="de-DE" sz="900" dirty="0">
                <a:solidFill>
                  <a:srgbClr val="000000"/>
                </a:solidFill>
              </a:rPr>
              <a:t> commodo </a:t>
            </a:r>
            <a:r>
              <a:rPr lang="de-DE" sz="900" dirty="0" err="1">
                <a:solidFill>
                  <a:srgbClr val="000000"/>
                </a:solidFill>
              </a:rPr>
              <a:t>consequat</a:t>
            </a:r>
            <a:r>
              <a:rPr lang="de-DE" sz="900" dirty="0">
                <a:solidFill>
                  <a:srgbClr val="000000"/>
                </a:solidFill>
              </a:rPr>
              <a:t>. Duis </a:t>
            </a:r>
            <a:r>
              <a:rPr lang="de-DE" sz="900" dirty="0" err="1">
                <a:solidFill>
                  <a:srgbClr val="000000"/>
                </a:solidFill>
              </a:rPr>
              <a:t>aute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irure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</a:t>
            </a:r>
            <a:r>
              <a:rPr lang="de-DE" sz="900" dirty="0">
                <a:solidFill>
                  <a:srgbClr val="000000"/>
                </a:solidFill>
              </a:rPr>
              <a:t> in </a:t>
            </a:r>
            <a:r>
              <a:rPr lang="de-DE" sz="900" dirty="0" err="1">
                <a:solidFill>
                  <a:srgbClr val="000000"/>
                </a:solidFill>
              </a:rPr>
              <a:t>reprehenderit</a:t>
            </a:r>
            <a:r>
              <a:rPr lang="de-DE" sz="900" dirty="0">
                <a:solidFill>
                  <a:srgbClr val="000000"/>
                </a:solidFill>
              </a:rPr>
              <a:t> in </a:t>
            </a:r>
            <a:r>
              <a:rPr lang="de-DE" sz="900" dirty="0" err="1">
                <a:solidFill>
                  <a:srgbClr val="000000"/>
                </a:solidFill>
              </a:rPr>
              <a:t>voluptate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velit</a:t>
            </a:r>
            <a:r>
              <a:rPr lang="de-DE" sz="900" dirty="0">
                <a:solidFill>
                  <a:srgbClr val="000000"/>
                </a:solidFill>
              </a:rPr>
              <a:t> esse </a:t>
            </a:r>
            <a:r>
              <a:rPr lang="de-DE" sz="900" dirty="0" err="1">
                <a:solidFill>
                  <a:srgbClr val="000000"/>
                </a:solidFill>
              </a:rPr>
              <a:t>cillum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eu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fugiat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nulla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pariatur</a:t>
            </a:r>
            <a:r>
              <a:rPr lang="de-DE" sz="900" dirty="0">
                <a:solidFill>
                  <a:srgbClr val="000000"/>
                </a:solidFill>
              </a:rPr>
              <a:t>. </a:t>
            </a:r>
            <a:r>
              <a:rPr lang="de-DE" sz="900" dirty="0" err="1">
                <a:solidFill>
                  <a:srgbClr val="000000"/>
                </a:solidFill>
              </a:rPr>
              <a:t>Excepteur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sint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occaecat</a:t>
            </a:r>
            <a:r>
              <a:rPr lang="de-DE" sz="900" dirty="0">
                <a:solidFill>
                  <a:srgbClr val="000000"/>
                </a:solidFill>
              </a:rPr>
              <a:t> cupidatat non </a:t>
            </a:r>
            <a:r>
              <a:rPr lang="de-DE" sz="900" dirty="0" err="1">
                <a:solidFill>
                  <a:srgbClr val="000000"/>
                </a:solidFill>
              </a:rPr>
              <a:t>proident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sunt</a:t>
            </a:r>
            <a:r>
              <a:rPr lang="de-DE" sz="900" dirty="0">
                <a:solidFill>
                  <a:srgbClr val="000000"/>
                </a:solidFill>
              </a:rPr>
              <a:t> in culpa </a:t>
            </a:r>
            <a:r>
              <a:rPr lang="de-DE" sz="900" dirty="0" err="1">
                <a:solidFill>
                  <a:srgbClr val="000000"/>
                </a:solidFill>
              </a:rPr>
              <a:t>qui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officia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deserunt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mollit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anim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id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est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laborum</a:t>
            </a:r>
            <a:r>
              <a:rPr lang="de-DE" sz="900" dirty="0">
                <a:solidFill>
                  <a:srgbClr val="000000"/>
                </a:solidFill>
              </a:rPr>
              <a:t>. Sed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perspiciatis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unde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omnis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iste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natus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error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sit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voluptatem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accusantium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doloremque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laudantium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totam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rem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aperiam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eaque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ipsa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quae</a:t>
            </a:r>
            <a:r>
              <a:rPr lang="de-DE" sz="900" dirty="0">
                <a:solidFill>
                  <a:srgbClr val="000000"/>
                </a:solidFill>
              </a:rPr>
              <a:t> ab </a:t>
            </a:r>
            <a:r>
              <a:rPr lang="de-DE" sz="900" dirty="0" err="1">
                <a:solidFill>
                  <a:srgbClr val="000000"/>
                </a:solidFill>
              </a:rPr>
              <a:t>illo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inventore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veritatis</a:t>
            </a:r>
            <a:r>
              <a:rPr lang="de-DE" sz="900" dirty="0">
                <a:solidFill>
                  <a:srgbClr val="000000"/>
                </a:solidFill>
              </a:rPr>
              <a:t> et quasi </a:t>
            </a:r>
            <a:r>
              <a:rPr lang="de-DE" sz="900" dirty="0" err="1">
                <a:solidFill>
                  <a:srgbClr val="000000"/>
                </a:solidFill>
              </a:rPr>
              <a:t>architecto</a:t>
            </a:r>
            <a:r>
              <a:rPr lang="de-DE" sz="900" dirty="0">
                <a:solidFill>
                  <a:srgbClr val="000000"/>
                </a:solidFill>
              </a:rPr>
              <a:t> beatae </a:t>
            </a:r>
            <a:r>
              <a:rPr lang="de-DE" sz="900" dirty="0" err="1">
                <a:solidFill>
                  <a:srgbClr val="000000"/>
                </a:solidFill>
              </a:rPr>
              <a:t>vitae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dicta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sunt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explicabo</a:t>
            </a:r>
            <a:r>
              <a:rPr lang="de-DE" sz="9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DC6F5F8-542A-4BE2-BAA6-61D8AA1C5479}"/>
              </a:ext>
            </a:extLst>
          </p:cNvPr>
          <p:cNvSpPr/>
          <p:nvPr/>
        </p:nvSpPr>
        <p:spPr>
          <a:xfrm>
            <a:off x="3850045" y="1630029"/>
            <a:ext cx="696023" cy="18130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dirty="0">
                <a:solidFill>
                  <a:srgbClr val="0076A8"/>
                </a:solidFill>
                <a:latin typeface="Montserrat Medium" panose="00000600000000000000" pitchFamily="2" charset="-52"/>
              </a:rPr>
              <a:t>A</a:t>
            </a:r>
            <a:r>
              <a:rPr lang="ru-RU" sz="1000" dirty="0">
                <a:solidFill>
                  <a:srgbClr val="0076A8"/>
                </a:solidFill>
                <a:latin typeface="Montserrat Medium" panose="00000600000000000000" pitchFamily="2" charset="-52"/>
              </a:rPr>
              <a:t>verage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8E3A099-FB34-45FF-B38A-2D032167B7AB}"/>
              </a:ext>
            </a:extLst>
          </p:cNvPr>
          <p:cNvSpPr/>
          <p:nvPr/>
        </p:nvSpPr>
        <p:spPr>
          <a:xfrm>
            <a:off x="370083" y="6231892"/>
            <a:ext cx="3811983" cy="246234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random data</a:t>
            </a:r>
          </a:p>
          <a:p>
            <a:r>
              <a:rPr lang="en-US" sz="800" dirty="0">
                <a:solidFill>
                  <a:prstClr val="black"/>
                </a:solidFill>
              </a:rPr>
              <a:t>Design: I. Daraev</a:t>
            </a:r>
            <a:endParaRPr lang="en-US" sz="800" dirty="0"/>
          </a:p>
          <a:p>
            <a:endParaRPr lang="ru-RU" sz="8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B411CE0-6A2B-4E64-9A5E-99ACA73046D4}"/>
              </a:ext>
            </a:extLst>
          </p:cNvPr>
          <p:cNvSpPr txBox="1"/>
          <p:nvPr/>
        </p:nvSpPr>
        <p:spPr>
          <a:xfrm>
            <a:off x="7354099" y="1312469"/>
            <a:ext cx="836590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 b="1">
                <a:latin typeface="+mj-lt"/>
              </a:defRPr>
            </a:lvl1pPr>
          </a:lstStyle>
          <a:p>
            <a:r>
              <a:rPr lang="en-US" dirty="0"/>
              <a:t>Key findings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BD8A01F-8702-4142-B1EB-8AD801844F97}"/>
              </a:ext>
            </a:extLst>
          </p:cNvPr>
          <p:cNvSpPr txBox="1"/>
          <p:nvPr/>
        </p:nvSpPr>
        <p:spPr>
          <a:xfrm>
            <a:off x="3519790" y="1391613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latin typeface="+mj-lt"/>
              </a:rPr>
              <a:t>15.5</a:t>
            </a:r>
            <a:endParaRPr lang="ru-RU" sz="1000" b="1" dirty="0" err="1">
              <a:latin typeface="+mj-lt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4BBF36B-189F-4D77-807E-05AE4418A1C0}"/>
              </a:ext>
            </a:extLst>
          </p:cNvPr>
          <p:cNvSpPr txBox="1"/>
          <p:nvPr/>
        </p:nvSpPr>
        <p:spPr>
          <a:xfrm>
            <a:off x="4549302" y="1391613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ru-RU" sz="1000" b="1" dirty="0">
                <a:latin typeface="+mj-lt"/>
              </a:rPr>
              <a:t>23</a:t>
            </a:r>
            <a:r>
              <a:rPr lang="en-US" sz="1000" b="1" dirty="0">
                <a:latin typeface="+mj-lt"/>
              </a:rPr>
              <a:t>.5</a:t>
            </a:r>
            <a:endParaRPr lang="ru-RU" sz="1000" b="1" dirty="0" err="1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9A620A-4F5C-4CB4-9374-59C97B2DC0CA}"/>
              </a:ext>
            </a:extLst>
          </p:cNvPr>
          <p:cNvSpPr/>
          <p:nvPr/>
        </p:nvSpPr>
        <p:spPr bwMode="gray">
          <a:xfrm>
            <a:off x="5928119" y="5784980"/>
            <a:ext cx="1435696" cy="317239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141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407B0FC7-29CB-4C11-8197-96779328CFCB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0064BD8-9985-4E3F-A399-97400F021E56}"/>
              </a:ext>
            </a:extLst>
          </p:cNvPr>
          <p:cNvSpPr/>
          <p:nvPr/>
        </p:nvSpPr>
        <p:spPr bwMode="gray">
          <a:xfrm>
            <a:off x="4316977" y="4685113"/>
            <a:ext cx="4077137" cy="1219670"/>
          </a:xfrm>
          <a:custGeom>
            <a:avLst/>
            <a:gdLst>
              <a:gd name="connsiteX0" fmla="*/ 3231 w 4533227"/>
              <a:gd name="connsiteY0" fmla="*/ 1289207 h 1353829"/>
              <a:gd name="connsiteX1" fmla="*/ 1156732 w 4533227"/>
              <a:gd name="connsiteY1" fmla="*/ 1040413 h 1353829"/>
              <a:gd name="connsiteX2" fmla="*/ 1699556 w 4533227"/>
              <a:gd name="connsiteY2" fmla="*/ 1040413 h 1353829"/>
              <a:gd name="connsiteX3" fmla="*/ 2846595 w 4533227"/>
              <a:gd name="connsiteY3" fmla="*/ 361883 h 1353829"/>
              <a:gd name="connsiteX4" fmla="*/ 3382957 w 4533227"/>
              <a:gd name="connsiteY4" fmla="*/ 361883 h 1353829"/>
              <a:gd name="connsiteX5" fmla="*/ 4533227 w 4533227"/>
              <a:gd name="connsiteY5" fmla="*/ 0 h 1353829"/>
              <a:gd name="connsiteX6" fmla="*/ 4533227 w 4533227"/>
              <a:gd name="connsiteY6" fmla="*/ 1353829 h 1353829"/>
              <a:gd name="connsiteX7" fmla="*/ 0 w 4533227"/>
              <a:gd name="connsiteY7" fmla="*/ 1353829 h 1353829"/>
              <a:gd name="connsiteX8" fmla="*/ 3231 w 4533227"/>
              <a:gd name="connsiteY8" fmla="*/ 1289207 h 1353829"/>
              <a:gd name="connsiteX0" fmla="*/ 3231 w 4533227"/>
              <a:gd name="connsiteY0" fmla="*/ 1289207 h 1353829"/>
              <a:gd name="connsiteX1" fmla="*/ 1162447 w 4533227"/>
              <a:gd name="connsiteY1" fmla="*/ 1038508 h 1353829"/>
              <a:gd name="connsiteX2" fmla="*/ 1699556 w 4533227"/>
              <a:gd name="connsiteY2" fmla="*/ 1040413 h 1353829"/>
              <a:gd name="connsiteX3" fmla="*/ 2846595 w 4533227"/>
              <a:gd name="connsiteY3" fmla="*/ 361883 h 1353829"/>
              <a:gd name="connsiteX4" fmla="*/ 3382957 w 4533227"/>
              <a:gd name="connsiteY4" fmla="*/ 361883 h 1353829"/>
              <a:gd name="connsiteX5" fmla="*/ 4533227 w 4533227"/>
              <a:gd name="connsiteY5" fmla="*/ 0 h 1353829"/>
              <a:gd name="connsiteX6" fmla="*/ 4533227 w 4533227"/>
              <a:gd name="connsiteY6" fmla="*/ 1353829 h 1353829"/>
              <a:gd name="connsiteX7" fmla="*/ 0 w 4533227"/>
              <a:gd name="connsiteY7" fmla="*/ 1353829 h 1353829"/>
              <a:gd name="connsiteX8" fmla="*/ 3231 w 4533227"/>
              <a:gd name="connsiteY8" fmla="*/ 1289207 h 1353829"/>
              <a:gd name="connsiteX0" fmla="*/ 3231 w 4533227"/>
              <a:gd name="connsiteY0" fmla="*/ 1289207 h 1353829"/>
              <a:gd name="connsiteX1" fmla="*/ 1162447 w 4533227"/>
              <a:gd name="connsiteY1" fmla="*/ 1032793 h 1353829"/>
              <a:gd name="connsiteX2" fmla="*/ 1699556 w 4533227"/>
              <a:gd name="connsiteY2" fmla="*/ 1040413 h 1353829"/>
              <a:gd name="connsiteX3" fmla="*/ 2846595 w 4533227"/>
              <a:gd name="connsiteY3" fmla="*/ 361883 h 1353829"/>
              <a:gd name="connsiteX4" fmla="*/ 3382957 w 4533227"/>
              <a:gd name="connsiteY4" fmla="*/ 361883 h 1353829"/>
              <a:gd name="connsiteX5" fmla="*/ 4533227 w 4533227"/>
              <a:gd name="connsiteY5" fmla="*/ 0 h 1353829"/>
              <a:gd name="connsiteX6" fmla="*/ 4533227 w 4533227"/>
              <a:gd name="connsiteY6" fmla="*/ 1353829 h 1353829"/>
              <a:gd name="connsiteX7" fmla="*/ 0 w 4533227"/>
              <a:gd name="connsiteY7" fmla="*/ 1353829 h 1353829"/>
              <a:gd name="connsiteX8" fmla="*/ 3231 w 4533227"/>
              <a:gd name="connsiteY8" fmla="*/ 1289207 h 1353829"/>
              <a:gd name="connsiteX0" fmla="*/ 3231 w 4533227"/>
              <a:gd name="connsiteY0" fmla="*/ 1289207 h 1353829"/>
              <a:gd name="connsiteX1" fmla="*/ 1162447 w 4533227"/>
              <a:gd name="connsiteY1" fmla="*/ 1032793 h 1353829"/>
              <a:gd name="connsiteX2" fmla="*/ 1699556 w 4533227"/>
              <a:gd name="connsiteY2" fmla="*/ 1032793 h 1353829"/>
              <a:gd name="connsiteX3" fmla="*/ 2846595 w 4533227"/>
              <a:gd name="connsiteY3" fmla="*/ 361883 h 1353829"/>
              <a:gd name="connsiteX4" fmla="*/ 3382957 w 4533227"/>
              <a:gd name="connsiteY4" fmla="*/ 361883 h 1353829"/>
              <a:gd name="connsiteX5" fmla="*/ 4533227 w 4533227"/>
              <a:gd name="connsiteY5" fmla="*/ 0 h 1353829"/>
              <a:gd name="connsiteX6" fmla="*/ 4533227 w 4533227"/>
              <a:gd name="connsiteY6" fmla="*/ 1353829 h 1353829"/>
              <a:gd name="connsiteX7" fmla="*/ 0 w 4533227"/>
              <a:gd name="connsiteY7" fmla="*/ 1353829 h 1353829"/>
              <a:gd name="connsiteX8" fmla="*/ 3231 w 4533227"/>
              <a:gd name="connsiteY8" fmla="*/ 1289207 h 1353829"/>
              <a:gd name="connsiteX0" fmla="*/ 8946 w 4533227"/>
              <a:gd name="connsiteY0" fmla="*/ 1289207 h 1353829"/>
              <a:gd name="connsiteX1" fmla="*/ 1162447 w 4533227"/>
              <a:gd name="connsiteY1" fmla="*/ 1032793 h 1353829"/>
              <a:gd name="connsiteX2" fmla="*/ 1699556 w 4533227"/>
              <a:gd name="connsiteY2" fmla="*/ 1032793 h 1353829"/>
              <a:gd name="connsiteX3" fmla="*/ 2846595 w 4533227"/>
              <a:gd name="connsiteY3" fmla="*/ 361883 h 1353829"/>
              <a:gd name="connsiteX4" fmla="*/ 3382957 w 4533227"/>
              <a:gd name="connsiteY4" fmla="*/ 361883 h 1353829"/>
              <a:gd name="connsiteX5" fmla="*/ 4533227 w 4533227"/>
              <a:gd name="connsiteY5" fmla="*/ 0 h 1353829"/>
              <a:gd name="connsiteX6" fmla="*/ 4533227 w 4533227"/>
              <a:gd name="connsiteY6" fmla="*/ 1353829 h 1353829"/>
              <a:gd name="connsiteX7" fmla="*/ 0 w 4533227"/>
              <a:gd name="connsiteY7" fmla="*/ 1353829 h 1353829"/>
              <a:gd name="connsiteX8" fmla="*/ 8946 w 4533227"/>
              <a:gd name="connsiteY8" fmla="*/ 1289207 h 1353829"/>
              <a:gd name="connsiteX0" fmla="*/ 1326 w 4525607"/>
              <a:gd name="connsiteY0" fmla="*/ 1289207 h 1353829"/>
              <a:gd name="connsiteX1" fmla="*/ 1154827 w 4525607"/>
              <a:gd name="connsiteY1" fmla="*/ 1032793 h 1353829"/>
              <a:gd name="connsiteX2" fmla="*/ 1691936 w 4525607"/>
              <a:gd name="connsiteY2" fmla="*/ 1032793 h 1353829"/>
              <a:gd name="connsiteX3" fmla="*/ 2838975 w 4525607"/>
              <a:gd name="connsiteY3" fmla="*/ 361883 h 1353829"/>
              <a:gd name="connsiteX4" fmla="*/ 3375337 w 4525607"/>
              <a:gd name="connsiteY4" fmla="*/ 361883 h 1353829"/>
              <a:gd name="connsiteX5" fmla="*/ 4525607 w 4525607"/>
              <a:gd name="connsiteY5" fmla="*/ 0 h 1353829"/>
              <a:gd name="connsiteX6" fmla="*/ 4525607 w 4525607"/>
              <a:gd name="connsiteY6" fmla="*/ 1353829 h 1353829"/>
              <a:gd name="connsiteX7" fmla="*/ 0 w 4525607"/>
              <a:gd name="connsiteY7" fmla="*/ 1353829 h 1353829"/>
              <a:gd name="connsiteX8" fmla="*/ 1326 w 4525607"/>
              <a:gd name="connsiteY8" fmla="*/ 1289207 h 1353829"/>
              <a:gd name="connsiteX0" fmla="*/ 1326 w 4525607"/>
              <a:gd name="connsiteY0" fmla="*/ 1289207 h 1353829"/>
              <a:gd name="connsiteX1" fmla="*/ 1154827 w 4525607"/>
              <a:gd name="connsiteY1" fmla="*/ 1032793 h 1353829"/>
              <a:gd name="connsiteX2" fmla="*/ 1691936 w 4525607"/>
              <a:gd name="connsiteY2" fmla="*/ 1032793 h 1353829"/>
              <a:gd name="connsiteX3" fmla="*/ 2840880 w 4525607"/>
              <a:gd name="connsiteY3" fmla="*/ 352358 h 1353829"/>
              <a:gd name="connsiteX4" fmla="*/ 3375337 w 4525607"/>
              <a:gd name="connsiteY4" fmla="*/ 361883 h 1353829"/>
              <a:gd name="connsiteX5" fmla="*/ 4525607 w 4525607"/>
              <a:gd name="connsiteY5" fmla="*/ 0 h 1353829"/>
              <a:gd name="connsiteX6" fmla="*/ 4525607 w 4525607"/>
              <a:gd name="connsiteY6" fmla="*/ 1353829 h 1353829"/>
              <a:gd name="connsiteX7" fmla="*/ 0 w 4525607"/>
              <a:gd name="connsiteY7" fmla="*/ 1353829 h 1353829"/>
              <a:gd name="connsiteX8" fmla="*/ 1326 w 4525607"/>
              <a:gd name="connsiteY8" fmla="*/ 1289207 h 1353829"/>
              <a:gd name="connsiteX0" fmla="*/ 1326 w 4525607"/>
              <a:gd name="connsiteY0" fmla="*/ 1289207 h 1353829"/>
              <a:gd name="connsiteX1" fmla="*/ 1154827 w 4525607"/>
              <a:gd name="connsiteY1" fmla="*/ 1032793 h 1353829"/>
              <a:gd name="connsiteX2" fmla="*/ 1691936 w 4525607"/>
              <a:gd name="connsiteY2" fmla="*/ 1032793 h 1353829"/>
              <a:gd name="connsiteX3" fmla="*/ 2840880 w 4525607"/>
              <a:gd name="connsiteY3" fmla="*/ 352358 h 1353829"/>
              <a:gd name="connsiteX4" fmla="*/ 3381052 w 4525607"/>
              <a:gd name="connsiteY4" fmla="*/ 350453 h 1353829"/>
              <a:gd name="connsiteX5" fmla="*/ 4525607 w 4525607"/>
              <a:gd name="connsiteY5" fmla="*/ 0 h 1353829"/>
              <a:gd name="connsiteX6" fmla="*/ 4525607 w 4525607"/>
              <a:gd name="connsiteY6" fmla="*/ 1353829 h 1353829"/>
              <a:gd name="connsiteX7" fmla="*/ 0 w 4525607"/>
              <a:gd name="connsiteY7" fmla="*/ 1353829 h 1353829"/>
              <a:gd name="connsiteX8" fmla="*/ 1326 w 4525607"/>
              <a:gd name="connsiteY8" fmla="*/ 1289207 h 1353829"/>
              <a:gd name="connsiteX0" fmla="*/ 1326 w 4525607"/>
              <a:gd name="connsiteY0" fmla="*/ 1289207 h 1353829"/>
              <a:gd name="connsiteX1" fmla="*/ 1154827 w 4525607"/>
              <a:gd name="connsiteY1" fmla="*/ 1032793 h 1353829"/>
              <a:gd name="connsiteX2" fmla="*/ 1691936 w 4525607"/>
              <a:gd name="connsiteY2" fmla="*/ 1032793 h 1353829"/>
              <a:gd name="connsiteX3" fmla="*/ 2837070 w 4525607"/>
              <a:gd name="connsiteY3" fmla="*/ 352358 h 1353829"/>
              <a:gd name="connsiteX4" fmla="*/ 3381052 w 4525607"/>
              <a:gd name="connsiteY4" fmla="*/ 350453 h 1353829"/>
              <a:gd name="connsiteX5" fmla="*/ 4525607 w 4525607"/>
              <a:gd name="connsiteY5" fmla="*/ 0 h 1353829"/>
              <a:gd name="connsiteX6" fmla="*/ 4525607 w 4525607"/>
              <a:gd name="connsiteY6" fmla="*/ 1353829 h 1353829"/>
              <a:gd name="connsiteX7" fmla="*/ 0 w 4525607"/>
              <a:gd name="connsiteY7" fmla="*/ 1353829 h 1353829"/>
              <a:gd name="connsiteX8" fmla="*/ 1326 w 4525607"/>
              <a:gd name="connsiteY8" fmla="*/ 1289207 h 1353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25607" h="1353829">
                <a:moveTo>
                  <a:pt x="1326" y="1289207"/>
                </a:moveTo>
                <a:lnTo>
                  <a:pt x="1154827" y="1032793"/>
                </a:lnTo>
                <a:lnTo>
                  <a:pt x="1691936" y="1032793"/>
                </a:lnTo>
                <a:lnTo>
                  <a:pt x="2837070" y="352358"/>
                </a:lnTo>
                <a:lnTo>
                  <a:pt x="3381052" y="350453"/>
                </a:lnTo>
                <a:lnTo>
                  <a:pt x="4525607" y="0"/>
                </a:lnTo>
                <a:lnTo>
                  <a:pt x="4525607" y="1353829"/>
                </a:lnTo>
                <a:lnTo>
                  <a:pt x="0" y="1353829"/>
                </a:lnTo>
                <a:lnTo>
                  <a:pt x="1326" y="1289207"/>
                </a:lnTo>
                <a:close/>
              </a:path>
            </a:pathLst>
          </a:custGeom>
          <a:solidFill>
            <a:srgbClr val="0076A8">
              <a:alpha val="57000"/>
            </a:srgbClr>
          </a:solidFill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96A6735-6B7C-4BF5-9A35-60BAC5EB33B7}"/>
              </a:ext>
            </a:extLst>
          </p:cNvPr>
          <p:cNvSpPr/>
          <p:nvPr/>
        </p:nvSpPr>
        <p:spPr bwMode="gray">
          <a:xfrm>
            <a:off x="4320170" y="2240947"/>
            <a:ext cx="4073281" cy="3457501"/>
          </a:xfrm>
          <a:custGeom>
            <a:avLst/>
            <a:gdLst>
              <a:gd name="connsiteX0" fmla="*/ 24384 w 4553712"/>
              <a:gd name="connsiteY0" fmla="*/ 3779520 h 3828288"/>
              <a:gd name="connsiteX1" fmla="*/ 1188720 w 4553712"/>
              <a:gd name="connsiteY1" fmla="*/ 3273552 h 3828288"/>
              <a:gd name="connsiteX2" fmla="*/ 1719072 w 4553712"/>
              <a:gd name="connsiteY2" fmla="*/ 3273552 h 3828288"/>
              <a:gd name="connsiteX3" fmla="*/ 2865120 w 4553712"/>
              <a:gd name="connsiteY3" fmla="*/ 1901952 h 3828288"/>
              <a:gd name="connsiteX4" fmla="*/ 3401568 w 4553712"/>
              <a:gd name="connsiteY4" fmla="*/ 1901952 h 3828288"/>
              <a:gd name="connsiteX5" fmla="*/ 4553712 w 4553712"/>
              <a:gd name="connsiteY5" fmla="*/ 0 h 3828288"/>
              <a:gd name="connsiteX6" fmla="*/ 4553712 w 4553712"/>
              <a:gd name="connsiteY6" fmla="*/ 2542032 h 3828288"/>
              <a:gd name="connsiteX7" fmla="*/ 3401568 w 4553712"/>
              <a:gd name="connsiteY7" fmla="*/ 2901696 h 3828288"/>
              <a:gd name="connsiteX8" fmla="*/ 2877312 w 4553712"/>
              <a:gd name="connsiteY8" fmla="*/ 2901696 h 3828288"/>
              <a:gd name="connsiteX9" fmla="*/ 1712976 w 4553712"/>
              <a:gd name="connsiteY9" fmla="*/ 3572256 h 3828288"/>
              <a:gd name="connsiteX10" fmla="*/ 1182624 w 4553712"/>
              <a:gd name="connsiteY10" fmla="*/ 3572256 h 3828288"/>
              <a:gd name="connsiteX11" fmla="*/ 0 w 4553712"/>
              <a:gd name="connsiteY11" fmla="*/ 3828288 h 3828288"/>
              <a:gd name="connsiteX12" fmla="*/ 24384 w 4553712"/>
              <a:gd name="connsiteY12" fmla="*/ 3779520 h 3828288"/>
              <a:gd name="connsiteX0" fmla="*/ 49149 w 4553712"/>
              <a:gd name="connsiteY0" fmla="*/ 3775710 h 3828288"/>
              <a:gd name="connsiteX1" fmla="*/ 1188720 w 4553712"/>
              <a:gd name="connsiteY1" fmla="*/ 3273552 h 3828288"/>
              <a:gd name="connsiteX2" fmla="*/ 1719072 w 4553712"/>
              <a:gd name="connsiteY2" fmla="*/ 3273552 h 3828288"/>
              <a:gd name="connsiteX3" fmla="*/ 2865120 w 4553712"/>
              <a:gd name="connsiteY3" fmla="*/ 1901952 h 3828288"/>
              <a:gd name="connsiteX4" fmla="*/ 3401568 w 4553712"/>
              <a:gd name="connsiteY4" fmla="*/ 1901952 h 3828288"/>
              <a:gd name="connsiteX5" fmla="*/ 4553712 w 4553712"/>
              <a:gd name="connsiteY5" fmla="*/ 0 h 3828288"/>
              <a:gd name="connsiteX6" fmla="*/ 4553712 w 4553712"/>
              <a:gd name="connsiteY6" fmla="*/ 2542032 h 3828288"/>
              <a:gd name="connsiteX7" fmla="*/ 3401568 w 4553712"/>
              <a:gd name="connsiteY7" fmla="*/ 2901696 h 3828288"/>
              <a:gd name="connsiteX8" fmla="*/ 2877312 w 4553712"/>
              <a:gd name="connsiteY8" fmla="*/ 2901696 h 3828288"/>
              <a:gd name="connsiteX9" fmla="*/ 1712976 w 4553712"/>
              <a:gd name="connsiteY9" fmla="*/ 3572256 h 3828288"/>
              <a:gd name="connsiteX10" fmla="*/ 1182624 w 4553712"/>
              <a:gd name="connsiteY10" fmla="*/ 3572256 h 3828288"/>
              <a:gd name="connsiteX11" fmla="*/ 0 w 4553712"/>
              <a:gd name="connsiteY11" fmla="*/ 3828288 h 3828288"/>
              <a:gd name="connsiteX12" fmla="*/ 49149 w 4553712"/>
              <a:gd name="connsiteY12" fmla="*/ 3775710 h 3828288"/>
              <a:gd name="connsiteX0" fmla="*/ 3429 w 4507992"/>
              <a:gd name="connsiteY0" fmla="*/ 3775710 h 3837813"/>
              <a:gd name="connsiteX1" fmla="*/ 1143000 w 4507992"/>
              <a:gd name="connsiteY1" fmla="*/ 3273552 h 3837813"/>
              <a:gd name="connsiteX2" fmla="*/ 1673352 w 4507992"/>
              <a:gd name="connsiteY2" fmla="*/ 3273552 h 3837813"/>
              <a:gd name="connsiteX3" fmla="*/ 2819400 w 4507992"/>
              <a:gd name="connsiteY3" fmla="*/ 1901952 h 3837813"/>
              <a:gd name="connsiteX4" fmla="*/ 3355848 w 4507992"/>
              <a:gd name="connsiteY4" fmla="*/ 1901952 h 3837813"/>
              <a:gd name="connsiteX5" fmla="*/ 4507992 w 4507992"/>
              <a:gd name="connsiteY5" fmla="*/ 0 h 3837813"/>
              <a:gd name="connsiteX6" fmla="*/ 4507992 w 4507992"/>
              <a:gd name="connsiteY6" fmla="*/ 2542032 h 3837813"/>
              <a:gd name="connsiteX7" fmla="*/ 3355848 w 4507992"/>
              <a:gd name="connsiteY7" fmla="*/ 2901696 h 3837813"/>
              <a:gd name="connsiteX8" fmla="*/ 2831592 w 4507992"/>
              <a:gd name="connsiteY8" fmla="*/ 2901696 h 3837813"/>
              <a:gd name="connsiteX9" fmla="*/ 1667256 w 4507992"/>
              <a:gd name="connsiteY9" fmla="*/ 3572256 h 3837813"/>
              <a:gd name="connsiteX10" fmla="*/ 1136904 w 4507992"/>
              <a:gd name="connsiteY10" fmla="*/ 3572256 h 3837813"/>
              <a:gd name="connsiteX11" fmla="*/ 0 w 4507992"/>
              <a:gd name="connsiteY11" fmla="*/ 3837813 h 3837813"/>
              <a:gd name="connsiteX12" fmla="*/ 3429 w 4507992"/>
              <a:gd name="connsiteY12" fmla="*/ 3775710 h 3837813"/>
              <a:gd name="connsiteX0" fmla="*/ 0 w 4519803"/>
              <a:gd name="connsiteY0" fmla="*/ 3775710 h 3837813"/>
              <a:gd name="connsiteX1" fmla="*/ 1154811 w 4519803"/>
              <a:gd name="connsiteY1" fmla="*/ 3273552 h 3837813"/>
              <a:gd name="connsiteX2" fmla="*/ 1685163 w 4519803"/>
              <a:gd name="connsiteY2" fmla="*/ 3273552 h 3837813"/>
              <a:gd name="connsiteX3" fmla="*/ 2831211 w 4519803"/>
              <a:gd name="connsiteY3" fmla="*/ 1901952 h 3837813"/>
              <a:gd name="connsiteX4" fmla="*/ 3367659 w 4519803"/>
              <a:gd name="connsiteY4" fmla="*/ 1901952 h 3837813"/>
              <a:gd name="connsiteX5" fmla="*/ 4519803 w 4519803"/>
              <a:gd name="connsiteY5" fmla="*/ 0 h 3837813"/>
              <a:gd name="connsiteX6" fmla="*/ 4519803 w 4519803"/>
              <a:gd name="connsiteY6" fmla="*/ 2542032 h 3837813"/>
              <a:gd name="connsiteX7" fmla="*/ 3367659 w 4519803"/>
              <a:gd name="connsiteY7" fmla="*/ 2901696 h 3837813"/>
              <a:gd name="connsiteX8" fmla="*/ 2843403 w 4519803"/>
              <a:gd name="connsiteY8" fmla="*/ 2901696 h 3837813"/>
              <a:gd name="connsiteX9" fmla="*/ 1679067 w 4519803"/>
              <a:gd name="connsiteY9" fmla="*/ 3572256 h 3837813"/>
              <a:gd name="connsiteX10" fmla="*/ 1148715 w 4519803"/>
              <a:gd name="connsiteY10" fmla="*/ 3572256 h 3837813"/>
              <a:gd name="connsiteX11" fmla="*/ 11811 w 4519803"/>
              <a:gd name="connsiteY11" fmla="*/ 3837813 h 3837813"/>
              <a:gd name="connsiteX12" fmla="*/ 0 w 4519803"/>
              <a:gd name="connsiteY12" fmla="*/ 3775710 h 3837813"/>
              <a:gd name="connsiteX0" fmla="*/ 0 w 4519803"/>
              <a:gd name="connsiteY0" fmla="*/ 3775710 h 3837813"/>
              <a:gd name="connsiteX1" fmla="*/ 1154811 w 4519803"/>
              <a:gd name="connsiteY1" fmla="*/ 3273552 h 3837813"/>
              <a:gd name="connsiteX2" fmla="*/ 1685163 w 4519803"/>
              <a:gd name="connsiteY2" fmla="*/ 3273552 h 3837813"/>
              <a:gd name="connsiteX3" fmla="*/ 2831211 w 4519803"/>
              <a:gd name="connsiteY3" fmla="*/ 1901952 h 3837813"/>
              <a:gd name="connsiteX4" fmla="*/ 3367659 w 4519803"/>
              <a:gd name="connsiteY4" fmla="*/ 1901952 h 3837813"/>
              <a:gd name="connsiteX5" fmla="*/ 4519803 w 4519803"/>
              <a:gd name="connsiteY5" fmla="*/ 0 h 3837813"/>
              <a:gd name="connsiteX6" fmla="*/ 4519803 w 4519803"/>
              <a:gd name="connsiteY6" fmla="*/ 2542032 h 3837813"/>
              <a:gd name="connsiteX7" fmla="*/ 3367659 w 4519803"/>
              <a:gd name="connsiteY7" fmla="*/ 2901696 h 3837813"/>
              <a:gd name="connsiteX8" fmla="*/ 2843403 w 4519803"/>
              <a:gd name="connsiteY8" fmla="*/ 2901696 h 3837813"/>
              <a:gd name="connsiteX9" fmla="*/ 1679067 w 4519803"/>
              <a:gd name="connsiteY9" fmla="*/ 3572256 h 3837813"/>
              <a:gd name="connsiteX10" fmla="*/ 1148715 w 4519803"/>
              <a:gd name="connsiteY10" fmla="*/ 3572256 h 3837813"/>
              <a:gd name="connsiteX11" fmla="*/ 2286 w 4519803"/>
              <a:gd name="connsiteY11" fmla="*/ 3837813 h 3837813"/>
              <a:gd name="connsiteX12" fmla="*/ 0 w 4519803"/>
              <a:gd name="connsiteY12" fmla="*/ 3775710 h 3837813"/>
              <a:gd name="connsiteX0" fmla="*/ 0 w 4519803"/>
              <a:gd name="connsiteY0" fmla="*/ 3769995 h 3837813"/>
              <a:gd name="connsiteX1" fmla="*/ 1154811 w 4519803"/>
              <a:gd name="connsiteY1" fmla="*/ 3273552 h 3837813"/>
              <a:gd name="connsiteX2" fmla="*/ 1685163 w 4519803"/>
              <a:gd name="connsiteY2" fmla="*/ 3273552 h 3837813"/>
              <a:gd name="connsiteX3" fmla="*/ 2831211 w 4519803"/>
              <a:gd name="connsiteY3" fmla="*/ 1901952 h 3837813"/>
              <a:gd name="connsiteX4" fmla="*/ 3367659 w 4519803"/>
              <a:gd name="connsiteY4" fmla="*/ 1901952 h 3837813"/>
              <a:gd name="connsiteX5" fmla="*/ 4519803 w 4519803"/>
              <a:gd name="connsiteY5" fmla="*/ 0 h 3837813"/>
              <a:gd name="connsiteX6" fmla="*/ 4519803 w 4519803"/>
              <a:gd name="connsiteY6" fmla="*/ 2542032 h 3837813"/>
              <a:gd name="connsiteX7" fmla="*/ 3367659 w 4519803"/>
              <a:gd name="connsiteY7" fmla="*/ 2901696 h 3837813"/>
              <a:gd name="connsiteX8" fmla="*/ 2843403 w 4519803"/>
              <a:gd name="connsiteY8" fmla="*/ 2901696 h 3837813"/>
              <a:gd name="connsiteX9" fmla="*/ 1679067 w 4519803"/>
              <a:gd name="connsiteY9" fmla="*/ 3572256 h 3837813"/>
              <a:gd name="connsiteX10" fmla="*/ 1148715 w 4519803"/>
              <a:gd name="connsiteY10" fmla="*/ 3572256 h 3837813"/>
              <a:gd name="connsiteX11" fmla="*/ 2286 w 4519803"/>
              <a:gd name="connsiteY11" fmla="*/ 3837813 h 3837813"/>
              <a:gd name="connsiteX12" fmla="*/ 0 w 4519803"/>
              <a:gd name="connsiteY12" fmla="*/ 3769995 h 3837813"/>
              <a:gd name="connsiteX0" fmla="*/ 0 w 4519803"/>
              <a:gd name="connsiteY0" fmla="*/ 3769995 h 3843528"/>
              <a:gd name="connsiteX1" fmla="*/ 1154811 w 4519803"/>
              <a:gd name="connsiteY1" fmla="*/ 3273552 h 3843528"/>
              <a:gd name="connsiteX2" fmla="*/ 1685163 w 4519803"/>
              <a:gd name="connsiteY2" fmla="*/ 3273552 h 3843528"/>
              <a:gd name="connsiteX3" fmla="*/ 2831211 w 4519803"/>
              <a:gd name="connsiteY3" fmla="*/ 1901952 h 3843528"/>
              <a:gd name="connsiteX4" fmla="*/ 3367659 w 4519803"/>
              <a:gd name="connsiteY4" fmla="*/ 1901952 h 3843528"/>
              <a:gd name="connsiteX5" fmla="*/ 4519803 w 4519803"/>
              <a:gd name="connsiteY5" fmla="*/ 0 h 3843528"/>
              <a:gd name="connsiteX6" fmla="*/ 4519803 w 4519803"/>
              <a:gd name="connsiteY6" fmla="*/ 2542032 h 3843528"/>
              <a:gd name="connsiteX7" fmla="*/ 3367659 w 4519803"/>
              <a:gd name="connsiteY7" fmla="*/ 2901696 h 3843528"/>
              <a:gd name="connsiteX8" fmla="*/ 2843403 w 4519803"/>
              <a:gd name="connsiteY8" fmla="*/ 2901696 h 3843528"/>
              <a:gd name="connsiteX9" fmla="*/ 1679067 w 4519803"/>
              <a:gd name="connsiteY9" fmla="*/ 3572256 h 3843528"/>
              <a:gd name="connsiteX10" fmla="*/ 1148715 w 4519803"/>
              <a:gd name="connsiteY10" fmla="*/ 3572256 h 3843528"/>
              <a:gd name="connsiteX11" fmla="*/ 2286 w 4519803"/>
              <a:gd name="connsiteY11" fmla="*/ 3843528 h 3843528"/>
              <a:gd name="connsiteX12" fmla="*/ 0 w 4519803"/>
              <a:gd name="connsiteY12" fmla="*/ 3769995 h 3843528"/>
              <a:gd name="connsiteX0" fmla="*/ 1524 w 4517517"/>
              <a:gd name="connsiteY0" fmla="*/ 3769995 h 3843528"/>
              <a:gd name="connsiteX1" fmla="*/ 1152525 w 4517517"/>
              <a:gd name="connsiteY1" fmla="*/ 3273552 h 3843528"/>
              <a:gd name="connsiteX2" fmla="*/ 1682877 w 4517517"/>
              <a:gd name="connsiteY2" fmla="*/ 3273552 h 3843528"/>
              <a:gd name="connsiteX3" fmla="*/ 2828925 w 4517517"/>
              <a:gd name="connsiteY3" fmla="*/ 1901952 h 3843528"/>
              <a:gd name="connsiteX4" fmla="*/ 336537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76781 w 4517517"/>
              <a:gd name="connsiteY9" fmla="*/ 3572256 h 3843528"/>
              <a:gd name="connsiteX10" fmla="*/ 1146429 w 4517517"/>
              <a:gd name="connsiteY10" fmla="*/ 3572256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2877 w 4517517"/>
              <a:gd name="connsiteY2" fmla="*/ 3273552 h 3843528"/>
              <a:gd name="connsiteX3" fmla="*/ 2828925 w 4517517"/>
              <a:gd name="connsiteY3" fmla="*/ 1901952 h 3843528"/>
              <a:gd name="connsiteX4" fmla="*/ 336537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76781 w 4517517"/>
              <a:gd name="connsiteY9" fmla="*/ 3572256 h 3843528"/>
              <a:gd name="connsiteX10" fmla="*/ 1146429 w 4517517"/>
              <a:gd name="connsiteY10" fmla="*/ 3572256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0972 w 4517517"/>
              <a:gd name="connsiteY2" fmla="*/ 3260217 h 3843528"/>
              <a:gd name="connsiteX3" fmla="*/ 2828925 w 4517517"/>
              <a:gd name="connsiteY3" fmla="*/ 1901952 h 3843528"/>
              <a:gd name="connsiteX4" fmla="*/ 336537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76781 w 4517517"/>
              <a:gd name="connsiteY9" fmla="*/ 3572256 h 3843528"/>
              <a:gd name="connsiteX10" fmla="*/ 1146429 w 4517517"/>
              <a:gd name="connsiteY10" fmla="*/ 3572256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0972 w 4517517"/>
              <a:gd name="connsiteY2" fmla="*/ 3260217 h 3843528"/>
              <a:gd name="connsiteX3" fmla="*/ 2828925 w 4517517"/>
              <a:gd name="connsiteY3" fmla="*/ 1901952 h 3843528"/>
              <a:gd name="connsiteX4" fmla="*/ 336537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88211 w 4517517"/>
              <a:gd name="connsiteY9" fmla="*/ 3583686 h 3843528"/>
              <a:gd name="connsiteX10" fmla="*/ 1146429 w 4517517"/>
              <a:gd name="connsiteY10" fmla="*/ 3572256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0972 w 4517517"/>
              <a:gd name="connsiteY2" fmla="*/ 3260217 h 3843528"/>
              <a:gd name="connsiteX3" fmla="*/ 2828925 w 4517517"/>
              <a:gd name="connsiteY3" fmla="*/ 1901952 h 3843528"/>
              <a:gd name="connsiteX4" fmla="*/ 336537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88211 w 4517517"/>
              <a:gd name="connsiteY9" fmla="*/ 3583686 h 3843528"/>
              <a:gd name="connsiteX10" fmla="*/ 1148334 w 4517517"/>
              <a:gd name="connsiteY10" fmla="*/ 3589401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6687 w 4517517"/>
              <a:gd name="connsiteY2" fmla="*/ 3260217 h 3843528"/>
              <a:gd name="connsiteX3" fmla="*/ 2828925 w 4517517"/>
              <a:gd name="connsiteY3" fmla="*/ 1901952 h 3843528"/>
              <a:gd name="connsiteX4" fmla="*/ 336537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88211 w 4517517"/>
              <a:gd name="connsiteY9" fmla="*/ 3583686 h 3843528"/>
              <a:gd name="connsiteX10" fmla="*/ 1148334 w 4517517"/>
              <a:gd name="connsiteY10" fmla="*/ 3589401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6687 w 4517517"/>
              <a:gd name="connsiteY2" fmla="*/ 3260217 h 3843528"/>
              <a:gd name="connsiteX3" fmla="*/ 2828925 w 4517517"/>
              <a:gd name="connsiteY3" fmla="*/ 1901952 h 3843528"/>
              <a:gd name="connsiteX4" fmla="*/ 337299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88211 w 4517517"/>
              <a:gd name="connsiteY9" fmla="*/ 3583686 h 3843528"/>
              <a:gd name="connsiteX10" fmla="*/ 1148334 w 4517517"/>
              <a:gd name="connsiteY10" fmla="*/ 3589401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6687 w 4517517"/>
              <a:gd name="connsiteY2" fmla="*/ 3260217 h 3843528"/>
              <a:gd name="connsiteX3" fmla="*/ 2828925 w 4517517"/>
              <a:gd name="connsiteY3" fmla="*/ 1901952 h 3843528"/>
              <a:gd name="connsiteX4" fmla="*/ 337299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74898 w 4517517"/>
              <a:gd name="connsiteY7" fmla="*/ 2901696 h 3843528"/>
              <a:gd name="connsiteX8" fmla="*/ 2841117 w 4517517"/>
              <a:gd name="connsiteY8" fmla="*/ 2901696 h 3843528"/>
              <a:gd name="connsiteX9" fmla="*/ 1688211 w 4517517"/>
              <a:gd name="connsiteY9" fmla="*/ 3583686 h 3843528"/>
              <a:gd name="connsiteX10" fmla="*/ 1148334 w 4517517"/>
              <a:gd name="connsiteY10" fmla="*/ 3589401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9422"/>
              <a:gd name="connsiteY0" fmla="*/ 3769995 h 3843528"/>
              <a:gd name="connsiteX1" fmla="*/ 1154430 w 4519422"/>
              <a:gd name="connsiteY1" fmla="*/ 3262122 h 3843528"/>
              <a:gd name="connsiteX2" fmla="*/ 1686687 w 4519422"/>
              <a:gd name="connsiteY2" fmla="*/ 3260217 h 3843528"/>
              <a:gd name="connsiteX3" fmla="*/ 2828925 w 4519422"/>
              <a:gd name="connsiteY3" fmla="*/ 1901952 h 3843528"/>
              <a:gd name="connsiteX4" fmla="*/ 3372993 w 4519422"/>
              <a:gd name="connsiteY4" fmla="*/ 1901952 h 3843528"/>
              <a:gd name="connsiteX5" fmla="*/ 4517517 w 4519422"/>
              <a:gd name="connsiteY5" fmla="*/ 0 h 3843528"/>
              <a:gd name="connsiteX6" fmla="*/ 4519422 w 4519422"/>
              <a:gd name="connsiteY6" fmla="*/ 2551557 h 3843528"/>
              <a:gd name="connsiteX7" fmla="*/ 3374898 w 4519422"/>
              <a:gd name="connsiteY7" fmla="*/ 2901696 h 3843528"/>
              <a:gd name="connsiteX8" fmla="*/ 2841117 w 4519422"/>
              <a:gd name="connsiteY8" fmla="*/ 2901696 h 3843528"/>
              <a:gd name="connsiteX9" fmla="*/ 1688211 w 4519422"/>
              <a:gd name="connsiteY9" fmla="*/ 3583686 h 3843528"/>
              <a:gd name="connsiteX10" fmla="*/ 1148334 w 4519422"/>
              <a:gd name="connsiteY10" fmla="*/ 3589401 h 3843528"/>
              <a:gd name="connsiteX11" fmla="*/ 0 w 4519422"/>
              <a:gd name="connsiteY11" fmla="*/ 3843528 h 3843528"/>
              <a:gd name="connsiteX12" fmla="*/ 1524 w 4519422"/>
              <a:gd name="connsiteY12" fmla="*/ 3769995 h 3843528"/>
              <a:gd name="connsiteX0" fmla="*/ 1524 w 4519422"/>
              <a:gd name="connsiteY0" fmla="*/ 3754755 h 3828288"/>
              <a:gd name="connsiteX1" fmla="*/ 1154430 w 4519422"/>
              <a:gd name="connsiteY1" fmla="*/ 3246882 h 3828288"/>
              <a:gd name="connsiteX2" fmla="*/ 1686687 w 4519422"/>
              <a:gd name="connsiteY2" fmla="*/ 3244977 h 3828288"/>
              <a:gd name="connsiteX3" fmla="*/ 2828925 w 4519422"/>
              <a:gd name="connsiteY3" fmla="*/ 1886712 h 3828288"/>
              <a:gd name="connsiteX4" fmla="*/ 3372993 w 4519422"/>
              <a:gd name="connsiteY4" fmla="*/ 1886712 h 3828288"/>
              <a:gd name="connsiteX5" fmla="*/ 4517517 w 4519422"/>
              <a:gd name="connsiteY5" fmla="*/ 0 h 3828288"/>
              <a:gd name="connsiteX6" fmla="*/ 4519422 w 4519422"/>
              <a:gd name="connsiteY6" fmla="*/ 2536317 h 3828288"/>
              <a:gd name="connsiteX7" fmla="*/ 3374898 w 4519422"/>
              <a:gd name="connsiteY7" fmla="*/ 2886456 h 3828288"/>
              <a:gd name="connsiteX8" fmla="*/ 2841117 w 4519422"/>
              <a:gd name="connsiteY8" fmla="*/ 2886456 h 3828288"/>
              <a:gd name="connsiteX9" fmla="*/ 1688211 w 4519422"/>
              <a:gd name="connsiteY9" fmla="*/ 3568446 h 3828288"/>
              <a:gd name="connsiteX10" fmla="*/ 1148334 w 4519422"/>
              <a:gd name="connsiteY10" fmla="*/ 3574161 h 3828288"/>
              <a:gd name="connsiteX11" fmla="*/ 0 w 4519422"/>
              <a:gd name="connsiteY11" fmla="*/ 3828288 h 3828288"/>
              <a:gd name="connsiteX12" fmla="*/ 1524 w 4519422"/>
              <a:gd name="connsiteY12" fmla="*/ 3754755 h 3828288"/>
              <a:gd name="connsiteX0" fmla="*/ 1524 w 4519422"/>
              <a:gd name="connsiteY0" fmla="*/ 3760470 h 3834003"/>
              <a:gd name="connsiteX1" fmla="*/ 1154430 w 4519422"/>
              <a:gd name="connsiteY1" fmla="*/ 3252597 h 3834003"/>
              <a:gd name="connsiteX2" fmla="*/ 1686687 w 4519422"/>
              <a:gd name="connsiteY2" fmla="*/ 3250692 h 3834003"/>
              <a:gd name="connsiteX3" fmla="*/ 2828925 w 4519422"/>
              <a:gd name="connsiteY3" fmla="*/ 1892427 h 3834003"/>
              <a:gd name="connsiteX4" fmla="*/ 3372993 w 4519422"/>
              <a:gd name="connsiteY4" fmla="*/ 1892427 h 3834003"/>
              <a:gd name="connsiteX5" fmla="*/ 4515612 w 4519422"/>
              <a:gd name="connsiteY5" fmla="*/ 0 h 3834003"/>
              <a:gd name="connsiteX6" fmla="*/ 4519422 w 4519422"/>
              <a:gd name="connsiteY6" fmla="*/ 2542032 h 3834003"/>
              <a:gd name="connsiteX7" fmla="*/ 3374898 w 4519422"/>
              <a:gd name="connsiteY7" fmla="*/ 2892171 h 3834003"/>
              <a:gd name="connsiteX8" fmla="*/ 2841117 w 4519422"/>
              <a:gd name="connsiteY8" fmla="*/ 2892171 h 3834003"/>
              <a:gd name="connsiteX9" fmla="*/ 1688211 w 4519422"/>
              <a:gd name="connsiteY9" fmla="*/ 3574161 h 3834003"/>
              <a:gd name="connsiteX10" fmla="*/ 1148334 w 4519422"/>
              <a:gd name="connsiteY10" fmla="*/ 3579876 h 3834003"/>
              <a:gd name="connsiteX11" fmla="*/ 0 w 4519422"/>
              <a:gd name="connsiteY11" fmla="*/ 3834003 h 3834003"/>
              <a:gd name="connsiteX12" fmla="*/ 1524 w 4519422"/>
              <a:gd name="connsiteY12" fmla="*/ 3760470 h 3834003"/>
              <a:gd name="connsiteX0" fmla="*/ 1524 w 4521327"/>
              <a:gd name="connsiteY0" fmla="*/ 3760470 h 3834003"/>
              <a:gd name="connsiteX1" fmla="*/ 1154430 w 4521327"/>
              <a:gd name="connsiteY1" fmla="*/ 3252597 h 3834003"/>
              <a:gd name="connsiteX2" fmla="*/ 1686687 w 4521327"/>
              <a:gd name="connsiteY2" fmla="*/ 3250692 h 3834003"/>
              <a:gd name="connsiteX3" fmla="*/ 2828925 w 4521327"/>
              <a:gd name="connsiteY3" fmla="*/ 1892427 h 3834003"/>
              <a:gd name="connsiteX4" fmla="*/ 3372993 w 4521327"/>
              <a:gd name="connsiteY4" fmla="*/ 1892427 h 3834003"/>
              <a:gd name="connsiteX5" fmla="*/ 4521327 w 4521327"/>
              <a:gd name="connsiteY5" fmla="*/ 0 h 3834003"/>
              <a:gd name="connsiteX6" fmla="*/ 4519422 w 4521327"/>
              <a:gd name="connsiteY6" fmla="*/ 2542032 h 3834003"/>
              <a:gd name="connsiteX7" fmla="*/ 3374898 w 4521327"/>
              <a:gd name="connsiteY7" fmla="*/ 2892171 h 3834003"/>
              <a:gd name="connsiteX8" fmla="*/ 2841117 w 4521327"/>
              <a:gd name="connsiteY8" fmla="*/ 2892171 h 3834003"/>
              <a:gd name="connsiteX9" fmla="*/ 1688211 w 4521327"/>
              <a:gd name="connsiteY9" fmla="*/ 3574161 h 3834003"/>
              <a:gd name="connsiteX10" fmla="*/ 1148334 w 4521327"/>
              <a:gd name="connsiteY10" fmla="*/ 3579876 h 3834003"/>
              <a:gd name="connsiteX11" fmla="*/ 0 w 4521327"/>
              <a:gd name="connsiteY11" fmla="*/ 3834003 h 3834003"/>
              <a:gd name="connsiteX12" fmla="*/ 1524 w 4521327"/>
              <a:gd name="connsiteY12" fmla="*/ 3760470 h 3834003"/>
              <a:gd name="connsiteX0" fmla="*/ 1524 w 4521327"/>
              <a:gd name="connsiteY0" fmla="*/ 3764280 h 3837813"/>
              <a:gd name="connsiteX1" fmla="*/ 1154430 w 4521327"/>
              <a:gd name="connsiteY1" fmla="*/ 3256407 h 3837813"/>
              <a:gd name="connsiteX2" fmla="*/ 1686687 w 4521327"/>
              <a:gd name="connsiteY2" fmla="*/ 3254502 h 3837813"/>
              <a:gd name="connsiteX3" fmla="*/ 2828925 w 4521327"/>
              <a:gd name="connsiteY3" fmla="*/ 1896237 h 3837813"/>
              <a:gd name="connsiteX4" fmla="*/ 3372993 w 4521327"/>
              <a:gd name="connsiteY4" fmla="*/ 1896237 h 3837813"/>
              <a:gd name="connsiteX5" fmla="*/ 4521327 w 4521327"/>
              <a:gd name="connsiteY5" fmla="*/ 0 h 3837813"/>
              <a:gd name="connsiteX6" fmla="*/ 4519422 w 4521327"/>
              <a:gd name="connsiteY6" fmla="*/ 2545842 h 3837813"/>
              <a:gd name="connsiteX7" fmla="*/ 3374898 w 4521327"/>
              <a:gd name="connsiteY7" fmla="*/ 2895981 h 3837813"/>
              <a:gd name="connsiteX8" fmla="*/ 2841117 w 4521327"/>
              <a:gd name="connsiteY8" fmla="*/ 2895981 h 3837813"/>
              <a:gd name="connsiteX9" fmla="*/ 1688211 w 4521327"/>
              <a:gd name="connsiteY9" fmla="*/ 3577971 h 3837813"/>
              <a:gd name="connsiteX10" fmla="*/ 1148334 w 4521327"/>
              <a:gd name="connsiteY10" fmla="*/ 3583686 h 3837813"/>
              <a:gd name="connsiteX11" fmla="*/ 0 w 4521327"/>
              <a:gd name="connsiteY11" fmla="*/ 3837813 h 3837813"/>
              <a:gd name="connsiteX12" fmla="*/ 1524 w 4521327"/>
              <a:gd name="connsiteY12" fmla="*/ 3764280 h 3837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521327" h="3837813">
                <a:moveTo>
                  <a:pt x="1524" y="3764280"/>
                </a:moveTo>
                <a:lnTo>
                  <a:pt x="1154430" y="3256407"/>
                </a:lnTo>
                <a:lnTo>
                  <a:pt x="1686687" y="3254502"/>
                </a:lnTo>
                <a:lnTo>
                  <a:pt x="2828925" y="1896237"/>
                </a:lnTo>
                <a:lnTo>
                  <a:pt x="3372993" y="1896237"/>
                </a:lnTo>
                <a:lnTo>
                  <a:pt x="4521327" y="0"/>
                </a:lnTo>
                <a:lnTo>
                  <a:pt x="4519422" y="2545842"/>
                </a:lnTo>
                <a:lnTo>
                  <a:pt x="3374898" y="2895981"/>
                </a:lnTo>
                <a:lnTo>
                  <a:pt x="2841117" y="2895981"/>
                </a:lnTo>
                <a:lnTo>
                  <a:pt x="1688211" y="3577971"/>
                </a:lnTo>
                <a:lnTo>
                  <a:pt x="1148334" y="3583686"/>
                </a:lnTo>
                <a:lnTo>
                  <a:pt x="0" y="3837813"/>
                </a:lnTo>
                <a:lnTo>
                  <a:pt x="1524" y="3764280"/>
                </a:lnTo>
                <a:close/>
              </a:path>
            </a:pathLst>
          </a:custGeom>
          <a:solidFill>
            <a:srgbClr val="A0DCFF">
              <a:alpha val="55000"/>
            </a:srgb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386B78-397D-4AA3-AE38-D7DDB0E13C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3230387"/>
              </p:ext>
            </p:extLst>
          </p:nvPr>
        </p:nvGraphicFramePr>
        <p:xfrm>
          <a:off x="3220074" y="1813992"/>
          <a:ext cx="6329816" cy="47665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44" name="Group 43">
            <a:extLst>
              <a:ext uri="{FF2B5EF4-FFF2-40B4-BE49-F238E27FC236}">
                <a16:creationId xmlns:a16="http://schemas.microsoft.com/office/drawing/2014/main" id="{3FCEF121-2A26-4E3A-B7B3-6F79BBAA9669}"/>
              </a:ext>
            </a:extLst>
          </p:cNvPr>
          <p:cNvGrpSpPr/>
          <p:nvPr/>
        </p:nvGrpSpPr>
        <p:grpSpPr>
          <a:xfrm>
            <a:off x="7843337" y="5792726"/>
            <a:ext cx="70153" cy="235822"/>
            <a:chOff x="6280785" y="5350846"/>
            <a:chExt cx="116205" cy="390630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DB6C517-B587-42F2-A65F-0D9E7C763767}"/>
                </a:ext>
              </a:extLst>
            </p:cNvPr>
            <p:cNvSpPr/>
            <p:nvPr/>
          </p:nvSpPr>
          <p:spPr bwMode="gray">
            <a:xfrm>
              <a:off x="6282045" y="5355132"/>
              <a:ext cx="114945" cy="386271"/>
            </a:xfrm>
            <a:custGeom>
              <a:avLst/>
              <a:gdLst>
                <a:gd name="connsiteX0" fmla="*/ 7620 w 662940"/>
                <a:gd name="connsiteY0" fmla="*/ 7620 h 1337310"/>
                <a:gd name="connsiteX1" fmla="*/ 339090 w 662940"/>
                <a:gd name="connsiteY1" fmla="*/ 270510 h 1337310"/>
                <a:gd name="connsiteX2" fmla="*/ 7620 w 662940"/>
                <a:gd name="connsiteY2" fmla="*/ 533400 h 1337310"/>
                <a:gd name="connsiteX3" fmla="*/ 323850 w 662940"/>
                <a:gd name="connsiteY3" fmla="*/ 803910 h 1337310"/>
                <a:gd name="connsiteX4" fmla="*/ 0 w 662940"/>
                <a:gd name="connsiteY4" fmla="*/ 1074420 h 1337310"/>
                <a:gd name="connsiteX5" fmla="*/ 327660 w 662940"/>
                <a:gd name="connsiteY5" fmla="*/ 1337310 h 1337310"/>
                <a:gd name="connsiteX6" fmla="*/ 651510 w 662940"/>
                <a:gd name="connsiteY6" fmla="*/ 1337310 h 1337310"/>
                <a:gd name="connsiteX7" fmla="*/ 327660 w 662940"/>
                <a:gd name="connsiteY7" fmla="*/ 1078230 h 1337310"/>
                <a:gd name="connsiteX8" fmla="*/ 662940 w 662940"/>
                <a:gd name="connsiteY8" fmla="*/ 811530 h 1337310"/>
                <a:gd name="connsiteX9" fmla="*/ 331470 w 662940"/>
                <a:gd name="connsiteY9" fmla="*/ 541020 h 1337310"/>
                <a:gd name="connsiteX10" fmla="*/ 662940 w 662940"/>
                <a:gd name="connsiteY10" fmla="*/ 274320 h 1337310"/>
                <a:gd name="connsiteX11" fmla="*/ 327660 w 662940"/>
                <a:gd name="connsiteY11" fmla="*/ 0 h 1337310"/>
                <a:gd name="connsiteX12" fmla="*/ 7620 w 662940"/>
                <a:gd name="connsiteY12" fmla="*/ 7620 h 1337310"/>
                <a:gd name="connsiteX0" fmla="*/ 10587 w 662940"/>
                <a:gd name="connsiteY0" fmla="*/ 0 h 1337310"/>
                <a:gd name="connsiteX1" fmla="*/ 339090 w 662940"/>
                <a:gd name="connsiteY1" fmla="*/ 270510 h 1337310"/>
                <a:gd name="connsiteX2" fmla="*/ 7620 w 662940"/>
                <a:gd name="connsiteY2" fmla="*/ 533400 h 1337310"/>
                <a:gd name="connsiteX3" fmla="*/ 323850 w 662940"/>
                <a:gd name="connsiteY3" fmla="*/ 803910 h 1337310"/>
                <a:gd name="connsiteX4" fmla="*/ 0 w 662940"/>
                <a:gd name="connsiteY4" fmla="*/ 1074420 h 1337310"/>
                <a:gd name="connsiteX5" fmla="*/ 327660 w 662940"/>
                <a:gd name="connsiteY5" fmla="*/ 1337310 h 1337310"/>
                <a:gd name="connsiteX6" fmla="*/ 651510 w 662940"/>
                <a:gd name="connsiteY6" fmla="*/ 1337310 h 1337310"/>
                <a:gd name="connsiteX7" fmla="*/ 327660 w 662940"/>
                <a:gd name="connsiteY7" fmla="*/ 1078230 h 1337310"/>
                <a:gd name="connsiteX8" fmla="*/ 662940 w 662940"/>
                <a:gd name="connsiteY8" fmla="*/ 811530 h 1337310"/>
                <a:gd name="connsiteX9" fmla="*/ 331470 w 662940"/>
                <a:gd name="connsiteY9" fmla="*/ 541020 h 1337310"/>
                <a:gd name="connsiteX10" fmla="*/ 662940 w 662940"/>
                <a:gd name="connsiteY10" fmla="*/ 274320 h 1337310"/>
                <a:gd name="connsiteX11" fmla="*/ 327660 w 662940"/>
                <a:gd name="connsiteY11" fmla="*/ 0 h 1337310"/>
                <a:gd name="connsiteX12" fmla="*/ 10587 w 662940"/>
                <a:gd name="connsiteY12" fmla="*/ 0 h 133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2940" h="1337310">
                  <a:moveTo>
                    <a:pt x="10587" y="0"/>
                  </a:moveTo>
                  <a:lnTo>
                    <a:pt x="339090" y="270510"/>
                  </a:lnTo>
                  <a:lnTo>
                    <a:pt x="7620" y="533400"/>
                  </a:lnTo>
                  <a:lnTo>
                    <a:pt x="323850" y="803910"/>
                  </a:lnTo>
                  <a:lnTo>
                    <a:pt x="0" y="1074420"/>
                  </a:lnTo>
                  <a:lnTo>
                    <a:pt x="327660" y="1337310"/>
                  </a:lnTo>
                  <a:lnTo>
                    <a:pt x="651510" y="1337310"/>
                  </a:lnTo>
                  <a:lnTo>
                    <a:pt x="327660" y="1078230"/>
                  </a:lnTo>
                  <a:lnTo>
                    <a:pt x="662940" y="811530"/>
                  </a:lnTo>
                  <a:lnTo>
                    <a:pt x="331470" y="541020"/>
                  </a:lnTo>
                  <a:lnTo>
                    <a:pt x="662940" y="274320"/>
                  </a:lnTo>
                  <a:lnTo>
                    <a:pt x="327660" y="0"/>
                  </a:lnTo>
                  <a:lnTo>
                    <a:pt x="10587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715EA-0D11-4141-978F-4B46EC64A458}"/>
                </a:ext>
              </a:extLst>
            </p:cNvPr>
            <p:cNvSpPr/>
            <p:nvPr/>
          </p:nvSpPr>
          <p:spPr bwMode="gray">
            <a:xfrm>
              <a:off x="6280785" y="5354105"/>
              <a:ext cx="59028" cy="387371"/>
            </a:xfrm>
            <a:custGeom>
              <a:avLst/>
              <a:gdLst>
                <a:gd name="connsiteX0" fmla="*/ 15240 w 291465"/>
                <a:gd name="connsiteY0" fmla="*/ 0 h 1333500"/>
                <a:gd name="connsiteX1" fmla="*/ 291465 w 291465"/>
                <a:gd name="connsiteY1" fmla="*/ 268605 h 1333500"/>
                <a:gd name="connsiteX2" fmla="*/ 11430 w 291465"/>
                <a:gd name="connsiteY2" fmla="*/ 529590 h 1333500"/>
                <a:gd name="connsiteX3" fmla="*/ 276225 w 291465"/>
                <a:gd name="connsiteY3" fmla="*/ 798195 h 1333500"/>
                <a:gd name="connsiteX4" fmla="*/ 0 w 291465"/>
                <a:gd name="connsiteY4" fmla="*/ 1072515 h 1333500"/>
                <a:gd name="connsiteX5" fmla="*/ 283845 w 291465"/>
                <a:gd name="connsiteY5" fmla="*/ 1333500 h 1333500"/>
                <a:gd name="connsiteX0" fmla="*/ 7620 w 291465"/>
                <a:gd name="connsiteY0" fmla="*/ 0 h 1341120"/>
                <a:gd name="connsiteX1" fmla="*/ 291465 w 291465"/>
                <a:gd name="connsiteY1" fmla="*/ 276225 h 1341120"/>
                <a:gd name="connsiteX2" fmla="*/ 11430 w 291465"/>
                <a:gd name="connsiteY2" fmla="*/ 537210 h 1341120"/>
                <a:gd name="connsiteX3" fmla="*/ 276225 w 291465"/>
                <a:gd name="connsiteY3" fmla="*/ 805815 h 1341120"/>
                <a:gd name="connsiteX4" fmla="*/ 0 w 291465"/>
                <a:gd name="connsiteY4" fmla="*/ 1080135 h 1341120"/>
                <a:gd name="connsiteX5" fmla="*/ 283845 w 291465"/>
                <a:gd name="connsiteY5" fmla="*/ 1341120 h 1341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1465" h="1341120">
                  <a:moveTo>
                    <a:pt x="7620" y="0"/>
                  </a:moveTo>
                  <a:lnTo>
                    <a:pt x="291465" y="276225"/>
                  </a:lnTo>
                  <a:lnTo>
                    <a:pt x="11430" y="537210"/>
                  </a:lnTo>
                  <a:lnTo>
                    <a:pt x="276225" y="805815"/>
                  </a:lnTo>
                  <a:lnTo>
                    <a:pt x="0" y="1080135"/>
                  </a:lnTo>
                  <a:lnTo>
                    <a:pt x="283845" y="1341120"/>
                  </a:lnTo>
                </a:path>
              </a:pathLst>
            </a:cu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BD6CE01-C9EB-44DE-8523-6E5B304AB7C5}"/>
                </a:ext>
              </a:extLst>
            </p:cNvPr>
            <p:cNvSpPr/>
            <p:nvPr/>
          </p:nvSpPr>
          <p:spPr bwMode="gray">
            <a:xfrm>
              <a:off x="6338656" y="5350846"/>
              <a:ext cx="57870" cy="389163"/>
            </a:xfrm>
            <a:custGeom>
              <a:avLst/>
              <a:gdLst>
                <a:gd name="connsiteX0" fmla="*/ 0 w 289560"/>
                <a:gd name="connsiteY0" fmla="*/ 0 h 1297305"/>
                <a:gd name="connsiteX1" fmla="*/ 289560 w 289560"/>
                <a:gd name="connsiteY1" fmla="*/ 276225 h 1297305"/>
                <a:gd name="connsiteX2" fmla="*/ 9525 w 289560"/>
                <a:gd name="connsiteY2" fmla="*/ 541020 h 1297305"/>
                <a:gd name="connsiteX3" fmla="*/ 283845 w 289560"/>
                <a:gd name="connsiteY3" fmla="*/ 811530 h 1297305"/>
                <a:gd name="connsiteX4" fmla="*/ 3810 w 289560"/>
                <a:gd name="connsiteY4" fmla="*/ 1080135 h 1297305"/>
                <a:gd name="connsiteX5" fmla="*/ 232410 w 289560"/>
                <a:gd name="connsiteY5" fmla="*/ 1297305 h 1297305"/>
                <a:gd name="connsiteX0" fmla="*/ 0 w 289560"/>
                <a:gd name="connsiteY0" fmla="*/ 0 h 1333500"/>
                <a:gd name="connsiteX1" fmla="*/ 289560 w 289560"/>
                <a:gd name="connsiteY1" fmla="*/ 276225 h 1333500"/>
                <a:gd name="connsiteX2" fmla="*/ 9525 w 289560"/>
                <a:gd name="connsiteY2" fmla="*/ 541020 h 1333500"/>
                <a:gd name="connsiteX3" fmla="*/ 283845 w 289560"/>
                <a:gd name="connsiteY3" fmla="*/ 811530 h 1333500"/>
                <a:gd name="connsiteX4" fmla="*/ 3810 w 289560"/>
                <a:gd name="connsiteY4" fmla="*/ 1080135 h 1333500"/>
                <a:gd name="connsiteX5" fmla="*/ 268605 w 289560"/>
                <a:gd name="connsiteY5" fmla="*/ 1333500 h 1333500"/>
                <a:gd name="connsiteX0" fmla="*/ 0 w 289560"/>
                <a:gd name="connsiteY0" fmla="*/ 0 h 1339215"/>
                <a:gd name="connsiteX1" fmla="*/ 289560 w 289560"/>
                <a:gd name="connsiteY1" fmla="*/ 276225 h 1339215"/>
                <a:gd name="connsiteX2" fmla="*/ 9525 w 289560"/>
                <a:gd name="connsiteY2" fmla="*/ 541020 h 1339215"/>
                <a:gd name="connsiteX3" fmla="*/ 283845 w 289560"/>
                <a:gd name="connsiteY3" fmla="*/ 811530 h 1339215"/>
                <a:gd name="connsiteX4" fmla="*/ 3810 w 289560"/>
                <a:gd name="connsiteY4" fmla="*/ 1080135 h 1339215"/>
                <a:gd name="connsiteX5" fmla="*/ 281940 w 289560"/>
                <a:gd name="connsiteY5" fmla="*/ 1339215 h 1339215"/>
                <a:gd name="connsiteX0" fmla="*/ 0 w 289560"/>
                <a:gd name="connsiteY0" fmla="*/ 0 h 1334135"/>
                <a:gd name="connsiteX1" fmla="*/ 289560 w 289560"/>
                <a:gd name="connsiteY1" fmla="*/ 276225 h 1334135"/>
                <a:gd name="connsiteX2" fmla="*/ 9525 w 289560"/>
                <a:gd name="connsiteY2" fmla="*/ 541020 h 1334135"/>
                <a:gd name="connsiteX3" fmla="*/ 283845 w 289560"/>
                <a:gd name="connsiteY3" fmla="*/ 811530 h 1334135"/>
                <a:gd name="connsiteX4" fmla="*/ 3810 w 289560"/>
                <a:gd name="connsiteY4" fmla="*/ 1080135 h 1334135"/>
                <a:gd name="connsiteX5" fmla="*/ 276860 w 289560"/>
                <a:gd name="connsiteY5" fmla="*/ 1334135 h 1334135"/>
                <a:gd name="connsiteX0" fmla="*/ 0 w 289560"/>
                <a:gd name="connsiteY0" fmla="*/ 0 h 1334135"/>
                <a:gd name="connsiteX1" fmla="*/ 289560 w 289560"/>
                <a:gd name="connsiteY1" fmla="*/ 276225 h 1334135"/>
                <a:gd name="connsiteX2" fmla="*/ 9525 w 289560"/>
                <a:gd name="connsiteY2" fmla="*/ 541020 h 1334135"/>
                <a:gd name="connsiteX3" fmla="*/ 283845 w 289560"/>
                <a:gd name="connsiteY3" fmla="*/ 811530 h 1334135"/>
                <a:gd name="connsiteX4" fmla="*/ 3810 w 289560"/>
                <a:gd name="connsiteY4" fmla="*/ 1080135 h 1334135"/>
                <a:gd name="connsiteX5" fmla="*/ 276860 w 289560"/>
                <a:gd name="connsiteY5" fmla="*/ 1334135 h 1334135"/>
                <a:gd name="connsiteX0" fmla="*/ 8730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8730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27543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27543 w 285748"/>
                <a:gd name="connsiteY0" fmla="*/ 0 h 1347326"/>
                <a:gd name="connsiteX1" fmla="*/ 285748 w 285748"/>
                <a:gd name="connsiteY1" fmla="*/ 289416 h 1347326"/>
                <a:gd name="connsiteX2" fmla="*/ 5713 w 285748"/>
                <a:gd name="connsiteY2" fmla="*/ 554211 h 1347326"/>
                <a:gd name="connsiteX3" fmla="*/ 280033 w 285748"/>
                <a:gd name="connsiteY3" fmla="*/ 824721 h 1347326"/>
                <a:gd name="connsiteX4" fmla="*/ -2 w 285748"/>
                <a:gd name="connsiteY4" fmla="*/ 1093326 h 1347326"/>
                <a:gd name="connsiteX5" fmla="*/ 273048 w 285748"/>
                <a:gd name="connsiteY5" fmla="*/ 1347326 h 134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48" h="1347326">
                  <a:moveTo>
                    <a:pt x="27543" y="0"/>
                  </a:moveTo>
                  <a:lnTo>
                    <a:pt x="285748" y="289416"/>
                  </a:lnTo>
                  <a:lnTo>
                    <a:pt x="5713" y="554211"/>
                  </a:lnTo>
                  <a:lnTo>
                    <a:pt x="280033" y="824721"/>
                  </a:lnTo>
                  <a:lnTo>
                    <a:pt x="-2" y="1093326"/>
                  </a:lnTo>
                  <a:lnTo>
                    <a:pt x="273048" y="1347326"/>
                  </a:lnTo>
                </a:path>
              </a:pathLst>
            </a:cu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A4A1AA5-61E4-4F21-A905-31B8CF0B5F5A}"/>
              </a:ext>
            </a:extLst>
          </p:cNvPr>
          <p:cNvGrpSpPr/>
          <p:nvPr/>
        </p:nvGrpSpPr>
        <p:grpSpPr>
          <a:xfrm>
            <a:off x="6320468" y="5792726"/>
            <a:ext cx="70153" cy="235822"/>
            <a:chOff x="6280785" y="5350846"/>
            <a:chExt cx="116205" cy="390630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3B67F93-BAD2-49AF-8999-683055C14450}"/>
                </a:ext>
              </a:extLst>
            </p:cNvPr>
            <p:cNvSpPr/>
            <p:nvPr/>
          </p:nvSpPr>
          <p:spPr bwMode="gray">
            <a:xfrm>
              <a:off x="6282045" y="5355132"/>
              <a:ext cx="114945" cy="386271"/>
            </a:xfrm>
            <a:custGeom>
              <a:avLst/>
              <a:gdLst>
                <a:gd name="connsiteX0" fmla="*/ 7620 w 662940"/>
                <a:gd name="connsiteY0" fmla="*/ 7620 h 1337310"/>
                <a:gd name="connsiteX1" fmla="*/ 339090 w 662940"/>
                <a:gd name="connsiteY1" fmla="*/ 270510 h 1337310"/>
                <a:gd name="connsiteX2" fmla="*/ 7620 w 662940"/>
                <a:gd name="connsiteY2" fmla="*/ 533400 h 1337310"/>
                <a:gd name="connsiteX3" fmla="*/ 323850 w 662940"/>
                <a:gd name="connsiteY3" fmla="*/ 803910 h 1337310"/>
                <a:gd name="connsiteX4" fmla="*/ 0 w 662940"/>
                <a:gd name="connsiteY4" fmla="*/ 1074420 h 1337310"/>
                <a:gd name="connsiteX5" fmla="*/ 327660 w 662940"/>
                <a:gd name="connsiteY5" fmla="*/ 1337310 h 1337310"/>
                <a:gd name="connsiteX6" fmla="*/ 651510 w 662940"/>
                <a:gd name="connsiteY6" fmla="*/ 1337310 h 1337310"/>
                <a:gd name="connsiteX7" fmla="*/ 327660 w 662940"/>
                <a:gd name="connsiteY7" fmla="*/ 1078230 h 1337310"/>
                <a:gd name="connsiteX8" fmla="*/ 662940 w 662940"/>
                <a:gd name="connsiteY8" fmla="*/ 811530 h 1337310"/>
                <a:gd name="connsiteX9" fmla="*/ 331470 w 662940"/>
                <a:gd name="connsiteY9" fmla="*/ 541020 h 1337310"/>
                <a:gd name="connsiteX10" fmla="*/ 662940 w 662940"/>
                <a:gd name="connsiteY10" fmla="*/ 274320 h 1337310"/>
                <a:gd name="connsiteX11" fmla="*/ 327660 w 662940"/>
                <a:gd name="connsiteY11" fmla="*/ 0 h 1337310"/>
                <a:gd name="connsiteX12" fmla="*/ 7620 w 662940"/>
                <a:gd name="connsiteY12" fmla="*/ 7620 h 1337310"/>
                <a:gd name="connsiteX0" fmla="*/ 10587 w 662940"/>
                <a:gd name="connsiteY0" fmla="*/ 0 h 1337310"/>
                <a:gd name="connsiteX1" fmla="*/ 339090 w 662940"/>
                <a:gd name="connsiteY1" fmla="*/ 270510 h 1337310"/>
                <a:gd name="connsiteX2" fmla="*/ 7620 w 662940"/>
                <a:gd name="connsiteY2" fmla="*/ 533400 h 1337310"/>
                <a:gd name="connsiteX3" fmla="*/ 323850 w 662940"/>
                <a:gd name="connsiteY3" fmla="*/ 803910 h 1337310"/>
                <a:gd name="connsiteX4" fmla="*/ 0 w 662940"/>
                <a:gd name="connsiteY4" fmla="*/ 1074420 h 1337310"/>
                <a:gd name="connsiteX5" fmla="*/ 327660 w 662940"/>
                <a:gd name="connsiteY5" fmla="*/ 1337310 h 1337310"/>
                <a:gd name="connsiteX6" fmla="*/ 651510 w 662940"/>
                <a:gd name="connsiteY6" fmla="*/ 1337310 h 1337310"/>
                <a:gd name="connsiteX7" fmla="*/ 327660 w 662940"/>
                <a:gd name="connsiteY7" fmla="*/ 1078230 h 1337310"/>
                <a:gd name="connsiteX8" fmla="*/ 662940 w 662940"/>
                <a:gd name="connsiteY8" fmla="*/ 811530 h 1337310"/>
                <a:gd name="connsiteX9" fmla="*/ 331470 w 662940"/>
                <a:gd name="connsiteY9" fmla="*/ 541020 h 1337310"/>
                <a:gd name="connsiteX10" fmla="*/ 662940 w 662940"/>
                <a:gd name="connsiteY10" fmla="*/ 274320 h 1337310"/>
                <a:gd name="connsiteX11" fmla="*/ 327660 w 662940"/>
                <a:gd name="connsiteY11" fmla="*/ 0 h 1337310"/>
                <a:gd name="connsiteX12" fmla="*/ 10587 w 662940"/>
                <a:gd name="connsiteY12" fmla="*/ 0 h 133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2940" h="1337310">
                  <a:moveTo>
                    <a:pt x="10587" y="0"/>
                  </a:moveTo>
                  <a:lnTo>
                    <a:pt x="339090" y="270510"/>
                  </a:lnTo>
                  <a:lnTo>
                    <a:pt x="7620" y="533400"/>
                  </a:lnTo>
                  <a:lnTo>
                    <a:pt x="323850" y="803910"/>
                  </a:lnTo>
                  <a:lnTo>
                    <a:pt x="0" y="1074420"/>
                  </a:lnTo>
                  <a:lnTo>
                    <a:pt x="327660" y="1337310"/>
                  </a:lnTo>
                  <a:lnTo>
                    <a:pt x="651510" y="1337310"/>
                  </a:lnTo>
                  <a:lnTo>
                    <a:pt x="327660" y="1078230"/>
                  </a:lnTo>
                  <a:lnTo>
                    <a:pt x="662940" y="811530"/>
                  </a:lnTo>
                  <a:lnTo>
                    <a:pt x="331470" y="541020"/>
                  </a:lnTo>
                  <a:lnTo>
                    <a:pt x="662940" y="274320"/>
                  </a:lnTo>
                  <a:lnTo>
                    <a:pt x="327660" y="0"/>
                  </a:lnTo>
                  <a:lnTo>
                    <a:pt x="10587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FD52377-2750-4C55-ABE7-F658F4789C25}"/>
                </a:ext>
              </a:extLst>
            </p:cNvPr>
            <p:cNvSpPr/>
            <p:nvPr/>
          </p:nvSpPr>
          <p:spPr bwMode="gray">
            <a:xfrm>
              <a:off x="6280785" y="5354105"/>
              <a:ext cx="59028" cy="387371"/>
            </a:xfrm>
            <a:custGeom>
              <a:avLst/>
              <a:gdLst>
                <a:gd name="connsiteX0" fmla="*/ 15240 w 291465"/>
                <a:gd name="connsiteY0" fmla="*/ 0 h 1333500"/>
                <a:gd name="connsiteX1" fmla="*/ 291465 w 291465"/>
                <a:gd name="connsiteY1" fmla="*/ 268605 h 1333500"/>
                <a:gd name="connsiteX2" fmla="*/ 11430 w 291465"/>
                <a:gd name="connsiteY2" fmla="*/ 529590 h 1333500"/>
                <a:gd name="connsiteX3" fmla="*/ 276225 w 291465"/>
                <a:gd name="connsiteY3" fmla="*/ 798195 h 1333500"/>
                <a:gd name="connsiteX4" fmla="*/ 0 w 291465"/>
                <a:gd name="connsiteY4" fmla="*/ 1072515 h 1333500"/>
                <a:gd name="connsiteX5" fmla="*/ 283845 w 291465"/>
                <a:gd name="connsiteY5" fmla="*/ 1333500 h 1333500"/>
                <a:gd name="connsiteX0" fmla="*/ 7620 w 291465"/>
                <a:gd name="connsiteY0" fmla="*/ 0 h 1341120"/>
                <a:gd name="connsiteX1" fmla="*/ 291465 w 291465"/>
                <a:gd name="connsiteY1" fmla="*/ 276225 h 1341120"/>
                <a:gd name="connsiteX2" fmla="*/ 11430 w 291465"/>
                <a:gd name="connsiteY2" fmla="*/ 537210 h 1341120"/>
                <a:gd name="connsiteX3" fmla="*/ 276225 w 291465"/>
                <a:gd name="connsiteY3" fmla="*/ 805815 h 1341120"/>
                <a:gd name="connsiteX4" fmla="*/ 0 w 291465"/>
                <a:gd name="connsiteY4" fmla="*/ 1080135 h 1341120"/>
                <a:gd name="connsiteX5" fmla="*/ 283845 w 291465"/>
                <a:gd name="connsiteY5" fmla="*/ 1341120 h 1341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1465" h="1341120">
                  <a:moveTo>
                    <a:pt x="7620" y="0"/>
                  </a:moveTo>
                  <a:lnTo>
                    <a:pt x="291465" y="276225"/>
                  </a:lnTo>
                  <a:lnTo>
                    <a:pt x="11430" y="537210"/>
                  </a:lnTo>
                  <a:lnTo>
                    <a:pt x="276225" y="805815"/>
                  </a:lnTo>
                  <a:lnTo>
                    <a:pt x="0" y="1080135"/>
                  </a:lnTo>
                  <a:lnTo>
                    <a:pt x="283845" y="1341120"/>
                  </a:lnTo>
                </a:path>
              </a:pathLst>
            </a:cu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228131E-6175-4004-A455-77D72474FD56}"/>
                </a:ext>
              </a:extLst>
            </p:cNvPr>
            <p:cNvSpPr/>
            <p:nvPr/>
          </p:nvSpPr>
          <p:spPr bwMode="gray">
            <a:xfrm>
              <a:off x="6338656" y="5350846"/>
              <a:ext cx="57870" cy="389163"/>
            </a:xfrm>
            <a:custGeom>
              <a:avLst/>
              <a:gdLst>
                <a:gd name="connsiteX0" fmla="*/ 0 w 289560"/>
                <a:gd name="connsiteY0" fmla="*/ 0 h 1297305"/>
                <a:gd name="connsiteX1" fmla="*/ 289560 w 289560"/>
                <a:gd name="connsiteY1" fmla="*/ 276225 h 1297305"/>
                <a:gd name="connsiteX2" fmla="*/ 9525 w 289560"/>
                <a:gd name="connsiteY2" fmla="*/ 541020 h 1297305"/>
                <a:gd name="connsiteX3" fmla="*/ 283845 w 289560"/>
                <a:gd name="connsiteY3" fmla="*/ 811530 h 1297305"/>
                <a:gd name="connsiteX4" fmla="*/ 3810 w 289560"/>
                <a:gd name="connsiteY4" fmla="*/ 1080135 h 1297305"/>
                <a:gd name="connsiteX5" fmla="*/ 232410 w 289560"/>
                <a:gd name="connsiteY5" fmla="*/ 1297305 h 1297305"/>
                <a:gd name="connsiteX0" fmla="*/ 0 w 289560"/>
                <a:gd name="connsiteY0" fmla="*/ 0 h 1333500"/>
                <a:gd name="connsiteX1" fmla="*/ 289560 w 289560"/>
                <a:gd name="connsiteY1" fmla="*/ 276225 h 1333500"/>
                <a:gd name="connsiteX2" fmla="*/ 9525 w 289560"/>
                <a:gd name="connsiteY2" fmla="*/ 541020 h 1333500"/>
                <a:gd name="connsiteX3" fmla="*/ 283845 w 289560"/>
                <a:gd name="connsiteY3" fmla="*/ 811530 h 1333500"/>
                <a:gd name="connsiteX4" fmla="*/ 3810 w 289560"/>
                <a:gd name="connsiteY4" fmla="*/ 1080135 h 1333500"/>
                <a:gd name="connsiteX5" fmla="*/ 268605 w 289560"/>
                <a:gd name="connsiteY5" fmla="*/ 1333500 h 1333500"/>
                <a:gd name="connsiteX0" fmla="*/ 0 w 289560"/>
                <a:gd name="connsiteY0" fmla="*/ 0 h 1339215"/>
                <a:gd name="connsiteX1" fmla="*/ 289560 w 289560"/>
                <a:gd name="connsiteY1" fmla="*/ 276225 h 1339215"/>
                <a:gd name="connsiteX2" fmla="*/ 9525 w 289560"/>
                <a:gd name="connsiteY2" fmla="*/ 541020 h 1339215"/>
                <a:gd name="connsiteX3" fmla="*/ 283845 w 289560"/>
                <a:gd name="connsiteY3" fmla="*/ 811530 h 1339215"/>
                <a:gd name="connsiteX4" fmla="*/ 3810 w 289560"/>
                <a:gd name="connsiteY4" fmla="*/ 1080135 h 1339215"/>
                <a:gd name="connsiteX5" fmla="*/ 281940 w 289560"/>
                <a:gd name="connsiteY5" fmla="*/ 1339215 h 1339215"/>
                <a:gd name="connsiteX0" fmla="*/ 0 w 289560"/>
                <a:gd name="connsiteY0" fmla="*/ 0 h 1334135"/>
                <a:gd name="connsiteX1" fmla="*/ 289560 w 289560"/>
                <a:gd name="connsiteY1" fmla="*/ 276225 h 1334135"/>
                <a:gd name="connsiteX2" fmla="*/ 9525 w 289560"/>
                <a:gd name="connsiteY2" fmla="*/ 541020 h 1334135"/>
                <a:gd name="connsiteX3" fmla="*/ 283845 w 289560"/>
                <a:gd name="connsiteY3" fmla="*/ 811530 h 1334135"/>
                <a:gd name="connsiteX4" fmla="*/ 3810 w 289560"/>
                <a:gd name="connsiteY4" fmla="*/ 1080135 h 1334135"/>
                <a:gd name="connsiteX5" fmla="*/ 276860 w 289560"/>
                <a:gd name="connsiteY5" fmla="*/ 1334135 h 1334135"/>
                <a:gd name="connsiteX0" fmla="*/ 0 w 289560"/>
                <a:gd name="connsiteY0" fmla="*/ 0 h 1334135"/>
                <a:gd name="connsiteX1" fmla="*/ 289560 w 289560"/>
                <a:gd name="connsiteY1" fmla="*/ 276225 h 1334135"/>
                <a:gd name="connsiteX2" fmla="*/ 9525 w 289560"/>
                <a:gd name="connsiteY2" fmla="*/ 541020 h 1334135"/>
                <a:gd name="connsiteX3" fmla="*/ 283845 w 289560"/>
                <a:gd name="connsiteY3" fmla="*/ 811530 h 1334135"/>
                <a:gd name="connsiteX4" fmla="*/ 3810 w 289560"/>
                <a:gd name="connsiteY4" fmla="*/ 1080135 h 1334135"/>
                <a:gd name="connsiteX5" fmla="*/ 276860 w 289560"/>
                <a:gd name="connsiteY5" fmla="*/ 1334135 h 1334135"/>
                <a:gd name="connsiteX0" fmla="*/ 8730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8730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27543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27543 w 285748"/>
                <a:gd name="connsiteY0" fmla="*/ 0 h 1347326"/>
                <a:gd name="connsiteX1" fmla="*/ 285748 w 285748"/>
                <a:gd name="connsiteY1" fmla="*/ 289416 h 1347326"/>
                <a:gd name="connsiteX2" fmla="*/ 5713 w 285748"/>
                <a:gd name="connsiteY2" fmla="*/ 554211 h 1347326"/>
                <a:gd name="connsiteX3" fmla="*/ 280033 w 285748"/>
                <a:gd name="connsiteY3" fmla="*/ 824721 h 1347326"/>
                <a:gd name="connsiteX4" fmla="*/ -2 w 285748"/>
                <a:gd name="connsiteY4" fmla="*/ 1093326 h 1347326"/>
                <a:gd name="connsiteX5" fmla="*/ 273048 w 285748"/>
                <a:gd name="connsiteY5" fmla="*/ 1347326 h 134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48" h="1347326">
                  <a:moveTo>
                    <a:pt x="27543" y="0"/>
                  </a:moveTo>
                  <a:lnTo>
                    <a:pt x="285748" y="289416"/>
                  </a:lnTo>
                  <a:lnTo>
                    <a:pt x="5713" y="554211"/>
                  </a:lnTo>
                  <a:lnTo>
                    <a:pt x="280033" y="824721"/>
                  </a:lnTo>
                  <a:lnTo>
                    <a:pt x="-2" y="1093326"/>
                  </a:lnTo>
                  <a:lnTo>
                    <a:pt x="273048" y="1347326"/>
                  </a:lnTo>
                </a:path>
              </a:pathLst>
            </a:cu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6140095-B1A8-4B90-9435-32E7633DC621}"/>
              </a:ext>
            </a:extLst>
          </p:cNvPr>
          <p:cNvGrpSpPr/>
          <p:nvPr/>
        </p:nvGrpSpPr>
        <p:grpSpPr>
          <a:xfrm>
            <a:off x="4837458" y="5792726"/>
            <a:ext cx="70153" cy="235822"/>
            <a:chOff x="6280785" y="5350846"/>
            <a:chExt cx="116205" cy="390630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0EBC19F-CA33-4BBA-9207-F6FD17C6B412}"/>
                </a:ext>
              </a:extLst>
            </p:cNvPr>
            <p:cNvSpPr/>
            <p:nvPr/>
          </p:nvSpPr>
          <p:spPr bwMode="gray">
            <a:xfrm>
              <a:off x="6282045" y="5355132"/>
              <a:ext cx="114945" cy="386271"/>
            </a:xfrm>
            <a:custGeom>
              <a:avLst/>
              <a:gdLst>
                <a:gd name="connsiteX0" fmla="*/ 7620 w 662940"/>
                <a:gd name="connsiteY0" fmla="*/ 7620 h 1337310"/>
                <a:gd name="connsiteX1" fmla="*/ 339090 w 662940"/>
                <a:gd name="connsiteY1" fmla="*/ 270510 h 1337310"/>
                <a:gd name="connsiteX2" fmla="*/ 7620 w 662940"/>
                <a:gd name="connsiteY2" fmla="*/ 533400 h 1337310"/>
                <a:gd name="connsiteX3" fmla="*/ 323850 w 662940"/>
                <a:gd name="connsiteY3" fmla="*/ 803910 h 1337310"/>
                <a:gd name="connsiteX4" fmla="*/ 0 w 662940"/>
                <a:gd name="connsiteY4" fmla="*/ 1074420 h 1337310"/>
                <a:gd name="connsiteX5" fmla="*/ 327660 w 662940"/>
                <a:gd name="connsiteY5" fmla="*/ 1337310 h 1337310"/>
                <a:gd name="connsiteX6" fmla="*/ 651510 w 662940"/>
                <a:gd name="connsiteY6" fmla="*/ 1337310 h 1337310"/>
                <a:gd name="connsiteX7" fmla="*/ 327660 w 662940"/>
                <a:gd name="connsiteY7" fmla="*/ 1078230 h 1337310"/>
                <a:gd name="connsiteX8" fmla="*/ 662940 w 662940"/>
                <a:gd name="connsiteY8" fmla="*/ 811530 h 1337310"/>
                <a:gd name="connsiteX9" fmla="*/ 331470 w 662940"/>
                <a:gd name="connsiteY9" fmla="*/ 541020 h 1337310"/>
                <a:gd name="connsiteX10" fmla="*/ 662940 w 662940"/>
                <a:gd name="connsiteY10" fmla="*/ 274320 h 1337310"/>
                <a:gd name="connsiteX11" fmla="*/ 327660 w 662940"/>
                <a:gd name="connsiteY11" fmla="*/ 0 h 1337310"/>
                <a:gd name="connsiteX12" fmla="*/ 7620 w 662940"/>
                <a:gd name="connsiteY12" fmla="*/ 7620 h 1337310"/>
                <a:gd name="connsiteX0" fmla="*/ 10587 w 662940"/>
                <a:gd name="connsiteY0" fmla="*/ 0 h 1337310"/>
                <a:gd name="connsiteX1" fmla="*/ 339090 w 662940"/>
                <a:gd name="connsiteY1" fmla="*/ 270510 h 1337310"/>
                <a:gd name="connsiteX2" fmla="*/ 7620 w 662940"/>
                <a:gd name="connsiteY2" fmla="*/ 533400 h 1337310"/>
                <a:gd name="connsiteX3" fmla="*/ 323850 w 662940"/>
                <a:gd name="connsiteY3" fmla="*/ 803910 h 1337310"/>
                <a:gd name="connsiteX4" fmla="*/ 0 w 662940"/>
                <a:gd name="connsiteY4" fmla="*/ 1074420 h 1337310"/>
                <a:gd name="connsiteX5" fmla="*/ 327660 w 662940"/>
                <a:gd name="connsiteY5" fmla="*/ 1337310 h 1337310"/>
                <a:gd name="connsiteX6" fmla="*/ 651510 w 662940"/>
                <a:gd name="connsiteY6" fmla="*/ 1337310 h 1337310"/>
                <a:gd name="connsiteX7" fmla="*/ 327660 w 662940"/>
                <a:gd name="connsiteY7" fmla="*/ 1078230 h 1337310"/>
                <a:gd name="connsiteX8" fmla="*/ 662940 w 662940"/>
                <a:gd name="connsiteY8" fmla="*/ 811530 h 1337310"/>
                <a:gd name="connsiteX9" fmla="*/ 331470 w 662940"/>
                <a:gd name="connsiteY9" fmla="*/ 541020 h 1337310"/>
                <a:gd name="connsiteX10" fmla="*/ 662940 w 662940"/>
                <a:gd name="connsiteY10" fmla="*/ 274320 h 1337310"/>
                <a:gd name="connsiteX11" fmla="*/ 327660 w 662940"/>
                <a:gd name="connsiteY11" fmla="*/ 0 h 1337310"/>
                <a:gd name="connsiteX12" fmla="*/ 10587 w 662940"/>
                <a:gd name="connsiteY12" fmla="*/ 0 h 133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2940" h="1337310">
                  <a:moveTo>
                    <a:pt x="10587" y="0"/>
                  </a:moveTo>
                  <a:lnTo>
                    <a:pt x="339090" y="270510"/>
                  </a:lnTo>
                  <a:lnTo>
                    <a:pt x="7620" y="533400"/>
                  </a:lnTo>
                  <a:lnTo>
                    <a:pt x="323850" y="803910"/>
                  </a:lnTo>
                  <a:lnTo>
                    <a:pt x="0" y="1074420"/>
                  </a:lnTo>
                  <a:lnTo>
                    <a:pt x="327660" y="1337310"/>
                  </a:lnTo>
                  <a:lnTo>
                    <a:pt x="651510" y="1337310"/>
                  </a:lnTo>
                  <a:lnTo>
                    <a:pt x="327660" y="1078230"/>
                  </a:lnTo>
                  <a:lnTo>
                    <a:pt x="662940" y="811530"/>
                  </a:lnTo>
                  <a:lnTo>
                    <a:pt x="331470" y="541020"/>
                  </a:lnTo>
                  <a:lnTo>
                    <a:pt x="662940" y="274320"/>
                  </a:lnTo>
                  <a:lnTo>
                    <a:pt x="327660" y="0"/>
                  </a:lnTo>
                  <a:lnTo>
                    <a:pt x="10587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9EB177E-4343-4A45-A00D-CEA0C4E3B3B9}"/>
                </a:ext>
              </a:extLst>
            </p:cNvPr>
            <p:cNvSpPr/>
            <p:nvPr/>
          </p:nvSpPr>
          <p:spPr bwMode="gray">
            <a:xfrm>
              <a:off x="6280785" y="5354105"/>
              <a:ext cx="59028" cy="387371"/>
            </a:xfrm>
            <a:custGeom>
              <a:avLst/>
              <a:gdLst>
                <a:gd name="connsiteX0" fmla="*/ 15240 w 291465"/>
                <a:gd name="connsiteY0" fmla="*/ 0 h 1333500"/>
                <a:gd name="connsiteX1" fmla="*/ 291465 w 291465"/>
                <a:gd name="connsiteY1" fmla="*/ 268605 h 1333500"/>
                <a:gd name="connsiteX2" fmla="*/ 11430 w 291465"/>
                <a:gd name="connsiteY2" fmla="*/ 529590 h 1333500"/>
                <a:gd name="connsiteX3" fmla="*/ 276225 w 291465"/>
                <a:gd name="connsiteY3" fmla="*/ 798195 h 1333500"/>
                <a:gd name="connsiteX4" fmla="*/ 0 w 291465"/>
                <a:gd name="connsiteY4" fmla="*/ 1072515 h 1333500"/>
                <a:gd name="connsiteX5" fmla="*/ 283845 w 291465"/>
                <a:gd name="connsiteY5" fmla="*/ 1333500 h 1333500"/>
                <a:gd name="connsiteX0" fmla="*/ 7620 w 291465"/>
                <a:gd name="connsiteY0" fmla="*/ 0 h 1341120"/>
                <a:gd name="connsiteX1" fmla="*/ 291465 w 291465"/>
                <a:gd name="connsiteY1" fmla="*/ 276225 h 1341120"/>
                <a:gd name="connsiteX2" fmla="*/ 11430 w 291465"/>
                <a:gd name="connsiteY2" fmla="*/ 537210 h 1341120"/>
                <a:gd name="connsiteX3" fmla="*/ 276225 w 291465"/>
                <a:gd name="connsiteY3" fmla="*/ 805815 h 1341120"/>
                <a:gd name="connsiteX4" fmla="*/ 0 w 291465"/>
                <a:gd name="connsiteY4" fmla="*/ 1080135 h 1341120"/>
                <a:gd name="connsiteX5" fmla="*/ 283845 w 291465"/>
                <a:gd name="connsiteY5" fmla="*/ 1341120 h 1341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1465" h="1341120">
                  <a:moveTo>
                    <a:pt x="7620" y="0"/>
                  </a:moveTo>
                  <a:lnTo>
                    <a:pt x="291465" y="276225"/>
                  </a:lnTo>
                  <a:lnTo>
                    <a:pt x="11430" y="537210"/>
                  </a:lnTo>
                  <a:lnTo>
                    <a:pt x="276225" y="805815"/>
                  </a:lnTo>
                  <a:lnTo>
                    <a:pt x="0" y="1080135"/>
                  </a:lnTo>
                  <a:lnTo>
                    <a:pt x="283845" y="1341120"/>
                  </a:lnTo>
                </a:path>
              </a:pathLst>
            </a:cu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6708F1D-ACA9-4D1A-82EF-2BF69FB3B597}"/>
                </a:ext>
              </a:extLst>
            </p:cNvPr>
            <p:cNvSpPr/>
            <p:nvPr/>
          </p:nvSpPr>
          <p:spPr bwMode="gray">
            <a:xfrm>
              <a:off x="6338656" y="5350846"/>
              <a:ext cx="57870" cy="389163"/>
            </a:xfrm>
            <a:custGeom>
              <a:avLst/>
              <a:gdLst>
                <a:gd name="connsiteX0" fmla="*/ 0 w 289560"/>
                <a:gd name="connsiteY0" fmla="*/ 0 h 1297305"/>
                <a:gd name="connsiteX1" fmla="*/ 289560 w 289560"/>
                <a:gd name="connsiteY1" fmla="*/ 276225 h 1297305"/>
                <a:gd name="connsiteX2" fmla="*/ 9525 w 289560"/>
                <a:gd name="connsiteY2" fmla="*/ 541020 h 1297305"/>
                <a:gd name="connsiteX3" fmla="*/ 283845 w 289560"/>
                <a:gd name="connsiteY3" fmla="*/ 811530 h 1297305"/>
                <a:gd name="connsiteX4" fmla="*/ 3810 w 289560"/>
                <a:gd name="connsiteY4" fmla="*/ 1080135 h 1297305"/>
                <a:gd name="connsiteX5" fmla="*/ 232410 w 289560"/>
                <a:gd name="connsiteY5" fmla="*/ 1297305 h 1297305"/>
                <a:gd name="connsiteX0" fmla="*/ 0 w 289560"/>
                <a:gd name="connsiteY0" fmla="*/ 0 h 1333500"/>
                <a:gd name="connsiteX1" fmla="*/ 289560 w 289560"/>
                <a:gd name="connsiteY1" fmla="*/ 276225 h 1333500"/>
                <a:gd name="connsiteX2" fmla="*/ 9525 w 289560"/>
                <a:gd name="connsiteY2" fmla="*/ 541020 h 1333500"/>
                <a:gd name="connsiteX3" fmla="*/ 283845 w 289560"/>
                <a:gd name="connsiteY3" fmla="*/ 811530 h 1333500"/>
                <a:gd name="connsiteX4" fmla="*/ 3810 w 289560"/>
                <a:gd name="connsiteY4" fmla="*/ 1080135 h 1333500"/>
                <a:gd name="connsiteX5" fmla="*/ 268605 w 289560"/>
                <a:gd name="connsiteY5" fmla="*/ 1333500 h 1333500"/>
                <a:gd name="connsiteX0" fmla="*/ 0 w 289560"/>
                <a:gd name="connsiteY0" fmla="*/ 0 h 1339215"/>
                <a:gd name="connsiteX1" fmla="*/ 289560 w 289560"/>
                <a:gd name="connsiteY1" fmla="*/ 276225 h 1339215"/>
                <a:gd name="connsiteX2" fmla="*/ 9525 w 289560"/>
                <a:gd name="connsiteY2" fmla="*/ 541020 h 1339215"/>
                <a:gd name="connsiteX3" fmla="*/ 283845 w 289560"/>
                <a:gd name="connsiteY3" fmla="*/ 811530 h 1339215"/>
                <a:gd name="connsiteX4" fmla="*/ 3810 w 289560"/>
                <a:gd name="connsiteY4" fmla="*/ 1080135 h 1339215"/>
                <a:gd name="connsiteX5" fmla="*/ 281940 w 289560"/>
                <a:gd name="connsiteY5" fmla="*/ 1339215 h 1339215"/>
                <a:gd name="connsiteX0" fmla="*/ 0 w 289560"/>
                <a:gd name="connsiteY0" fmla="*/ 0 h 1334135"/>
                <a:gd name="connsiteX1" fmla="*/ 289560 w 289560"/>
                <a:gd name="connsiteY1" fmla="*/ 276225 h 1334135"/>
                <a:gd name="connsiteX2" fmla="*/ 9525 w 289560"/>
                <a:gd name="connsiteY2" fmla="*/ 541020 h 1334135"/>
                <a:gd name="connsiteX3" fmla="*/ 283845 w 289560"/>
                <a:gd name="connsiteY3" fmla="*/ 811530 h 1334135"/>
                <a:gd name="connsiteX4" fmla="*/ 3810 w 289560"/>
                <a:gd name="connsiteY4" fmla="*/ 1080135 h 1334135"/>
                <a:gd name="connsiteX5" fmla="*/ 276860 w 289560"/>
                <a:gd name="connsiteY5" fmla="*/ 1334135 h 1334135"/>
                <a:gd name="connsiteX0" fmla="*/ 0 w 289560"/>
                <a:gd name="connsiteY0" fmla="*/ 0 h 1334135"/>
                <a:gd name="connsiteX1" fmla="*/ 289560 w 289560"/>
                <a:gd name="connsiteY1" fmla="*/ 276225 h 1334135"/>
                <a:gd name="connsiteX2" fmla="*/ 9525 w 289560"/>
                <a:gd name="connsiteY2" fmla="*/ 541020 h 1334135"/>
                <a:gd name="connsiteX3" fmla="*/ 283845 w 289560"/>
                <a:gd name="connsiteY3" fmla="*/ 811530 h 1334135"/>
                <a:gd name="connsiteX4" fmla="*/ 3810 w 289560"/>
                <a:gd name="connsiteY4" fmla="*/ 1080135 h 1334135"/>
                <a:gd name="connsiteX5" fmla="*/ 276860 w 289560"/>
                <a:gd name="connsiteY5" fmla="*/ 1334135 h 1334135"/>
                <a:gd name="connsiteX0" fmla="*/ 8730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8730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27543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27543 w 285748"/>
                <a:gd name="connsiteY0" fmla="*/ 0 h 1347326"/>
                <a:gd name="connsiteX1" fmla="*/ 285748 w 285748"/>
                <a:gd name="connsiteY1" fmla="*/ 289416 h 1347326"/>
                <a:gd name="connsiteX2" fmla="*/ 5713 w 285748"/>
                <a:gd name="connsiteY2" fmla="*/ 554211 h 1347326"/>
                <a:gd name="connsiteX3" fmla="*/ 280033 w 285748"/>
                <a:gd name="connsiteY3" fmla="*/ 824721 h 1347326"/>
                <a:gd name="connsiteX4" fmla="*/ -2 w 285748"/>
                <a:gd name="connsiteY4" fmla="*/ 1093326 h 1347326"/>
                <a:gd name="connsiteX5" fmla="*/ 273048 w 285748"/>
                <a:gd name="connsiteY5" fmla="*/ 1347326 h 134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48" h="1347326">
                  <a:moveTo>
                    <a:pt x="27543" y="0"/>
                  </a:moveTo>
                  <a:lnTo>
                    <a:pt x="285748" y="289416"/>
                  </a:lnTo>
                  <a:lnTo>
                    <a:pt x="5713" y="554211"/>
                  </a:lnTo>
                  <a:lnTo>
                    <a:pt x="280033" y="824721"/>
                  </a:lnTo>
                  <a:lnTo>
                    <a:pt x="-2" y="1093326"/>
                  </a:lnTo>
                  <a:lnTo>
                    <a:pt x="273048" y="1347326"/>
                  </a:lnTo>
                </a:path>
              </a:pathLst>
            </a:cu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60C89AA-C053-4F20-AC44-A74E72CD2D18}"/>
              </a:ext>
            </a:extLst>
          </p:cNvPr>
          <p:cNvSpPr txBox="1"/>
          <p:nvPr/>
        </p:nvSpPr>
        <p:spPr>
          <a:xfrm>
            <a:off x="4971925" y="5730100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>
                <a:latin typeface="Montserrat Light" panose="00000400000000000000" pitchFamily="2" charset="-52"/>
              </a:rPr>
              <a:t>34%</a:t>
            </a:r>
            <a:endParaRPr lang="ru-RU" sz="900" i="1" dirty="0" err="1">
              <a:latin typeface="Montserrat Light" panose="00000400000000000000" pitchFamily="2" charset="-5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658BDC4-8FA8-4485-A4B7-C59208F43769}"/>
              </a:ext>
            </a:extLst>
          </p:cNvPr>
          <p:cNvSpPr txBox="1"/>
          <p:nvPr/>
        </p:nvSpPr>
        <p:spPr>
          <a:xfrm>
            <a:off x="4971925" y="5347705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/>
              <a:t>34%</a:t>
            </a:r>
            <a:endParaRPr lang="ru-RU" sz="900" i="1" dirty="0" err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FC0FA6-B670-4C7F-9C95-97CE35478A2A}"/>
              </a:ext>
            </a:extLst>
          </p:cNvPr>
          <p:cNvSpPr txBox="1"/>
          <p:nvPr/>
        </p:nvSpPr>
        <p:spPr>
          <a:xfrm>
            <a:off x="6243222" y="5511646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/>
              <a:t>23%</a:t>
            </a:r>
            <a:endParaRPr lang="ru-RU" sz="900" i="1" dirty="0" err="1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26E8D4-9E1F-4F73-B286-FA9BE66A1D08}"/>
              </a:ext>
            </a:extLst>
          </p:cNvPr>
          <p:cNvSpPr txBox="1"/>
          <p:nvPr/>
        </p:nvSpPr>
        <p:spPr>
          <a:xfrm>
            <a:off x="6243222" y="4809274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/>
              <a:t>23%</a:t>
            </a:r>
            <a:endParaRPr lang="ru-RU" sz="900" i="1" dirty="0" err="1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69CC09C-369C-4A01-ADF3-AA40F716E30D}"/>
              </a:ext>
            </a:extLst>
          </p:cNvPr>
          <p:cNvCxnSpPr>
            <a:cxnSpLocks/>
          </p:cNvCxnSpPr>
          <p:nvPr/>
        </p:nvCxnSpPr>
        <p:spPr>
          <a:xfrm flipV="1">
            <a:off x="5067414" y="4723634"/>
            <a:ext cx="0" cy="567497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796BF0C-7B61-4308-9B0A-5BAF67E98108}"/>
              </a:ext>
            </a:extLst>
          </p:cNvPr>
          <p:cNvSpPr txBox="1"/>
          <p:nvPr/>
        </p:nvSpPr>
        <p:spPr>
          <a:xfrm>
            <a:off x="4898393" y="4541188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/>
              <a:t>CAGR</a:t>
            </a:r>
            <a:endParaRPr lang="ru-RU" sz="900" i="1" dirty="0" err="1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82BC3A8-D725-47C9-A176-69053CC6F3C8}"/>
              </a:ext>
            </a:extLst>
          </p:cNvPr>
          <p:cNvCxnSpPr>
            <a:cxnSpLocks/>
          </p:cNvCxnSpPr>
          <p:nvPr/>
        </p:nvCxnSpPr>
        <p:spPr>
          <a:xfrm flipV="1">
            <a:off x="6336045" y="4020670"/>
            <a:ext cx="0" cy="721271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F065FB0-51F0-4F41-B382-5407DA321B03}"/>
              </a:ext>
            </a:extLst>
          </p:cNvPr>
          <p:cNvSpPr txBox="1"/>
          <p:nvPr/>
        </p:nvSpPr>
        <p:spPr>
          <a:xfrm>
            <a:off x="6167024" y="3854700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/>
              <a:t>CAGR</a:t>
            </a:r>
            <a:endParaRPr lang="ru-RU" sz="900" i="1" dirty="0" err="1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EDE50A7-2C16-4418-B25A-1ECEE909EC1F}"/>
              </a:ext>
            </a:extLst>
          </p:cNvPr>
          <p:cNvCxnSpPr>
            <a:cxnSpLocks/>
          </p:cNvCxnSpPr>
          <p:nvPr/>
        </p:nvCxnSpPr>
        <p:spPr>
          <a:xfrm flipV="1">
            <a:off x="5067414" y="5525453"/>
            <a:ext cx="0" cy="170249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89A35DF-648C-44D2-8A69-9DF10EFA44D5}"/>
              </a:ext>
            </a:extLst>
          </p:cNvPr>
          <p:cNvCxnSpPr>
            <a:cxnSpLocks/>
          </p:cNvCxnSpPr>
          <p:nvPr/>
        </p:nvCxnSpPr>
        <p:spPr>
          <a:xfrm flipV="1">
            <a:off x="6336045" y="4981754"/>
            <a:ext cx="0" cy="472304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B2C56CC-DFC3-46B5-B5C8-596AAD0B717B}"/>
              </a:ext>
            </a:extLst>
          </p:cNvPr>
          <p:cNvSpPr txBox="1"/>
          <p:nvPr/>
        </p:nvSpPr>
        <p:spPr>
          <a:xfrm>
            <a:off x="7729968" y="5380190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900" i="1" dirty="0"/>
              <a:t>7%</a:t>
            </a:r>
            <a:endParaRPr lang="ru-RU" sz="900" i="1" dirty="0" err="1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5864919-3303-4F30-B6F3-B09CA4B6ACAD}"/>
              </a:ext>
            </a:extLst>
          </p:cNvPr>
          <p:cNvSpPr txBox="1"/>
          <p:nvPr/>
        </p:nvSpPr>
        <p:spPr>
          <a:xfrm>
            <a:off x="7729968" y="3982741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900" i="1" dirty="0"/>
              <a:t>15%</a:t>
            </a:r>
            <a:endParaRPr lang="ru-RU" sz="900" i="1" dirty="0" err="1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D05F9A7-5FD1-43A3-8FD3-C9A32B85B35A}"/>
              </a:ext>
            </a:extLst>
          </p:cNvPr>
          <p:cNvCxnSpPr>
            <a:cxnSpLocks/>
          </p:cNvCxnSpPr>
          <p:nvPr/>
        </p:nvCxnSpPr>
        <p:spPr>
          <a:xfrm flipV="1">
            <a:off x="7875635" y="2748854"/>
            <a:ext cx="0" cy="1105846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ABC4214-2E93-4C3C-B7A8-0A80E6CB5C68}"/>
              </a:ext>
            </a:extLst>
          </p:cNvPr>
          <p:cNvSpPr txBox="1"/>
          <p:nvPr/>
        </p:nvSpPr>
        <p:spPr>
          <a:xfrm>
            <a:off x="7721204" y="2541083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/>
              <a:t>CAGR</a:t>
            </a:r>
            <a:endParaRPr lang="ru-RU" sz="900" i="1" dirty="0" err="1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E9B95C6-A5B1-4A10-9C1F-978AD674C7C1}"/>
              </a:ext>
            </a:extLst>
          </p:cNvPr>
          <p:cNvCxnSpPr>
            <a:cxnSpLocks/>
          </p:cNvCxnSpPr>
          <p:nvPr/>
        </p:nvCxnSpPr>
        <p:spPr>
          <a:xfrm flipV="1">
            <a:off x="7886968" y="4170711"/>
            <a:ext cx="0" cy="1138726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9968A62-C7E6-4198-827C-2FC0C198B59C}"/>
              </a:ext>
            </a:extLst>
          </p:cNvPr>
          <p:cNvCxnSpPr>
            <a:cxnSpLocks/>
          </p:cNvCxnSpPr>
          <p:nvPr/>
        </p:nvCxnSpPr>
        <p:spPr>
          <a:xfrm>
            <a:off x="8038537" y="4037145"/>
            <a:ext cx="427683" cy="0"/>
          </a:xfrm>
          <a:prstGeom prst="line">
            <a:avLst/>
          </a:prstGeom>
          <a:ln w="19050">
            <a:solidFill>
              <a:srgbClr val="ED8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2DB6704-4CCC-4B06-A0A2-05329805E361}"/>
              </a:ext>
            </a:extLst>
          </p:cNvPr>
          <p:cNvCxnSpPr>
            <a:cxnSpLocks/>
          </p:cNvCxnSpPr>
          <p:nvPr/>
        </p:nvCxnSpPr>
        <p:spPr>
          <a:xfrm>
            <a:off x="8038537" y="5430572"/>
            <a:ext cx="427683" cy="0"/>
          </a:xfrm>
          <a:prstGeom prst="line">
            <a:avLst/>
          </a:prstGeom>
          <a:ln w="19050">
            <a:solidFill>
              <a:srgbClr val="ED8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86258B53-2A83-4DD4-A444-E0885E06A6AA}"/>
              </a:ext>
            </a:extLst>
          </p:cNvPr>
          <p:cNvSpPr/>
          <p:nvPr/>
        </p:nvSpPr>
        <p:spPr bwMode="gray">
          <a:xfrm>
            <a:off x="7066206" y="1398007"/>
            <a:ext cx="155984" cy="155984"/>
          </a:xfrm>
          <a:prstGeom prst="ellipse">
            <a:avLst/>
          </a:prstGeom>
          <a:solidFill>
            <a:srgbClr val="00A3E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5BC7F17-2207-4A70-860E-0ACB6C1ADA87}"/>
              </a:ext>
            </a:extLst>
          </p:cNvPr>
          <p:cNvSpPr/>
          <p:nvPr/>
        </p:nvSpPr>
        <p:spPr bwMode="gray">
          <a:xfrm>
            <a:off x="7066206" y="1864591"/>
            <a:ext cx="155984" cy="155984"/>
          </a:xfrm>
          <a:prstGeom prst="ellipse">
            <a:avLst/>
          </a:prstGeom>
          <a:solidFill>
            <a:srgbClr val="012169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619064-7B1A-4328-BEB9-AC7184177E33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Scenarios</a:t>
            </a:r>
            <a:endParaRPr lang="ru-RU" dirty="0" err="1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8594706-21E5-482C-9556-91B9BAA5D63E}"/>
              </a:ext>
            </a:extLst>
          </p:cNvPr>
          <p:cNvSpPr txBox="1"/>
          <p:nvPr/>
        </p:nvSpPr>
        <p:spPr>
          <a:xfrm>
            <a:off x="3618689" y="1108559"/>
            <a:ext cx="3152416" cy="1794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 b="1">
                <a:latin typeface="+mj-lt"/>
              </a:defRPr>
            </a:lvl1pPr>
          </a:lstStyle>
          <a:p>
            <a:r>
              <a:rPr lang="en-US" dirty="0"/>
              <a:t>Company X’s B2C segment revenue forecast</a:t>
            </a:r>
            <a:r>
              <a:rPr lang="ru-RU" dirty="0"/>
              <a:t>, </a:t>
            </a:r>
            <a:r>
              <a:rPr lang="en-US" dirty="0"/>
              <a:t>USD </a:t>
            </a:r>
            <a:r>
              <a:rPr lang="en-US" dirty="0" err="1"/>
              <a:t>bln</a:t>
            </a:r>
            <a:endParaRPr lang="en-US" dirty="0"/>
          </a:p>
          <a:p>
            <a:r>
              <a:rPr lang="en-US" dirty="0"/>
              <a:t> </a:t>
            </a:r>
            <a:endParaRPr lang="ru-RU" dirty="0" err="1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D1A97F3-25AD-42F0-9811-1E4707CB1603}"/>
              </a:ext>
            </a:extLst>
          </p:cNvPr>
          <p:cNvSpPr/>
          <p:nvPr/>
        </p:nvSpPr>
        <p:spPr bwMode="gray">
          <a:xfrm>
            <a:off x="8428693" y="1273102"/>
            <a:ext cx="405794" cy="405794"/>
          </a:xfrm>
          <a:prstGeom prst="ellipse">
            <a:avLst/>
          </a:prstGeom>
          <a:solidFill>
            <a:srgbClr val="00A3E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F04B40E-71E4-46F3-9188-D51B8DE0D6E7}"/>
              </a:ext>
            </a:extLst>
          </p:cNvPr>
          <p:cNvSpPr/>
          <p:nvPr/>
        </p:nvSpPr>
        <p:spPr bwMode="gray">
          <a:xfrm>
            <a:off x="8553598" y="1864591"/>
            <a:ext cx="155984" cy="155984"/>
          </a:xfrm>
          <a:prstGeom prst="ellipse">
            <a:avLst/>
          </a:prstGeom>
          <a:solidFill>
            <a:srgbClr val="012169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CBCA484-C710-4AD0-AE7B-F91B49581517}"/>
              </a:ext>
            </a:extLst>
          </p:cNvPr>
          <p:cNvSpPr txBox="1"/>
          <p:nvPr/>
        </p:nvSpPr>
        <p:spPr>
          <a:xfrm>
            <a:off x="7027496" y="1604460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900" b="1" dirty="0">
                <a:solidFill>
                  <a:srgbClr val="00A3E0"/>
                </a:solidFill>
                <a:latin typeface="+mj-lt"/>
              </a:rPr>
              <a:t>0</a:t>
            </a:r>
            <a:r>
              <a:rPr lang="en-US" sz="900" b="1" dirty="0">
                <a:solidFill>
                  <a:srgbClr val="00A3E0"/>
                </a:solidFill>
                <a:latin typeface="+mj-lt"/>
              </a:rPr>
              <a:t>.</a:t>
            </a:r>
            <a:r>
              <a:rPr lang="ru-RU" sz="900" b="1" dirty="0">
                <a:solidFill>
                  <a:srgbClr val="00A3E0"/>
                </a:solidFill>
                <a:latin typeface="+mj-lt"/>
              </a:rPr>
              <a:t>8%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EFCA7B-1F68-4FF0-A5B7-4B887CB563DD}"/>
              </a:ext>
            </a:extLst>
          </p:cNvPr>
          <p:cNvSpPr txBox="1"/>
          <p:nvPr/>
        </p:nvSpPr>
        <p:spPr>
          <a:xfrm>
            <a:off x="7027496" y="2064019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900" b="1" dirty="0">
                <a:solidFill>
                  <a:srgbClr val="005587"/>
                </a:solidFill>
                <a:latin typeface="+mj-lt"/>
              </a:rPr>
              <a:t>0</a:t>
            </a:r>
            <a:r>
              <a:rPr lang="en-US" sz="900" b="1" dirty="0">
                <a:solidFill>
                  <a:srgbClr val="005587"/>
                </a:solidFill>
                <a:latin typeface="+mj-lt"/>
              </a:rPr>
              <a:t>.</a:t>
            </a:r>
            <a:r>
              <a:rPr lang="ru-RU" sz="900" b="1" dirty="0">
                <a:solidFill>
                  <a:srgbClr val="005587"/>
                </a:solidFill>
                <a:latin typeface="+mj-lt"/>
              </a:rPr>
              <a:t>8%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F7CF0A6-294E-4405-8C00-7D6A867E5E3E}"/>
              </a:ext>
            </a:extLst>
          </p:cNvPr>
          <p:cNvSpPr txBox="1"/>
          <p:nvPr/>
        </p:nvSpPr>
        <p:spPr>
          <a:xfrm>
            <a:off x="8525159" y="1422342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900" b="1" dirty="0">
                <a:solidFill>
                  <a:schemeClr val="bg1"/>
                </a:solidFill>
                <a:latin typeface="+mj-lt"/>
              </a:rPr>
              <a:t>1</a:t>
            </a:r>
            <a:r>
              <a:rPr lang="en-US" sz="900" b="1" dirty="0">
                <a:solidFill>
                  <a:schemeClr val="bg1"/>
                </a:solidFill>
                <a:latin typeface="+mj-lt"/>
              </a:rPr>
              <a:t>.</a:t>
            </a:r>
            <a:r>
              <a:rPr lang="ru-RU" sz="900" b="1" dirty="0">
                <a:solidFill>
                  <a:schemeClr val="bg1"/>
                </a:solidFill>
                <a:latin typeface="+mj-lt"/>
              </a:rPr>
              <a:t>6%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061D4A-1A47-4AD7-8B44-373A6568EB9F}"/>
              </a:ext>
            </a:extLst>
          </p:cNvPr>
          <p:cNvSpPr txBox="1"/>
          <p:nvPr/>
        </p:nvSpPr>
        <p:spPr>
          <a:xfrm>
            <a:off x="8512205" y="2064019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900" b="1" dirty="0">
                <a:solidFill>
                  <a:srgbClr val="005587"/>
                </a:solidFill>
                <a:latin typeface="+mj-lt"/>
              </a:rPr>
              <a:t>0</a:t>
            </a:r>
            <a:r>
              <a:rPr lang="en-US" sz="900" b="1" dirty="0">
                <a:solidFill>
                  <a:srgbClr val="005587"/>
                </a:solidFill>
                <a:latin typeface="+mj-lt"/>
              </a:rPr>
              <a:t>.</a:t>
            </a:r>
            <a:r>
              <a:rPr lang="ru-RU" sz="900" b="1" dirty="0">
                <a:solidFill>
                  <a:srgbClr val="005587"/>
                </a:solidFill>
                <a:latin typeface="+mj-lt"/>
              </a:rPr>
              <a:t>8%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48D3B0-1017-4863-B658-37AF6D40A19D}"/>
              </a:ext>
            </a:extLst>
          </p:cNvPr>
          <p:cNvCxnSpPr/>
          <p:nvPr/>
        </p:nvCxnSpPr>
        <p:spPr>
          <a:xfrm>
            <a:off x="7348587" y="1485900"/>
            <a:ext cx="960120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E893106-3067-431A-9971-5664577B70BA}"/>
              </a:ext>
            </a:extLst>
          </p:cNvPr>
          <p:cNvCxnSpPr>
            <a:cxnSpLocks/>
          </p:cNvCxnSpPr>
          <p:nvPr/>
        </p:nvCxnSpPr>
        <p:spPr>
          <a:xfrm>
            <a:off x="7348587" y="1965960"/>
            <a:ext cx="1127760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4D5732B-C87B-4046-88BE-5BB3E6462B98}"/>
              </a:ext>
            </a:extLst>
          </p:cNvPr>
          <p:cNvSpPr/>
          <p:nvPr/>
        </p:nvSpPr>
        <p:spPr>
          <a:xfrm>
            <a:off x="3618689" y="1406444"/>
            <a:ext cx="740372" cy="614131"/>
          </a:xfrm>
          <a:prstGeom prst="rect">
            <a:avLst/>
          </a:prstGeom>
          <a:solidFill>
            <a:srgbClr val="97999B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Montserrat Medium" panose="00000600000000000000" pitchFamily="2" charset="-52"/>
              </a:rPr>
              <a:t>M</a:t>
            </a:r>
            <a:r>
              <a:rPr lang="ru-RU" sz="12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arket</a:t>
            </a:r>
            <a:r>
              <a:rPr lang="ru-RU" sz="12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2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share</a:t>
            </a:r>
            <a:endParaRPr lang="ru-RU" sz="12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73" name="TextBox 39">
            <a:extLst>
              <a:ext uri="{FF2B5EF4-FFF2-40B4-BE49-F238E27FC236}">
                <a16:creationId xmlns:a16="http://schemas.microsoft.com/office/drawing/2014/main" id="{74683463-49AC-4042-AC80-31DCBEB1E035}"/>
              </a:ext>
            </a:extLst>
          </p:cNvPr>
          <p:cNvSpPr txBox="1"/>
          <p:nvPr/>
        </p:nvSpPr>
        <p:spPr>
          <a:xfrm>
            <a:off x="4530750" y="1406444"/>
            <a:ext cx="1187829" cy="15484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Optimistic scenario</a:t>
            </a:r>
            <a:endParaRPr lang="ru-RU" sz="900" dirty="0" err="1"/>
          </a:p>
        </p:txBody>
      </p:sp>
      <p:sp>
        <p:nvSpPr>
          <p:cNvPr id="74" name="TextBox 39">
            <a:extLst>
              <a:ext uri="{FF2B5EF4-FFF2-40B4-BE49-F238E27FC236}">
                <a16:creationId xmlns:a16="http://schemas.microsoft.com/office/drawing/2014/main" id="{EFEB167C-7E44-4426-9E7B-830DCDB4F747}"/>
              </a:ext>
            </a:extLst>
          </p:cNvPr>
          <p:cNvSpPr txBox="1"/>
          <p:nvPr/>
        </p:nvSpPr>
        <p:spPr>
          <a:xfrm>
            <a:off x="4530750" y="1873801"/>
            <a:ext cx="1187829" cy="15484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Conservative scenario</a:t>
            </a:r>
            <a:endParaRPr lang="ru-RU" sz="900" dirty="0" err="1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01FEE46-5B7E-4A67-955A-BEEFE2378836}"/>
              </a:ext>
            </a:extLst>
          </p:cNvPr>
          <p:cNvCxnSpPr>
            <a:cxnSpLocks/>
          </p:cNvCxnSpPr>
          <p:nvPr/>
        </p:nvCxnSpPr>
        <p:spPr>
          <a:xfrm>
            <a:off x="5681681" y="1485900"/>
            <a:ext cx="1263046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03BA541-A1FE-49FF-A86E-0FB12549901D}"/>
              </a:ext>
            </a:extLst>
          </p:cNvPr>
          <p:cNvCxnSpPr>
            <a:cxnSpLocks/>
          </p:cNvCxnSpPr>
          <p:nvPr/>
        </p:nvCxnSpPr>
        <p:spPr>
          <a:xfrm>
            <a:off x="5946183" y="1965960"/>
            <a:ext cx="973102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4299855-EB16-44B1-907B-828C597D1E9E}"/>
              </a:ext>
            </a:extLst>
          </p:cNvPr>
          <p:cNvCxnSpPr>
            <a:cxnSpLocks/>
          </p:cNvCxnSpPr>
          <p:nvPr/>
        </p:nvCxnSpPr>
        <p:spPr>
          <a:xfrm flipV="1">
            <a:off x="7144198" y="2295728"/>
            <a:ext cx="0" cy="1208777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6645DE7-FE82-4E0A-9B6A-4FD80B4916B3}"/>
              </a:ext>
            </a:extLst>
          </p:cNvPr>
          <p:cNvSpPr/>
          <p:nvPr/>
        </p:nvSpPr>
        <p:spPr>
          <a:xfrm>
            <a:off x="385139" y="1406444"/>
            <a:ext cx="2938210" cy="354488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</a:pPr>
            <a:r>
              <a:rPr lang="de-DE" sz="900" dirty="0" err="1">
                <a:solidFill>
                  <a:srgbClr val="000000"/>
                </a:solidFill>
              </a:rPr>
              <a:t>Lorem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ipsum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sit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amet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consectetur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adipiscing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elit</a:t>
            </a:r>
            <a:r>
              <a:rPr lang="de-DE" sz="900" dirty="0">
                <a:solidFill>
                  <a:srgbClr val="000000"/>
                </a:solidFill>
              </a:rPr>
              <a:t>, sed do </a:t>
            </a:r>
            <a:r>
              <a:rPr lang="de-DE" sz="900" dirty="0" err="1">
                <a:solidFill>
                  <a:srgbClr val="000000"/>
                </a:solidFill>
              </a:rPr>
              <a:t>eiusmod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tempor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incididunt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labore</a:t>
            </a:r>
            <a:r>
              <a:rPr lang="de-DE" sz="900" dirty="0">
                <a:solidFill>
                  <a:srgbClr val="000000"/>
                </a:solidFill>
              </a:rPr>
              <a:t> et </a:t>
            </a:r>
            <a:r>
              <a:rPr lang="de-DE" sz="900" dirty="0" err="1">
                <a:solidFill>
                  <a:srgbClr val="000000"/>
                </a:solidFill>
              </a:rPr>
              <a:t>dolore</a:t>
            </a:r>
            <a:r>
              <a:rPr lang="de-DE" sz="900" dirty="0">
                <a:solidFill>
                  <a:srgbClr val="000000"/>
                </a:solidFill>
              </a:rPr>
              <a:t> magna </a:t>
            </a:r>
            <a:r>
              <a:rPr lang="de-DE" sz="900" dirty="0" err="1">
                <a:solidFill>
                  <a:srgbClr val="000000"/>
                </a:solidFill>
              </a:rPr>
              <a:t>aliqua</a:t>
            </a:r>
            <a:r>
              <a:rPr lang="de-DE" sz="900" dirty="0">
                <a:solidFill>
                  <a:srgbClr val="000000"/>
                </a:solidFill>
              </a:rPr>
              <a:t>.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enim</a:t>
            </a:r>
            <a:r>
              <a:rPr lang="de-DE" sz="900" dirty="0">
                <a:solidFill>
                  <a:srgbClr val="000000"/>
                </a:solidFill>
              </a:rPr>
              <a:t> ad minim </a:t>
            </a:r>
            <a:r>
              <a:rPr lang="de-DE" sz="900" dirty="0" err="1">
                <a:solidFill>
                  <a:srgbClr val="000000"/>
                </a:solidFill>
              </a:rPr>
              <a:t>veniam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quis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nostrud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exercitation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ullamco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laboris</a:t>
            </a:r>
            <a:r>
              <a:rPr lang="de-DE" sz="900" dirty="0">
                <a:solidFill>
                  <a:srgbClr val="000000"/>
                </a:solidFill>
              </a:rPr>
              <a:t> nisi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aliquip</a:t>
            </a:r>
            <a:r>
              <a:rPr lang="de-DE" sz="900" dirty="0">
                <a:solidFill>
                  <a:srgbClr val="000000"/>
                </a:solidFill>
              </a:rPr>
              <a:t> ex </a:t>
            </a:r>
            <a:r>
              <a:rPr lang="de-DE" sz="900" dirty="0" err="1">
                <a:solidFill>
                  <a:srgbClr val="000000"/>
                </a:solidFill>
              </a:rPr>
              <a:t>ea</a:t>
            </a:r>
            <a:r>
              <a:rPr lang="de-DE" sz="900" dirty="0">
                <a:solidFill>
                  <a:srgbClr val="000000"/>
                </a:solidFill>
              </a:rPr>
              <a:t> commodo </a:t>
            </a:r>
            <a:r>
              <a:rPr lang="de-DE" sz="900" dirty="0" err="1">
                <a:solidFill>
                  <a:srgbClr val="000000"/>
                </a:solidFill>
              </a:rPr>
              <a:t>consequat</a:t>
            </a:r>
            <a:r>
              <a:rPr lang="de-DE" sz="900" dirty="0">
                <a:solidFill>
                  <a:srgbClr val="000000"/>
                </a:solidFill>
              </a:rPr>
              <a:t>. Duis </a:t>
            </a:r>
            <a:r>
              <a:rPr lang="de-DE" sz="900" dirty="0" err="1">
                <a:solidFill>
                  <a:srgbClr val="000000"/>
                </a:solidFill>
              </a:rPr>
              <a:t>aute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irure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</a:t>
            </a:r>
            <a:r>
              <a:rPr lang="de-DE" sz="900" dirty="0">
                <a:solidFill>
                  <a:srgbClr val="000000"/>
                </a:solidFill>
              </a:rPr>
              <a:t> in </a:t>
            </a:r>
            <a:r>
              <a:rPr lang="de-DE" sz="900" dirty="0" err="1">
                <a:solidFill>
                  <a:srgbClr val="000000"/>
                </a:solidFill>
              </a:rPr>
              <a:t>reprehenderit</a:t>
            </a:r>
            <a:r>
              <a:rPr lang="de-DE" sz="900" dirty="0">
                <a:solidFill>
                  <a:srgbClr val="000000"/>
                </a:solidFill>
              </a:rPr>
              <a:t> in </a:t>
            </a:r>
            <a:r>
              <a:rPr lang="de-DE" sz="900" dirty="0" err="1">
                <a:solidFill>
                  <a:srgbClr val="000000"/>
                </a:solidFill>
              </a:rPr>
              <a:t>voluptate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velit</a:t>
            </a:r>
            <a:r>
              <a:rPr lang="de-DE" sz="900" dirty="0">
                <a:solidFill>
                  <a:srgbClr val="000000"/>
                </a:solidFill>
              </a:rPr>
              <a:t> esse </a:t>
            </a:r>
            <a:r>
              <a:rPr lang="de-DE" sz="900" dirty="0" err="1">
                <a:solidFill>
                  <a:srgbClr val="000000"/>
                </a:solidFill>
              </a:rPr>
              <a:t>cillum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eu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fugiat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nulla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pariatur</a:t>
            </a:r>
            <a:r>
              <a:rPr lang="de-DE" sz="900" dirty="0">
                <a:solidFill>
                  <a:srgbClr val="000000"/>
                </a:solidFill>
              </a:rPr>
              <a:t>. </a:t>
            </a:r>
            <a:r>
              <a:rPr lang="de-DE" sz="900" dirty="0" err="1">
                <a:solidFill>
                  <a:srgbClr val="000000"/>
                </a:solidFill>
              </a:rPr>
              <a:t>Excepteur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sint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occaecat</a:t>
            </a:r>
            <a:r>
              <a:rPr lang="de-DE" sz="900" dirty="0">
                <a:solidFill>
                  <a:srgbClr val="000000"/>
                </a:solidFill>
              </a:rPr>
              <a:t> cupidatat non </a:t>
            </a:r>
            <a:r>
              <a:rPr lang="de-DE" sz="900" dirty="0" err="1">
                <a:solidFill>
                  <a:srgbClr val="000000"/>
                </a:solidFill>
              </a:rPr>
              <a:t>proident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sunt</a:t>
            </a:r>
            <a:r>
              <a:rPr lang="de-DE" sz="900" dirty="0">
                <a:solidFill>
                  <a:srgbClr val="000000"/>
                </a:solidFill>
              </a:rPr>
              <a:t> in culpa </a:t>
            </a:r>
            <a:r>
              <a:rPr lang="de-DE" sz="900" dirty="0" err="1">
                <a:solidFill>
                  <a:srgbClr val="000000"/>
                </a:solidFill>
              </a:rPr>
              <a:t>qui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officia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deserunt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mollit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anim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id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est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laborum</a:t>
            </a:r>
            <a:r>
              <a:rPr lang="de-DE" sz="900" dirty="0">
                <a:solidFill>
                  <a:srgbClr val="000000"/>
                </a:solidFill>
              </a:rPr>
              <a:t>. Sed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perspiciatis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unde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omnis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iste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natus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error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sit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voluptatem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accusantium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doloremque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laudantium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totam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rem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aperiam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eaque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ipsa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quae</a:t>
            </a:r>
            <a:r>
              <a:rPr lang="de-DE" sz="900" dirty="0">
                <a:solidFill>
                  <a:srgbClr val="000000"/>
                </a:solidFill>
              </a:rPr>
              <a:t> ab </a:t>
            </a:r>
            <a:r>
              <a:rPr lang="de-DE" sz="900" dirty="0" err="1">
                <a:solidFill>
                  <a:srgbClr val="000000"/>
                </a:solidFill>
              </a:rPr>
              <a:t>illo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inventore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veritatis</a:t>
            </a:r>
            <a:r>
              <a:rPr lang="de-DE" sz="900" dirty="0">
                <a:solidFill>
                  <a:srgbClr val="000000"/>
                </a:solidFill>
              </a:rPr>
              <a:t> et quasi </a:t>
            </a:r>
            <a:r>
              <a:rPr lang="de-DE" sz="900" dirty="0" err="1">
                <a:solidFill>
                  <a:srgbClr val="000000"/>
                </a:solidFill>
              </a:rPr>
              <a:t>architecto</a:t>
            </a:r>
            <a:r>
              <a:rPr lang="de-DE" sz="900" dirty="0">
                <a:solidFill>
                  <a:srgbClr val="000000"/>
                </a:solidFill>
              </a:rPr>
              <a:t> beatae </a:t>
            </a:r>
            <a:r>
              <a:rPr lang="de-DE" sz="900" dirty="0" err="1">
                <a:solidFill>
                  <a:srgbClr val="000000"/>
                </a:solidFill>
              </a:rPr>
              <a:t>vitae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dicta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sunt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explicabo</a:t>
            </a:r>
            <a:r>
              <a:rPr lang="de-DE" sz="900" dirty="0">
                <a:solidFill>
                  <a:srgbClr val="000000"/>
                </a:solidFill>
              </a:rPr>
              <a:t>. 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900" b="1" dirty="0">
                <a:solidFill>
                  <a:srgbClr val="ED8B00"/>
                </a:solidFill>
                <a:latin typeface="+mj-lt"/>
              </a:rPr>
              <a:t>[1] </a:t>
            </a:r>
            <a:r>
              <a:rPr lang="en-US" sz="900" dirty="0">
                <a:solidFill>
                  <a:srgbClr val="000000"/>
                </a:solidFill>
              </a:rPr>
              <a:t>Fact 2023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900" b="1" dirty="0">
                <a:solidFill>
                  <a:srgbClr val="ED8B00"/>
                </a:solidFill>
                <a:latin typeface="+mj-lt"/>
              </a:rPr>
              <a:t>[2] </a:t>
            </a:r>
            <a:r>
              <a:rPr lang="en-US" sz="900" dirty="0">
                <a:solidFill>
                  <a:srgbClr val="000000"/>
                </a:solidFill>
              </a:rPr>
              <a:t>Management forecast 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900" b="1" dirty="0">
                <a:solidFill>
                  <a:srgbClr val="ED8B00"/>
                </a:solidFill>
                <a:latin typeface="+mj-lt"/>
              </a:rPr>
              <a:t>[3] </a:t>
            </a:r>
            <a:r>
              <a:rPr lang="en-US" sz="900" dirty="0">
                <a:solidFill>
                  <a:srgbClr val="000000"/>
                </a:solidFill>
              </a:rPr>
              <a:t>Growing to Product</a:t>
            </a:r>
            <a:r>
              <a:rPr lang="ru-RU" sz="900" dirty="0">
                <a:solidFill>
                  <a:srgbClr val="000000"/>
                </a:solidFill>
              </a:rPr>
              <a:t> 1</a:t>
            </a:r>
            <a:r>
              <a:rPr lang="en-US" sz="900" dirty="0">
                <a:solidFill>
                  <a:srgbClr val="000000"/>
                </a:solidFill>
              </a:rPr>
              <a:t> Level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900" b="1" dirty="0">
                <a:solidFill>
                  <a:srgbClr val="ED8B00"/>
                </a:solidFill>
                <a:latin typeface="+mj-lt"/>
              </a:rPr>
              <a:t>[4a] </a:t>
            </a:r>
            <a:r>
              <a:rPr lang="en-US" sz="900" dirty="0">
                <a:solidFill>
                  <a:srgbClr val="000000"/>
                </a:solidFill>
              </a:rPr>
              <a:t>By 2040 at inflation rates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900" b="1" dirty="0">
                <a:solidFill>
                  <a:srgbClr val="ED8B00"/>
                </a:solidFill>
                <a:latin typeface="+mj-lt"/>
              </a:rPr>
              <a:t>[4b</a:t>
            </a:r>
            <a:r>
              <a:rPr lang="en-US" sz="900" dirty="0">
                <a:solidFill>
                  <a:srgbClr val="ED8B00"/>
                </a:solidFill>
                <a:latin typeface="+mj-lt"/>
              </a:rPr>
              <a:t>] </a:t>
            </a:r>
            <a:r>
              <a:rPr lang="en-US" sz="900" dirty="0">
                <a:solidFill>
                  <a:srgbClr val="000000"/>
                </a:solidFill>
              </a:rPr>
              <a:t>Growing to Product</a:t>
            </a:r>
            <a:r>
              <a:rPr lang="ru-RU" sz="900" dirty="0">
                <a:solidFill>
                  <a:srgbClr val="000000"/>
                </a:solidFill>
              </a:rPr>
              <a:t> 2</a:t>
            </a:r>
            <a:r>
              <a:rPr lang="en-US" sz="900" dirty="0">
                <a:solidFill>
                  <a:srgbClr val="000000"/>
                </a:solidFill>
              </a:rPr>
              <a:t> Level</a:t>
            </a:r>
            <a:endParaRPr lang="ru-RU" sz="900" dirty="0"/>
          </a:p>
          <a:p>
            <a:pPr>
              <a:lnSpc>
                <a:spcPts val="1200"/>
              </a:lnSpc>
            </a:pPr>
            <a:endParaRPr lang="ru-RU" sz="9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A43C63D-A31A-4B7F-B023-3B326E05A1C3}"/>
              </a:ext>
            </a:extLst>
          </p:cNvPr>
          <p:cNvSpPr txBox="1"/>
          <p:nvPr/>
        </p:nvSpPr>
        <p:spPr>
          <a:xfrm>
            <a:off x="385139" y="1108559"/>
            <a:ext cx="3152416" cy="1794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 b="1">
                <a:latin typeface="+mj-lt"/>
              </a:defRPr>
            </a:lvl1pPr>
          </a:lstStyle>
          <a:p>
            <a:r>
              <a:rPr lang="en-US" dirty="0"/>
              <a:t>Key findings</a:t>
            </a:r>
          </a:p>
          <a:p>
            <a:r>
              <a:rPr lang="en-US" dirty="0"/>
              <a:t> </a:t>
            </a:r>
            <a:endParaRPr lang="ru-RU" dirty="0" err="1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3B3042CC-5194-4A41-BAE9-86F63CE28E77}"/>
              </a:ext>
            </a:extLst>
          </p:cNvPr>
          <p:cNvSpPr/>
          <p:nvPr/>
        </p:nvSpPr>
        <p:spPr bwMode="gray">
          <a:xfrm>
            <a:off x="8102600" y="719607"/>
            <a:ext cx="1199769" cy="285738"/>
          </a:xfrm>
          <a:prstGeom prst="roundRect">
            <a:avLst>
              <a:gd name="adj" fmla="val 50000"/>
            </a:avLst>
          </a:prstGeom>
          <a:solidFill>
            <a:srgbClr val="B7472A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PowerPoint</a:t>
            </a:r>
            <a:endParaRPr lang="ru-RU" sz="1300" b="1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07AF045-9104-489C-95FC-4F692880CA3A}"/>
              </a:ext>
            </a:extLst>
          </p:cNvPr>
          <p:cNvSpPr/>
          <p:nvPr/>
        </p:nvSpPr>
        <p:spPr>
          <a:xfrm>
            <a:off x="370083" y="6231892"/>
            <a:ext cx="3811983" cy="246234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random data</a:t>
            </a:r>
          </a:p>
          <a:p>
            <a:r>
              <a:rPr lang="en-US" sz="800" dirty="0">
                <a:solidFill>
                  <a:prstClr val="black"/>
                </a:solidFill>
              </a:rPr>
              <a:t>Design: I. Daraev</a:t>
            </a:r>
            <a:endParaRPr lang="en-US" sz="800" dirty="0"/>
          </a:p>
          <a:p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318526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A1F6098-2540-4A8B-8625-4C36544492BB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535B962-7381-4FC4-836F-72E49321A558}"/>
              </a:ext>
            </a:extLst>
          </p:cNvPr>
          <p:cNvSpPr/>
          <p:nvPr/>
        </p:nvSpPr>
        <p:spPr bwMode="gray">
          <a:xfrm>
            <a:off x="6861374" y="2529245"/>
            <a:ext cx="1483108" cy="1159793"/>
          </a:xfrm>
          <a:custGeom>
            <a:avLst/>
            <a:gdLst>
              <a:gd name="connsiteX0" fmla="*/ 0 w 1885950"/>
              <a:gd name="connsiteY0" fmla="*/ 68580 h 1036320"/>
              <a:gd name="connsiteX1" fmla="*/ 1885950 w 1885950"/>
              <a:gd name="connsiteY1" fmla="*/ 0 h 1036320"/>
              <a:gd name="connsiteX2" fmla="*/ 1885950 w 1885950"/>
              <a:gd name="connsiteY2" fmla="*/ 419100 h 1036320"/>
              <a:gd name="connsiteX3" fmla="*/ 0 w 1885950"/>
              <a:gd name="connsiteY3" fmla="*/ 1036320 h 1036320"/>
              <a:gd name="connsiteX4" fmla="*/ 0 w 1885950"/>
              <a:gd name="connsiteY4" fmla="*/ 68580 h 1036320"/>
              <a:gd name="connsiteX0" fmla="*/ 0 w 1885950"/>
              <a:gd name="connsiteY0" fmla="*/ 68580 h 1036320"/>
              <a:gd name="connsiteX1" fmla="*/ 1885950 w 1885950"/>
              <a:gd name="connsiteY1" fmla="*/ 0 h 1036320"/>
              <a:gd name="connsiteX2" fmla="*/ 1882140 w 1885950"/>
              <a:gd name="connsiteY2" fmla="*/ 422910 h 1036320"/>
              <a:gd name="connsiteX3" fmla="*/ 0 w 1885950"/>
              <a:gd name="connsiteY3" fmla="*/ 1036320 h 1036320"/>
              <a:gd name="connsiteX4" fmla="*/ 0 w 1885950"/>
              <a:gd name="connsiteY4" fmla="*/ 68580 h 1036320"/>
              <a:gd name="connsiteX0" fmla="*/ 0 w 1885950"/>
              <a:gd name="connsiteY0" fmla="*/ 68580 h 1036320"/>
              <a:gd name="connsiteX1" fmla="*/ 1885950 w 1885950"/>
              <a:gd name="connsiteY1" fmla="*/ 0 h 1036320"/>
              <a:gd name="connsiteX2" fmla="*/ 1878330 w 1885950"/>
              <a:gd name="connsiteY2" fmla="*/ 419100 h 1036320"/>
              <a:gd name="connsiteX3" fmla="*/ 0 w 1885950"/>
              <a:gd name="connsiteY3" fmla="*/ 1036320 h 1036320"/>
              <a:gd name="connsiteX4" fmla="*/ 0 w 1885950"/>
              <a:gd name="connsiteY4" fmla="*/ 68580 h 1036320"/>
              <a:gd name="connsiteX0" fmla="*/ 0 w 1889760"/>
              <a:gd name="connsiteY0" fmla="*/ 72390 h 1040130"/>
              <a:gd name="connsiteX1" fmla="*/ 1889760 w 1889760"/>
              <a:gd name="connsiteY1" fmla="*/ 0 h 1040130"/>
              <a:gd name="connsiteX2" fmla="*/ 1878330 w 1889760"/>
              <a:gd name="connsiteY2" fmla="*/ 422910 h 1040130"/>
              <a:gd name="connsiteX3" fmla="*/ 0 w 1889760"/>
              <a:gd name="connsiteY3" fmla="*/ 1040130 h 1040130"/>
              <a:gd name="connsiteX4" fmla="*/ 0 w 1889760"/>
              <a:gd name="connsiteY4" fmla="*/ 72390 h 1040130"/>
              <a:gd name="connsiteX0" fmla="*/ 3810 w 1889760"/>
              <a:gd name="connsiteY0" fmla="*/ 76200 h 1040130"/>
              <a:gd name="connsiteX1" fmla="*/ 1889760 w 1889760"/>
              <a:gd name="connsiteY1" fmla="*/ 0 h 1040130"/>
              <a:gd name="connsiteX2" fmla="*/ 1878330 w 1889760"/>
              <a:gd name="connsiteY2" fmla="*/ 422910 h 1040130"/>
              <a:gd name="connsiteX3" fmla="*/ 0 w 1889760"/>
              <a:gd name="connsiteY3" fmla="*/ 1040130 h 1040130"/>
              <a:gd name="connsiteX4" fmla="*/ 3810 w 1889760"/>
              <a:gd name="connsiteY4" fmla="*/ 76200 h 1040130"/>
              <a:gd name="connsiteX0" fmla="*/ 3810 w 1878330"/>
              <a:gd name="connsiteY0" fmla="*/ 420329 h 1384259"/>
              <a:gd name="connsiteX1" fmla="*/ 1876651 w 1878330"/>
              <a:gd name="connsiteY1" fmla="*/ 0 h 1384259"/>
              <a:gd name="connsiteX2" fmla="*/ 1878330 w 1878330"/>
              <a:gd name="connsiteY2" fmla="*/ 767039 h 1384259"/>
              <a:gd name="connsiteX3" fmla="*/ 0 w 1878330"/>
              <a:gd name="connsiteY3" fmla="*/ 1384259 h 1384259"/>
              <a:gd name="connsiteX4" fmla="*/ 3810 w 1878330"/>
              <a:gd name="connsiteY4" fmla="*/ 420329 h 1384259"/>
              <a:gd name="connsiteX0" fmla="*/ 13642 w 1878330"/>
              <a:gd name="connsiteY0" fmla="*/ 289233 h 1384259"/>
              <a:gd name="connsiteX1" fmla="*/ 1876651 w 1878330"/>
              <a:gd name="connsiteY1" fmla="*/ 0 h 1384259"/>
              <a:gd name="connsiteX2" fmla="*/ 1878330 w 1878330"/>
              <a:gd name="connsiteY2" fmla="*/ 767039 h 1384259"/>
              <a:gd name="connsiteX3" fmla="*/ 0 w 1878330"/>
              <a:gd name="connsiteY3" fmla="*/ 1384259 h 1384259"/>
              <a:gd name="connsiteX4" fmla="*/ 13642 w 1878330"/>
              <a:gd name="connsiteY4" fmla="*/ 289233 h 1384259"/>
              <a:gd name="connsiteX0" fmla="*/ 13642 w 1876727"/>
              <a:gd name="connsiteY0" fmla="*/ 289233 h 1384259"/>
              <a:gd name="connsiteX1" fmla="*/ 1876651 w 1876727"/>
              <a:gd name="connsiteY1" fmla="*/ 0 h 1384259"/>
              <a:gd name="connsiteX2" fmla="*/ 1875053 w 1876727"/>
              <a:gd name="connsiteY2" fmla="*/ 570394 h 1384259"/>
              <a:gd name="connsiteX3" fmla="*/ 0 w 1876727"/>
              <a:gd name="connsiteY3" fmla="*/ 1384259 h 1384259"/>
              <a:gd name="connsiteX4" fmla="*/ 13642 w 1876727"/>
              <a:gd name="connsiteY4" fmla="*/ 289233 h 1384259"/>
              <a:gd name="connsiteX0" fmla="*/ 10365 w 1876727"/>
              <a:gd name="connsiteY0" fmla="*/ 292510 h 1384259"/>
              <a:gd name="connsiteX1" fmla="*/ 1876651 w 1876727"/>
              <a:gd name="connsiteY1" fmla="*/ 0 h 1384259"/>
              <a:gd name="connsiteX2" fmla="*/ 1875053 w 1876727"/>
              <a:gd name="connsiteY2" fmla="*/ 570394 h 1384259"/>
              <a:gd name="connsiteX3" fmla="*/ 0 w 1876727"/>
              <a:gd name="connsiteY3" fmla="*/ 1384259 h 1384259"/>
              <a:gd name="connsiteX4" fmla="*/ 10365 w 1876727"/>
              <a:gd name="connsiteY4" fmla="*/ 292510 h 1384259"/>
              <a:gd name="connsiteX0" fmla="*/ 533 w 1866895"/>
              <a:gd name="connsiteY0" fmla="*/ 292510 h 1390814"/>
              <a:gd name="connsiteX1" fmla="*/ 1866819 w 1866895"/>
              <a:gd name="connsiteY1" fmla="*/ 0 h 1390814"/>
              <a:gd name="connsiteX2" fmla="*/ 1865221 w 1866895"/>
              <a:gd name="connsiteY2" fmla="*/ 570394 h 1390814"/>
              <a:gd name="connsiteX3" fmla="*/ 0 w 1866895"/>
              <a:gd name="connsiteY3" fmla="*/ 1390814 h 1390814"/>
              <a:gd name="connsiteX4" fmla="*/ 533 w 1866895"/>
              <a:gd name="connsiteY4" fmla="*/ 292510 h 1390814"/>
              <a:gd name="connsiteX0" fmla="*/ 533 w 1866895"/>
              <a:gd name="connsiteY0" fmla="*/ 302342 h 1400646"/>
              <a:gd name="connsiteX1" fmla="*/ 1866819 w 1866895"/>
              <a:gd name="connsiteY1" fmla="*/ 0 h 1400646"/>
              <a:gd name="connsiteX2" fmla="*/ 1865221 w 1866895"/>
              <a:gd name="connsiteY2" fmla="*/ 580226 h 1400646"/>
              <a:gd name="connsiteX3" fmla="*/ 0 w 1866895"/>
              <a:gd name="connsiteY3" fmla="*/ 1400646 h 1400646"/>
              <a:gd name="connsiteX4" fmla="*/ 533 w 1866895"/>
              <a:gd name="connsiteY4" fmla="*/ 302342 h 1400646"/>
              <a:gd name="connsiteX0" fmla="*/ 533 w 1866895"/>
              <a:gd name="connsiteY0" fmla="*/ 302342 h 1400646"/>
              <a:gd name="connsiteX1" fmla="*/ 1866819 w 1866895"/>
              <a:gd name="connsiteY1" fmla="*/ 0 h 1400646"/>
              <a:gd name="connsiteX2" fmla="*/ 1865221 w 1866895"/>
              <a:gd name="connsiteY2" fmla="*/ 586781 h 1400646"/>
              <a:gd name="connsiteX3" fmla="*/ 0 w 1866895"/>
              <a:gd name="connsiteY3" fmla="*/ 1400646 h 1400646"/>
              <a:gd name="connsiteX4" fmla="*/ 533 w 1866895"/>
              <a:gd name="connsiteY4" fmla="*/ 302342 h 1400646"/>
              <a:gd name="connsiteX0" fmla="*/ 533 w 1866835"/>
              <a:gd name="connsiteY0" fmla="*/ 302342 h 1400646"/>
              <a:gd name="connsiteX1" fmla="*/ 1866819 w 1866835"/>
              <a:gd name="connsiteY1" fmla="*/ 0 h 1400646"/>
              <a:gd name="connsiteX2" fmla="*/ 1854458 w 1866835"/>
              <a:gd name="connsiteY2" fmla="*/ 581339 h 1400646"/>
              <a:gd name="connsiteX3" fmla="*/ 0 w 1866835"/>
              <a:gd name="connsiteY3" fmla="*/ 1400646 h 1400646"/>
              <a:gd name="connsiteX4" fmla="*/ 533 w 1866835"/>
              <a:gd name="connsiteY4" fmla="*/ 302342 h 1400646"/>
              <a:gd name="connsiteX0" fmla="*/ 533 w 1854458"/>
              <a:gd name="connsiteY0" fmla="*/ 299621 h 1397925"/>
              <a:gd name="connsiteX1" fmla="*/ 1853365 w 1854458"/>
              <a:gd name="connsiteY1" fmla="*/ 0 h 1397925"/>
              <a:gd name="connsiteX2" fmla="*/ 1854458 w 1854458"/>
              <a:gd name="connsiteY2" fmla="*/ 578618 h 1397925"/>
              <a:gd name="connsiteX3" fmla="*/ 0 w 1854458"/>
              <a:gd name="connsiteY3" fmla="*/ 1397925 h 1397925"/>
              <a:gd name="connsiteX4" fmla="*/ 533 w 1854458"/>
              <a:gd name="connsiteY4" fmla="*/ 299621 h 1397925"/>
              <a:gd name="connsiteX0" fmla="*/ 533 w 1853379"/>
              <a:gd name="connsiteY0" fmla="*/ 299621 h 1397925"/>
              <a:gd name="connsiteX1" fmla="*/ 1853365 w 1853379"/>
              <a:gd name="connsiteY1" fmla="*/ 0 h 1397925"/>
              <a:gd name="connsiteX2" fmla="*/ 1838408 w 1853379"/>
              <a:gd name="connsiteY2" fmla="*/ 692242 h 1397925"/>
              <a:gd name="connsiteX3" fmla="*/ 0 w 1853379"/>
              <a:gd name="connsiteY3" fmla="*/ 1397925 h 1397925"/>
              <a:gd name="connsiteX4" fmla="*/ 533 w 1853379"/>
              <a:gd name="connsiteY4" fmla="*/ 299621 h 1397925"/>
              <a:gd name="connsiteX0" fmla="*/ 533 w 1853379"/>
              <a:gd name="connsiteY0" fmla="*/ 299621 h 1327587"/>
              <a:gd name="connsiteX1" fmla="*/ 1853365 w 1853379"/>
              <a:gd name="connsiteY1" fmla="*/ 0 h 1327587"/>
              <a:gd name="connsiteX2" fmla="*/ 1838408 w 1853379"/>
              <a:gd name="connsiteY2" fmla="*/ 692242 h 1327587"/>
              <a:gd name="connsiteX3" fmla="*/ 0 w 1853379"/>
              <a:gd name="connsiteY3" fmla="*/ 1327587 h 1327587"/>
              <a:gd name="connsiteX4" fmla="*/ 533 w 1853379"/>
              <a:gd name="connsiteY4" fmla="*/ 299621 h 1327587"/>
              <a:gd name="connsiteX0" fmla="*/ 533 w 1853405"/>
              <a:gd name="connsiteY0" fmla="*/ 299621 h 1327587"/>
              <a:gd name="connsiteX1" fmla="*/ 1853365 w 1853405"/>
              <a:gd name="connsiteY1" fmla="*/ 0 h 1327587"/>
              <a:gd name="connsiteX2" fmla="*/ 1849108 w 1853405"/>
              <a:gd name="connsiteY2" fmla="*/ 676010 h 1327587"/>
              <a:gd name="connsiteX3" fmla="*/ 0 w 1853405"/>
              <a:gd name="connsiteY3" fmla="*/ 1327587 h 1327587"/>
              <a:gd name="connsiteX4" fmla="*/ 533 w 1853405"/>
              <a:gd name="connsiteY4" fmla="*/ 299621 h 1327587"/>
              <a:gd name="connsiteX0" fmla="*/ 533 w 1864079"/>
              <a:gd name="connsiteY0" fmla="*/ 153534 h 1181500"/>
              <a:gd name="connsiteX1" fmla="*/ 1864065 w 1864079"/>
              <a:gd name="connsiteY1" fmla="*/ 0 h 1181500"/>
              <a:gd name="connsiteX2" fmla="*/ 1849108 w 1864079"/>
              <a:gd name="connsiteY2" fmla="*/ 529923 h 1181500"/>
              <a:gd name="connsiteX3" fmla="*/ 0 w 1864079"/>
              <a:gd name="connsiteY3" fmla="*/ 1181500 h 1181500"/>
              <a:gd name="connsiteX4" fmla="*/ 533 w 1864079"/>
              <a:gd name="connsiteY4" fmla="*/ 153534 h 1181500"/>
              <a:gd name="connsiteX0" fmla="*/ 533 w 1864079"/>
              <a:gd name="connsiteY0" fmla="*/ 66963 h 1181500"/>
              <a:gd name="connsiteX1" fmla="*/ 1864065 w 1864079"/>
              <a:gd name="connsiteY1" fmla="*/ 0 h 1181500"/>
              <a:gd name="connsiteX2" fmla="*/ 1849108 w 1864079"/>
              <a:gd name="connsiteY2" fmla="*/ 529923 h 1181500"/>
              <a:gd name="connsiteX3" fmla="*/ 0 w 1864079"/>
              <a:gd name="connsiteY3" fmla="*/ 1181500 h 1181500"/>
              <a:gd name="connsiteX4" fmla="*/ 533 w 1864079"/>
              <a:gd name="connsiteY4" fmla="*/ 66963 h 1181500"/>
              <a:gd name="connsiteX0" fmla="*/ 533 w 1853405"/>
              <a:gd name="connsiteY0" fmla="*/ 56142 h 1170679"/>
              <a:gd name="connsiteX1" fmla="*/ 1853365 w 1853405"/>
              <a:gd name="connsiteY1" fmla="*/ 0 h 1170679"/>
              <a:gd name="connsiteX2" fmla="*/ 1849108 w 1853405"/>
              <a:gd name="connsiteY2" fmla="*/ 519102 h 1170679"/>
              <a:gd name="connsiteX3" fmla="*/ 0 w 1853405"/>
              <a:gd name="connsiteY3" fmla="*/ 1170679 h 1170679"/>
              <a:gd name="connsiteX4" fmla="*/ 533 w 1853405"/>
              <a:gd name="connsiteY4" fmla="*/ 56142 h 1170679"/>
              <a:gd name="connsiteX0" fmla="*/ 533 w 1854458"/>
              <a:gd name="connsiteY0" fmla="*/ 56142 h 1170679"/>
              <a:gd name="connsiteX1" fmla="*/ 1853365 w 1854458"/>
              <a:gd name="connsiteY1" fmla="*/ 0 h 1170679"/>
              <a:gd name="connsiteX2" fmla="*/ 1854458 w 1854458"/>
              <a:gd name="connsiteY2" fmla="*/ 535334 h 1170679"/>
              <a:gd name="connsiteX3" fmla="*/ 0 w 1854458"/>
              <a:gd name="connsiteY3" fmla="*/ 1170679 h 1170679"/>
              <a:gd name="connsiteX4" fmla="*/ 533 w 1854458"/>
              <a:gd name="connsiteY4" fmla="*/ 56142 h 1170679"/>
              <a:gd name="connsiteX0" fmla="*/ 533 w 1854458"/>
              <a:gd name="connsiteY0" fmla="*/ 56142 h 1170679"/>
              <a:gd name="connsiteX1" fmla="*/ 1853365 w 1854458"/>
              <a:gd name="connsiteY1" fmla="*/ 0 h 1170679"/>
              <a:gd name="connsiteX2" fmla="*/ 1854458 w 1854458"/>
              <a:gd name="connsiteY2" fmla="*/ 529924 h 1170679"/>
              <a:gd name="connsiteX3" fmla="*/ 0 w 1854458"/>
              <a:gd name="connsiteY3" fmla="*/ 1170679 h 1170679"/>
              <a:gd name="connsiteX4" fmla="*/ 533 w 1854458"/>
              <a:gd name="connsiteY4" fmla="*/ 56142 h 1170679"/>
              <a:gd name="connsiteX0" fmla="*/ 533 w 1865159"/>
              <a:gd name="connsiteY0" fmla="*/ 56142 h 1170679"/>
              <a:gd name="connsiteX1" fmla="*/ 1853365 w 1865159"/>
              <a:gd name="connsiteY1" fmla="*/ 0 h 1170679"/>
              <a:gd name="connsiteX2" fmla="*/ 1865159 w 1865159"/>
              <a:gd name="connsiteY2" fmla="*/ 524514 h 1170679"/>
              <a:gd name="connsiteX3" fmla="*/ 0 w 1865159"/>
              <a:gd name="connsiteY3" fmla="*/ 1170679 h 1170679"/>
              <a:gd name="connsiteX4" fmla="*/ 533 w 1865159"/>
              <a:gd name="connsiteY4" fmla="*/ 56142 h 1170679"/>
              <a:gd name="connsiteX0" fmla="*/ 533 w 1865159"/>
              <a:gd name="connsiteY0" fmla="*/ 56142 h 1170679"/>
              <a:gd name="connsiteX1" fmla="*/ 1861437 w 1865159"/>
              <a:gd name="connsiteY1" fmla="*/ 0 h 1170679"/>
              <a:gd name="connsiteX2" fmla="*/ 1865159 w 1865159"/>
              <a:gd name="connsiteY2" fmla="*/ 524514 h 1170679"/>
              <a:gd name="connsiteX3" fmla="*/ 0 w 1865159"/>
              <a:gd name="connsiteY3" fmla="*/ 1170679 h 1170679"/>
              <a:gd name="connsiteX4" fmla="*/ 533 w 1865159"/>
              <a:gd name="connsiteY4" fmla="*/ 56142 h 1170679"/>
              <a:gd name="connsiteX0" fmla="*/ 533 w 1861511"/>
              <a:gd name="connsiteY0" fmla="*/ 56142 h 1170679"/>
              <a:gd name="connsiteX1" fmla="*/ 1861437 w 1861511"/>
              <a:gd name="connsiteY1" fmla="*/ 0 h 1170679"/>
              <a:gd name="connsiteX2" fmla="*/ 1859777 w 1861511"/>
              <a:gd name="connsiteY2" fmla="*/ 524514 h 1170679"/>
              <a:gd name="connsiteX3" fmla="*/ 0 w 1861511"/>
              <a:gd name="connsiteY3" fmla="*/ 1170679 h 1170679"/>
              <a:gd name="connsiteX4" fmla="*/ 533 w 1861511"/>
              <a:gd name="connsiteY4" fmla="*/ 56142 h 1170679"/>
              <a:gd name="connsiteX0" fmla="*/ 3 w 1860981"/>
              <a:gd name="connsiteY0" fmla="*/ 56142 h 1159793"/>
              <a:gd name="connsiteX1" fmla="*/ 1860907 w 1860981"/>
              <a:gd name="connsiteY1" fmla="*/ 0 h 1159793"/>
              <a:gd name="connsiteX2" fmla="*/ 1859247 w 1860981"/>
              <a:gd name="connsiteY2" fmla="*/ 524514 h 1159793"/>
              <a:gd name="connsiteX3" fmla="*/ 7542 w 1860981"/>
              <a:gd name="connsiteY3" fmla="*/ 1159793 h 1159793"/>
              <a:gd name="connsiteX4" fmla="*/ 3 w 1860981"/>
              <a:gd name="connsiteY4" fmla="*/ 56142 h 1159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0981" h="1159793">
                <a:moveTo>
                  <a:pt x="3" y="56142"/>
                </a:moveTo>
                <a:lnTo>
                  <a:pt x="1860907" y="0"/>
                </a:lnTo>
                <a:cubicBezTo>
                  <a:pt x="1861467" y="255680"/>
                  <a:pt x="1858687" y="268834"/>
                  <a:pt x="1859247" y="524514"/>
                </a:cubicBezTo>
                <a:lnTo>
                  <a:pt x="7542" y="1159793"/>
                </a:lnTo>
                <a:cubicBezTo>
                  <a:pt x="7720" y="793692"/>
                  <a:pt x="-175" y="422243"/>
                  <a:pt x="3" y="56142"/>
                </a:cubicBezTo>
                <a:close/>
              </a:path>
            </a:pathLst>
          </a:custGeom>
          <a:solidFill>
            <a:srgbClr val="0076A8">
              <a:alpha val="44000"/>
            </a:srgbClr>
          </a:solidFill>
        </p:spPr>
        <p:txBody>
          <a:bodyPr vert="horz" lIns="36000" tIns="36000" rIns="36000" bIns="3600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1AE6C89-4CAE-42C6-9B67-A4E39C1FE9A9}"/>
              </a:ext>
            </a:extLst>
          </p:cNvPr>
          <p:cNvSpPr/>
          <p:nvPr/>
        </p:nvSpPr>
        <p:spPr bwMode="gray">
          <a:xfrm>
            <a:off x="6860997" y="3050055"/>
            <a:ext cx="1486990" cy="1945584"/>
          </a:xfrm>
          <a:custGeom>
            <a:avLst/>
            <a:gdLst>
              <a:gd name="connsiteX0" fmla="*/ 0 w 1897380"/>
              <a:gd name="connsiteY0" fmla="*/ 624840 h 1203960"/>
              <a:gd name="connsiteX1" fmla="*/ 0 w 1897380"/>
              <a:gd name="connsiteY1" fmla="*/ 624840 h 1203960"/>
              <a:gd name="connsiteX2" fmla="*/ 1897380 w 1897380"/>
              <a:gd name="connsiteY2" fmla="*/ 0 h 1203960"/>
              <a:gd name="connsiteX3" fmla="*/ 1897380 w 1897380"/>
              <a:gd name="connsiteY3" fmla="*/ 1203960 h 1203960"/>
              <a:gd name="connsiteX4" fmla="*/ 0 w 1897380"/>
              <a:gd name="connsiteY4" fmla="*/ 1203960 h 1203960"/>
              <a:gd name="connsiteX5" fmla="*/ 0 w 1897380"/>
              <a:gd name="connsiteY5" fmla="*/ 624840 h 1203960"/>
              <a:gd name="connsiteX0" fmla="*/ 0 w 1897380"/>
              <a:gd name="connsiteY0" fmla="*/ 636270 h 1215390"/>
              <a:gd name="connsiteX1" fmla="*/ 0 w 1897380"/>
              <a:gd name="connsiteY1" fmla="*/ 636270 h 1215390"/>
              <a:gd name="connsiteX2" fmla="*/ 1889760 w 1897380"/>
              <a:gd name="connsiteY2" fmla="*/ 0 h 1215390"/>
              <a:gd name="connsiteX3" fmla="*/ 1897380 w 1897380"/>
              <a:gd name="connsiteY3" fmla="*/ 1215390 h 1215390"/>
              <a:gd name="connsiteX4" fmla="*/ 0 w 1897380"/>
              <a:gd name="connsiteY4" fmla="*/ 1215390 h 1215390"/>
              <a:gd name="connsiteX5" fmla="*/ 0 w 1897380"/>
              <a:gd name="connsiteY5" fmla="*/ 636270 h 1215390"/>
              <a:gd name="connsiteX0" fmla="*/ 0 w 1905000"/>
              <a:gd name="connsiteY0" fmla="*/ 628650 h 1215390"/>
              <a:gd name="connsiteX1" fmla="*/ 7620 w 1905000"/>
              <a:gd name="connsiteY1" fmla="*/ 636270 h 1215390"/>
              <a:gd name="connsiteX2" fmla="*/ 1897380 w 1905000"/>
              <a:gd name="connsiteY2" fmla="*/ 0 h 1215390"/>
              <a:gd name="connsiteX3" fmla="*/ 1905000 w 1905000"/>
              <a:gd name="connsiteY3" fmla="*/ 1215390 h 1215390"/>
              <a:gd name="connsiteX4" fmla="*/ 7620 w 1905000"/>
              <a:gd name="connsiteY4" fmla="*/ 1215390 h 1215390"/>
              <a:gd name="connsiteX5" fmla="*/ 0 w 1905000"/>
              <a:gd name="connsiteY5" fmla="*/ 628650 h 1215390"/>
              <a:gd name="connsiteX0" fmla="*/ 0 w 1897380"/>
              <a:gd name="connsiteY0" fmla="*/ 609600 h 1215390"/>
              <a:gd name="connsiteX1" fmla="*/ 0 w 1897380"/>
              <a:gd name="connsiteY1" fmla="*/ 636270 h 1215390"/>
              <a:gd name="connsiteX2" fmla="*/ 1889760 w 1897380"/>
              <a:gd name="connsiteY2" fmla="*/ 0 h 1215390"/>
              <a:gd name="connsiteX3" fmla="*/ 1897380 w 1897380"/>
              <a:gd name="connsiteY3" fmla="*/ 1215390 h 1215390"/>
              <a:gd name="connsiteX4" fmla="*/ 0 w 1897380"/>
              <a:gd name="connsiteY4" fmla="*/ 1215390 h 1215390"/>
              <a:gd name="connsiteX5" fmla="*/ 0 w 1897380"/>
              <a:gd name="connsiteY5" fmla="*/ 609600 h 1215390"/>
              <a:gd name="connsiteX0" fmla="*/ 0 w 1897380"/>
              <a:gd name="connsiteY0" fmla="*/ 591185 h 1196975"/>
              <a:gd name="connsiteX1" fmla="*/ 0 w 1897380"/>
              <a:gd name="connsiteY1" fmla="*/ 617855 h 1196975"/>
              <a:gd name="connsiteX2" fmla="*/ 1897380 w 1897380"/>
              <a:gd name="connsiteY2" fmla="*/ 0 h 1196975"/>
              <a:gd name="connsiteX3" fmla="*/ 1897380 w 1897380"/>
              <a:gd name="connsiteY3" fmla="*/ 1196975 h 1196975"/>
              <a:gd name="connsiteX4" fmla="*/ 0 w 1897380"/>
              <a:gd name="connsiteY4" fmla="*/ 1196975 h 1196975"/>
              <a:gd name="connsiteX5" fmla="*/ 0 w 1897380"/>
              <a:gd name="connsiteY5" fmla="*/ 591185 h 1196975"/>
              <a:gd name="connsiteX0" fmla="*/ 0 w 1897380"/>
              <a:gd name="connsiteY0" fmla="*/ 572770 h 1178560"/>
              <a:gd name="connsiteX1" fmla="*/ 0 w 1897380"/>
              <a:gd name="connsiteY1" fmla="*/ 599440 h 1178560"/>
              <a:gd name="connsiteX2" fmla="*/ 1897380 w 1897380"/>
              <a:gd name="connsiteY2" fmla="*/ 0 h 1178560"/>
              <a:gd name="connsiteX3" fmla="*/ 1897380 w 1897380"/>
              <a:gd name="connsiteY3" fmla="*/ 1178560 h 1178560"/>
              <a:gd name="connsiteX4" fmla="*/ 0 w 1897380"/>
              <a:gd name="connsiteY4" fmla="*/ 1178560 h 1178560"/>
              <a:gd name="connsiteX5" fmla="*/ 0 w 1897380"/>
              <a:gd name="connsiteY5" fmla="*/ 572770 h 1178560"/>
              <a:gd name="connsiteX0" fmla="*/ 0 w 1897380"/>
              <a:gd name="connsiteY0" fmla="*/ 1374317 h 1980107"/>
              <a:gd name="connsiteX1" fmla="*/ 0 w 1897380"/>
              <a:gd name="connsiteY1" fmla="*/ 1400987 h 1980107"/>
              <a:gd name="connsiteX2" fmla="*/ 1894070 w 1897380"/>
              <a:gd name="connsiteY2" fmla="*/ 0 h 1980107"/>
              <a:gd name="connsiteX3" fmla="*/ 1897380 w 1897380"/>
              <a:gd name="connsiteY3" fmla="*/ 1980107 h 1980107"/>
              <a:gd name="connsiteX4" fmla="*/ 0 w 1897380"/>
              <a:gd name="connsiteY4" fmla="*/ 1980107 h 1980107"/>
              <a:gd name="connsiteX5" fmla="*/ 0 w 1897380"/>
              <a:gd name="connsiteY5" fmla="*/ 1374317 h 1980107"/>
              <a:gd name="connsiteX0" fmla="*/ 0 w 1897380"/>
              <a:gd name="connsiteY0" fmla="*/ 1374317 h 1980107"/>
              <a:gd name="connsiteX1" fmla="*/ 6621 w 1897380"/>
              <a:gd name="connsiteY1" fmla="*/ 789530 h 1980107"/>
              <a:gd name="connsiteX2" fmla="*/ 1894070 w 1897380"/>
              <a:gd name="connsiteY2" fmla="*/ 0 h 1980107"/>
              <a:gd name="connsiteX3" fmla="*/ 1897380 w 1897380"/>
              <a:gd name="connsiteY3" fmla="*/ 1980107 h 1980107"/>
              <a:gd name="connsiteX4" fmla="*/ 0 w 1897380"/>
              <a:gd name="connsiteY4" fmla="*/ 1980107 h 1980107"/>
              <a:gd name="connsiteX5" fmla="*/ 0 w 1897380"/>
              <a:gd name="connsiteY5" fmla="*/ 1374317 h 1980107"/>
              <a:gd name="connsiteX0" fmla="*/ 0 w 1897380"/>
              <a:gd name="connsiteY0" fmla="*/ 1980107 h 1980107"/>
              <a:gd name="connsiteX1" fmla="*/ 6621 w 1897380"/>
              <a:gd name="connsiteY1" fmla="*/ 789530 h 1980107"/>
              <a:gd name="connsiteX2" fmla="*/ 1894070 w 1897380"/>
              <a:gd name="connsiteY2" fmla="*/ 0 h 1980107"/>
              <a:gd name="connsiteX3" fmla="*/ 1897380 w 1897380"/>
              <a:gd name="connsiteY3" fmla="*/ 1980107 h 1980107"/>
              <a:gd name="connsiteX4" fmla="*/ 0 w 1897380"/>
              <a:gd name="connsiteY4" fmla="*/ 1980107 h 1980107"/>
              <a:gd name="connsiteX0" fmla="*/ 0 w 1897380"/>
              <a:gd name="connsiteY0" fmla="*/ 1980107 h 1980107"/>
              <a:gd name="connsiteX1" fmla="*/ 6621 w 1897380"/>
              <a:gd name="connsiteY1" fmla="*/ 716306 h 1980107"/>
              <a:gd name="connsiteX2" fmla="*/ 1894070 w 1897380"/>
              <a:gd name="connsiteY2" fmla="*/ 0 h 1980107"/>
              <a:gd name="connsiteX3" fmla="*/ 1897380 w 1897380"/>
              <a:gd name="connsiteY3" fmla="*/ 1980107 h 1980107"/>
              <a:gd name="connsiteX4" fmla="*/ 0 w 1897380"/>
              <a:gd name="connsiteY4" fmla="*/ 1980107 h 1980107"/>
              <a:gd name="connsiteX0" fmla="*/ 0 w 1897380"/>
              <a:gd name="connsiteY0" fmla="*/ 1880731 h 1880731"/>
              <a:gd name="connsiteX1" fmla="*/ 6621 w 1897380"/>
              <a:gd name="connsiteY1" fmla="*/ 616930 h 1880731"/>
              <a:gd name="connsiteX2" fmla="*/ 1888630 w 1897380"/>
              <a:gd name="connsiteY2" fmla="*/ 0 h 1880731"/>
              <a:gd name="connsiteX3" fmla="*/ 1897380 w 1897380"/>
              <a:gd name="connsiteY3" fmla="*/ 1880731 h 1880731"/>
              <a:gd name="connsiteX4" fmla="*/ 0 w 1897380"/>
              <a:gd name="connsiteY4" fmla="*/ 1880731 h 1880731"/>
              <a:gd name="connsiteX0" fmla="*/ 0 w 1897380"/>
              <a:gd name="connsiteY0" fmla="*/ 1880731 h 1880731"/>
              <a:gd name="connsiteX1" fmla="*/ 6621 w 1897380"/>
              <a:gd name="connsiteY1" fmla="*/ 616930 h 1880731"/>
              <a:gd name="connsiteX2" fmla="*/ 1894071 w 1897380"/>
              <a:gd name="connsiteY2" fmla="*/ 0 h 1880731"/>
              <a:gd name="connsiteX3" fmla="*/ 1897380 w 1897380"/>
              <a:gd name="connsiteY3" fmla="*/ 1880731 h 1880731"/>
              <a:gd name="connsiteX4" fmla="*/ 0 w 1897380"/>
              <a:gd name="connsiteY4" fmla="*/ 1880731 h 1880731"/>
              <a:gd name="connsiteX0" fmla="*/ 0 w 1897380"/>
              <a:gd name="connsiteY0" fmla="*/ 1880731 h 1880731"/>
              <a:gd name="connsiteX1" fmla="*/ 6621 w 1897380"/>
              <a:gd name="connsiteY1" fmla="*/ 616930 h 1880731"/>
              <a:gd name="connsiteX2" fmla="*/ 1894071 w 1897380"/>
              <a:gd name="connsiteY2" fmla="*/ 0 h 1880731"/>
              <a:gd name="connsiteX3" fmla="*/ 1897380 w 1897380"/>
              <a:gd name="connsiteY3" fmla="*/ 1880731 h 1880731"/>
              <a:gd name="connsiteX4" fmla="*/ 0 w 1897380"/>
              <a:gd name="connsiteY4" fmla="*/ 1880731 h 1880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7380" h="1880731">
                <a:moveTo>
                  <a:pt x="0" y="1880731"/>
                </a:moveTo>
                <a:lnTo>
                  <a:pt x="6621" y="616930"/>
                </a:lnTo>
                <a:lnTo>
                  <a:pt x="1894071" y="0"/>
                </a:lnTo>
                <a:cubicBezTo>
                  <a:pt x="1895174" y="660036"/>
                  <a:pt x="1896277" y="1220695"/>
                  <a:pt x="1897380" y="1880731"/>
                </a:cubicBezTo>
                <a:lnTo>
                  <a:pt x="0" y="1880731"/>
                </a:lnTo>
                <a:close/>
              </a:path>
            </a:pathLst>
          </a:custGeom>
          <a:solidFill>
            <a:srgbClr val="041E42">
              <a:alpha val="45000"/>
            </a:srgbClr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BF6BF36-0778-475C-AFD0-A2DF5EE76B65}"/>
              </a:ext>
            </a:extLst>
          </p:cNvPr>
          <p:cNvSpPr/>
          <p:nvPr/>
        </p:nvSpPr>
        <p:spPr bwMode="gray">
          <a:xfrm>
            <a:off x="6878103" y="2257066"/>
            <a:ext cx="1461136" cy="325138"/>
          </a:xfrm>
          <a:custGeom>
            <a:avLst/>
            <a:gdLst>
              <a:gd name="connsiteX0" fmla="*/ 15240 w 1905000"/>
              <a:gd name="connsiteY0" fmla="*/ 0 h 830580"/>
              <a:gd name="connsiteX1" fmla="*/ 1905000 w 1905000"/>
              <a:gd name="connsiteY1" fmla="*/ 0 h 830580"/>
              <a:gd name="connsiteX2" fmla="*/ 1905000 w 1905000"/>
              <a:gd name="connsiteY2" fmla="*/ 830580 h 830580"/>
              <a:gd name="connsiteX3" fmla="*/ 0 w 1905000"/>
              <a:gd name="connsiteY3" fmla="*/ 495300 h 830580"/>
              <a:gd name="connsiteX4" fmla="*/ 15240 w 1905000"/>
              <a:gd name="connsiteY4" fmla="*/ 0 h 830580"/>
              <a:gd name="connsiteX0" fmla="*/ 0 w 1889760"/>
              <a:gd name="connsiteY0" fmla="*/ 0 h 830580"/>
              <a:gd name="connsiteX1" fmla="*/ 1889760 w 1889760"/>
              <a:gd name="connsiteY1" fmla="*/ 0 h 830580"/>
              <a:gd name="connsiteX2" fmla="*/ 1889760 w 1889760"/>
              <a:gd name="connsiteY2" fmla="*/ 830580 h 830580"/>
              <a:gd name="connsiteX3" fmla="*/ 7620 w 1889760"/>
              <a:gd name="connsiteY3" fmla="*/ 502920 h 830580"/>
              <a:gd name="connsiteX4" fmla="*/ 0 w 1889760"/>
              <a:gd name="connsiteY4" fmla="*/ 0 h 830580"/>
              <a:gd name="connsiteX0" fmla="*/ 0 w 1889760"/>
              <a:gd name="connsiteY0" fmla="*/ 0 h 502920"/>
              <a:gd name="connsiteX1" fmla="*/ 1889760 w 1889760"/>
              <a:gd name="connsiteY1" fmla="*/ 0 h 502920"/>
              <a:gd name="connsiteX2" fmla="*/ 1884680 w 1889760"/>
              <a:gd name="connsiteY2" fmla="*/ 287020 h 502920"/>
              <a:gd name="connsiteX3" fmla="*/ 7620 w 1889760"/>
              <a:gd name="connsiteY3" fmla="*/ 502920 h 502920"/>
              <a:gd name="connsiteX4" fmla="*/ 0 w 1889760"/>
              <a:gd name="connsiteY4" fmla="*/ 0 h 502920"/>
              <a:gd name="connsiteX0" fmla="*/ 0 w 1889760"/>
              <a:gd name="connsiteY0" fmla="*/ 0 h 414430"/>
              <a:gd name="connsiteX1" fmla="*/ 1889760 w 1889760"/>
              <a:gd name="connsiteY1" fmla="*/ 0 h 414430"/>
              <a:gd name="connsiteX2" fmla="*/ 1884680 w 1889760"/>
              <a:gd name="connsiteY2" fmla="*/ 287020 h 414430"/>
              <a:gd name="connsiteX3" fmla="*/ 7620 w 1889760"/>
              <a:gd name="connsiteY3" fmla="*/ 414430 h 414430"/>
              <a:gd name="connsiteX4" fmla="*/ 0 w 1889760"/>
              <a:gd name="connsiteY4" fmla="*/ 0 h 414430"/>
              <a:gd name="connsiteX0" fmla="*/ 0 w 1889760"/>
              <a:gd name="connsiteY0" fmla="*/ 0 h 414430"/>
              <a:gd name="connsiteX1" fmla="*/ 1889760 w 1889760"/>
              <a:gd name="connsiteY1" fmla="*/ 0 h 414430"/>
              <a:gd name="connsiteX2" fmla="*/ 1887958 w 1889760"/>
              <a:gd name="connsiteY2" fmla="*/ 123149 h 414430"/>
              <a:gd name="connsiteX3" fmla="*/ 7620 w 1889760"/>
              <a:gd name="connsiteY3" fmla="*/ 414430 h 414430"/>
              <a:gd name="connsiteX4" fmla="*/ 0 w 1889760"/>
              <a:gd name="connsiteY4" fmla="*/ 0 h 414430"/>
              <a:gd name="connsiteX0" fmla="*/ 2272 w 1882140"/>
              <a:gd name="connsiteY0" fmla="*/ 0 h 414430"/>
              <a:gd name="connsiteX1" fmla="*/ 1882140 w 1882140"/>
              <a:gd name="connsiteY1" fmla="*/ 0 h 414430"/>
              <a:gd name="connsiteX2" fmla="*/ 1880338 w 1882140"/>
              <a:gd name="connsiteY2" fmla="*/ 123149 h 414430"/>
              <a:gd name="connsiteX3" fmla="*/ 0 w 1882140"/>
              <a:gd name="connsiteY3" fmla="*/ 414430 h 414430"/>
              <a:gd name="connsiteX4" fmla="*/ 2272 w 1882140"/>
              <a:gd name="connsiteY4" fmla="*/ 0 h 414430"/>
              <a:gd name="connsiteX0" fmla="*/ 2272 w 1882140"/>
              <a:gd name="connsiteY0" fmla="*/ 0 h 327860"/>
              <a:gd name="connsiteX1" fmla="*/ 1882140 w 1882140"/>
              <a:gd name="connsiteY1" fmla="*/ 0 h 327860"/>
              <a:gd name="connsiteX2" fmla="*/ 1880338 w 1882140"/>
              <a:gd name="connsiteY2" fmla="*/ 123149 h 327860"/>
              <a:gd name="connsiteX3" fmla="*/ 0 w 1882140"/>
              <a:gd name="connsiteY3" fmla="*/ 327860 h 327860"/>
              <a:gd name="connsiteX4" fmla="*/ 2272 w 1882140"/>
              <a:gd name="connsiteY4" fmla="*/ 0 h 327860"/>
              <a:gd name="connsiteX0" fmla="*/ 2272 w 1882140"/>
              <a:gd name="connsiteY0" fmla="*/ 0 h 327860"/>
              <a:gd name="connsiteX1" fmla="*/ 1882140 w 1882140"/>
              <a:gd name="connsiteY1" fmla="*/ 0 h 327860"/>
              <a:gd name="connsiteX2" fmla="*/ 1869450 w 1882140"/>
              <a:gd name="connsiteY2" fmla="*/ 274647 h 327860"/>
              <a:gd name="connsiteX3" fmla="*/ 0 w 1882140"/>
              <a:gd name="connsiteY3" fmla="*/ 327860 h 327860"/>
              <a:gd name="connsiteX4" fmla="*/ 2272 w 1882140"/>
              <a:gd name="connsiteY4" fmla="*/ 0 h 327860"/>
              <a:gd name="connsiteX0" fmla="*/ 2272 w 1886046"/>
              <a:gd name="connsiteY0" fmla="*/ 0 h 327860"/>
              <a:gd name="connsiteX1" fmla="*/ 1882140 w 1886046"/>
              <a:gd name="connsiteY1" fmla="*/ 0 h 327860"/>
              <a:gd name="connsiteX2" fmla="*/ 1885781 w 1886046"/>
              <a:gd name="connsiteY2" fmla="*/ 274647 h 327860"/>
              <a:gd name="connsiteX3" fmla="*/ 0 w 1886046"/>
              <a:gd name="connsiteY3" fmla="*/ 327860 h 327860"/>
              <a:gd name="connsiteX4" fmla="*/ 2272 w 1886046"/>
              <a:gd name="connsiteY4" fmla="*/ 0 h 327860"/>
              <a:gd name="connsiteX0" fmla="*/ 2272 w 1886046"/>
              <a:gd name="connsiteY0" fmla="*/ 0 h 327860"/>
              <a:gd name="connsiteX1" fmla="*/ 1882140 w 1886046"/>
              <a:gd name="connsiteY1" fmla="*/ 2722 h 327860"/>
              <a:gd name="connsiteX2" fmla="*/ 1885781 w 1886046"/>
              <a:gd name="connsiteY2" fmla="*/ 274647 h 327860"/>
              <a:gd name="connsiteX3" fmla="*/ 0 w 1886046"/>
              <a:gd name="connsiteY3" fmla="*/ 327860 h 327860"/>
              <a:gd name="connsiteX4" fmla="*/ 2272 w 1886046"/>
              <a:gd name="connsiteY4" fmla="*/ 0 h 327860"/>
              <a:gd name="connsiteX0" fmla="*/ 2272 w 1886046"/>
              <a:gd name="connsiteY0" fmla="*/ 0 h 325138"/>
              <a:gd name="connsiteX1" fmla="*/ 1882140 w 1886046"/>
              <a:gd name="connsiteY1" fmla="*/ 0 h 325138"/>
              <a:gd name="connsiteX2" fmla="*/ 1885781 w 1886046"/>
              <a:gd name="connsiteY2" fmla="*/ 271925 h 325138"/>
              <a:gd name="connsiteX3" fmla="*/ 0 w 1886046"/>
              <a:gd name="connsiteY3" fmla="*/ 325138 h 325138"/>
              <a:gd name="connsiteX4" fmla="*/ 2272 w 1886046"/>
              <a:gd name="connsiteY4" fmla="*/ 0 h 325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6046" h="325138">
                <a:moveTo>
                  <a:pt x="2272" y="0"/>
                </a:moveTo>
                <a:lnTo>
                  <a:pt x="1882140" y="0"/>
                </a:lnTo>
                <a:cubicBezTo>
                  <a:pt x="1880447" y="95673"/>
                  <a:pt x="1887474" y="176252"/>
                  <a:pt x="1885781" y="271925"/>
                </a:cubicBezTo>
                <a:lnTo>
                  <a:pt x="0" y="325138"/>
                </a:lnTo>
                <a:cubicBezTo>
                  <a:pt x="757" y="186995"/>
                  <a:pt x="1515" y="138143"/>
                  <a:pt x="2272" y="0"/>
                </a:cubicBezTo>
                <a:close/>
              </a:path>
            </a:pathLst>
          </a:custGeom>
          <a:solidFill>
            <a:srgbClr val="DDEFE8">
              <a:alpha val="59000"/>
            </a:srgb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B81EDF3-D491-4E35-8F8D-084327C42B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8227096"/>
              </p:ext>
            </p:extLst>
          </p:nvPr>
        </p:nvGraphicFramePr>
        <p:xfrm>
          <a:off x="5657037" y="1569179"/>
          <a:ext cx="3901440" cy="41283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E459EF-D402-449E-A85B-1013F105BA07}"/>
              </a:ext>
            </a:extLst>
          </p:cNvPr>
          <p:cNvSpPr txBox="1"/>
          <p:nvPr/>
        </p:nvSpPr>
        <p:spPr>
          <a:xfrm>
            <a:off x="2061045" y="1875473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Before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09FD8AFA-738B-47B3-897C-319DFB4591C6}"/>
              </a:ext>
            </a:extLst>
          </p:cNvPr>
          <p:cNvSpPr/>
          <p:nvPr/>
        </p:nvSpPr>
        <p:spPr bwMode="gray">
          <a:xfrm>
            <a:off x="4832881" y="3474047"/>
            <a:ext cx="203420" cy="377356"/>
          </a:xfrm>
          <a:prstGeom prst="chevron">
            <a:avLst>
              <a:gd name="adj" fmla="val 62222"/>
            </a:avLst>
          </a:prstGeom>
          <a:solidFill>
            <a:schemeClr val="bg1">
              <a:lumMod val="6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9EEEAC-16F4-4AD0-963D-033C5324F75A}"/>
              </a:ext>
            </a:extLst>
          </p:cNvPr>
          <p:cNvCxnSpPr/>
          <p:nvPr/>
        </p:nvCxnSpPr>
        <p:spPr>
          <a:xfrm flipV="1">
            <a:off x="4923716" y="2255161"/>
            <a:ext cx="0" cy="10972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520461-8FD8-4F9E-8F6D-F4CBDA46A9C2}"/>
              </a:ext>
            </a:extLst>
          </p:cNvPr>
          <p:cNvCxnSpPr/>
          <p:nvPr/>
        </p:nvCxnSpPr>
        <p:spPr>
          <a:xfrm flipV="1">
            <a:off x="4923716" y="3973010"/>
            <a:ext cx="0" cy="10972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3475CC3-BDD6-4E1E-A639-E85F01D7A273}"/>
              </a:ext>
            </a:extLst>
          </p:cNvPr>
          <p:cNvSpPr/>
          <p:nvPr/>
        </p:nvSpPr>
        <p:spPr>
          <a:xfrm>
            <a:off x="7368729" y="4094432"/>
            <a:ext cx="4683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900" b="1" dirty="0">
                <a:latin typeface="+mj-lt"/>
                <a:cs typeface="Calibri Light" panose="020F0302020204030204" pitchFamily="34" charset="0"/>
              </a:rPr>
              <a:t>+13%</a:t>
            </a: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32DF38-C26B-4279-AC96-9BE166A23846}"/>
              </a:ext>
            </a:extLst>
          </p:cNvPr>
          <p:cNvSpPr/>
          <p:nvPr/>
        </p:nvSpPr>
        <p:spPr>
          <a:xfrm>
            <a:off x="7381553" y="2831355"/>
            <a:ext cx="4427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900" b="1" dirty="0">
                <a:latin typeface="+mj-lt"/>
                <a:cs typeface="Calibri Light" panose="020F0302020204030204" pitchFamily="34" charset="0"/>
              </a:rPr>
              <a:t>-21%</a:t>
            </a: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200B9B-0696-4CE0-A575-A8DB10D3BE37}"/>
              </a:ext>
            </a:extLst>
          </p:cNvPr>
          <p:cNvSpPr/>
          <p:nvPr/>
        </p:nvSpPr>
        <p:spPr>
          <a:xfrm>
            <a:off x="7403995" y="2310211"/>
            <a:ext cx="39786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900" b="1" dirty="0">
                <a:latin typeface="+mj-lt"/>
                <a:cs typeface="Calibri Light" panose="020F0302020204030204" pitchFamily="34" charset="0"/>
              </a:rPr>
              <a:t>-2%</a:t>
            </a: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C09607-7EF1-4206-913B-7FB912E689FA}"/>
              </a:ext>
            </a:extLst>
          </p:cNvPr>
          <p:cNvSpPr txBox="1"/>
          <p:nvPr/>
        </p:nvSpPr>
        <p:spPr>
          <a:xfrm>
            <a:off x="7501932" y="1875473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After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56A15B-18DD-4136-AB78-B3EA3689C170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Share change</a:t>
            </a:r>
            <a:endParaRPr lang="ru-RU" dirty="0" err="1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C66D2C2-D426-48E0-8874-DD21399552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6922169"/>
              </p:ext>
            </p:extLst>
          </p:nvPr>
        </p:nvGraphicFramePr>
        <p:xfrm>
          <a:off x="-149621" y="1947577"/>
          <a:ext cx="5030648" cy="33537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84E8EA57-DDCD-4C96-923F-59CD09D975C1}"/>
              </a:ext>
            </a:extLst>
          </p:cNvPr>
          <p:cNvGrpSpPr/>
          <p:nvPr/>
        </p:nvGrpSpPr>
        <p:grpSpPr>
          <a:xfrm>
            <a:off x="2439659" y="2330353"/>
            <a:ext cx="438543" cy="324712"/>
            <a:chOff x="2007210" y="1887351"/>
            <a:chExt cx="474288" cy="35117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FF51D22-B925-43A9-BD93-5F5A227FEC04}"/>
                </a:ext>
              </a:extLst>
            </p:cNvPr>
            <p:cNvSpPr txBox="1"/>
            <p:nvPr/>
          </p:nvSpPr>
          <p:spPr>
            <a:xfrm rot="385796">
              <a:off x="2007210" y="1887351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+mj-lt"/>
                </a:rPr>
                <a:t>2</a:t>
              </a:r>
              <a:endParaRPr lang="ru-RU" sz="1400" b="1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F57A9B-1E6B-4EC6-A9B7-315C1EC2404E}"/>
                </a:ext>
              </a:extLst>
            </p:cNvPr>
            <p:cNvSpPr txBox="1"/>
            <p:nvPr/>
          </p:nvSpPr>
          <p:spPr>
            <a:xfrm rot="790186">
              <a:off x="2106268" y="1904496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+mj-lt"/>
                </a:rPr>
                <a:t>0</a:t>
              </a:r>
              <a:endParaRPr lang="ru-RU" sz="1400" b="1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0D53520-A912-40FD-9C4E-65CFB2457B17}"/>
                </a:ext>
              </a:extLst>
            </p:cNvPr>
            <p:cNvSpPr txBox="1"/>
            <p:nvPr/>
          </p:nvSpPr>
          <p:spPr>
            <a:xfrm rot="1197744">
              <a:off x="2220379" y="1939606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+mj-lt"/>
                </a:rPr>
                <a:t>2</a:t>
              </a:r>
              <a:endParaRPr lang="ru-RU" sz="1400" b="1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81E0275-F9FF-4679-9246-D9D9BFBE50EE}"/>
                </a:ext>
              </a:extLst>
            </p:cNvPr>
            <p:cNvSpPr txBox="1"/>
            <p:nvPr/>
          </p:nvSpPr>
          <p:spPr>
            <a:xfrm rot="1545845">
              <a:off x="2329100" y="1988594"/>
              <a:ext cx="152398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+mj-lt"/>
                </a:rPr>
                <a:t>2</a:t>
              </a:r>
              <a:endParaRPr lang="ru-RU" sz="1400" b="1" dirty="0" err="1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2598EA1-9F6F-4AAF-8E62-77F2FB745267}"/>
              </a:ext>
            </a:extLst>
          </p:cNvPr>
          <p:cNvGrpSpPr/>
          <p:nvPr/>
        </p:nvGrpSpPr>
        <p:grpSpPr>
          <a:xfrm>
            <a:off x="2422316" y="2612913"/>
            <a:ext cx="428364" cy="340653"/>
            <a:chOff x="1961325" y="2183111"/>
            <a:chExt cx="463279" cy="36841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2E979E0-4DED-4416-89B0-C00539AF84D4}"/>
                </a:ext>
              </a:extLst>
            </p:cNvPr>
            <p:cNvSpPr txBox="1"/>
            <p:nvPr/>
          </p:nvSpPr>
          <p:spPr>
            <a:xfrm rot="504211">
              <a:off x="1961325" y="2183111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2</a:t>
              </a:r>
              <a:endParaRPr lang="ru-RU" sz="1400" b="1" dirty="0" err="1">
                <a:solidFill>
                  <a:schemeClr val="bg1"/>
                </a:solidFill>
                <a:latin typeface="Montserrat" panose="00000500000000000000" pitchFamily="2" charset="-52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4C8CBD6-0AFC-48B0-8780-05F57DE0C8DA}"/>
                </a:ext>
              </a:extLst>
            </p:cNvPr>
            <p:cNvSpPr txBox="1"/>
            <p:nvPr/>
          </p:nvSpPr>
          <p:spPr>
            <a:xfrm rot="1104842">
              <a:off x="2058621" y="2208408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0</a:t>
              </a:r>
              <a:endParaRPr lang="ru-RU" sz="1400" b="1" dirty="0" err="1">
                <a:solidFill>
                  <a:schemeClr val="bg1"/>
                </a:solidFill>
                <a:latin typeface="Montserrat" panose="00000500000000000000" pitchFamily="2" charset="-52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AA39DDA-CF90-4832-B11E-DD476A4C35B2}"/>
                </a:ext>
              </a:extLst>
            </p:cNvPr>
            <p:cNvSpPr txBox="1"/>
            <p:nvPr/>
          </p:nvSpPr>
          <p:spPr>
            <a:xfrm rot="1326235">
              <a:off x="2173699" y="2247477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2</a:t>
              </a:r>
              <a:endParaRPr lang="ru-RU" sz="1400" b="1" dirty="0" err="1">
                <a:solidFill>
                  <a:schemeClr val="bg1"/>
                </a:solidFill>
                <a:latin typeface="Montserrat" panose="00000500000000000000" pitchFamily="2" charset="-52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EE60C2A-5187-4381-A8D3-94709C83AEC6}"/>
                </a:ext>
              </a:extLst>
            </p:cNvPr>
            <p:cNvSpPr txBox="1"/>
            <p:nvPr/>
          </p:nvSpPr>
          <p:spPr>
            <a:xfrm rot="1809459">
              <a:off x="2272204" y="2301594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1</a:t>
              </a:r>
              <a:endParaRPr lang="ru-RU" sz="1400" b="1" dirty="0" err="1">
                <a:solidFill>
                  <a:schemeClr val="bg1"/>
                </a:solidFill>
                <a:latin typeface="Montserrat" panose="00000500000000000000" pitchFamily="2" charset="-52"/>
              </a:endParaRPr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171B8C2-3709-469F-B59D-6699D0CE6E72}"/>
              </a:ext>
            </a:extLst>
          </p:cNvPr>
          <p:cNvSpPr/>
          <p:nvPr/>
        </p:nvSpPr>
        <p:spPr bwMode="gray">
          <a:xfrm>
            <a:off x="8102600" y="719607"/>
            <a:ext cx="1199769" cy="285738"/>
          </a:xfrm>
          <a:prstGeom prst="roundRect">
            <a:avLst>
              <a:gd name="adj" fmla="val 50000"/>
            </a:avLst>
          </a:prstGeom>
          <a:solidFill>
            <a:srgbClr val="B7472A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PowerPoint</a:t>
            </a:r>
            <a:endParaRPr lang="ru-RU" sz="1300" b="1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DDCDC04-1B91-4225-AF7D-D41258B1827C}"/>
              </a:ext>
            </a:extLst>
          </p:cNvPr>
          <p:cNvSpPr/>
          <p:nvPr/>
        </p:nvSpPr>
        <p:spPr>
          <a:xfrm>
            <a:off x="370083" y="6231892"/>
            <a:ext cx="3811983" cy="17785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random data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246141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0EB69BD-BE4C-4159-B964-D1DB7F9B69F7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E03363-6ABF-4411-9908-59C8F64C1344}"/>
              </a:ext>
            </a:extLst>
          </p:cNvPr>
          <p:cNvSpPr/>
          <p:nvPr/>
        </p:nvSpPr>
        <p:spPr>
          <a:xfrm>
            <a:off x="379402" y="6363602"/>
            <a:ext cx="165429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sz="800" dirty="0">
                <a:solidFill>
                  <a:prstClr val="black"/>
                </a:solidFill>
              </a:rPr>
              <a:t>Data research &amp; design: I. Daraev</a:t>
            </a: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0A0C613B-DC5B-46F7-9087-CB17DA91B516}"/>
              </a:ext>
            </a:extLst>
          </p:cNvPr>
          <p:cNvSpPr/>
          <p:nvPr/>
        </p:nvSpPr>
        <p:spPr>
          <a:xfrm>
            <a:off x="370083" y="6231892"/>
            <a:ext cx="1378670" cy="158246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Statista</a:t>
            </a:r>
            <a:endParaRPr lang="ru-RU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392D94-EC8E-456F-8DC5-C6AEA3C4E8D7}"/>
              </a:ext>
            </a:extLst>
          </p:cNvPr>
          <p:cNvSpPr txBox="1"/>
          <p:nvPr/>
        </p:nvSpPr>
        <p:spPr>
          <a:xfrm>
            <a:off x="381001" y="576001"/>
            <a:ext cx="2173223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Voronoi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B0BACD-5120-4CD7-9055-4DACD507690C}"/>
              </a:ext>
            </a:extLst>
          </p:cNvPr>
          <p:cNvSpPr/>
          <p:nvPr/>
        </p:nvSpPr>
        <p:spPr>
          <a:xfrm>
            <a:off x="381001" y="1271016"/>
            <a:ext cx="6278740" cy="13849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Largest bankruptcies in the U.S. as of January 2025, by assets at time of bankruptcy</a:t>
            </a:r>
            <a:r>
              <a:rPr lang="ru-RU" sz="900" b="1" dirty="0">
                <a:latin typeface="+mj-lt"/>
              </a:rPr>
              <a:t>, </a:t>
            </a:r>
            <a:r>
              <a:rPr lang="en-US" sz="900" b="1" dirty="0">
                <a:latin typeface="+mj-lt"/>
              </a:rPr>
              <a:t>USD </a:t>
            </a:r>
            <a:r>
              <a:rPr lang="en-US" sz="900" b="1" dirty="0" err="1">
                <a:latin typeface="+mj-lt"/>
              </a:rPr>
              <a:t>bln</a:t>
            </a:r>
            <a:endParaRPr lang="ru-RU" sz="900" b="1" dirty="0">
              <a:latin typeface="+mj-lt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D473082-F943-4B22-9862-7F0FA37B3422}"/>
              </a:ext>
            </a:extLst>
          </p:cNvPr>
          <p:cNvSpPr/>
          <p:nvPr/>
        </p:nvSpPr>
        <p:spPr bwMode="gray">
          <a:xfrm>
            <a:off x="8134313" y="729137"/>
            <a:ext cx="1178216" cy="2857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ED8B00"/>
                </a:solidFill>
                <a:latin typeface="+mj-lt"/>
                <a:cs typeface="Calibri Light" panose="020F0302020204030204" pitchFamily="34" charset="0"/>
              </a:rPr>
              <a:t>Illustrator</a:t>
            </a:r>
            <a:endParaRPr lang="ru-RU" sz="1300" b="1" dirty="0" err="1">
              <a:solidFill>
                <a:srgbClr val="ED8B00"/>
              </a:solidFill>
              <a:latin typeface="+mj-lt"/>
              <a:cs typeface="Calibri Light" panose="020F03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8A3AFE-08D0-4AD9-A181-4103313C4E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19" y="1466742"/>
            <a:ext cx="6051329" cy="479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493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42">
            <a:extLst>
              <a:ext uri="{FF2B5EF4-FFF2-40B4-BE49-F238E27FC236}">
                <a16:creationId xmlns:a16="http://schemas.microsoft.com/office/drawing/2014/main" id="{ECD880DC-5EA6-4B7B-8B46-54DBF200E1A8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55A25B96-1B4F-4735-B66B-1FE4AE15A965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Sankey </a:t>
            </a:r>
            <a:endParaRPr lang="ru-RU" dirty="0" err="1"/>
          </a:p>
        </p:txBody>
      </p:sp>
      <p:sp>
        <p:nvSpPr>
          <p:cNvPr id="364" name="Rectangle 362">
            <a:extLst>
              <a:ext uri="{FF2B5EF4-FFF2-40B4-BE49-F238E27FC236}">
                <a16:creationId xmlns:a16="http://schemas.microsoft.com/office/drawing/2014/main" id="{4387E21B-30AD-489E-8B41-8A71C4A84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53" y="3629501"/>
            <a:ext cx="29960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2.7</a:t>
            </a:r>
            <a:r>
              <a:rPr kumimoji="0" lang="en-US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2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70" name="Rectangle 368">
            <a:extLst>
              <a:ext uri="{FF2B5EF4-FFF2-40B4-BE49-F238E27FC236}">
                <a16:creationId xmlns:a16="http://schemas.microsoft.com/office/drawing/2014/main" id="{3E2058C9-7575-47FF-A15D-0D75E3DC7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53" y="2278130"/>
            <a:ext cx="29960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4</a:t>
            </a: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.0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72" name="Rectangle 370">
            <a:extLst>
              <a:ext uri="{FF2B5EF4-FFF2-40B4-BE49-F238E27FC236}">
                <a16:creationId xmlns:a16="http://schemas.microsoft.com/office/drawing/2014/main" id="{99FC4808-2874-4BBE-9887-E58A8015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53" y="3000543"/>
            <a:ext cx="29960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2.9</a:t>
            </a:r>
            <a:r>
              <a:rPr kumimoji="0" lang="en-US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0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76" name="Rectangle 374">
            <a:extLst>
              <a:ext uri="{FF2B5EF4-FFF2-40B4-BE49-F238E27FC236}">
                <a16:creationId xmlns:a16="http://schemas.microsoft.com/office/drawing/2014/main" id="{19C41CBC-B3AD-4543-8ED0-3DBBBCE9B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53" y="4279944"/>
            <a:ext cx="29960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2.</a:t>
            </a:r>
            <a:r>
              <a:rPr kumimoji="0" lang="en-US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05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80" name="Rectangle 378">
            <a:extLst>
              <a:ext uri="{FF2B5EF4-FFF2-40B4-BE49-F238E27FC236}">
                <a16:creationId xmlns:a16="http://schemas.microsoft.com/office/drawing/2014/main" id="{CED1DBDA-E276-4203-B502-1BE12F5A9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53" y="4902453"/>
            <a:ext cx="29960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1.57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13" name="Freeform 410">
            <a:extLst>
              <a:ext uri="{FF2B5EF4-FFF2-40B4-BE49-F238E27FC236}">
                <a16:creationId xmlns:a16="http://schemas.microsoft.com/office/drawing/2014/main" id="{F34DC8C3-3CE2-4CF4-A18C-67C50DCF6A81}"/>
              </a:ext>
            </a:extLst>
          </p:cNvPr>
          <p:cNvSpPr>
            <a:spLocks/>
          </p:cNvSpPr>
          <p:nvPr/>
        </p:nvSpPr>
        <p:spPr bwMode="auto">
          <a:xfrm>
            <a:off x="3888616" y="3305384"/>
            <a:ext cx="2596661" cy="779400"/>
          </a:xfrm>
          <a:custGeom>
            <a:avLst/>
            <a:gdLst>
              <a:gd name="T0" fmla="*/ 1430 w 1430"/>
              <a:gd name="T1" fmla="*/ 0 h 430"/>
              <a:gd name="T2" fmla="*/ 1187 w 1430"/>
              <a:gd name="T3" fmla="*/ 15 h 430"/>
              <a:gd name="T4" fmla="*/ 873 w 1430"/>
              <a:gd name="T5" fmla="*/ 99 h 430"/>
              <a:gd name="T6" fmla="*/ 689 w 1430"/>
              <a:gd name="T7" fmla="*/ 184 h 430"/>
              <a:gd name="T8" fmla="*/ 556 w 1430"/>
              <a:gd name="T9" fmla="*/ 247 h 430"/>
              <a:gd name="T10" fmla="*/ 324 w 1430"/>
              <a:gd name="T11" fmla="*/ 322 h 430"/>
              <a:gd name="T12" fmla="*/ 0 w 1430"/>
              <a:gd name="T13" fmla="*/ 352 h 430"/>
              <a:gd name="T14" fmla="*/ 0 w 1430"/>
              <a:gd name="T15" fmla="*/ 430 h 430"/>
              <a:gd name="T16" fmla="*/ 243 w 1430"/>
              <a:gd name="T17" fmla="*/ 415 h 430"/>
              <a:gd name="T18" fmla="*/ 557 w 1430"/>
              <a:gd name="T19" fmla="*/ 331 h 430"/>
              <a:gd name="T20" fmla="*/ 741 w 1430"/>
              <a:gd name="T21" fmla="*/ 246 h 430"/>
              <a:gd name="T22" fmla="*/ 874 w 1430"/>
              <a:gd name="T23" fmla="*/ 183 h 430"/>
              <a:gd name="T24" fmla="*/ 1106 w 1430"/>
              <a:gd name="T25" fmla="*/ 108 h 430"/>
              <a:gd name="T26" fmla="*/ 1430 w 1430"/>
              <a:gd name="T27" fmla="*/ 78 h 430"/>
              <a:gd name="T28" fmla="*/ 1430 w 1430"/>
              <a:gd name="T29" fmla="*/ 0 h 4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30" h="430">
                <a:moveTo>
                  <a:pt x="1430" y="0"/>
                </a:moveTo>
                <a:cubicBezTo>
                  <a:pt x="1339" y="0"/>
                  <a:pt x="1259" y="5"/>
                  <a:pt x="1187" y="15"/>
                </a:cubicBezTo>
                <a:cubicBezTo>
                  <a:pt x="1061" y="33"/>
                  <a:pt x="961" y="63"/>
                  <a:pt x="873" y="99"/>
                </a:cubicBezTo>
                <a:cubicBezTo>
                  <a:pt x="807" y="126"/>
                  <a:pt x="748" y="155"/>
                  <a:pt x="689" y="184"/>
                </a:cubicBezTo>
                <a:cubicBezTo>
                  <a:pt x="645" y="206"/>
                  <a:pt x="602" y="227"/>
                  <a:pt x="556" y="247"/>
                </a:cubicBezTo>
                <a:cubicBezTo>
                  <a:pt x="487" y="277"/>
                  <a:pt x="413" y="303"/>
                  <a:pt x="324" y="322"/>
                </a:cubicBezTo>
                <a:cubicBezTo>
                  <a:pt x="235" y="341"/>
                  <a:pt x="130" y="352"/>
                  <a:pt x="0" y="352"/>
                </a:cubicBezTo>
                <a:cubicBezTo>
                  <a:pt x="0" y="430"/>
                  <a:pt x="0" y="430"/>
                  <a:pt x="0" y="430"/>
                </a:cubicBezTo>
                <a:cubicBezTo>
                  <a:pt x="91" y="430"/>
                  <a:pt x="171" y="425"/>
                  <a:pt x="243" y="415"/>
                </a:cubicBezTo>
                <a:cubicBezTo>
                  <a:pt x="368" y="397"/>
                  <a:pt x="469" y="367"/>
                  <a:pt x="557" y="331"/>
                </a:cubicBezTo>
                <a:cubicBezTo>
                  <a:pt x="623" y="304"/>
                  <a:pt x="682" y="275"/>
                  <a:pt x="741" y="246"/>
                </a:cubicBezTo>
                <a:cubicBezTo>
                  <a:pt x="784" y="224"/>
                  <a:pt x="828" y="203"/>
                  <a:pt x="874" y="183"/>
                </a:cubicBezTo>
                <a:cubicBezTo>
                  <a:pt x="943" y="153"/>
                  <a:pt x="1017" y="127"/>
                  <a:pt x="1106" y="108"/>
                </a:cubicBezTo>
                <a:cubicBezTo>
                  <a:pt x="1195" y="89"/>
                  <a:pt x="1300" y="78"/>
                  <a:pt x="1430" y="78"/>
                </a:cubicBezTo>
                <a:cubicBezTo>
                  <a:pt x="1430" y="0"/>
                  <a:pt x="1430" y="0"/>
                  <a:pt x="1430" y="0"/>
                </a:cubicBezTo>
              </a:path>
            </a:pathLst>
          </a:custGeom>
          <a:solidFill>
            <a:srgbClr val="007680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412" name="Freeform 409">
            <a:extLst>
              <a:ext uri="{FF2B5EF4-FFF2-40B4-BE49-F238E27FC236}">
                <a16:creationId xmlns:a16="http://schemas.microsoft.com/office/drawing/2014/main" id="{373B622F-2B70-4B20-84B0-30391F61C690}"/>
              </a:ext>
            </a:extLst>
          </p:cNvPr>
          <p:cNvSpPr>
            <a:spLocks/>
          </p:cNvSpPr>
          <p:nvPr/>
        </p:nvSpPr>
        <p:spPr bwMode="auto">
          <a:xfrm>
            <a:off x="3885936" y="2658356"/>
            <a:ext cx="2599340" cy="650838"/>
          </a:xfrm>
          <a:custGeom>
            <a:avLst/>
            <a:gdLst>
              <a:gd name="T0" fmla="*/ 0 w 1431"/>
              <a:gd name="T1" fmla="*/ 0 h 358"/>
              <a:gd name="T2" fmla="*/ 0 w 1431"/>
              <a:gd name="T3" fmla="*/ 0 h 358"/>
              <a:gd name="T4" fmla="*/ 0 w 1431"/>
              <a:gd name="T5" fmla="*/ 141 h 358"/>
              <a:gd name="T6" fmla="*/ 231 w 1431"/>
              <a:gd name="T7" fmla="*/ 150 h 358"/>
              <a:gd name="T8" fmla="*/ 525 w 1431"/>
              <a:gd name="T9" fmla="*/ 198 h 358"/>
              <a:gd name="T10" fmla="*/ 703 w 1431"/>
              <a:gd name="T11" fmla="*/ 249 h 358"/>
              <a:gd name="T12" fmla="*/ 841 w 1431"/>
              <a:gd name="T13" fmla="*/ 289 h 358"/>
              <a:gd name="T14" fmla="*/ 1089 w 1431"/>
              <a:gd name="T15" fmla="*/ 338 h 358"/>
              <a:gd name="T16" fmla="*/ 1430 w 1431"/>
              <a:gd name="T17" fmla="*/ 358 h 358"/>
              <a:gd name="T18" fmla="*/ 1431 w 1431"/>
              <a:gd name="T19" fmla="*/ 358 h 358"/>
              <a:gd name="T20" fmla="*/ 1431 w 1431"/>
              <a:gd name="T21" fmla="*/ 217 h 358"/>
              <a:gd name="T22" fmla="*/ 1199 w 1431"/>
              <a:gd name="T23" fmla="*/ 208 h 358"/>
              <a:gd name="T24" fmla="*/ 905 w 1431"/>
              <a:gd name="T25" fmla="*/ 160 h 358"/>
              <a:gd name="T26" fmla="*/ 727 w 1431"/>
              <a:gd name="T27" fmla="*/ 109 h 358"/>
              <a:gd name="T28" fmla="*/ 590 w 1431"/>
              <a:gd name="T29" fmla="*/ 69 h 358"/>
              <a:gd name="T30" fmla="*/ 341 w 1431"/>
              <a:gd name="T31" fmla="*/ 20 h 358"/>
              <a:gd name="T32" fmla="*/ 0 w 1431"/>
              <a:gd name="T33" fmla="*/ 0 h 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31" h="358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1"/>
                  <a:pt x="0" y="141"/>
                  <a:pt x="0" y="141"/>
                </a:cubicBezTo>
                <a:cubicBezTo>
                  <a:pt x="87" y="141"/>
                  <a:pt x="164" y="144"/>
                  <a:pt x="231" y="150"/>
                </a:cubicBezTo>
                <a:cubicBezTo>
                  <a:pt x="350" y="160"/>
                  <a:pt x="442" y="177"/>
                  <a:pt x="525" y="198"/>
                </a:cubicBezTo>
                <a:cubicBezTo>
                  <a:pt x="587" y="213"/>
                  <a:pt x="644" y="231"/>
                  <a:pt x="703" y="249"/>
                </a:cubicBezTo>
                <a:cubicBezTo>
                  <a:pt x="747" y="262"/>
                  <a:pt x="792" y="276"/>
                  <a:pt x="841" y="289"/>
                </a:cubicBezTo>
                <a:cubicBezTo>
                  <a:pt x="913" y="308"/>
                  <a:pt x="994" y="325"/>
                  <a:pt x="1089" y="338"/>
                </a:cubicBezTo>
                <a:cubicBezTo>
                  <a:pt x="1185" y="350"/>
                  <a:pt x="1296" y="358"/>
                  <a:pt x="1430" y="358"/>
                </a:cubicBezTo>
                <a:cubicBezTo>
                  <a:pt x="1430" y="358"/>
                  <a:pt x="1431" y="358"/>
                  <a:pt x="1431" y="358"/>
                </a:cubicBezTo>
                <a:cubicBezTo>
                  <a:pt x="1431" y="217"/>
                  <a:pt x="1431" y="217"/>
                  <a:pt x="1431" y="217"/>
                </a:cubicBezTo>
                <a:cubicBezTo>
                  <a:pt x="1343" y="217"/>
                  <a:pt x="1267" y="214"/>
                  <a:pt x="1199" y="208"/>
                </a:cubicBezTo>
                <a:cubicBezTo>
                  <a:pt x="1080" y="198"/>
                  <a:pt x="988" y="180"/>
                  <a:pt x="905" y="160"/>
                </a:cubicBezTo>
                <a:cubicBezTo>
                  <a:pt x="843" y="144"/>
                  <a:pt x="786" y="127"/>
                  <a:pt x="727" y="109"/>
                </a:cubicBezTo>
                <a:cubicBezTo>
                  <a:pt x="683" y="95"/>
                  <a:pt x="638" y="82"/>
                  <a:pt x="590" y="69"/>
                </a:cubicBezTo>
                <a:cubicBezTo>
                  <a:pt x="517" y="50"/>
                  <a:pt x="437" y="32"/>
                  <a:pt x="341" y="20"/>
                </a:cubicBezTo>
                <a:cubicBezTo>
                  <a:pt x="245" y="7"/>
                  <a:pt x="134" y="0"/>
                  <a:pt x="0" y="0"/>
                </a:cubicBezTo>
              </a:path>
            </a:pathLst>
          </a:custGeom>
          <a:solidFill>
            <a:srgbClr val="007680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05" name="Freeform 303">
            <a:extLst>
              <a:ext uri="{FF2B5EF4-FFF2-40B4-BE49-F238E27FC236}">
                <a16:creationId xmlns:a16="http://schemas.microsoft.com/office/drawing/2014/main" id="{8DAEB45F-4660-4232-8FA3-9913E666A437}"/>
              </a:ext>
            </a:extLst>
          </p:cNvPr>
          <p:cNvSpPr>
            <a:spLocks/>
          </p:cNvSpPr>
          <p:nvPr/>
        </p:nvSpPr>
        <p:spPr bwMode="auto">
          <a:xfrm>
            <a:off x="3901777" y="2192192"/>
            <a:ext cx="2583499" cy="1305178"/>
          </a:xfrm>
          <a:custGeom>
            <a:avLst/>
            <a:gdLst>
              <a:gd name="T0" fmla="*/ 1429 w 1429"/>
              <a:gd name="T1" fmla="*/ 0 h 721"/>
              <a:gd name="T2" fmla="*/ 1174 w 1429"/>
              <a:gd name="T3" fmla="*/ 26 h 721"/>
              <a:gd name="T4" fmla="*/ 994 w 1429"/>
              <a:gd name="T5" fmla="*/ 85 h 721"/>
              <a:gd name="T6" fmla="*/ 861 w 1429"/>
              <a:gd name="T7" fmla="*/ 156 h 721"/>
              <a:gd name="T8" fmla="*/ 668 w 1429"/>
              <a:gd name="T9" fmla="*/ 297 h 721"/>
              <a:gd name="T10" fmla="*/ 534 w 1429"/>
              <a:gd name="T11" fmla="*/ 398 h 721"/>
              <a:gd name="T12" fmla="*/ 311 w 1429"/>
              <a:gd name="T13" fmla="*/ 516 h 721"/>
              <a:gd name="T14" fmla="*/ 171 w 1429"/>
              <a:gd name="T15" fmla="*/ 551 h 721"/>
              <a:gd name="T16" fmla="*/ 0 w 1429"/>
              <a:gd name="T17" fmla="*/ 564 h 721"/>
              <a:gd name="T18" fmla="*/ 0 w 1429"/>
              <a:gd name="T19" fmla="*/ 721 h 721"/>
              <a:gd name="T20" fmla="*/ 254 w 1429"/>
              <a:gd name="T21" fmla="*/ 695 h 721"/>
              <a:gd name="T22" fmla="*/ 434 w 1429"/>
              <a:gd name="T23" fmla="*/ 636 h 721"/>
              <a:gd name="T24" fmla="*/ 567 w 1429"/>
              <a:gd name="T25" fmla="*/ 566 h 721"/>
              <a:gd name="T26" fmla="*/ 760 w 1429"/>
              <a:gd name="T27" fmla="*/ 425 h 721"/>
              <a:gd name="T28" fmla="*/ 894 w 1429"/>
              <a:gd name="T29" fmla="*/ 323 h 721"/>
              <a:gd name="T30" fmla="*/ 1117 w 1429"/>
              <a:gd name="T31" fmla="*/ 206 h 721"/>
              <a:gd name="T32" fmla="*/ 1257 w 1429"/>
              <a:gd name="T33" fmla="*/ 171 h 721"/>
              <a:gd name="T34" fmla="*/ 1429 w 1429"/>
              <a:gd name="T35" fmla="*/ 158 h 721"/>
              <a:gd name="T36" fmla="*/ 1429 w 1429"/>
              <a:gd name="T37" fmla="*/ 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29" h="721">
                <a:moveTo>
                  <a:pt x="1429" y="0"/>
                </a:moveTo>
                <a:cubicBezTo>
                  <a:pt x="1334" y="0"/>
                  <a:pt x="1250" y="9"/>
                  <a:pt x="1174" y="26"/>
                </a:cubicBezTo>
                <a:cubicBezTo>
                  <a:pt x="1108" y="41"/>
                  <a:pt x="1048" y="61"/>
                  <a:pt x="994" y="85"/>
                </a:cubicBezTo>
                <a:cubicBezTo>
                  <a:pt x="946" y="106"/>
                  <a:pt x="902" y="130"/>
                  <a:pt x="861" y="156"/>
                </a:cubicBezTo>
                <a:cubicBezTo>
                  <a:pt x="790" y="200"/>
                  <a:pt x="728" y="249"/>
                  <a:pt x="668" y="297"/>
                </a:cubicBezTo>
                <a:cubicBezTo>
                  <a:pt x="623" y="332"/>
                  <a:pt x="579" y="367"/>
                  <a:pt x="534" y="398"/>
                </a:cubicBezTo>
                <a:cubicBezTo>
                  <a:pt x="467" y="445"/>
                  <a:pt x="396" y="486"/>
                  <a:pt x="311" y="516"/>
                </a:cubicBezTo>
                <a:cubicBezTo>
                  <a:pt x="269" y="530"/>
                  <a:pt x="222" y="542"/>
                  <a:pt x="171" y="551"/>
                </a:cubicBezTo>
                <a:cubicBezTo>
                  <a:pt x="120" y="559"/>
                  <a:pt x="63" y="564"/>
                  <a:pt x="0" y="564"/>
                </a:cubicBezTo>
                <a:cubicBezTo>
                  <a:pt x="0" y="721"/>
                  <a:pt x="0" y="721"/>
                  <a:pt x="0" y="721"/>
                </a:cubicBezTo>
                <a:cubicBezTo>
                  <a:pt x="94" y="721"/>
                  <a:pt x="178" y="712"/>
                  <a:pt x="254" y="695"/>
                </a:cubicBezTo>
                <a:cubicBezTo>
                  <a:pt x="320" y="681"/>
                  <a:pt x="380" y="660"/>
                  <a:pt x="434" y="636"/>
                </a:cubicBezTo>
                <a:cubicBezTo>
                  <a:pt x="482" y="615"/>
                  <a:pt x="526" y="591"/>
                  <a:pt x="567" y="566"/>
                </a:cubicBezTo>
                <a:cubicBezTo>
                  <a:pt x="638" y="521"/>
                  <a:pt x="700" y="472"/>
                  <a:pt x="760" y="425"/>
                </a:cubicBezTo>
                <a:cubicBezTo>
                  <a:pt x="805" y="389"/>
                  <a:pt x="849" y="355"/>
                  <a:pt x="894" y="323"/>
                </a:cubicBezTo>
                <a:cubicBezTo>
                  <a:pt x="962" y="276"/>
                  <a:pt x="1032" y="235"/>
                  <a:pt x="1117" y="206"/>
                </a:cubicBezTo>
                <a:cubicBezTo>
                  <a:pt x="1160" y="191"/>
                  <a:pt x="1206" y="179"/>
                  <a:pt x="1257" y="171"/>
                </a:cubicBezTo>
                <a:cubicBezTo>
                  <a:pt x="1309" y="162"/>
                  <a:pt x="1365" y="158"/>
                  <a:pt x="1429" y="158"/>
                </a:cubicBezTo>
                <a:cubicBezTo>
                  <a:pt x="1429" y="0"/>
                  <a:pt x="1429" y="0"/>
                  <a:pt x="1429" y="0"/>
                </a:cubicBezTo>
              </a:path>
            </a:pathLst>
          </a:custGeom>
          <a:solidFill>
            <a:srgbClr val="004F59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06" name="Freeform 304">
            <a:extLst>
              <a:ext uri="{FF2B5EF4-FFF2-40B4-BE49-F238E27FC236}">
                <a16:creationId xmlns:a16="http://schemas.microsoft.com/office/drawing/2014/main" id="{D5A2E26F-E056-43F4-82E1-93839ED9E306}"/>
              </a:ext>
            </a:extLst>
          </p:cNvPr>
          <p:cNvSpPr>
            <a:spLocks/>
          </p:cNvSpPr>
          <p:nvPr/>
        </p:nvSpPr>
        <p:spPr bwMode="auto">
          <a:xfrm>
            <a:off x="1354504" y="2745417"/>
            <a:ext cx="2357913" cy="381350"/>
          </a:xfrm>
          <a:custGeom>
            <a:avLst/>
            <a:gdLst>
              <a:gd name="T0" fmla="*/ 1304 w 1304"/>
              <a:gd name="T1" fmla="*/ 0 h 212"/>
              <a:gd name="T2" fmla="*/ 912 w 1304"/>
              <a:gd name="T3" fmla="*/ 10 h 212"/>
              <a:gd name="T4" fmla="*/ 706 w 1304"/>
              <a:gd name="T5" fmla="*/ 26 h 212"/>
              <a:gd name="T6" fmla="*/ 568 w 1304"/>
              <a:gd name="T7" fmla="*/ 38 h 212"/>
              <a:gd name="T8" fmla="*/ 334 w 1304"/>
              <a:gd name="T9" fmla="*/ 55 h 212"/>
              <a:gd name="T10" fmla="*/ 0 w 1304"/>
              <a:gd name="T11" fmla="*/ 62 h 212"/>
              <a:gd name="T12" fmla="*/ 0 w 1304"/>
              <a:gd name="T13" fmla="*/ 212 h 212"/>
              <a:gd name="T14" fmla="*/ 391 w 1304"/>
              <a:gd name="T15" fmla="*/ 202 h 212"/>
              <a:gd name="T16" fmla="*/ 597 w 1304"/>
              <a:gd name="T17" fmla="*/ 186 h 212"/>
              <a:gd name="T18" fmla="*/ 736 w 1304"/>
              <a:gd name="T19" fmla="*/ 174 h 212"/>
              <a:gd name="T20" fmla="*/ 969 w 1304"/>
              <a:gd name="T21" fmla="*/ 157 h 212"/>
              <a:gd name="T22" fmla="*/ 1304 w 1304"/>
              <a:gd name="T23" fmla="*/ 150 h 212"/>
              <a:gd name="T24" fmla="*/ 1304 w 1304"/>
              <a:gd name="T25" fmla="*/ 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4" h="212">
                <a:moveTo>
                  <a:pt x="1304" y="0"/>
                </a:moveTo>
                <a:cubicBezTo>
                  <a:pt x="1139" y="0"/>
                  <a:pt x="1016" y="4"/>
                  <a:pt x="912" y="10"/>
                </a:cubicBezTo>
                <a:cubicBezTo>
                  <a:pt x="835" y="14"/>
                  <a:pt x="769" y="20"/>
                  <a:pt x="706" y="26"/>
                </a:cubicBezTo>
                <a:cubicBezTo>
                  <a:pt x="660" y="30"/>
                  <a:pt x="615" y="34"/>
                  <a:pt x="568" y="38"/>
                </a:cubicBezTo>
                <a:cubicBezTo>
                  <a:pt x="498" y="45"/>
                  <a:pt x="425" y="50"/>
                  <a:pt x="334" y="55"/>
                </a:cubicBezTo>
                <a:cubicBezTo>
                  <a:pt x="244" y="59"/>
                  <a:pt x="137" y="62"/>
                  <a:pt x="0" y="62"/>
                </a:cubicBezTo>
                <a:cubicBezTo>
                  <a:pt x="0" y="212"/>
                  <a:pt x="0" y="212"/>
                  <a:pt x="0" y="212"/>
                </a:cubicBezTo>
                <a:cubicBezTo>
                  <a:pt x="164" y="212"/>
                  <a:pt x="288" y="208"/>
                  <a:pt x="391" y="202"/>
                </a:cubicBezTo>
                <a:cubicBezTo>
                  <a:pt x="469" y="198"/>
                  <a:pt x="535" y="192"/>
                  <a:pt x="597" y="186"/>
                </a:cubicBezTo>
                <a:cubicBezTo>
                  <a:pt x="644" y="182"/>
                  <a:pt x="689" y="178"/>
                  <a:pt x="736" y="174"/>
                </a:cubicBezTo>
                <a:cubicBezTo>
                  <a:pt x="805" y="167"/>
                  <a:pt x="879" y="162"/>
                  <a:pt x="969" y="157"/>
                </a:cubicBezTo>
                <a:cubicBezTo>
                  <a:pt x="1060" y="153"/>
                  <a:pt x="1167" y="150"/>
                  <a:pt x="1304" y="150"/>
                </a:cubicBezTo>
                <a:cubicBezTo>
                  <a:pt x="1304" y="0"/>
                  <a:pt x="1304" y="0"/>
                  <a:pt x="1304" y="0"/>
                </a:cubicBezTo>
              </a:path>
            </a:pathLst>
          </a:custGeom>
          <a:solidFill>
            <a:srgbClr val="009A4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07" name="Freeform 305">
            <a:extLst>
              <a:ext uri="{FF2B5EF4-FFF2-40B4-BE49-F238E27FC236}">
                <a16:creationId xmlns:a16="http://schemas.microsoft.com/office/drawing/2014/main" id="{8D56DF7C-0912-45B2-9FE9-96C349A76073}"/>
              </a:ext>
            </a:extLst>
          </p:cNvPr>
          <p:cNvSpPr>
            <a:spLocks/>
          </p:cNvSpPr>
          <p:nvPr/>
        </p:nvSpPr>
        <p:spPr bwMode="auto">
          <a:xfrm>
            <a:off x="3901777" y="3679988"/>
            <a:ext cx="2583499" cy="370607"/>
          </a:xfrm>
          <a:custGeom>
            <a:avLst/>
            <a:gdLst>
              <a:gd name="T0" fmla="*/ 0 w 1429"/>
              <a:gd name="T1" fmla="*/ 0 h 204"/>
              <a:gd name="T2" fmla="*/ 0 w 1429"/>
              <a:gd name="T3" fmla="*/ 0 h 204"/>
              <a:gd name="T4" fmla="*/ 0 w 1429"/>
              <a:gd name="T5" fmla="*/ 145 h 204"/>
              <a:gd name="T6" fmla="*/ 421 w 1429"/>
              <a:gd name="T7" fmla="*/ 154 h 204"/>
              <a:gd name="T8" fmla="*/ 642 w 1429"/>
              <a:gd name="T9" fmla="*/ 168 h 204"/>
              <a:gd name="T10" fmla="*/ 960 w 1429"/>
              <a:gd name="T11" fmla="*/ 192 h 204"/>
              <a:gd name="T12" fmla="*/ 1429 w 1429"/>
              <a:gd name="T13" fmla="*/ 204 h 204"/>
              <a:gd name="T14" fmla="*/ 1429 w 1429"/>
              <a:gd name="T15" fmla="*/ 204 h 204"/>
              <a:gd name="T16" fmla="*/ 1429 w 1429"/>
              <a:gd name="T17" fmla="*/ 59 h 204"/>
              <a:gd name="T18" fmla="*/ 1008 w 1429"/>
              <a:gd name="T19" fmla="*/ 50 h 204"/>
              <a:gd name="T20" fmla="*/ 788 w 1429"/>
              <a:gd name="T21" fmla="*/ 35 h 204"/>
              <a:gd name="T22" fmla="*/ 469 w 1429"/>
              <a:gd name="T23" fmla="*/ 12 h 204"/>
              <a:gd name="T24" fmla="*/ 0 w 1429"/>
              <a:gd name="T25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29" h="204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5"/>
                  <a:pt x="0" y="145"/>
                  <a:pt x="0" y="145"/>
                </a:cubicBezTo>
                <a:cubicBezTo>
                  <a:pt x="178" y="145"/>
                  <a:pt x="310" y="148"/>
                  <a:pt x="421" y="154"/>
                </a:cubicBezTo>
                <a:cubicBezTo>
                  <a:pt x="504" y="158"/>
                  <a:pt x="574" y="163"/>
                  <a:pt x="642" y="168"/>
                </a:cubicBezTo>
                <a:cubicBezTo>
                  <a:pt x="743" y="177"/>
                  <a:pt x="839" y="185"/>
                  <a:pt x="960" y="192"/>
                </a:cubicBezTo>
                <a:cubicBezTo>
                  <a:pt x="1081" y="199"/>
                  <a:pt x="1227" y="204"/>
                  <a:pt x="1429" y="204"/>
                </a:cubicBezTo>
                <a:cubicBezTo>
                  <a:pt x="1429" y="204"/>
                  <a:pt x="1429" y="204"/>
                  <a:pt x="1429" y="204"/>
                </a:cubicBezTo>
                <a:cubicBezTo>
                  <a:pt x="1429" y="59"/>
                  <a:pt x="1429" y="59"/>
                  <a:pt x="1429" y="59"/>
                </a:cubicBezTo>
                <a:cubicBezTo>
                  <a:pt x="1251" y="59"/>
                  <a:pt x="1119" y="55"/>
                  <a:pt x="1008" y="50"/>
                </a:cubicBezTo>
                <a:cubicBezTo>
                  <a:pt x="926" y="46"/>
                  <a:pt x="855" y="41"/>
                  <a:pt x="788" y="35"/>
                </a:cubicBezTo>
                <a:cubicBezTo>
                  <a:pt x="686" y="27"/>
                  <a:pt x="590" y="18"/>
                  <a:pt x="469" y="12"/>
                </a:cubicBezTo>
                <a:cubicBezTo>
                  <a:pt x="348" y="5"/>
                  <a:pt x="202" y="0"/>
                  <a:pt x="0" y="0"/>
                </a:cubicBezTo>
              </a:path>
            </a:pathLst>
          </a:custGeom>
          <a:solidFill>
            <a:srgbClr val="0097A9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08" name="Freeform 306">
            <a:extLst>
              <a:ext uri="{FF2B5EF4-FFF2-40B4-BE49-F238E27FC236}">
                <a16:creationId xmlns:a16="http://schemas.microsoft.com/office/drawing/2014/main" id="{7E8EC095-E5D3-471D-B66D-55F01027C177}"/>
              </a:ext>
            </a:extLst>
          </p:cNvPr>
          <p:cNvSpPr>
            <a:spLocks/>
          </p:cNvSpPr>
          <p:nvPr/>
        </p:nvSpPr>
        <p:spPr bwMode="auto">
          <a:xfrm>
            <a:off x="3896408" y="4460700"/>
            <a:ext cx="2588869" cy="1423343"/>
          </a:xfrm>
          <a:custGeom>
            <a:avLst/>
            <a:gdLst>
              <a:gd name="T0" fmla="*/ 1432 w 1432"/>
              <a:gd name="T1" fmla="*/ 0 h 788"/>
              <a:gd name="T2" fmla="*/ 1177 w 1432"/>
              <a:gd name="T3" fmla="*/ 30 h 788"/>
              <a:gd name="T4" fmla="*/ 996 w 1432"/>
              <a:gd name="T5" fmla="*/ 97 h 788"/>
              <a:gd name="T6" fmla="*/ 864 w 1432"/>
              <a:gd name="T7" fmla="*/ 177 h 788"/>
              <a:gd name="T8" fmla="*/ 671 w 1432"/>
              <a:gd name="T9" fmla="*/ 338 h 788"/>
              <a:gd name="T10" fmla="*/ 537 w 1432"/>
              <a:gd name="T11" fmla="*/ 454 h 788"/>
              <a:gd name="T12" fmla="*/ 431 w 1432"/>
              <a:gd name="T13" fmla="*/ 530 h 788"/>
              <a:gd name="T14" fmla="*/ 245 w 1432"/>
              <a:gd name="T15" fmla="*/ 612 h 788"/>
              <a:gd name="T16" fmla="*/ 0 w 1432"/>
              <a:gd name="T17" fmla="*/ 644 h 788"/>
              <a:gd name="T18" fmla="*/ 0 w 1432"/>
              <a:gd name="T19" fmla="*/ 788 h 788"/>
              <a:gd name="T20" fmla="*/ 256 w 1432"/>
              <a:gd name="T21" fmla="*/ 758 h 788"/>
              <a:gd name="T22" fmla="*/ 436 w 1432"/>
              <a:gd name="T23" fmla="*/ 690 h 788"/>
              <a:gd name="T24" fmla="*/ 568 w 1432"/>
              <a:gd name="T25" fmla="*/ 610 h 788"/>
              <a:gd name="T26" fmla="*/ 762 w 1432"/>
              <a:gd name="T27" fmla="*/ 449 h 788"/>
              <a:gd name="T28" fmla="*/ 896 w 1432"/>
              <a:gd name="T29" fmla="*/ 333 h 788"/>
              <a:gd name="T30" fmla="*/ 1002 w 1432"/>
              <a:gd name="T31" fmla="*/ 258 h 788"/>
              <a:gd name="T32" fmla="*/ 1187 w 1432"/>
              <a:gd name="T33" fmla="*/ 175 h 788"/>
              <a:gd name="T34" fmla="*/ 1432 w 1432"/>
              <a:gd name="T35" fmla="*/ 143 h 788"/>
              <a:gd name="T36" fmla="*/ 1432 w 1432"/>
              <a:gd name="T37" fmla="*/ 0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32" h="788">
                <a:moveTo>
                  <a:pt x="1432" y="0"/>
                </a:moveTo>
                <a:cubicBezTo>
                  <a:pt x="1337" y="0"/>
                  <a:pt x="1253" y="10"/>
                  <a:pt x="1177" y="30"/>
                </a:cubicBezTo>
                <a:cubicBezTo>
                  <a:pt x="1110" y="46"/>
                  <a:pt x="1051" y="70"/>
                  <a:pt x="996" y="97"/>
                </a:cubicBezTo>
                <a:cubicBezTo>
                  <a:pt x="948" y="121"/>
                  <a:pt x="905" y="148"/>
                  <a:pt x="864" y="177"/>
                </a:cubicBezTo>
                <a:cubicBezTo>
                  <a:pt x="793" y="228"/>
                  <a:pt x="731" y="284"/>
                  <a:pt x="671" y="338"/>
                </a:cubicBezTo>
                <a:cubicBezTo>
                  <a:pt x="626" y="379"/>
                  <a:pt x="582" y="418"/>
                  <a:pt x="537" y="454"/>
                </a:cubicBezTo>
                <a:cubicBezTo>
                  <a:pt x="503" y="481"/>
                  <a:pt x="468" y="507"/>
                  <a:pt x="431" y="530"/>
                </a:cubicBezTo>
                <a:cubicBezTo>
                  <a:pt x="375" y="564"/>
                  <a:pt x="315" y="592"/>
                  <a:pt x="245" y="612"/>
                </a:cubicBezTo>
                <a:cubicBezTo>
                  <a:pt x="175" y="632"/>
                  <a:pt x="95" y="644"/>
                  <a:pt x="0" y="644"/>
                </a:cubicBezTo>
                <a:cubicBezTo>
                  <a:pt x="0" y="788"/>
                  <a:pt x="0" y="788"/>
                  <a:pt x="0" y="788"/>
                </a:cubicBezTo>
                <a:cubicBezTo>
                  <a:pt x="95" y="788"/>
                  <a:pt x="180" y="777"/>
                  <a:pt x="256" y="758"/>
                </a:cubicBezTo>
                <a:cubicBezTo>
                  <a:pt x="322" y="741"/>
                  <a:pt x="382" y="718"/>
                  <a:pt x="436" y="690"/>
                </a:cubicBezTo>
                <a:cubicBezTo>
                  <a:pt x="484" y="666"/>
                  <a:pt x="528" y="639"/>
                  <a:pt x="568" y="610"/>
                </a:cubicBezTo>
                <a:cubicBezTo>
                  <a:pt x="639" y="559"/>
                  <a:pt x="701" y="503"/>
                  <a:pt x="762" y="449"/>
                </a:cubicBezTo>
                <a:cubicBezTo>
                  <a:pt x="807" y="409"/>
                  <a:pt x="850" y="369"/>
                  <a:pt x="896" y="333"/>
                </a:cubicBezTo>
                <a:cubicBezTo>
                  <a:pt x="930" y="306"/>
                  <a:pt x="965" y="280"/>
                  <a:pt x="1002" y="258"/>
                </a:cubicBezTo>
                <a:cubicBezTo>
                  <a:pt x="1057" y="224"/>
                  <a:pt x="1117" y="195"/>
                  <a:pt x="1187" y="175"/>
                </a:cubicBezTo>
                <a:cubicBezTo>
                  <a:pt x="1257" y="155"/>
                  <a:pt x="1337" y="143"/>
                  <a:pt x="1432" y="143"/>
                </a:cubicBezTo>
                <a:cubicBezTo>
                  <a:pt x="1432" y="0"/>
                  <a:pt x="1432" y="0"/>
                  <a:pt x="1432" y="0"/>
                </a:cubicBezTo>
              </a:path>
            </a:pathLst>
          </a:custGeom>
          <a:solidFill>
            <a:srgbClr val="00ABAB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10" name="Freeform 308">
            <a:extLst>
              <a:ext uri="{FF2B5EF4-FFF2-40B4-BE49-F238E27FC236}">
                <a16:creationId xmlns:a16="http://schemas.microsoft.com/office/drawing/2014/main" id="{545ECE2D-A788-450E-B453-E68D307D9E7F}"/>
              </a:ext>
            </a:extLst>
          </p:cNvPr>
          <p:cNvSpPr>
            <a:spLocks/>
          </p:cNvSpPr>
          <p:nvPr/>
        </p:nvSpPr>
        <p:spPr bwMode="auto">
          <a:xfrm>
            <a:off x="1354504" y="2396294"/>
            <a:ext cx="2357913" cy="2153812"/>
          </a:xfrm>
          <a:custGeom>
            <a:avLst/>
            <a:gdLst>
              <a:gd name="T0" fmla="*/ 0 w 1306"/>
              <a:gd name="T1" fmla="*/ 0 h 1187"/>
              <a:gd name="T2" fmla="*/ 0 w 1306"/>
              <a:gd name="T3" fmla="*/ 0 h 1187"/>
              <a:gd name="T4" fmla="*/ 0 w 1306"/>
              <a:gd name="T5" fmla="*/ 117 h 1187"/>
              <a:gd name="T6" fmla="*/ 0 w 1306"/>
              <a:gd name="T7" fmla="*/ 117 h 1187"/>
              <a:gd name="T8" fmla="*/ 192 w 1306"/>
              <a:gd name="T9" fmla="*/ 158 h 1187"/>
              <a:gd name="T10" fmla="*/ 329 w 1306"/>
              <a:gd name="T11" fmla="*/ 250 h 1187"/>
              <a:gd name="T12" fmla="*/ 434 w 1306"/>
              <a:gd name="T13" fmla="*/ 367 h 1187"/>
              <a:gd name="T14" fmla="*/ 601 w 1306"/>
              <a:gd name="T15" fmla="*/ 620 h 1187"/>
              <a:gd name="T16" fmla="*/ 728 w 1306"/>
              <a:gd name="T17" fmla="*/ 820 h 1187"/>
              <a:gd name="T18" fmla="*/ 836 w 1306"/>
              <a:gd name="T19" fmla="*/ 959 h 1187"/>
              <a:gd name="T20" fmla="*/ 929 w 1306"/>
              <a:gd name="T21" fmla="*/ 1050 h 1187"/>
              <a:gd name="T22" fmla="*/ 1098 w 1306"/>
              <a:gd name="T23" fmla="*/ 1149 h 1187"/>
              <a:gd name="T24" fmla="*/ 1306 w 1306"/>
              <a:gd name="T25" fmla="*/ 1187 h 1187"/>
              <a:gd name="T26" fmla="*/ 1306 w 1306"/>
              <a:gd name="T27" fmla="*/ 1187 h 1187"/>
              <a:gd name="T28" fmla="*/ 1306 w 1306"/>
              <a:gd name="T29" fmla="*/ 1070 h 1187"/>
              <a:gd name="T30" fmla="*/ 1114 w 1306"/>
              <a:gd name="T31" fmla="*/ 1029 h 1187"/>
              <a:gd name="T32" fmla="*/ 977 w 1306"/>
              <a:gd name="T33" fmla="*/ 936 h 1187"/>
              <a:gd name="T34" fmla="*/ 872 w 1306"/>
              <a:gd name="T35" fmla="*/ 820 h 1187"/>
              <a:gd name="T36" fmla="*/ 706 w 1306"/>
              <a:gd name="T37" fmla="*/ 567 h 1187"/>
              <a:gd name="T38" fmla="*/ 578 w 1306"/>
              <a:gd name="T39" fmla="*/ 366 h 1187"/>
              <a:gd name="T40" fmla="*/ 470 w 1306"/>
              <a:gd name="T41" fmla="*/ 227 h 1187"/>
              <a:gd name="T42" fmla="*/ 377 w 1306"/>
              <a:gd name="T43" fmla="*/ 137 h 1187"/>
              <a:gd name="T44" fmla="*/ 208 w 1306"/>
              <a:gd name="T45" fmla="*/ 37 h 1187"/>
              <a:gd name="T46" fmla="*/ 0 w 1306"/>
              <a:gd name="T47" fmla="*/ 0 h 1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306" h="1187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17"/>
                  <a:pt x="0" y="117"/>
                  <a:pt x="0" y="117"/>
                </a:cubicBezTo>
                <a:cubicBezTo>
                  <a:pt x="0" y="117"/>
                  <a:pt x="0" y="117"/>
                  <a:pt x="0" y="117"/>
                </a:cubicBezTo>
                <a:cubicBezTo>
                  <a:pt x="74" y="117"/>
                  <a:pt x="136" y="132"/>
                  <a:pt x="192" y="158"/>
                </a:cubicBezTo>
                <a:cubicBezTo>
                  <a:pt x="242" y="180"/>
                  <a:pt x="287" y="212"/>
                  <a:pt x="329" y="250"/>
                </a:cubicBezTo>
                <a:cubicBezTo>
                  <a:pt x="366" y="284"/>
                  <a:pt x="400" y="324"/>
                  <a:pt x="434" y="367"/>
                </a:cubicBezTo>
                <a:cubicBezTo>
                  <a:pt x="492" y="443"/>
                  <a:pt x="546" y="530"/>
                  <a:pt x="601" y="620"/>
                </a:cubicBezTo>
                <a:cubicBezTo>
                  <a:pt x="642" y="687"/>
                  <a:pt x="683" y="755"/>
                  <a:pt x="728" y="820"/>
                </a:cubicBezTo>
                <a:cubicBezTo>
                  <a:pt x="761" y="869"/>
                  <a:pt x="797" y="916"/>
                  <a:pt x="836" y="959"/>
                </a:cubicBezTo>
                <a:cubicBezTo>
                  <a:pt x="865" y="992"/>
                  <a:pt x="896" y="1022"/>
                  <a:pt x="929" y="1050"/>
                </a:cubicBezTo>
                <a:cubicBezTo>
                  <a:pt x="979" y="1091"/>
                  <a:pt x="1035" y="1125"/>
                  <a:pt x="1098" y="1149"/>
                </a:cubicBezTo>
                <a:cubicBezTo>
                  <a:pt x="1161" y="1173"/>
                  <a:pt x="1230" y="1187"/>
                  <a:pt x="1306" y="1187"/>
                </a:cubicBezTo>
                <a:cubicBezTo>
                  <a:pt x="1306" y="1187"/>
                  <a:pt x="1306" y="1187"/>
                  <a:pt x="1306" y="1187"/>
                </a:cubicBezTo>
                <a:cubicBezTo>
                  <a:pt x="1306" y="1070"/>
                  <a:pt x="1306" y="1070"/>
                  <a:pt x="1306" y="1070"/>
                </a:cubicBezTo>
                <a:cubicBezTo>
                  <a:pt x="1232" y="1069"/>
                  <a:pt x="1170" y="1055"/>
                  <a:pt x="1114" y="1029"/>
                </a:cubicBezTo>
                <a:cubicBezTo>
                  <a:pt x="1064" y="1006"/>
                  <a:pt x="1020" y="975"/>
                  <a:pt x="977" y="936"/>
                </a:cubicBezTo>
                <a:cubicBezTo>
                  <a:pt x="940" y="902"/>
                  <a:pt x="906" y="863"/>
                  <a:pt x="872" y="820"/>
                </a:cubicBezTo>
                <a:cubicBezTo>
                  <a:pt x="814" y="744"/>
                  <a:pt x="760" y="656"/>
                  <a:pt x="706" y="567"/>
                </a:cubicBezTo>
                <a:cubicBezTo>
                  <a:pt x="665" y="500"/>
                  <a:pt x="623" y="431"/>
                  <a:pt x="578" y="366"/>
                </a:cubicBezTo>
                <a:cubicBezTo>
                  <a:pt x="545" y="318"/>
                  <a:pt x="509" y="271"/>
                  <a:pt x="470" y="227"/>
                </a:cubicBezTo>
                <a:cubicBezTo>
                  <a:pt x="441" y="195"/>
                  <a:pt x="410" y="164"/>
                  <a:pt x="377" y="137"/>
                </a:cubicBezTo>
                <a:cubicBezTo>
                  <a:pt x="327" y="96"/>
                  <a:pt x="271" y="61"/>
                  <a:pt x="208" y="37"/>
                </a:cubicBezTo>
                <a:cubicBezTo>
                  <a:pt x="146" y="13"/>
                  <a:pt x="76" y="0"/>
                  <a:pt x="0" y="0"/>
                </a:cubicBezTo>
              </a:path>
            </a:pathLst>
          </a:custGeom>
          <a:solidFill>
            <a:srgbClr val="2C523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11" name="Freeform 309">
            <a:extLst>
              <a:ext uri="{FF2B5EF4-FFF2-40B4-BE49-F238E27FC236}">
                <a16:creationId xmlns:a16="http://schemas.microsoft.com/office/drawing/2014/main" id="{CCEFE910-416D-40CC-BB30-FC7F79245B20}"/>
              </a:ext>
            </a:extLst>
          </p:cNvPr>
          <p:cNvSpPr>
            <a:spLocks/>
          </p:cNvSpPr>
          <p:nvPr/>
        </p:nvSpPr>
        <p:spPr bwMode="auto">
          <a:xfrm>
            <a:off x="1354504" y="2074028"/>
            <a:ext cx="2357913" cy="671389"/>
          </a:xfrm>
          <a:custGeom>
            <a:avLst/>
            <a:gdLst>
              <a:gd name="T0" fmla="*/ 0 w 1303"/>
              <a:gd name="T1" fmla="*/ 0 h 371"/>
              <a:gd name="T2" fmla="*/ 0 w 1303"/>
              <a:gd name="T3" fmla="*/ 0 h 371"/>
              <a:gd name="T4" fmla="*/ 0 w 1303"/>
              <a:gd name="T5" fmla="*/ 108 h 371"/>
              <a:gd name="T6" fmla="*/ 210 w 1303"/>
              <a:gd name="T7" fmla="*/ 119 h 371"/>
              <a:gd name="T8" fmla="*/ 477 w 1303"/>
              <a:gd name="T9" fmla="*/ 177 h 371"/>
              <a:gd name="T10" fmla="*/ 639 w 1303"/>
              <a:gd name="T11" fmla="*/ 239 h 371"/>
              <a:gd name="T12" fmla="*/ 765 w 1303"/>
              <a:gd name="T13" fmla="*/ 287 h 371"/>
              <a:gd name="T14" fmla="*/ 992 w 1303"/>
              <a:gd name="T15" fmla="*/ 347 h 371"/>
              <a:gd name="T16" fmla="*/ 1303 w 1303"/>
              <a:gd name="T17" fmla="*/ 371 h 371"/>
              <a:gd name="T18" fmla="*/ 1303 w 1303"/>
              <a:gd name="T19" fmla="*/ 371 h 371"/>
              <a:gd name="T20" fmla="*/ 1303 w 1303"/>
              <a:gd name="T21" fmla="*/ 263 h 371"/>
              <a:gd name="T22" fmla="*/ 1093 w 1303"/>
              <a:gd name="T23" fmla="*/ 252 h 371"/>
              <a:gd name="T24" fmla="*/ 826 w 1303"/>
              <a:gd name="T25" fmla="*/ 194 h 371"/>
              <a:gd name="T26" fmla="*/ 664 w 1303"/>
              <a:gd name="T27" fmla="*/ 132 h 371"/>
              <a:gd name="T28" fmla="*/ 539 w 1303"/>
              <a:gd name="T29" fmla="*/ 84 h 371"/>
              <a:gd name="T30" fmla="*/ 312 w 1303"/>
              <a:gd name="T31" fmla="*/ 24 h 371"/>
              <a:gd name="T32" fmla="*/ 0 w 1303"/>
              <a:gd name="T33" fmla="*/ 0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03" h="371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08"/>
                  <a:pt x="0" y="108"/>
                  <a:pt x="0" y="108"/>
                </a:cubicBezTo>
                <a:cubicBezTo>
                  <a:pt x="80" y="108"/>
                  <a:pt x="149" y="112"/>
                  <a:pt x="210" y="119"/>
                </a:cubicBezTo>
                <a:cubicBezTo>
                  <a:pt x="318" y="131"/>
                  <a:pt x="402" y="152"/>
                  <a:pt x="477" y="177"/>
                </a:cubicBezTo>
                <a:cubicBezTo>
                  <a:pt x="533" y="196"/>
                  <a:pt x="585" y="217"/>
                  <a:pt x="639" y="239"/>
                </a:cubicBezTo>
                <a:cubicBezTo>
                  <a:pt x="679" y="255"/>
                  <a:pt x="720" y="272"/>
                  <a:pt x="765" y="287"/>
                </a:cubicBezTo>
                <a:cubicBezTo>
                  <a:pt x="831" y="311"/>
                  <a:pt x="904" y="332"/>
                  <a:pt x="992" y="347"/>
                </a:cubicBezTo>
                <a:cubicBezTo>
                  <a:pt x="1079" y="362"/>
                  <a:pt x="1180" y="371"/>
                  <a:pt x="1303" y="371"/>
                </a:cubicBezTo>
                <a:cubicBezTo>
                  <a:pt x="1303" y="371"/>
                  <a:pt x="1303" y="371"/>
                  <a:pt x="1303" y="371"/>
                </a:cubicBezTo>
                <a:cubicBezTo>
                  <a:pt x="1303" y="263"/>
                  <a:pt x="1303" y="263"/>
                  <a:pt x="1303" y="263"/>
                </a:cubicBezTo>
                <a:cubicBezTo>
                  <a:pt x="1224" y="263"/>
                  <a:pt x="1155" y="259"/>
                  <a:pt x="1093" y="252"/>
                </a:cubicBezTo>
                <a:cubicBezTo>
                  <a:pt x="986" y="240"/>
                  <a:pt x="902" y="219"/>
                  <a:pt x="826" y="194"/>
                </a:cubicBezTo>
                <a:cubicBezTo>
                  <a:pt x="770" y="175"/>
                  <a:pt x="718" y="154"/>
                  <a:pt x="664" y="132"/>
                </a:cubicBezTo>
                <a:cubicBezTo>
                  <a:pt x="624" y="116"/>
                  <a:pt x="583" y="100"/>
                  <a:pt x="539" y="84"/>
                </a:cubicBezTo>
                <a:cubicBezTo>
                  <a:pt x="472" y="61"/>
                  <a:pt x="399" y="40"/>
                  <a:pt x="312" y="24"/>
                </a:cubicBezTo>
                <a:cubicBezTo>
                  <a:pt x="224" y="9"/>
                  <a:pt x="123" y="0"/>
                  <a:pt x="0" y="0"/>
                </a:cubicBezTo>
              </a:path>
            </a:pathLst>
          </a:custGeom>
          <a:solidFill>
            <a:srgbClr val="2C523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12" name="Freeform 310">
            <a:extLst>
              <a:ext uri="{FF2B5EF4-FFF2-40B4-BE49-F238E27FC236}">
                <a16:creationId xmlns:a16="http://schemas.microsoft.com/office/drawing/2014/main" id="{CA503D0D-D1B7-4D05-A783-830B87D4A662}"/>
              </a:ext>
            </a:extLst>
          </p:cNvPr>
          <p:cNvSpPr>
            <a:spLocks/>
          </p:cNvSpPr>
          <p:nvPr/>
        </p:nvSpPr>
        <p:spPr bwMode="auto">
          <a:xfrm>
            <a:off x="3901777" y="3497371"/>
            <a:ext cx="2583499" cy="1622071"/>
          </a:xfrm>
          <a:custGeom>
            <a:avLst/>
            <a:gdLst>
              <a:gd name="T0" fmla="*/ 0 w 1429"/>
              <a:gd name="T1" fmla="*/ 0 h 894"/>
              <a:gd name="T2" fmla="*/ 0 w 1429"/>
              <a:gd name="T3" fmla="*/ 0 h 894"/>
              <a:gd name="T4" fmla="*/ 0 w 1429"/>
              <a:gd name="T5" fmla="*/ 100 h 894"/>
              <a:gd name="T6" fmla="*/ 222 w 1429"/>
              <a:gd name="T7" fmla="*/ 132 h 894"/>
              <a:gd name="T8" fmla="*/ 377 w 1429"/>
              <a:gd name="T9" fmla="*/ 203 h 894"/>
              <a:gd name="T10" fmla="*/ 492 w 1429"/>
              <a:gd name="T11" fmla="*/ 290 h 894"/>
              <a:gd name="T12" fmla="*/ 675 w 1429"/>
              <a:gd name="T13" fmla="*/ 478 h 894"/>
              <a:gd name="T14" fmla="*/ 814 w 1429"/>
              <a:gd name="T15" fmla="*/ 627 h 894"/>
              <a:gd name="T16" fmla="*/ 932 w 1429"/>
              <a:gd name="T17" fmla="*/ 730 h 894"/>
              <a:gd name="T18" fmla="*/ 1148 w 1429"/>
              <a:gd name="T19" fmla="*/ 848 h 894"/>
              <a:gd name="T20" fmla="*/ 1429 w 1429"/>
              <a:gd name="T21" fmla="*/ 894 h 894"/>
              <a:gd name="T22" fmla="*/ 1429 w 1429"/>
              <a:gd name="T23" fmla="*/ 894 h 894"/>
              <a:gd name="T24" fmla="*/ 1429 w 1429"/>
              <a:gd name="T25" fmla="*/ 795 h 894"/>
              <a:gd name="T26" fmla="*/ 1207 w 1429"/>
              <a:gd name="T27" fmla="*/ 763 h 894"/>
              <a:gd name="T28" fmla="*/ 1052 w 1429"/>
              <a:gd name="T29" fmla="*/ 692 h 894"/>
              <a:gd name="T30" fmla="*/ 937 w 1429"/>
              <a:gd name="T31" fmla="*/ 605 h 894"/>
              <a:gd name="T32" fmla="*/ 754 w 1429"/>
              <a:gd name="T33" fmla="*/ 417 h 894"/>
              <a:gd name="T34" fmla="*/ 615 w 1429"/>
              <a:gd name="T35" fmla="*/ 268 h 894"/>
              <a:gd name="T36" fmla="*/ 497 w 1429"/>
              <a:gd name="T37" fmla="*/ 165 h 894"/>
              <a:gd name="T38" fmla="*/ 281 w 1429"/>
              <a:gd name="T39" fmla="*/ 46 h 894"/>
              <a:gd name="T40" fmla="*/ 0 w 1429"/>
              <a:gd name="T41" fmla="*/ 0 h 8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29" h="894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00"/>
                  <a:pt x="0" y="100"/>
                  <a:pt x="0" y="100"/>
                </a:cubicBezTo>
                <a:cubicBezTo>
                  <a:pt x="85" y="100"/>
                  <a:pt x="158" y="112"/>
                  <a:pt x="222" y="132"/>
                </a:cubicBezTo>
                <a:cubicBezTo>
                  <a:pt x="279" y="150"/>
                  <a:pt x="330" y="174"/>
                  <a:pt x="377" y="203"/>
                </a:cubicBezTo>
                <a:cubicBezTo>
                  <a:pt x="418" y="229"/>
                  <a:pt x="456" y="258"/>
                  <a:pt x="492" y="290"/>
                </a:cubicBezTo>
                <a:cubicBezTo>
                  <a:pt x="556" y="346"/>
                  <a:pt x="615" y="411"/>
                  <a:pt x="675" y="478"/>
                </a:cubicBezTo>
                <a:cubicBezTo>
                  <a:pt x="720" y="528"/>
                  <a:pt x="765" y="578"/>
                  <a:pt x="814" y="627"/>
                </a:cubicBezTo>
                <a:cubicBezTo>
                  <a:pt x="851" y="663"/>
                  <a:pt x="890" y="698"/>
                  <a:pt x="932" y="730"/>
                </a:cubicBezTo>
                <a:cubicBezTo>
                  <a:pt x="995" y="778"/>
                  <a:pt x="1066" y="819"/>
                  <a:pt x="1148" y="848"/>
                </a:cubicBezTo>
                <a:cubicBezTo>
                  <a:pt x="1230" y="878"/>
                  <a:pt x="1323" y="894"/>
                  <a:pt x="1429" y="894"/>
                </a:cubicBezTo>
                <a:cubicBezTo>
                  <a:pt x="1429" y="894"/>
                  <a:pt x="1429" y="894"/>
                  <a:pt x="1429" y="894"/>
                </a:cubicBezTo>
                <a:cubicBezTo>
                  <a:pt x="1429" y="795"/>
                  <a:pt x="1429" y="795"/>
                  <a:pt x="1429" y="795"/>
                </a:cubicBezTo>
                <a:cubicBezTo>
                  <a:pt x="1344" y="795"/>
                  <a:pt x="1271" y="783"/>
                  <a:pt x="1207" y="763"/>
                </a:cubicBezTo>
                <a:cubicBezTo>
                  <a:pt x="1150" y="745"/>
                  <a:pt x="1099" y="721"/>
                  <a:pt x="1052" y="692"/>
                </a:cubicBezTo>
                <a:cubicBezTo>
                  <a:pt x="1011" y="666"/>
                  <a:pt x="973" y="637"/>
                  <a:pt x="937" y="605"/>
                </a:cubicBezTo>
                <a:cubicBezTo>
                  <a:pt x="873" y="548"/>
                  <a:pt x="814" y="483"/>
                  <a:pt x="754" y="417"/>
                </a:cubicBezTo>
                <a:cubicBezTo>
                  <a:pt x="709" y="367"/>
                  <a:pt x="664" y="316"/>
                  <a:pt x="615" y="268"/>
                </a:cubicBezTo>
                <a:cubicBezTo>
                  <a:pt x="578" y="232"/>
                  <a:pt x="539" y="197"/>
                  <a:pt x="497" y="165"/>
                </a:cubicBezTo>
                <a:cubicBezTo>
                  <a:pt x="434" y="117"/>
                  <a:pt x="363" y="75"/>
                  <a:pt x="281" y="46"/>
                </a:cubicBezTo>
                <a:cubicBezTo>
                  <a:pt x="199" y="17"/>
                  <a:pt x="106" y="0"/>
                  <a:pt x="0" y="0"/>
                </a:cubicBezTo>
              </a:path>
            </a:pathLst>
          </a:custGeom>
          <a:solidFill>
            <a:srgbClr val="6FC2B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13" name="Freeform 311">
            <a:extLst>
              <a:ext uri="{FF2B5EF4-FFF2-40B4-BE49-F238E27FC236}">
                <a16:creationId xmlns:a16="http://schemas.microsoft.com/office/drawing/2014/main" id="{B75A8963-32C9-44B7-A7FB-0D20C63854F5}"/>
              </a:ext>
            </a:extLst>
          </p:cNvPr>
          <p:cNvSpPr>
            <a:spLocks/>
          </p:cNvSpPr>
          <p:nvPr/>
        </p:nvSpPr>
        <p:spPr bwMode="auto">
          <a:xfrm>
            <a:off x="1354504" y="2390924"/>
            <a:ext cx="2363283" cy="1213868"/>
          </a:xfrm>
          <a:custGeom>
            <a:avLst/>
            <a:gdLst>
              <a:gd name="T0" fmla="*/ 1304 w 1304"/>
              <a:gd name="T1" fmla="*/ 0 h 670"/>
              <a:gd name="T2" fmla="*/ 1077 w 1304"/>
              <a:gd name="T3" fmla="*/ 26 h 670"/>
              <a:gd name="T4" fmla="*/ 917 w 1304"/>
              <a:gd name="T5" fmla="*/ 86 h 670"/>
              <a:gd name="T6" fmla="*/ 697 w 1304"/>
              <a:gd name="T7" fmla="*/ 238 h 670"/>
              <a:gd name="T8" fmla="*/ 556 w 1304"/>
              <a:gd name="T9" fmla="*/ 363 h 670"/>
              <a:gd name="T10" fmla="*/ 447 w 1304"/>
              <a:gd name="T11" fmla="*/ 448 h 670"/>
              <a:gd name="T12" fmla="*/ 257 w 1304"/>
              <a:gd name="T13" fmla="*/ 545 h 670"/>
              <a:gd name="T14" fmla="*/ 0 w 1304"/>
              <a:gd name="T15" fmla="*/ 583 h 670"/>
              <a:gd name="T16" fmla="*/ 0 w 1304"/>
              <a:gd name="T17" fmla="*/ 670 h 670"/>
              <a:gd name="T18" fmla="*/ 227 w 1304"/>
              <a:gd name="T19" fmla="*/ 643 h 670"/>
              <a:gd name="T20" fmla="*/ 387 w 1304"/>
              <a:gd name="T21" fmla="*/ 584 h 670"/>
              <a:gd name="T22" fmla="*/ 607 w 1304"/>
              <a:gd name="T23" fmla="*/ 432 h 670"/>
              <a:gd name="T24" fmla="*/ 748 w 1304"/>
              <a:gd name="T25" fmla="*/ 307 h 670"/>
              <a:gd name="T26" fmla="*/ 857 w 1304"/>
              <a:gd name="T27" fmla="*/ 222 h 670"/>
              <a:gd name="T28" fmla="*/ 1047 w 1304"/>
              <a:gd name="T29" fmla="*/ 125 h 670"/>
              <a:gd name="T30" fmla="*/ 1304 w 1304"/>
              <a:gd name="T31" fmla="*/ 86 h 670"/>
              <a:gd name="T32" fmla="*/ 1304 w 1304"/>
              <a:gd name="T33" fmla="*/ 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04" h="670">
                <a:moveTo>
                  <a:pt x="1304" y="0"/>
                </a:moveTo>
                <a:cubicBezTo>
                  <a:pt x="1219" y="0"/>
                  <a:pt x="1144" y="10"/>
                  <a:pt x="1077" y="26"/>
                </a:cubicBezTo>
                <a:cubicBezTo>
                  <a:pt x="1018" y="41"/>
                  <a:pt x="965" y="62"/>
                  <a:pt x="917" y="86"/>
                </a:cubicBezTo>
                <a:cubicBezTo>
                  <a:pt x="832" y="128"/>
                  <a:pt x="762" y="182"/>
                  <a:pt x="697" y="238"/>
                </a:cubicBezTo>
                <a:cubicBezTo>
                  <a:pt x="648" y="279"/>
                  <a:pt x="603" y="322"/>
                  <a:pt x="556" y="363"/>
                </a:cubicBezTo>
                <a:cubicBezTo>
                  <a:pt x="521" y="393"/>
                  <a:pt x="485" y="422"/>
                  <a:pt x="447" y="448"/>
                </a:cubicBezTo>
                <a:cubicBezTo>
                  <a:pt x="391" y="487"/>
                  <a:pt x="329" y="521"/>
                  <a:pt x="257" y="545"/>
                </a:cubicBezTo>
                <a:cubicBezTo>
                  <a:pt x="185" y="569"/>
                  <a:pt x="101" y="583"/>
                  <a:pt x="0" y="583"/>
                </a:cubicBezTo>
                <a:cubicBezTo>
                  <a:pt x="0" y="670"/>
                  <a:pt x="0" y="670"/>
                  <a:pt x="0" y="670"/>
                </a:cubicBezTo>
                <a:cubicBezTo>
                  <a:pt x="85" y="670"/>
                  <a:pt x="160" y="660"/>
                  <a:pt x="227" y="643"/>
                </a:cubicBezTo>
                <a:cubicBezTo>
                  <a:pt x="286" y="628"/>
                  <a:pt x="339" y="608"/>
                  <a:pt x="387" y="584"/>
                </a:cubicBezTo>
                <a:cubicBezTo>
                  <a:pt x="472" y="541"/>
                  <a:pt x="542" y="488"/>
                  <a:pt x="607" y="432"/>
                </a:cubicBezTo>
                <a:cubicBezTo>
                  <a:pt x="656" y="390"/>
                  <a:pt x="702" y="347"/>
                  <a:pt x="748" y="307"/>
                </a:cubicBezTo>
                <a:cubicBezTo>
                  <a:pt x="783" y="277"/>
                  <a:pt x="819" y="248"/>
                  <a:pt x="857" y="222"/>
                </a:cubicBezTo>
                <a:cubicBezTo>
                  <a:pt x="914" y="182"/>
                  <a:pt x="975" y="149"/>
                  <a:pt x="1047" y="125"/>
                </a:cubicBezTo>
                <a:cubicBezTo>
                  <a:pt x="1119" y="101"/>
                  <a:pt x="1203" y="86"/>
                  <a:pt x="1304" y="86"/>
                </a:cubicBezTo>
                <a:cubicBezTo>
                  <a:pt x="1304" y="0"/>
                  <a:pt x="1304" y="0"/>
                  <a:pt x="1304" y="0"/>
                </a:cubicBezTo>
              </a:path>
            </a:pathLst>
          </a:custGeom>
          <a:solidFill>
            <a:srgbClr val="43B02A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 dirty="0"/>
          </a:p>
        </p:txBody>
      </p:sp>
      <p:sp>
        <p:nvSpPr>
          <p:cNvPr id="315" name="Freeform 313">
            <a:extLst>
              <a:ext uri="{FF2B5EF4-FFF2-40B4-BE49-F238E27FC236}">
                <a16:creationId xmlns:a16="http://schemas.microsoft.com/office/drawing/2014/main" id="{8E7E5DEF-BD34-4C96-8BA6-0D471D5C891D}"/>
              </a:ext>
            </a:extLst>
          </p:cNvPr>
          <p:cNvSpPr>
            <a:spLocks/>
          </p:cNvSpPr>
          <p:nvPr/>
        </p:nvSpPr>
        <p:spPr bwMode="auto">
          <a:xfrm>
            <a:off x="1354504" y="2267388"/>
            <a:ext cx="2363283" cy="1584475"/>
          </a:xfrm>
          <a:custGeom>
            <a:avLst/>
            <a:gdLst>
              <a:gd name="T0" fmla="*/ 0 w 1307"/>
              <a:gd name="T1" fmla="*/ 0 h 873"/>
              <a:gd name="T2" fmla="*/ 0 w 1307"/>
              <a:gd name="T3" fmla="*/ 0 h 873"/>
              <a:gd name="T4" fmla="*/ 0 w 1307"/>
              <a:gd name="T5" fmla="*/ 72 h 873"/>
              <a:gd name="T6" fmla="*/ 205 w 1307"/>
              <a:gd name="T7" fmla="*/ 104 h 873"/>
              <a:gd name="T8" fmla="*/ 348 w 1307"/>
              <a:gd name="T9" fmla="*/ 177 h 873"/>
              <a:gd name="T10" fmla="*/ 553 w 1307"/>
              <a:gd name="T11" fmla="*/ 371 h 873"/>
              <a:gd name="T12" fmla="*/ 695 w 1307"/>
              <a:gd name="T13" fmla="*/ 542 h 873"/>
              <a:gd name="T14" fmla="*/ 810 w 1307"/>
              <a:gd name="T15" fmla="*/ 666 h 873"/>
              <a:gd name="T16" fmla="*/ 1021 w 1307"/>
              <a:gd name="T17" fmla="*/ 814 h 873"/>
              <a:gd name="T18" fmla="*/ 1307 w 1307"/>
              <a:gd name="T19" fmla="*/ 873 h 873"/>
              <a:gd name="T20" fmla="*/ 1307 w 1307"/>
              <a:gd name="T21" fmla="*/ 873 h 873"/>
              <a:gd name="T22" fmla="*/ 1307 w 1307"/>
              <a:gd name="T23" fmla="*/ 801 h 873"/>
              <a:gd name="T24" fmla="*/ 1102 w 1307"/>
              <a:gd name="T25" fmla="*/ 769 h 873"/>
              <a:gd name="T26" fmla="*/ 959 w 1307"/>
              <a:gd name="T27" fmla="*/ 696 h 873"/>
              <a:gd name="T28" fmla="*/ 754 w 1307"/>
              <a:gd name="T29" fmla="*/ 502 h 873"/>
              <a:gd name="T30" fmla="*/ 612 w 1307"/>
              <a:gd name="T31" fmla="*/ 331 h 873"/>
              <a:gd name="T32" fmla="*/ 497 w 1307"/>
              <a:gd name="T33" fmla="*/ 207 h 873"/>
              <a:gd name="T34" fmla="*/ 286 w 1307"/>
              <a:gd name="T35" fmla="*/ 59 h 873"/>
              <a:gd name="T36" fmla="*/ 0 w 1307"/>
              <a:gd name="T37" fmla="*/ 0 h 8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307" h="873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2"/>
                  <a:pt x="0" y="72"/>
                  <a:pt x="0" y="72"/>
                </a:cubicBezTo>
                <a:cubicBezTo>
                  <a:pt x="78" y="72"/>
                  <a:pt x="145" y="84"/>
                  <a:pt x="205" y="104"/>
                </a:cubicBezTo>
                <a:cubicBezTo>
                  <a:pt x="258" y="122"/>
                  <a:pt x="305" y="147"/>
                  <a:pt x="348" y="177"/>
                </a:cubicBezTo>
                <a:cubicBezTo>
                  <a:pt x="425" y="229"/>
                  <a:pt x="490" y="297"/>
                  <a:pt x="553" y="371"/>
                </a:cubicBezTo>
                <a:cubicBezTo>
                  <a:pt x="600" y="427"/>
                  <a:pt x="646" y="485"/>
                  <a:pt x="695" y="542"/>
                </a:cubicBezTo>
                <a:cubicBezTo>
                  <a:pt x="731" y="585"/>
                  <a:pt x="769" y="627"/>
                  <a:pt x="810" y="666"/>
                </a:cubicBezTo>
                <a:cubicBezTo>
                  <a:pt x="871" y="725"/>
                  <a:pt x="940" y="776"/>
                  <a:pt x="1021" y="814"/>
                </a:cubicBezTo>
                <a:cubicBezTo>
                  <a:pt x="1103" y="851"/>
                  <a:pt x="1197" y="873"/>
                  <a:pt x="1307" y="873"/>
                </a:cubicBezTo>
                <a:cubicBezTo>
                  <a:pt x="1307" y="873"/>
                  <a:pt x="1307" y="873"/>
                  <a:pt x="1307" y="873"/>
                </a:cubicBezTo>
                <a:cubicBezTo>
                  <a:pt x="1307" y="801"/>
                  <a:pt x="1307" y="801"/>
                  <a:pt x="1307" y="801"/>
                </a:cubicBezTo>
                <a:cubicBezTo>
                  <a:pt x="1229" y="801"/>
                  <a:pt x="1162" y="789"/>
                  <a:pt x="1102" y="769"/>
                </a:cubicBezTo>
                <a:cubicBezTo>
                  <a:pt x="1049" y="751"/>
                  <a:pt x="1002" y="726"/>
                  <a:pt x="959" y="696"/>
                </a:cubicBezTo>
                <a:cubicBezTo>
                  <a:pt x="883" y="644"/>
                  <a:pt x="817" y="576"/>
                  <a:pt x="754" y="502"/>
                </a:cubicBezTo>
                <a:cubicBezTo>
                  <a:pt x="707" y="446"/>
                  <a:pt x="661" y="388"/>
                  <a:pt x="612" y="331"/>
                </a:cubicBezTo>
                <a:cubicBezTo>
                  <a:pt x="576" y="288"/>
                  <a:pt x="538" y="246"/>
                  <a:pt x="497" y="207"/>
                </a:cubicBezTo>
                <a:cubicBezTo>
                  <a:pt x="436" y="148"/>
                  <a:pt x="367" y="96"/>
                  <a:pt x="286" y="59"/>
                </a:cubicBezTo>
                <a:cubicBezTo>
                  <a:pt x="204" y="22"/>
                  <a:pt x="110" y="0"/>
                  <a:pt x="0" y="0"/>
                </a:cubicBezTo>
              </a:path>
            </a:pathLst>
          </a:custGeom>
          <a:solidFill>
            <a:srgbClr val="2C523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16" name="Freeform 314">
            <a:extLst>
              <a:ext uri="{FF2B5EF4-FFF2-40B4-BE49-F238E27FC236}">
                <a16:creationId xmlns:a16="http://schemas.microsoft.com/office/drawing/2014/main" id="{22F4345B-2309-4302-906A-E96CB7712BBF}"/>
              </a:ext>
            </a:extLst>
          </p:cNvPr>
          <p:cNvSpPr>
            <a:spLocks/>
          </p:cNvSpPr>
          <p:nvPr/>
        </p:nvSpPr>
        <p:spPr bwMode="auto">
          <a:xfrm>
            <a:off x="3896408" y="2080124"/>
            <a:ext cx="2588869" cy="392092"/>
          </a:xfrm>
          <a:custGeom>
            <a:avLst/>
            <a:gdLst>
              <a:gd name="T0" fmla="*/ 1430 w 1430"/>
              <a:gd name="T1" fmla="*/ 0 h 218"/>
              <a:gd name="T2" fmla="*/ 1001 w 1430"/>
              <a:gd name="T3" fmla="*/ 24 h 218"/>
              <a:gd name="T4" fmla="*/ 776 w 1430"/>
              <a:gd name="T5" fmla="*/ 62 h 218"/>
              <a:gd name="T6" fmla="*/ 624 w 1430"/>
              <a:gd name="T7" fmla="*/ 94 h 218"/>
              <a:gd name="T8" fmla="*/ 367 w 1430"/>
              <a:gd name="T9" fmla="*/ 134 h 218"/>
              <a:gd name="T10" fmla="*/ 0 w 1430"/>
              <a:gd name="T11" fmla="*/ 151 h 218"/>
              <a:gd name="T12" fmla="*/ 0 w 1430"/>
              <a:gd name="T13" fmla="*/ 218 h 218"/>
              <a:gd name="T14" fmla="*/ 429 w 1430"/>
              <a:gd name="T15" fmla="*/ 194 h 218"/>
              <a:gd name="T16" fmla="*/ 654 w 1430"/>
              <a:gd name="T17" fmla="*/ 156 h 218"/>
              <a:gd name="T18" fmla="*/ 806 w 1430"/>
              <a:gd name="T19" fmla="*/ 124 h 218"/>
              <a:gd name="T20" fmla="*/ 1063 w 1430"/>
              <a:gd name="T21" fmla="*/ 84 h 218"/>
              <a:gd name="T22" fmla="*/ 1430 w 1430"/>
              <a:gd name="T23" fmla="*/ 67 h 218"/>
              <a:gd name="T24" fmla="*/ 1430 w 1430"/>
              <a:gd name="T25" fmla="*/ 0 h 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30" h="218">
                <a:moveTo>
                  <a:pt x="1430" y="0"/>
                </a:moveTo>
                <a:cubicBezTo>
                  <a:pt x="1250" y="0"/>
                  <a:pt x="1115" y="10"/>
                  <a:pt x="1001" y="24"/>
                </a:cubicBezTo>
                <a:cubicBezTo>
                  <a:pt x="916" y="35"/>
                  <a:pt x="844" y="48"/>
                  <a:pt x="776" y="62"/>
                </a:cubicBezTo>
                <a:cubicBezTo>
                  <a:pt x="724" y="73"/>
                  <a:pt x="675" y="84"/>
                  <a:pt x="624" y="94"/>
                </a:cubicBezTo>
                <a:cubicBezTo>
                  <a:pt x="547" y="109"/>
                  <a:pt x="466" y="124"/>
                  <a:pt x="367" y="134"/>
                </a:cubicBezTo>
                <a:cubicBezTo>
                  <a:pt x="267" y="145"/>
                  <a:pt x="149" y="151"/>
                  <a:pt x="0" y="151"/>
                </a:cubicBezTo>
                <a:cubicBezTo>
                  <a:pt x="0" y="218"/>
                  <a:pt x="0" y="218"/>
                  <a:pt x="0" y="218"/>
                </a:cubicBezTo>
                <a:cubicBezTo>
                  <a:pt x="180" y="218"/>
                  <a:pt x="315" y="209"/>
                  <a:pt x="429" y="194"/>
                </a:cubicBezTo>
                <a:cubicBezTo>
                  <a:pt x="513" y="184"/>
                  <a:pt x="586" y="170"/>
                  <a:pt x="654" y="156"/>
                </a:cubicBezTo>
                <a:cubicBezTo>
                  <a:pt x="706" y="146"/>
                  <a:pt x="755" y="135"/>
                  <a:pt x="806" y="124"/>
                </a:cubicBezTo>
                <a:cubicBezTo>
                  <a:pt x="883" y="109"/>
                  <a:pt x="964" y="95"/>
                  <a:pt x="1063" y="84"/>
                </a:cubicBezTo>
                <a:cubicBezTo>
                  <a:pt x="1163" y="74"/>
                  <a:pt x="1280" y="67"/>
                  <a:pt x="1430" y="67"/>
                </a:cubicBezTo>
                <a:cubicBezTo>
                  <a:pt x="1430" y="0"/>
                  <a:pt x="1430" y="0"/>
                  <a:pt x="1430" y="0"/>
                </a:cubicBezTo>
              </a:path>
            </a:pathLst>
          </a:custGeom>
          <a:solidFill>
            <a:srgbClr val="004F59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17" name="Freeform 315">
            <a:extLst>
              <a:ext uri="{FF2B5EF4-FFF2-40B4-BE49-F238E27FC236}">
                <a16:creationId xmlns:a16="http://schemas.microsoft.com/office/drawing/2014/main" id="{C6AED0FC-2E68-46B2-BAC7-218F102F2C45}"/>
              </a:ext>
            </a:extLst>
          </p:cNvPr>
          <p:cNvSpPr>
            <a:spLocks/>
          </p:cNvSpPr>
          <p:nvPr/>
        </p:nvSpPr>
        <p:spPr bwMode="auto">
          <a:xfrm>
            <a:off x="1354504" y="3604792"/>
            <a:ext cx="2363283" cy="118164"/>
          </a:xfrm>
          <a:custGeom>
            <a:avLst/>
            <a:gdLst>
              <a:gd name="T0" fmla="*/ 440 w 440"/>
              <a:gd name="T1" fmla="*/ 0 h 22"/>
              <a:gd name="T2" fmla="*/ 0 w 440"/>
              <a:gd name="T3" fmla="*/ 1 h 22"/>
              <a:gd name="T4" fmla="*/ 0 w 440"/>
              <a:gd name="T5" fmla="*/ 22 h 22"/>
              <a:gd name="T6" fmla="*/ 440 w 440"/>
              <a:gd name="T7" fmla="*/ 21 h 22"/>
              <a:gd name="T8" fmla="*/ 440 w 440"/>
              <a:gd name="T9" fmla="*/ 0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0" h="22">
                <a:moveTo>
                  <a:pt x="440" y="0"/>
                </a:moveTo>
                <a:lnTo>
                  <a:pt x="0" y="1"/>
                </a:lnTo>
                <a:lnTo>
                  <a:pt x="0" y="22"/>
                </a:lnTo>
                <a:lnTo>
                  <a:pt x="440" y="21"/>
                </a:lnTo>
                <a:lnTo>
                  <a:pt x="440" y="0"/>
                </a:lnTo>
                <a:close/>
              </a:path>
            </a:pathLst>
          </a:custGeom>
          <a:solidFill>
            <a:srgbClr val="43B02A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1" name="Freeform 319">
            <a:extLst>
              <a:ext uri="{FF2B5EF4-FFF2-40B4-BE49-F238E27FC236}">
                <a16:creationId xmlns:a16="http://schemas.microsoft.com/office/drawing/2014/main" id="{493BB9AB-BBB9-485E-BD00-58F43A63A846}"/>
              </a:ext>
            </a:extLst>
          </p:cNvPr>
          <p:cNvSpPr>
            <a:spLocks/>
          </p:cNvSpPr>
          <p:nvPr/>
        </p:nvSpPr>
        <p:spPr bwMode="auto">
          <a:xfrm>
            <a:off x="3896408" y="2911919"/>
            <a:ext cx="2588869" cy="1546876"/>
          </a:xfrm>
          <a:custGeom>
            <a:avLst/>
            <a:gdLst>
              <a:gd name="T0" fmla="*/ 0 w 1431"/>
              <a:gd name="T1" fmla="*/ 0 h 853"/>
              <a:gd name="T2" fmla="*/ 0 w 1431"/>
              <a:gd name="T3" fmla="*/ 0 h 853"/>
              <a:gd name="T4" fmla="*/ 0 w 1431"/>
              <a:gd name="T5" fmla="*/ 58 h 853"/>
              <a:gd name="T6" fmla="*/ 229 w 1431"/>
              <a:gd name="T7" fmla="*/ 91 h 853"/>
              <a:gd name="T8" fmla="*/ 388 w 1431"/>
              <a:gd name="T9" fmla="*/ 164 h 853"/>
              <a:gd name="T10" fmla="*/ 614 w 1431"/>
              <a:gd name="T11" fmla="*/ 358 h 853"/>
              <a:gd name="T12" fmla="*/ 769 w 1431"/>
              <a:gd name="T13" fmla="*/ 528 h 853"/>
              <a:gd name="T14" fmla="*/ 894 w 1431"/>
              <a:gd name="T15" fmla="*/ 650 h 853"/>
              <a:gd name="T16" fmla="*/ 1123 w 1431"/>
              <a:gd name="T17" fmla="*/ 795 h 853"/>
              <a:gd name="T18" fmla="*/ 1430 w 1431"/>
              <a:gd name="T19" fmla="*/ 853 h 853"/>
              <a:gd name="T20" fmla="*/ 1431 w 1431"/>
              <a:gd name="T21" fmla="*/ 853 h 853"/>
              <a:gd name="T22" fmla="*/ 1431 w 1431"/>
              <a:gd name="T23" fmla="*/ 795 h 853"/>
              <a:gd name="T24" fmla="*/ 1202 w 1431"/>
              <a:gd name="T25" fmla="*/ 762 h 853"/>
              <a:gd name="T26" fmla="*/ 1042 w 1431"/>
              <a:gd name="T27" fmla="*/ 689 h 853"/>
              <a:gd name="T28" fmla="*/ 817 w 1431"/>
              <a:gd name="T29" fmla="*/ 494 h 853"/>
              <a:gd name="T30" fmla="*/ 662 w 1431"/>
              <a:gd name="T31" fmla="*/ 324 h 853"/>
              <a:gd name="T32" fmla="*/ 536 w 1431"/>
              <a:gd name="T33" fmla="*/ 202 h 853"/>
              <a:gd name="T34" fmla="*/ 308 w 1431"/>
              <a:gd name="T35" fmla="*/ 58 h 853"/>
              <a:gd name="T36" fmla="*/ 0 w 1431"/>
              <a:gd name="T37" fmla="*/ 0 h 8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31" h="853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8"/>
                  <a:pt x="0" y="58"/>
                  <a:pt x="0" y="58"/>
                </a:cubicBezTo>
                <a:cubicBezTo>
                  <a:pt x="87" y="58"/>
                  <a:pt x="162" y="70"/>
                  <a:pt x="229" y="91"/>
                </a:cubicBezTo>
                <a:cubicBezTo>
                  <a:pt x="287" y="109"/>
                  <a:pt x="340" y="134"/>
                  <a:pt x="388" y="164"/>
                </a:cubicBezTo>
                <a:cubicBezTo>
                  <a:pt x="473" y="216"/>
                  <a:pt x="545" y="285"/>
                  <a:pt x="614" y="358"/>
                </a:cubicBezTo>
                <a:cubicBezTo>
                  <a:pt x="666" y="413"/>
                  <a:pt x="716" y="472"/>
                  <a:pt x="769" y="528"/>
                </a:cubicBezTo>
                <a:cubicBezTo>
                  <a:pt x="809" y="571"/>
                  <a:pt x="850" y="612"/>
                  <a:pt x="894" y="650"/>
                </a:cubicBezTo>
                <a:cubicBezTo>
                  <a:pt x="961" y="708"/>
                  <a:pt x="1035" y="759"/>
                  <a:pt x="1123" y="795"/>
                </a:cubicBezTo>
                <a:cubicBezTo>
                  <a:pt x="1211" y="831"/>
                  <a:pt x="1312" y="853"/>
                  <a:pt x="1430" y="853"/>
                </a:cubicBezTo>
                <a:cubicBezTo>
                  <a:pt x="1431" y="853"/>
                  <a:pt x="1431" y="853"/>
                  <a:pt x="1431" y="853"/>
                </a:cubicBezTo>
                <a:cubicBezTo>
                  <a:pt x="1431" y="795"/>
                  <a:pt x="1431" y="795"/>
                  <a:pt x="1431" y="795"/>
                </a:cubicBezTo>
                <a:cubicBezTo>
                  <a:pt x="1344" y="795"/>
                  <a:pt x="1269" y="783"/>
                  <a:pt x="1202" y="762"/>
                </a:cubicBezTo>
                <a:cubicBezTo>
                  <a:pt x="1143" y="744"/>
                  <a:pt x="1091" y="719"/>
                  <a:pt x="1042" y="689"/>
                </a:cubicBezTo>
                <a:cubicBezTo>
                  <a:pt x="958" y="636"/>
                  <a:pt x="886" y="568"/>
                  <a:pt x="817" y="494"/>
                </a:cubicBezTo>
                <a:cubicBezTo>
                  <a:pt x="765" y="439"/>
                  <a:pt x="714" y="381"/>
                  <a:pt x="662" y="324"/>
                </a:cubicBezTo>
                <a:cubicBezTo>
                  <a:pt x="622" y="282"/>
                  <a:pt x="581" y="241"/>
                  <a:pt x="536" y="202"/>
                </a:cubicBezTo>
                <a:cubicBezTo>
                  <a:pt x="470" y="145"/>
                  <a:pt x="395" y="94"/>
                  <a:pt x="308" y="58"/>
                </a:cubicBezTo>
                <a:cubicBezTo>
                  <a:pt x="220" y="21"/>
                  <a:pt x="119" y="0"/>
                  <a:pt x="0" y="0"/>
                </a:cubicBezTo>
              </a:path>
            </a:pathLst>
          </a:custGeom>
          <a:solidFill>
            <a:srgbClr val="00ABAB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2" name="Freeform 320">
            <a:extLst>
              <a:ext uri="{FF2B5EF4-FFF2-40B4-BE49-F238E27FC236}">
                <a16:creationId xmlns:a16="http://schemas.microsoft.com/office/drawing/2014/main" id="{92FA5831-5E52-4847-BFB6-E6815B9AF829}"/>
              </a:ext>
            </a:extLst>
          </p:cNvPr>
          <p:cNvSpPr>
            <a:spLocks/>
          </p:cNvSpPr>
          <p:nvPr/>
        </p:nvSpPr>
        <p:spPr bwMode="auto">
          <a:xfrm>
            <a:off x="1354504" y="4276178"/>
            <a:ext cx="2363283" cy="375977"/>
          </a:xfrm>
          <a:custGeom>
            <a:avLst/>
            <a:gdLst>
              <a:gd name="T0" fmla="*/ 0 w 1306"/>
              <a:gd name="T1" fmla="*/ 0 h 208"/>
              <a:gd name="T2" fmla="*/ 0 w 1306"/>
              <a:gd name="T3" fmla="*/ 0 h 208"/>
              <a:gd name="T4" fmla="*/ 0 w 1306"/>
              <a:gd name="T5" fmla="*/ 57 h 208"/>
              <a:gd name="T6" fmla="*/ 384 w 1306"/>
              <a:gd name="T7" fmla="*/ 81 h 208"/>
              <a:gd name="T8" fmla="*/ 585 w 1306"/>
              <a:gd name="T9" fmla="*/ 118 h 208"/>
              <a:gd name="T10" fmla="*/ 724 w 1306"/>
              <a:gd name="T11" fmla="*/ 149 h 208"/>
              <a:gd name="T12" fmla="*/ 964 w 1306"/>
              <a:gd name="T13" fmla="*/ 190 h 208"/>
              <a:gd name="T14" fmla="*/ 1306 w 1306"/>
              <a:gd name="T15" fmla="*/ 208 h 208"/>
              <a:gd name="T16" fmla="*/ 1306 w 1306"/>
              <a:gd name="T17" fmla="*/ 208 h 208"/>
              <a:gd name="T18" fmla="*/ 1306 w 1306"/>
              <a:gd name="T19" fmla="*/ 151 h 208"/>
              <a:gd name="T20" fmla="*/ 922 w 1306"/>
              <a:gd name="T21" fmla="*/ 128 h 208"/>
              <a:gd name="T22" fmla="*/ 721 w 1306"/>
              <a:gd name="T23" fmla="*/ 90 h 208"/>
              <a:gd name="T24" fmla="*/ 582 w 1306"/>
              <a:gd name="T25" fmla="*/ 59 h 208"/>
              <a:gd name="T26" fmla="*/ 342 w 1306"/>
              <a:gd name="T27" fmla="*/ 18 h 208"/>
              <a:gd name="T28" fmla="*/ 0 w 1306"/>
              <a:gd name="T29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06" h="208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7"/>
                  <a:pt x="0" y="57"/>
                  <a:pt x="0" y="57"/>
                </a:cubicBezTo>
                <a:cubicBezTo>
                  <a:pt x="162" y="57"/>
                  <a:pt x="283" y="67"/>
                  <a:pt x="384" y="81"/>
                </a:cubicBezTo>
                <a:cubicBezTo>
                  <a:pt x="459" y="91"/>
                  <a:pt x="523" y="104"/>
                  <a:pt x="585" y="118"/>
                </a:cubicBezTo>
                <a:cubicBezTo>
                  <a:pt x="632" y="128"/>
                  <a:pt x="677" y="139"/>
                  <a:pt x="724" y="149"/>
                </a:cubicBezTo>
                <a:cubicBezTo>
                  <a:pt x="795" y="165"/>
                  <a:pt x="871" y="180"/>
                  <a:pt x="964" y="190"/>
                </a:cubicBezTo>
                <a:cubicBezTo>
                  <a:pt x="1057" y="201"/>
                  <a:pt x="1167" y="208"/>
                  <a:pt x="1306" y="208"/>
                </a:cubicBezTo>
                <a:cubicBezTo>
                  <a:pt x="1306" y="208"/>
                  <a:pt x="1306" y="208"/>
                  <a:pt x="1306" y="208"/>
                </a:cubicBezTo>
                <a:cubicBezTo>
                  <a:pt x="1306" y="151"/>
                  <a:pt x="1306" y="151"/>
                  <a:pt x="1306" y="151"/>
                </a:cubicBezTo>
                <a:cubicBezTo>
                  <a:pt x="1144" y="151"/>
                  <a:pt x="1023" y="141"/>
                  <a:pt x="922" y="128"/>
                </a:cubicBezTo>
                <a:cubicBezTo>
                  <a:pt x="847" y="117"/>
                  <a:pt x="783" y="104"/>
                  <a:pt x="721" y="90"/>
                </a:cubicBezTo>
                <a:cubicBezTo>
                  <a:pt x="674" y="80"/>
                  <a:pt x="629" y="69"/>
                  <a:pt x="582" y="59"/>
                </a:cubicBezTo>
                <a:cubicBezTo>
                  <a:pt x="511" y="43"/>
                  <a:pt x="435" y="28"/>
                  <a:pt x="342" y="18"/>
                </a:cubicBezTo>
                <a:cubicBezTo>
                  <a:pt x="249" y="7"/>
                  <a:pt x="139" y="0"/>
                  <a:pt x="0" y="0"/>
                </a:cubicBezTo>
              </a:path>
            </a:pathLst>
          </a:custGeom>
          <a:solidFill>
            <a:srgbClr val="86BC25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3" name="Freeform 321">
            <a:extLst>
              <a:ext uri="{FF2B5EF4-FFF2-40B4-BE49-F238E27FC236}">
                <a16:creationId xmlns:a16="http://schemas.microsoft.com/office/drawing/2014/main" id="{A628F032-9AFB-4B87-805F-16E9D6AAC739}"/>
              </a:ext>
            </a:extLst>
          </p:cNvPr>
          <p:cNvSpPr>
            <a:spLocks/>
          </p:cNvSpPr>
          <p:nvPr/>
        </p:nvSpPr>
        <p:spPr bwMode="auto">
          <a:xfrm>
            <a:off x="1354504" y="3722957"/>
            <a:ext cx="2363283" cy="612305"/>
          </a:xfrm>
          <a:custGeom>
            <a:avLst/>
            <a:gdLst>
              <a:gd name="T0" fmla="*/ 0 w 1306"/>
              <a:gd name="T1" fmla="*/ 0 h 339"/>
              <a:gd name="T2" fmla="*/ 0 w 1306"/>
              <a:gd name="T3" fmla="*/ 0 h 339"/>
              <a:gd name="T4" fmla="*/ 0 w 1306"/>
              <a:gd name="T5" fmla="*/ 55 h 339"/>
              <a:gd name="T6" fmla="*/ 381 w 1306"/>
              <a:gd name="T7" fmla="*/ 99 h 339"/>
              <a:gd name="T8" fmla="*/ 581 w 1306"/>
              <a:gd name="T9" fmla="*/ 168 h 339"/>
              <a:gd name="T10" fmla="*/ 720 w 1306"/>
              <a:gd name="T11" fmla="*/ 228 h 339"/>
              <a:gd name="T12" fmla="*/ 962 w 1306"/>
              <a:gd name="T13" fmla="*/ 305 h 339"/>
              <a:gd name="T14" fmla="*/ 1306 w 1306"/>
              <a:gd name="T15" fmla="*/ 339 h 339"/>
              <a:gd name="T16" fmla="*/ 1306 w 1306"/>
              <a:gd name="T17" fmla="*/ 339 h 339"/>
              <a:gd name="T18" fmla="*/ 1306 w 1306"/>
              <a:gd name="T19" fmla="*/ 283 h 339"/>
              <a:gd name="T20" fmla="*/ 925 w 1306"/>
              <a:gd name="T21" fmla="*/ 240 h 339"/>
              <a:gd name="T22" fmla="*/ 725 w 1306"/>
              <a:gd name="T23" fmla="*/ 170 h 339"/>
              <a:gd name="T24" fmla="*/ 587 w 1306"/>
              <a:gd name="T25" fmla="*/ 110 h 339"/>
              <a:gd name="T26" fmla="*/ 344 w 1306"/>
              <a:gd name="T27" fmla="*/ 33 h 339"/>
              <a:gd name="T28" fmla="*/ 0 w 1306"/>
              <a:gd name="T29" fmla="*/ 0 h 3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06" h="339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5"/>
                  <a:pt x="0" y="55"/>
                  <a:pt x="0" y="55"/>
                </a:cubicBezTo>
                <a:cubicBezTo>
                  <a:pt x="161" y="55"/>
                  <a:pt x="281" y="73"/>
                  <a:pt x="381" y="99"/>
                </a:cubicBezTo>
                <a:cubicBezTo>
                  <a:pt x="456" y="118"/>
                  <a:pt x="519" y="142"/>
                  <a:pt x="581" y="168"/>
                </a:cubicBezTo>
                <a:cubicBezTo>
                  <a:pt x="627" y="188"/>
                  <a:pt x="672" y="208"/>
                  <a:pt x="720" y="228"/>
                </a:cubicBezTo>
                <a:cubicBezTo>
                  <a:pt x="791" y="257"/>
                  <a:pt x="868" y="285"/>
                  <a:pt x="962" y="305"/>
                </a:cubicBezTo>
                <a:cubicBezTo>
                  <a:pt x="1056" y="326"/>
                  <a:pt x="1167" y="339"/>
                  <a:pt x="1306" y="339"/>
                </a:cubicBezTo>
                <a:cubicBezTo>
                  <a:pt x="1306" y="339"/>
                  <a:pt x="1306" y="339"/>
                  <a:pt x="1306" y="339"/>
                </a:cubicBezTo>
                <a:cubicBezTo>
                  <a:pt x="1306" y="283"/>
                  <a:pt x="1306" y="283"/>
                  <a:pt x="1306" y="283"/>
                </a:cubicBezTo>
                <a:cubicBezTo>
                  <a:pt x="1145" y="283"/>
                  <a:pt x="1025" y="265"/>
                  <a:pt x="925" y="240"/>
                </a:cubicBezTo>
                <a:cubicBezTo>
                  <a:pt x="851" y="220"/>
                  <a:pt x="787" y="196"/>
                  <a:pt x="725" y="170"/>
                </a:cubicBezTo>
                <a:cubicBezTo>
                  <a:pt x="679" y="150"/>
                  <a:pt x="634" y="130"/>
                  <a:pt x="587" y="110"/>
                </a:cubicBezTo>
                <a:cubicBezTo>
                  <a:pt x="515" y="81"/>
                  <a:pt x="438" y="53"/>
                  <a:pt x="344" y="33"/>
                </a:cubicBezTo>
                <a:cubicBezTo>
                  <a:pt x="250" y="12"/>
                  <a:pt x="140" y="0"/>
                  <a:pt x="0" y="0"/>
                </a:cubicBezTo>
              </a:path>
            </a:pathLst>
          </a:custGeom>
          <a:solidFill>
            <a:srgbClr val="43B02A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4" name="Freeform 322">
            <a:extLst>
              <a:ext uri="{FF2B5EF4-FFF2-40B4-BE49-F238E27FC236}">
                <a16:creationId xmlns:a16="http://schemas.microsoft.com/office/drawing/2014/main" id="{34ED2825-ACA9-4A16-AF48-5B5EB0445B5F}"/>
              </a:ext>
            </a:extLst>
          </p:cNvPr>
          <p:cNvSpPr>
            <a:spLocks/>
          </p:cNvSpPr>
          <p:nvPr/>
        </p:nvSpPr>
        <p:spPr bwMode="auto">
          <a:xfrm>
            <a:off x="3896408" y="2466120"/>
            <a:ext cx="2588869" cy="2476078"/>
          </a:xfrm>
          <a:custGeom>
            <a:avLst/>
            <a:gdLst>
              <a:gd name="T0" fmla="*/ 0 w 1431"/>
              <a:gd name="T1" fmla="*/ 0 h 1365"/>
              <a:gd name="T2" fmla="*/ 0 w 1431"/>
              <a:gd name="T3" fmla="*/ 0 h 1365"/>
              <a:gd name="T4" fmla="*/ 0 w 1431"/>
              <a:gd name="T5" fmla="*/ 55 h 1365"/>
              <a:gd name="T6" fmla="*/ 225 w 1431"/>
              <a:gd name="T7" fmla="*/ 108 h 1365"/>
              <a:gd name="T8" fmla="*/ 384 w 1431"/>
              <a:gd name="T9" fmla="*/ 229 h 1365"/>
              <a:gd name="T10" fmla="*/ 612 w 1431"/>
              <a:gd name="T11" fmla="*/ 551 h 1365"/>
              <a:gd name="T12" fmla="*/ 767 w 1431"/>
              <a:gd name="T13" fmla="*/ 831 h 1365"/>
              <a:gd name="T14" fmla="*/ 891 w 1431"/>
              <a:gd name="T15" fmla="*/ 1031 h 1365"/>
              <a:gd name="T16" fmla="*/ 1119 w 1431"/>
              <a:gd name="T17" fmla="*/ 1268 h 1365"/>
              <a:gd name="T18" fmla="*/ 1263 w 1431"/>
              <a:gd name="T19" fmla="*/ 1339 h 1365"/>
              <a:gd name="T20" fmla="*/ 1431 w 1431"/>
              <a:gd name="T21" fmla="*/ 1365 h 1365"/>
              <a:gd name="T22" fmla="*/ 1431 w 1431"/>
              <a:gd name="T23" fmla="*/ 1365 h 1365"/>
              <a:gd name="T24" fmla="*/ 1431 w 1431"/>
              <a:gd name="T25" fmla="*/ 1310 h 1365"/>
              <a:gd name="T26" fmla="*/ 1206 w 1431"/>
              <a:gd name="T27" fmla="*/ 1256 h 1365"/>
              <a:gd name="T28" fmla="*/ 1047 w 1431"/>
              <a:gd name="T29" fmla="*/ 1136 h 1365"/>
              <a:gd name="T30" fmla="*/ 820 w 1431"/>
              <a:gd name="T31" fmla="*/ 814 h 1365"/>
              <a:gd name="T32" fmla="*/ 665 w 1431"/>
              <a:gd name="T33" fmla="*/ 534 h 1365"/>
              <a:gd name="T34" fmla="*/ 540 w 1431"/>
              <a:gd name="T35" fmla="*/ 334 h 1365"/>
              <a:gd name="T36" fmla="*/ 312 w 1431"/>
              <a:gd name="T37" fmla="*/ 97 h 1365"/>
              <a:gd name="T38" fmla="*/ 169 w 1431"/>
              <a:gd name="T39" fmla="*/ 26 h 1365"/>
              <a:gd name="T40" fmla="*/ 0 w 1431"/>
              <a:gd name="T41" fmla="*/ 0 h 1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31" h="1365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5"/>
                  <a:pt x="0" y="55"/>
                  <a:pt x="0" y="55"/>
                </a:cubicBezTo>
                <a:cubicBezTo>
                  <a:pt x="85" y="55"/>
                  <a:pt x="159" y="75"/>
                  <a:pt x="225" y="108"/>
                </a:cubicBezTo>
                <a:cubicBezTo>
                  <a:pt x="283" y="138"/>
                  <a:pt x="336" y="179"/>
                  <a:pt x="384" y="229"/>
                </a:cubicBezTo>
                <a:cubicBezTo>
                  <a:pt x="469" y="316"/>
                  <a:pt x="542" y="430"/>
                  <a:pt x="612" y="551"/>
                </a:cubicBezTo>
                <a:cubicBezTo>
                  <a:pt x="664" y="643"/>
                  <a:pt x="714" y="739"/>
                  <a:pt x="767" y="831"/>
                </a:cubicBezTo>
                <a:cubicBezTo>
                  <a:pt x="806" y="901"/>
                  <a:pt x="847" y="969"/>
                  <a:pt x="891" y="1031"/>
                </a:cubicBezTo>
                <a:cubicBezTo>
                  <a:pt x="957" y="1125"/>
                  <a:pt x="1031" y="1208"/>
                  <a:pt x="1119" y="1268"/>
                </a:cubicBezTo>
                <a:cubicBezTo>
                  <a:pt x="1163" y="1298"/>
                  <a:pt x="1211" y="1322"/>
                  <a:pt x="1263" y="1339"/>
                </a:cubicBezTo>
                <a:cubicBezTo>
                  <a:pt x="1314" y="1356"/>
                  <a:pt x="1370" y="1365"/>
                  <a:pt x="1431" y="1365"/>
                </a:cubicBezTo>
                <a:cubicBezTo>
                  <a:pt x="1431" y="1365"/>
                  <a:pt x="1431" y="1365"/>
                  <a:pt x="1431" y="1365"/>
                </a:cubicBezTo>
                <a:cubicBezTo>
                  <a:pt x="1431" y="1310"/>
                  <a:pt x="1431" y="1310"/>
                  <a:pt x="1431" y="1310"/>
                </a:cubicBezTo>
                <a:cubicBezTo>
                  <a:pt x="1346" y="1310"/>
                  <a:pt x="1272" y="1290"/>
                  <a:pt x="1206" y="1256"/>
                </a:cubicBezTo>
                <a:cubicBezTo>
                  <a:pt x="1148" y="1227"/>
                  <a:pt x="1096" y="1186"/>
                  <a:pt x="1047" y="1136"/>
                </a:cubicBezTo>
                <a:cubicBezTo>
                  <a:pt x="962" y="1049"/>
                  <a:pt x="889" y="935"/>
                  <a:pt x="820" y="814"/>
                </a:cubicBezTo>
                <a:cubicBezTo>
                  <a:pt x="767" y="722"/>
                  <a:pt x="717" y="626"/>
                  <a:pt x="665" y="534"/>
                </a:cubicBezTo>
                <a:cubicBezTo>
                  <a:pt x="625" y="464"/>
                  <a:pt x="584" y="396"/>
                  <a:pt x="540" y="334"/>
                </a:cubicBezTo>
                <a:cubicBezTo>
                  <a:pt x="474" y="239"/>
                  <a:pt x="400" y="156"/>
                  <a:pt x="312" y="97"/>
                </a:cubicBezTo>
                <a:cubicBezTo>
                  <a:pt x="268" y="67"/>
                  <a:pt x="220" y="42"/>
                  <a:pt x="169" y="26"/>
                </a:cubicBezTo>
                <a:cubicBezTo>
                  <a:pt x="117" y="9"/>
                  <a:pt x="61" y="0"/>
                  <a:pt x="0" y="0"/>
                </a:cubicBezTo>
              </a:path>
            </a:pathLst>
          </a:custGeom>
          <a:solidFill>
            <a:srgbClr val="6FC2B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5" name="Freeform 323">
            <a:extLst>
              <a:ext uri="{FF2B5EF4-FFF2-40B4-BE49-F238E27FC236}">
                <a16:creationId xmlns:a16="http://schemas.microsoft.com/office/drawing/2014/main" id="{03DF7ED7-5F3B-4788-BC00-16C1F791DC78}"/>
              </a:ext>
            </a:extLst>
          </p:cNvPr>
          <p:cNvSpPr>
            <a:spLocks/>
          </p:cNvSpPr>
          <p:nvPr/>
        </p:nvSpPr>
        <p:spPr bwMode="auto">
          <a:xfrm>
            <a:off x="1354504" y="4378230"/>
            <a:ext cx="2357913" cy="461914"/>
          </a:xfrm>
          <a:custGeom>
            <a:avLst/>
            <a:gdLst>
              <a:gd name="T0" fmla="*/ 0 w 1306"/>
              <a:gd name="T1" fmla="*/ 0 h 254"/>
              <a:gd name="T2" fmla="*/ 0 w 1306"/>
              <a:gd name="T3" fmla="*/ 0 h 254"/>
              <a:gd name="T4" fmla="*/ 0 w 1306"/>
              <a:gd name="T5" fmla="*/ 53 h 254"/>
              <a:gd name="T6" fmla="*/ 383 w 1306"/>
              <a:gd name="T7" fmla="*/ 84 h 254"/>
              <a:gd name="T8" fmla="*/ 584 w 1306"/>
              <a:gd name="T9" fmla="*/ 133 h 254"/>
              <a:gd name="T10" fmla="*/ 723 w 1306"/>
              <a:gd name="T11" fmla="*/ 176 h 254"/>
              <a:gd name="T12" fmla="*/ 964 w 1306"/>
              <a:gd name="T13" fmla="*/ 230 h 254"/>
              <a:gd name="T14" fmla="*/ 1306 w 1306"/>
              <a:gd name="T15" fmla="*/ 254 h 254"/>
              <a:gd name="T16" fmla="*/ 1306 w 1306"/>
              <a:gd name="T17" fmla="*/ 254 h 254"/>
              <a:gd name="T18" fmla="*/ 1306 w 1306"/>
              <a:gd name="T19" fmla="*/ 201 h 254"/>
              <a:gd name="T20" fmla="*/ 923 w 1306"/>
              <a:gd name="T21" fmla="*/ 170 h 254"/>
              <a:gd name="T22" fmla="*/ 722 w 1306"/>
              <a:gd name="T23" fmla="*/ 121 h 254"/>
              <a:gd name="T24" fmla="*/ 583 w 1306"/>
              <a:gd name="T25" fmla="*/ 78 h 254"/>
              <a:gd name="T26" fmla="*/ 342 w 1306"/>
              <a:gd name="T27" fmla="*/ 24 h 254"/>
              <a:gd name="T28" fmla="*/ 0 w 1306"/>
              <a:gd name="T29" fmla="*/ 0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06" h="254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3"/>
                  <a:pt x="0" y="53"/>
                  <a:pt x="0" y="53"/>
                </a:cubicBezTo>
                <a:cubicBezTo>
                  <a:pt x="162" y="53"/>
                  <a:pt x="283" y="65"/>
                  <a:pt x="383" y="84"/>
                </a:cubicBezTo>
                <a:cubicBezTo>
                  <a:pt x="458" y="98"/>
                  <a:pt x="522" y="115"/>
                  <a:pt x="584" y="133"/>
                </a:cubicBezTo>
                <a:cubicBezTo>
                  <a:pt x="630" y="147"/>
                  <a:pt x="675" y="162"/>
                  <a:pt x="723" y="176"/>
                </a:cubicBezTo>
                <a:cubicBezTo>
                  <a:pt x="794" y="196"/>
                  <a:pt x="870" y="216"/>
                  <a:pt x="964" y="230"/>
                </a:cubicBezTo>
                <a:cubicBezTo>
                  <a:pt x="1057" y="245"/>
                  <a:pt x="1167" y="254"/>
                  <a:pt x="1306" y="254"/>
                </a:cubicBezTo>
                <a:cubicBezTo>
                  <a:pt x="1306" y="254"/>
                  <a:pt x="1306" y="254"/>
                  <a:pt x="1306" y="254"/>
                </a:cubicBezTo>
                <a:cubicBezTo>
                  <a:pt x="1306" y="201"/>
                  <a:pt x="1306" y="201"/>
                  <a:pt x="1306" y="201"/>
                </a:cubicBezTo>
                <a:cubicBezTo>
                  <a:pt x="1144" y="201"/>
                  <a:pt x="1023" y="189"/>
                  <a:pt x="923" y="170"/>
                </a:cubicBezTo>
                <a:cubicBezTo>
                  <a:pt x="848" y="156"/>
                  <a:pt x="784" y="139"/>
                  <a:pt x="722" y="121"/>
                </a:cubicBezTo>
                <a:cubicBezTo>
                  <a:pt x="676" y="107"/>
                  <a:pt x="631" y="92"/>
                  <a:pt x="583" y="78"/>
                </a:cubicBezTo>
                <a:cubicBezTo>
                  <a:pt x="512" y="58"/>
                  <a:pt x="436" y="38"/>
                  <a:pt x="342" y="24"/>
                </a:cubicBezTo>
                <a:cubicBezTo>
                  <a:pt x="249" y="9"/>
                  <a:pt x="139" y="0"/>
                  <a:pt x="0" y="0"/>
                </a:cubicBezTo>
              </a:path>
            </a:pathLst>
          </a:custGeom>
          <a:solidFill>
            <a:srgbClr val="86BC25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6" name="Freeform 324">
            <a:extLst>
              <a:ext uri="{FF2B5EF4-FFF2-40B4-BE49-F238E27FC236}">
                <a16:creationId xmlns:a16="http://schemas.microsoft.com/office/drawing/2014/main" id="{F45989A9-25B4-4008-A784-1E447EF973D3}"/>
              </a:ext>
            </a:extLst>
          </p:cNvPr>
          <p:cNvSpPr>
            <a:spLocks/>
          </p:cNvSpPr>
          <p:nvPr/>
        </p:nvSpPr>
        <p:spPr bwMode="auto">
          <a:xfrm>
            <a:off x="1354504" y="3927058"/>
            <a:ext cx="2363283" cy="349123"/>
          </a:xfrm>
          <a:custGeom>
            <a:avLst/>
            <a:gdLst>
              <a:gd name="T0" fmla="*/ 1307 w 1307"/>
              <a:gd name="T1" fmla="*/ 0 h 193"/>
              <a:gd name="T2" fmla="*/ 916 w 1307"/>
              <a:gd name="T3" fmla="*/ 22 h 193"/>
              <a:gd name="T4" fmla="*/ 710 w 1307"/>
              <a:gd name="T5" fmla="*/ 58 h 193"/>
              <a:gd name="T6" fmla="*/ 422 w 1307"/>
              <a:gd name="T7" fmla="*/ 114 h 193"/>
              <a:gd name="T8" fmla="*/ 0 w 1307"/>
              <a:gd name="T9" fmla="*/ 141 h 193"/>
              <a:gd name="T10" fmla="*/ 0 w 1307"/>
              <a:gd name="T11" fmla="*/ 193 h 193"/>
              <a:gd name="T12" fmla="*/ 391 w 1307"/>
              <a:gd name="T13" fmla="*/ 171 h 193"/>
              <a:gd name="T14" fmla="*/ 597 w 1307"/>
              <a:gd name="T15" fmla="*/ 135 h 193"/>
              <a:gd name="T16" fmla="*/ 885 w 1307"/>
              <a:gd name="T17" fmla="*/ 78 h 193"/>
              <a:gd name="T18" fmla="*/ 1307 w 1307"/>
              <a:gd name="T19" fmla="*/ 51 h 193"/>
              <a:gd name="T20" fmla="*/ 1307 w 1307"/>
              <a:gd name="T21" fmla="*/ 0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07" h="193">
                <a:moveTo>
                  <a:pt x="1307" y="0"/>
                </a:moveTo>
                <a:cubicBezTo>
                  <a:pt x="1143" y="0"/>
                  <a:pt x="1019" y="9"/>
                  <a:pt x="916" y="22"/>
                </a:cubicBezTo>
                <a:cubicBezTo>
                  <a:pt x="838" y="32"/>
                  <a:pt x="772" y="45"/>
                  <a:pt x="710" y="58"/>
                </a:cubicBezTo>
                <a:cubicBezTo>
                  <a:pt x="616" y="78"/>
                  <a:pt x="530" y="98"/>
                  <a:pt x="422" y="114"/>
                </a:cubicBezTo>
                <a:cubicBezTo>
                  <a:pt x="313" y="130"/>
                  <a:pt x="183" y="141"/>
                  <a:pt x="0" y="141"/>
                </a:cubicBezTo>
                <a:cubicBezTo>
                  <a:pt x="0" y="193"/>
                  <a:pt x="0" y="193"/>
                  <a:pt x="0" y="193"/>
                </a:cubicBezTo>
                <a:cubicBezTo>
                  <a:pt x="164" y="193"/>
                  <a:pt x="288" y="184"/>
                  <a:pt x="391" y="171"/>
                </a:cubicBezTo>
                <a:cubicBezTo>
                  <a:pt x="469" y="161"/>
                  <a:pt x="535" y="148"/>
                  <a:pt x="597" y="135"/>
                </a:cubicBezTo>
                <a:cubicBezTo>
                  <a:pt x="691" y="115"/>
                  <a:pt x="777" y="94"/>
                  <a:pt x="885" y="78"/>
                </a:cubicBezTo>
                <a:cubicBezTo>
                  <a:pt x="994" y="63"/>
                  <a:pt x="1124" y="51"/>
                  <a:pt x="1307" y="51"/>
                </a:cubicBezTo>
                <a:cubicBezTo>
                  <a:pt x="1307" y="0"/>
                  <a:pt x="1307" y="0"/>
                  <a:pt x="1307" y="0"/>
                </a:cubicBezTo>
              </a:path>
            </a:pathLst>
          </a:custGeom>
          <a:solidFill>
            <a:srgbClr val="86BC25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7" name="Freeform 325">
            <a:extLst>
              <a:ext uri="{FF2B5EF4-FFF2-40B4-BE49-F238E27FC236}">
                <a16:creationId xmlns:a16="http://schemas.microsoft.com/office/drawing/2014/main" id="{3FE560E9-DDB8-4CC1-817B-49931B359B7D}"/>
              </a:ext>
            </a:extLst>
          </p:cNvPr>
          <p:cNvSpPr>
            <a:spLocks/>
          </p:cNvSpPr>
          <p:nvPr/>
        </p:nvSpPr>
        <p:spPr bwMode="auto">
          <a:xfrm>
            <a:off x="3896408" y="2568169"/>
            <a:ext cx="2588869" cy="1219241"/>
          </a:xfrm>
          <a:custGeom>
            <a:avLst/>
            <a:gdLst>
              <a:gd name="T0" fmla="*/ 0 w 1431"/>
              <a:gd name="T1" fmla="*/ 0 h 674"/>
              <a:gd name="T2" fmla="*/ 0 w 1431"/>
              <a:gd name="T3" fmla="*/ 0 h 674"/>
              <a:gd name="T4" fmla="*/ 0 w 1431"/>
              <a:gd name="T5" fmla="*/ 49 h 674"/>
              <a:gd name="T6" fmla="*/ 232 w 1431"/>
              <a:gd name="T7" fmla="*/ 75 h 674"/>
              <a:gd name="T8" fmla="*/ 528 w 1431"/>
              <a:gd name="T9" fmla="*/ 215 h 674"/>
              <a:gd name="T10" fmla="*/ 708 w 1431"/>
              <a:gd name="T11" fmla="*/ 363 h 674"/>
              <a:gd name="T12" fmla="*/ 844 w 1431"/>
              <a:gd name="T13" fmla="*/ 476 h 674"/>
              <a:gd name="T14" fmla="*/ 1090 w 1431"/>
              <a:gd name="T15" fmla="*/ 616 h 674"/>
              <a:gd name="T16" fmla="*/ 1431 w 1431"/>
              <a:gd name="T17" fmla="*/ 674 h 674"/>
              <a:gd name="T18" fmla="*/ 1431 w 1431"/>
              <a:gd name="T19" fmla="*/ 674 h 674"/>
              <a:gd name="T20" fmla="*/ 1431 w 1431"/>
              <a:gd name="T21" fmla="*/ 625 h 674"/>
              <a:gd name="T22" fmla="*/ 1199 w 1431"/>
              <a:gd name="T23" fmla="*/ 599 h 674"/>
              <a:gd name="T24" fmla="*/ 903 w 1431"/>
              <a:gd name="T25" fmla="*/ 459 h 674"/>
              <a:gd name="T26" fmla="*/ 723 w 1431"/>
              <a:gd name="T27" fmla="*/ 311 h 674"/>
              <a:gd name="T28" fmla="*/ 587 w 1431"/>
              <a:gd name="T29" fmla="*/ 198 h 674"/>
              <a:gd name="T30" fmla="*/ 341 w 1431"/>
              <a:gd name="T31" fmla="*/ 58 h 674"/>
              <a:gd name="T32" fmla="*/ 0 w 1431"/>
              <a:gd name="T33" fmla="*/ 0 h 6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31" h="674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9"/>
                  <a:pt x="0" y="49"/>
                  <a:pt x="0" y="49"/>
                </a:cubicBezTo>
                <a:cubicBezTo>
                  <a:pt x="88" y="49"/>
                  <a:pt x="164" y="58"/>
                  <a:pt x="232" y="75"/>
                </a:cubicBezTo>
                <a:cubicBezTo>
                  <a:pt x="351" y="104"/>
                  <a:pt x="444" y="155"/>
                  <a:pt x="528" y="215"/>
                </a:cubicBezTo>
                <a:cubicBezTo>
                  <a:pt x="591" y="260"/>
                  <a:pt x="649" y="311"/>
                  <a:pt x="708" y="363"/>
                </a:cubicBezTo>
                <a:cubicBezTo>
                  <a:pt x="752" y="401"/>
                  <a:pt x="797" y="440"/>
                  <a:pt x="844" y="476"/>
                </a:cubicBezTo>
                <a:cubicBezTo>
                  <a:pt x="916" y="531"/>
                  <a:pt x="995" y="581"/>
                  <a:pt x="1090" y="616"/>
                </a:cubicBezTo>
                <a:cubicBezTo>
                  <a:pt x="1185" y="652"/>
                  <a:pt x="1296" y="674"/>
                  <a:pt x="1431" y="674"/>
                </a:cubicBezTo>
                <a:cubicBezTo>
                  <a:pt x="1431" y="674"/>
                  <a:pt x="1431" y="674"/>
                  <a:pt x="1431" y="674"/>
                </a:cubicBezTo>
                <a:cubicBezTo>
                  <a:pt x="1431" y="625"/>
                  <a:pt x="1431" y="625"/>
                  <a:pt x="1431" y="625"/>
                </a:cubicBezTo>
                <a:cubicBezTo>
                  <a:pt x="1343" y="625"/>
                  <a:pt x="1267" y="616"/>
                  <a:pt x="1199" y="599"/>
                </a:cubicBezTo>
                <a:cubicBezTo>
                  <a:pt x="1080" y="570"/>
                  <a:pt x="987" y="519"/>
                  <a:pt x="903" y="459"/>
                </a:cubicBezTo>
                <a:cubicBezTo>
                  <a:pt x="840" y="414"/>
                  <a:pt x="782" y="363"/>
                  <a:pt x="723" y="311"/>
                </a:cubicBezTo>
                <a:cubicBezTo>
                  <a:pt x="679" y="273"/>
                  <a:pt x="634" y="234"/>
                  <a:pt x="587" y="198"/>
                </a:cubicBezTo>
                <a:cubicBezTo>
                  <a:pt x="515" y="143"/>
                  <a:pt x="436" y="94"/>
                  <a:pt x="341" y="58"/>
                </a:cubicBezTo>
                <a:cubicBezTo>
                  <a:pt x="246" y="22"/>
                  <a:pt x="135" y="0"/>
                  <a:pt x="0" y="0"/>
                </a:cubicBezTo>
              </a:path>
            </a:pathLst>
          </a:custGeom>
          <a:solidFill>
            <a:srgbClr val="0097A9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8" name="Freeform 326">
            <a:extLst>
              <a:ext uri="{FF2B5EF4-FFF2-40B4-BE49-F238E27FC236}">
                <a16:creationId xmlns:a16="http://schemas.microsoft.com/office/drawing/2014/main" id="{2BA87FBB-B369-405F-801F-945A2E4BD0D4}"/>
              </a:ext>
            </a:extLst>
          </p:cNvPr>
          <p:cNvSpPr>
            <a:spLocks/>
          </p:cNvSpPr>
          <p:nvPr/>
        </p:nvSpPr>
        <p:spPr bwMode="auto">
          <a:xfrm>
            <a:off x="3891035" y="5119442"/>
            <a:ext cx="2594242" cy="993655"/>
          </a:xfrm>
          <a:custGeom>
            <a:avLst/>
            <a:gdLst>
              <a:gd name="T0" fmla="*/ 1431 w 1432"/>
              <a:gd name="T1" fmla="*/ 0 h 549"/>
              <a:gd name="T2" fmla="*/ 998 w 1432"/>
              <a:gd name="T3" fmla="*/ 81 h 549"/>
              <a:gd name="T4" fmla="*/ 770 w 1432"/>
              <a:gd name="T5" fmla="*/ 209 h 549"/>
              <a:gd name="T6" fmla="*/ 618 w 1432"/>
              <a:gd name="T7" fmla="*/ 314 h 549"/>
              <a:gd name="T8" fmla="*/ 363 w 1432"/>
              <a:gd name="T9" fmla="*/ 447 h 549"/>
              <a:gd name="T10" fmla="*/ 0 w 1432"/>
              <a:gd name="T11" fmla="*/ 504 h 549"/>
              <a:gd name="T12" fmla="*/ 0 w 1432"/>
              <a:gd name="T13" fmla="*/ 549 h 549"/>
              <a:gd name="T14" fmla="*/ 0 w 1432"/>
              <a:gd name="T15" fmla="*/ 549 h 549"/>
              <a:gd name="T16" fmla="*/ 434 w 1432"/>
              <a:gd name="T17" fmla="*/ 469 h 549"/>
              <a:gd name="T18" fmla="*/ 661 w 1432"/>
              <a:gd name="T19" fmla="*/ 341 h 549"/>
              <a:gd name="T20" fmla="*/ 813 w 1432"/>
              <a:gd name="T21" fmla="*/ 235 h 549"/>
              <a:gd name="T22" fmla="*/ 1068 w 1432"/>
              <a:gd name="T23" fmla="*/ 103 h 549"/>
              <a:gd name="T24" fmla="*/ 1432 w 1432"/>
              <a:gd name="T25" fmla="*/ 46 h 549"/>
              <a:gd name="T26" fmla="*/ 1432 w 1432"/>
              <a:gd name="T27" fmla="*/ 0 h 549"/>
              <a:gd name="T28" fmla="*/ 1431 w 1432"/>
              <a:gd name="T29" fmla="*/ 0 h 5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32" h="549">
                <a:moveTo>
                  <a:pt x="1431" y="0"/>
                </a:moveTo>
                <a:cubicBezTo>
                  <a:pt x="1250" y="0"/>
                  <a:pt x="1112" y="32"/>
                  <a:pt x="998" y="81"/>
                </a:cubicBezTo>
                <a:cubicBezTo>
                  <a:pt x="912" y="117"/>
                  <a:pt x="839" y="162"/>
                  <a:pt x="770" y="209"/>
                </a:cubicBezTo>
                <a:cubicBezTo>
                  <a:pt x="719" y="244"/>
                  <a:pt x="669" y="280"/>
                  <a:pt x="618" y="314"/>
                </a:cubicBezTo>
                <a:cubicBezTo>
                  <a:pt x="542" y="366"/>
                  <a:pt x="461" y="413"/>
                  <a:pt x="363" y="447"/>
                </a:cubicBezTo>
                <a:cubicBezTo>
                  <a:pt x="265" y="482"/>
                  <a:pt x="148" y="504"/>
                  <a:pt x="0" y="504"/>
                </a:cubicBezTo>
                <a:cubicBezTo>
                  <a:pt x="0" y="549"/>
                  <a:pt x="0" y="549"/>
                  <a:pt x="0" y="549"/>
                </a:cubicBezTo>
                <a:cubicBezTo>
                  <a:pt x="0" y="549"/>
                  <a:pt x="0" y="549"/>
                  <a:pt x="0" y="549"/>
                </a:cubicBezTo>
                <a:cubicBezTo>
                  <a:pt x="181" y="549"/>
                  <a:pt x="319" y="517"/>
                  <a:pt x="434" y="469"/>
                </a:cubicBezTo>
                <a:cubicBezTo>
                  <a:pt x="519" y="433"/>
                  <a:pt x="592" y="388"/>
                  <a:pt x="661" y="341"/>
                </a:cubicBezTo>
                <a:cubicBezTo>
                  <a:pt x="712" y="306"/>
                  <a:pt x="762" y="270"/>
                  <a:pt x="813" y="235"/>
                </a:cubicBezTo>
                <a:cubicBezTo>
                  <a:pt x="889" y="184"/>
                  <a:pt x="970" y="137"/>
                  <a:pt x="1068" y="103"/>
                </a:cubicBezTo>
                <a:cubicBezTo>
                  <a:pt x="1166" y="68"/>
                  <a:pt x="1283" y="46"/>
                  <a:pt x="1432" y="46"/>
                </a:cubicBezTo>
                <a:cubicBezTo>
                  <a:pt x="1432" y="0"/>
                  <a:pt x="1432" y="0"/>
                  <a:pt x="1432" y="0"/>
                </a:cubicBezTo>
                <a:cubicBezTo>
                  <a:pt x="1431" y="0"/>
                  <a:pt x="1431" y="0"/>
                  <a:pt x="1431" y="0"/>
                </a:cubicBezTo>
              </a:path>
            </a:pathLst>
          </a:custGeom>
          <a:solidFill>
            <a:srgbClr val="6FC2B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9" name="Freeform 327">
            <a:extLst>
              <a:ext uri="{FF2B5EF4-FFF2-40B4-BE49-F238E27FC236}">
                <a16:creationId xmlns:a16="http://schemas.microsoft.com/office/drawing/2014/main" id="{9B20D0EE-D9CE-43C6-880F-229ADB1E5B00}"/>
              </a:ext>
            </a:extLst>
          </p:cNvPr>
          <p:cNvSpPr>
            <a:spLocks/>
          </p:cNvSpPr>
          <p:nvPr/>
        </p:nvSpPr>
        <p:spPr bwMode="auto">
          <a:xfrm>
            <a:off x="1354504" y="4883114"/>
            <a:ext cx="2357913" cy="161133"/>
          </a:xfrm>
          <a:custGeom>
            <a:avLst/>
            <a:gdLst>
              <a:gd name="T0" fmla="*/ 0 w 1305"/>
              <a:gd name="T1" fmla="*/ 0 h 87"/>
              <a:gd name="T2" fmla="*/ 0 w 1305"/>
              <a:gd name="T3" fmla="*/ 0 h 87"/>
              <a:gd name="T4" fmla="*/ 0 w 1305"/>
              <a:gd name="T5" fmla="*/ 43 h 87"/>
              <a:gd name="T6" fmla="*/ 651 w 1305"/>
              <a:gd name="T7" fmla="*/ 65 h 87"/>
              <a:gd name="T8" fmla="*/ 1304 w 1305"/>
              <a:gd name="T9" fmla="*/ 87 h 87"/>
              <a:gd name="T10" fmla="*/ 1305 w 1305"/>
              <a:gd name="T11" fmla="*/ 87 h 87"/>
              <a:gd name="T12" fmla="*/ 1305 w 1305"/>
              <a:gd name="T13" fmla="*/ 44 h 87"/>
              <a:gd name="T14" fmla="*/ 654 w 1305"/>
              <a:gd name="T15" fmla="*/ 22 h 87"/>
              <a:gd name="T16" fmla="*/ 0 w 1305"/>
              <a:gd name="T17" fmla="*/ 0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5" h="87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3"/>
                  <a:pt x="0" y="43"/>
                  <a:pt x="0" y="43"/>
                </a:cubicBezTo>
                <a:cubicBezTo>
                  <a:pt x="325" y="43"/>
                  <a:pt x="488" y="54"/>
                  <a:pt x="651" y="65"/>
                </a:cubicBezTo>
                <a:cubicBezTo>
                  <a:pt x="814" y="76"/>
                  <a:pt x="978" y="87"/>
                  <a:pt x="1304" y="87"/>
                </a:cubicBezTo>
                <a:cubicBezTo>
                  <a:pt x="1305" y="87"/>
                  <a:pt x="1305" y="87"/>
                  <a:pt x="1305" y="87"/>
                </a:cubicBezTo>
                <a:cubicBezTo>
                  <a:pt x="1305" y="44"/>
                  <a:pt x="1305" y="44"/>
                  <a:pt x="1305" y="44"/>
                </a:cubicBezTo>
                <a:cubicBezTo>
                  <a:pt x="979" y="44"/>
                  <a:pt x="817" y="33"/>
                  <a:pt x="654" y="22"/>
                </a:cubicBezTo>
                <a:cubicBezTo>
                  <a:pt x="491" y="11"/>
                  <a:pt x="326" y="0"/>
                  <a:pt x="0" y="0"/>
                </a:cubicBezTo>
              </a:path>
            </a:pathLst>
          </a:custGeom>
          <a:solidFill>
            <a:srgbClr val="C4D600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0" name="Freeform 328">
            <a:extLst>
              <a:ext uri="{FF2B5EF4-FFF2-40B4-BE49-F238E27FC236}">
                <a16:creationId xmlns:a16="http://schemas.microsoft.com/office/drawing/2014/main" id="{16672593-4627-44AF-B911-9A7E3F52CD1E}"/>
              </a:ext>
            </a:extLst>
          </p:cNvPr>
          <p:cNvSpPr>
            <a:spLocks/>
          </p:cNvSpPr>
          <p:nvPr/>
        </p:nvSpPr>
        <p:spPr bwMode="auto">
          <a:xfrm>
            <a:off x="1354504" y="3126763"/>
            <a:ext cx="2363283" cy="800295"/>
          </a:xfrm>
          <a:custGeom>
            <a:avLst/>
            <a:gdLst>
              <a:gd name="T0" fmla="*/ 0 w 1307"/>
              <a:gd name="T1" fmla="*/ 0 h 440"/>
              <a:gd name="T2" fmla="*/ 0 w 1307"/>
              <a:gd name="T3" fmla="*/ 0 h 440"/>
              <a:gd name="T4" fmla="*/ 0 w 1307"/>
              <a:gd name="T5" fmla="*/ 41 h 440"/>
              <a:gd name="T6" fmla="*/ 381 w 1307"/>
              <a:gd name="T7" fmla="*/ 102 h 440"/>
              <a:gd name="T8" fmla="*/ 581 w 1307"/>
              <a:gd name="T9" fmla="*/ 201 h 440"/>
              <a:gd name="T10" fmla="*/ 720 w 1307"/>
              <a:gd name="T11" fmla="*/ 284 h 440"/>
              <a:gd name="T12" fmla="*/ 962 w 1307"/>
              <a:gd name="T13" fmla="*/ 393 h 440"/>
              <a:gd name="T14" fmla="*/ 1307 w 1307"/>
              <a:gd name="T15" fmla="*/ 440 h 440"/>
              <a:gd name="T16" fmla="*/ 1307 w 1307"/>
              <a:gd name="T17" fmla="*/ 440 h 440"/>
              <a:gd name="T18" fmla="*/ 1307 w 1307"/>
              <a:gd name="T19" fmla="*/ 398 h 440"/>
              <a:gd name="T20" fmla="*/ 926 w 1307"/>
              <a:gd name="T21" fmla="*/ 337 h 440"/>
              <a:gd name="T22" fmla="*/ 726 w 1307"/>
              <a:gd name="T23" fmla="*/ 239 h 440"/>
              <a:gd name="T24" fmla="*/ 587 w 1307"/>
              <a:gd name="T25" fmla="*/ 155 h 440"/>
              <a:gd name="T26" fmla="*/ 345 w 1307"/>
              <a:gd name="T27" fmla="*/ 46 h 440"/>
              <a:gd name="T28" fmla="*/ 0 w 1307"/>
              <a:gd name="T29" fmla="*/ 0 h 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07" h="44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1"/>
                  <a:pt x="0" y="41"/>
                  <a:pt x="0" y="41"/>
                </a:cubicBezTo>
                <a:cubicBezTo>
                  <a:pt x="161" y="41"/>
                  <a:pt x="281" y="66"/>
                  <a:pt x="381" y="102"/>
                </a:cubicBezTo>
                <a:cubicBezTo>
                  <a:pt x="456" y="130"/>
                  <a:pt x="519" y="164"/>
                  <a:pt x="581" y="201"/>
                </a:cubicBezTo>
                <a:cubicBezTo>
                  <a:pt x="627" y="228"/>
                  <a:pt x="673" y="256"/>
                  <a:pt x="720" y="284"/>
                </a:cubicBezTo>
                <a:cubicBezTo>
                  <a:pt x="791" y="325"/>
                  <a:pt x="868" y="364"/>
                  <a:pt x="962" y="393"/>
                </a:cubicBezTo>
                <a:cubicBezTo>
                  <a:pt x="1056" y="422"/>
                  <a:pt x="1167" y="440"/>
                  <a:pt x="1307" y="440"/>
                </a:cubicBezTo>
                <a:cubicBezTo>
                  <a:pt x="1307" y="440"/>
                  <a:pt x="1307" y="440"/>
                  <a:pt x="1307" y="440"/>
                </a:cubicBezTo>
                <a:cubicBezTo>
                  <a:pt x="1307" y="398"/>
                  <a:pt x="1307" y="398"/>
                  <a:pt x="1307" y="398"/>
                </a:cubicBezTo>
                <a:cubicBezTo>
                  <a:pt x="1146" y="398"/>
                  <a:pt x="1026" y="373"/>
                  <a:pt x="926" y="337"/>
                </a:cubicBezTo>
                <a:cubicBezTo>
                  <a:pt x="851" y="309"/>
                  <a:pt x="787" y="275"/>
                  <a:pt x="726" y="239"/>
                </a:cubicBezTo>
                <a:cubicBezTo>
                  <a:pt x="679" y="211"/>
                  <a:pt x="634" y="183"/>
                  <a:pt x="587" y="155"/>
                </a:cubicBezTo>
                <a:cubicBezTo>
                  <a:pt x="515" y="114"/>
                  <a:pt x="439" y="75"/>
                  <a:pt x="345" y="46"/>
                </a:cubicBezTo>
                <a:cubicBezTo>
                  <a:pt x="251" y="18"/>
                  <a:pt x="140" y="0"/>
                  <a:pt x="0" y="0"/>
                </a:cubicBezTo>
              </a:path>
            </a:pathLst>
          </a:custGeom>
          <a:solidFill>
            <a:srgbClr val="009A4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1" name="Freeform 329">
            <a:extLst>
              <a:ext uri="{FF2B5EF4-FFF2-40B4-BE49-F238E27FC236}">
                <a16:creationId xmlns:a16="http://schemas.microsoft.com/office/drawing/2014/main" id="{C9C7D4DE-1D0B-4A84-AD53-C5620461A036}"/>
              </a:ext>
            </a:extLst>
          </p:cNvPr>
          <p:cNvSpPr>
            <a:spLocks/>
          </p:cNvSpPr>
          <p:nvPr/>
        </p:nvSpPr>
        <p:spPr bwMode="auto">
          <a:xfrm>
            <a:off x="1354504" y="4963678"/>
            <a:ext cx="2352540" cy="273928"/>
          </a:xfrm>
          <a:custGeom>
            <a:avLst/>
            <a:gdLst>
              <a:gd name="T0" fmla="*/ 0 w 1303"/>
              <a:gd name="T1" fmla="*/ 0 h 152"/>
              <a:gd name="T2" fmla="*/ 0 w 1303"/>
              <a:gd name="T3" fmla="*/ 0 h 152"/>
              <a:gd name="T4" fmla="*/ 0 w 1303"/>
              <a:gd name="T5" fmla="*/ 41 h 152"/>
              <a:gd name="T6" fmla="*/ 384 w 1303"/>
              <a:gd name="T7" fmla="*/ 58 h 152"/>
              <a:gd name="T8" fmla="*/ 587 w 1303"/>
              <a:gd name="T9" fmla="*/ 86 h 152"/>
              <a:gd name="T10" fmla="*/ 877 w 1303"/>
              <a:gd name="T11" fmla="*/ 131 h 152"/>
              <a:gd name="T12" fmla="*/ 1303 w 1303"/>
              <a:gd name="T13" fmla="*/ 152 h 152"/>
              <a:gd name="T14" fmla="*/ 1303 w 1303"/>
              <a:gd name="T15" fmla="*/ 152 h 152"/>
              <a:gd name="T16" fmla="*/ 1303 w 1303"/>
              <a:gd name="T17" fmla="*/ 111 h 152"/>
              <a:gd name="T18" fmla="*/ 918 w 1303"/>
              <a:gd name="T19" fmla="*/ 94 h 152"/>
              <a:gd name="T20" fmla="*/ 716 w 1303"/>
              <a:gd name="T21" fmla="*/ 66 h 152"/>
              <a:gd name="T22" fmla="*/ 426 w 1303"/>
              <a:gd name="T23" fmla="*/ 22 h 152"/>
              <a:gd name="T24" fmla="*/ 0 w 1303"/>
              <a:gd name="T25" fmla="*/ 0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3" h="152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1"/>
                  <a:pt x="0" y="41"/>
                  <a:pt x="0" y="41"/>
                </a:cubicBezTo>
                <a:cubicBezTo>
                  <a:pt x="162" y="41"/>
                  <a:pt x="283" y="48"/>
                  <a:pt x="384" y="58"/>
                </a:cubicBezTo>
                <a:cubicBezTo>
                  <a:pt x="460" y="66"/>
                  <a:pt x="525" y="76"/>
                  <a:pt x="587" y="86"/>
                </a:cubicBezTo>
                <a:cubicBezTo>
                  <a:pt x="679" y="101"/>
                  <a:pt x="766" y="118"/>
                  <a:pt x="877" y="131"/>
                </a:cubicBezTo>
                <a:cubicBezTo>
                  <a:pt x="987" y="144"/>
                  <a:pt x="1119" y="152"/>
                  <a:pt x="1303" y="152"/>
                </a:cubicBezTo>
                <a:cubicBezTo>
                  <a:pt x="1303" y="152"/>
                  <a:pt x="1303" y="152"/>
                  <a:pt x="1303" y="152"/>
                </a:cubicBezTo>
                <a:cubicBezTo>
                  <a:pt x="1303" y="111"/>
                  <a:pt x="1303" y="111"/>
                  <a:pt x="1303" y="111"/>
                </a:cubicBezTo>
                <a:cubicBezTo>
                  <a:pt x="1141" y="111"/>
                  <a:pt x="1019" y="104"/>
                  <a:pt x="918" y="94"/>
                </a:cubicBezTo>
                <a:cubicBezTo>
                  <a:pt x="842" y="86"/>
                  <a:pt x="778" y="77"/>
                  <a:pt x="716" y="66"/>
                </a:cubicBezTo>
                <a:cubicBezTo>
                  <a:pt x="623" y="51"/>
                  <a:pt x="536" y="34"/>
                  <a:pt x="426" y="22"/>
                </a:cubicBezTo>
                <a:cubicBezTo>
                  <a:pt x="316" y="9"/>
                  <a:pt x="184" y="0"/>
                  <a:pt x="0" y="0"/>
                </a:cubicBezTo>
              </a:path>
            </a:pathLst>
          </a:custGeom>
          <a:solidFill>
            <a:srgbClr val="C4D600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2" name="Freeform 330">
            <a:extLst>
              <a:ext uri="{FF2B5EF4-FFF2-40B4-BE49-F238E27FC236}">
                <a16:creationId xmlns:a16="http://schemas.microsoft.com/office/drawing/2014/main" id="{3C33E121-C2C3-443D-B141-A6B1AB6DDC73}"/>
              </a:ext>
            </a:extLst>
          </p:cNvPr>
          <p:cNvSpPr>
            <a:spLocks/>
          </p:cNvSpPr>
          <p:nvPr/>
        </p:nvSpPr>
        <p:spPr bwMode="auto">
          <a:xfrm>
            <a:off x="3896408" y="4048687"/>
            <a:ext cx="2588869" cy="574709"/>
          </a:xfrm>
          <a:custGeom>
            <a:avLst/>
            <a:gdLst>
              <a:gd name="T0" fmla="*/ 1429 w 1429"/>
              <a:gd name="T1" fmla="*/ 0 h 316"/>
              <a:gd name="T2" fmla="*/ 1000 w 1429"/>
              <a:gd name="T3" fmla="*/ 44 h 316"/>
              <a:gd name="T4" fmla="*/ 775 w 1429"/>
              <a:gd name="T5" fmla="*/ 114 h 316"/>
              <a:gd name="T6" fmla="*/ 623 w 1429"/>
              <a:gd name="T7" fmla="*/ 172 h 316"/>
              <a:gd name="T8" fmla="*/ 367 w 1429"/>
              <a:gd name="T9" fmla="*/ 246 h 316"/>
              <a:gd name="T10" fmla="*/ 0 w 1429"/>
              <a:gd name="T11" fmla="*/ 277 h 316"/>
              <a:gd name="T12" fmla="*/ 0 w 1429"/>
              <a:gd name="T13" fmla="*/ 316 h 316"/>
              <a:gd name="T14" fmla="*/ 429 w 1429"/>
              <a:gd name="T15" fmla="*/ 272 h 316"/>
              <a:gd name="T16" fmla="*/ 654 w 1429"/>
              <a:gd name="T17" fmla="*/ 202 h 316"/>
              <a:gd name="T18" fmla="*/ 806 w 1429"/>
              <a:gd name="T19" fmla="*/ 144 h 316"/>
              <a:gd name="T20" fmla="*/ 1062 w 1429"/>
              <a:gd name="T21" fmla="*/ 70 h 316"/>
              <a:gd name="T22" fmla="*/ 1429 w 1429"/>
              <a:gd name="T23" fmla="*/ 38 h 316"/>
              <a:gd name="T24" fmla="*/ 1429 w 1429"/>
              <a:gd name="T25" fmla="*/ 0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29" h="316">
                <a:moveTo>
                  <a:pt x="1429" y="0"/>
                </a:moveTo>
                <a:cubicBezTo>
                  <a:pt x="1249" y="0"/>
                  <a:pt x="1113" y="17"/>
                  <a:pt x="1000" y="44"/>
                </a:cubicBezTo>
                <a:cubicBezTo>
                  <a:pt x="916" y="63"/>
                  <a:pt x="843" y="88"/>
                  <a:pt x="775" y="114"/>
                </a:cubicBezTo>
                <a:cubicBezTo>
                  <a:pt x="724" y="133"/>
                  <a:pt x="675" y="153"/>
                  <a:pt x="623" y="172"/>
                </a:cubicBezTo>
                <a:cubicBezTo>
                  <a:pt x="547" y="200"/>
                  <a:pt x="466" y="227"/>
                  <a:pt x="367" y="246"/>
                </a:cubicBezTo>
                <a:cubicBezTo>
                  <a:pt x="267" y="265"/>
                  <a:pt x="150" y="277"/>
                  <a:pt x="0" y="277"/>
                </a:cubicBezTo>
                <a:cubicBezTo>
                  <a:pt x="0" y="316"/>
                  <a:pt x="0" y="316"/>
                  <a:pt x="0" y="316"/>
                </a:cubicBezTo>
                <a:cubicBezTo>
                  <a:pt x="180" y="316"/>
                  <a:pt x="316" y="299"/>
                  <a:pt x="429" y="272"/>
                </a:cubicBezTo>
                <a:cubicBezTo>
                  <a:pt x="514" y="252"/>
                  <a:pt x="586" y="228"/>
                  <a:pt x="654" y="202"/>
                </a:cubicBezTo>
                <a:cubicBezTo>
                  <a:pt x="705" y="183"/>
                  <a:pt x="755" y="163"/>
                  <a:pt x="806" y="144"/>
                </a:cubicBezTo>
                <a:cubicBezTo>
                  <a:pt x="882" y="115"/>
                  <a:pt x="963" y="89"/>
                  <a:pt x="1062" y="70"/>
                </a:cubicBezTo>
                <a:cubicBezTo>
                  <a:pt x="1162" y="51"/>
                  <a:pt x="1279" y="38"/>
                  <a:pt x="1429" y="38"/>
                </a:cubicBezTo>
                <a:cubicBezTo>
                  <a:pt x="1429" y="0"/>
                  <a:pt x="1429" y="0"/>
                  <a:pt x="1429" y="0"/>
                </a:cubicBezTo>
              </a:path>
            </a:pathLst>
          </a:custGeom>
          <a:solidFill>
            <a:srgbClr val="0097A9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3" name="Freeform 331">
            <a:extLst>
              <a:ext uri="{FF2B5EF4-FFF2-40B4-BE49-F238E27FC236}">
                <a16:creationId xmlns:a16="http://schemas.microsoft.com/office/drawing/2014/main" id="{1408F4B8-A149-4117-A4E6-AD87765C648F}"/>
              </a:ext>
            </a:extLst>
          </p:cNvPr>
          <p:cNvSpPr>
            <a:spLocks/>
          </p:cNvSpPr>
          <p:nvPr/>
        </p:nvSpPr>
        <p:spPr bwMode="auto">
          <a:xfrm>
            <a:off x="3896408" y="2482231"/>
            <a:ext cx="2588869" cy="3550297"/>
          </a:xfrm>
          <a:custGeom>
            <a:avLst/>
            <a:gdLst>
              <a:gd name="T0" fmla="*/ 1432 w 1432"/>
              <a:gd name="T1" fmla="*/ 0 h 1961"/>
              <a:gd name="T2" fmla="*/ 1300 w 1432"/>
              <a:gd name="T3" fmla="*/ 22 h 1961"/>
              <a:gd name="T4" fmla="*/ 1093 w 1432"/>
              <a:gd name="T5" fmla="*/ 170 h 1961"/>
              <a:gd name="T6" fmla="*/ 949 w 1432"/>
              <a:gd name="T7" fmla="*/ 383 h 1961"/>
              <a:gd name="T8" fmla="*/ 740 w 1432"/>
              <a:gd name="T9" fmla="*/ 863 h 1961"/>
              <a:gd name="T10" fmla="*/ 594 w 1432"/>
              <a:gd name="T11" fmla="*/ 1248 h 1961"/>
              <a:gd name="T12" fmla="*/ 343 w 1432"/>
              <a:gd name="T13" fmla="*/ 1727 h 1961"/>
              <a:gd name="T14" fmla="*/ 187 w 1432"/>
              <a:gd name="T15" fmla="*/ 1871 h 1961"/>
              <a:gd name="T16" fmla="*/ 0 w 1432"/>
              <a:gd name="T17" fmla="*/ 1923 h 1961"/>
              <a:gd name="T18" fmla="*/ 0 w 1432"/>
              <a:gd name="T19" fmla="*/ 1961 h 1961"/>
              <a:gd name="T20" fmla="*/ 133 w 1432"/>
              <a:gd name="T21" fmla="*/ 1938 h 1961"/>
              <a:gd name="T22" fmla="*/ 339 w 1432"/>
              <a:gd name="T23" fmla="*/ 1790 h 1961"/>
              <a:gd name="T24" fmla="*/ 484 w 1432"/>
              <a:gd name="T25" fmla="*/ 1578 h 1961"/>
              <a:gd name="T26" fmla="*/ 693 w 1432"/>
              <a:gd name="T27" fmla="*/ 1097 h 1961"/>
              <a:gd name="T28" fmla="*/ 838 w 1432"/>
              <a:gd name="T29" fmla="*/ 713 h 1961"/>
              <a:gd name="T30" fmla="*/ 1089 w 1432"/>
              <a:gd name="T31" fmla="*/ 233 h 1961"/>
              <a:gd name="T32" fmla="*/ 1245 w 1432"/>
              <a:gd name="T33" fmla="*/ 89 h 1961"/>
              <a:gd name="T34" fmla="*/ 1432 w 1432"/>
              <a:gd name="T35" fmla="*/ 37 h 1961"/>
              <a:gd name="T36" fmla="*/ 1432 w 1432"/>
              <a:gd name="T37" fmla="*/ 0 h 1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32" h="1961">
                <a:moveTo>
                  <a:pt x="1432" y="0"/>
                </a:moveTo>
                <a:cubicBezTo>
                  <a:pt x="1385" y="0"/>
                  <a:pt x="1341" y="8"/>
                  <a:pt x="1300" y="22"/>
                </a:cubicBezTo>
                <a:cubicBezTo>
                  <a:pt x="1222" y="50"/>
                  <a:pt x="1154" y="102"/>
                  <a:pt x="1093" y="170"/>
                </a:cubicBezTo>
                <a:cubicBezTo>
                  <a:pt x="1040" y="230"/>
                  <a:pt x="993" y="302"/>
                  <a:pt x="949" y="383"/>
                </a:cubicBezTo>
                <a:cubicBezTo>
                  <a:pt x="871" y="524"/>
                  <a:pt x="805" y="691"/>
                  <a:pt x="740" y="863"/>
                </a:cubicBezTo>
                <a:cubicBezTo>
                  <a:pt x="692" y="992"/>
                  <a:pt x="644" y="1123"/>
                  <a:pt x="594" y="1248"/>
                </a:cubicBezTo>
                <a:cubicBezTo>
                  <a:pt x="520" y="1434"/>
                  <a:pt x="439" y="1605"/>
                  <a:pt x="343" y="1727"/>
                </a:cubicBezTo>
                <a:cubicBezTo>
                  <a:pt x="296" y="1788"/>
                  <a:pt x="244" y="1838"/>
                  <a:pt x="187" y="1871"/>
                </a:cubicBezTo>
                <a:cubicBezTo>
                  <a:pt x="131" y="1905"/>
                  <a:pt x="69" y="1923"/>
                  <a:pt x="0" y="1923"/>
                </a:cubicBezTo>
                <a:cubicBezTo>
                  <a:pt x="0" y="1961"/>
                  <a:pt x="0" y="1961"/>
                  <a:pt x="0" y="1961"/>
                </a:cubicBezTo>
                <a:cubicBezTo>
                  <a:pt x="47" y="1961"/>
                  <a:pt x="91" y="1953"/>
                  <a:pt x="133" y="1938"/>
                </a:cubicBezTo>
                <a:cubicBezTo>
                  <a:pt x="211" y="1910"/>
                  <a:pt x="279" y="1859"/>
                  <a:pt x="339" y="1790"/>
                </a:cubicBezTo>
                <a:cubicBezTo>
                  <a:pt x="392" y="1731"/>
                  <a:pt x="440" y="1659"/>
                  <a:pt x="484" y="1578"/>
                </a:cubicBezTo>
                <a:cubicBezTo>
                  <a:pt x="561" y="1437"/>
                  <a:pt x="628" y="1269"/>
                  <a:pt x="693" y="1097"/>
                </a:cubicBezTo>
                <a:cubicBezTo>
                  <a:pt x="741" y="968"/>
                  <a:pt x="788" y="837"/>
                  <a:pt x="838" y="713"/>
                </a:cubicBezTo>
                <a:cubicBezTo>
                  <a:pt x="913" y="526"/>
                  <a:pt x="993" y="356"/>
                  <a:pt x="1089" y="233"/>
                </a:cubicBezTo>
                <a:cubicBezTo>
                  <a:pt x="1137" y="172"/>
                  <a:pt x="1189" y="123"/>
                  <a:pt x="1245" y="89"/>
                </a:cubicBezTo>
                <a:cubicBezTo>
                  <a:pt x="1302" y="56"/>
                  <a:pt x="1363" y="37"/>
                  <a:pt x="1432" y="37"/>
                </a:cubicBezTo>
                <a:cubicBezTo>
                  <a:pt x="1432" y="0"/>
                  <a:pt x="1432" y="0"/>
                  <a:pt x="1432" y="0"/>
                </a:cubicBezTo>
              </a:path>
            </a:pathLst>
          </a:custGeom>
          <a:solidFill>
            <a:srgbClr val="004F59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4" name="Freeform 332">
            <a:extLst>
              <a:ext uri="{FF2B5EF4-FFF2-40B4-BE49-F238E27FC236}">
                <a16:creationId xmlns:a16="http://schemas.microsoft.com/office/drawing/2014/main" id="{4081434B-78D6-4B2F-A535-1D6D90767469}"/>
              </a:ext>
            </a:extLst>
          </p:cNvPr>
          <p:cNvSpPr>
            <a:spLocks/>
          </p:cNvSpPr>
          <p:nvPr/>
        </p:nvSpPr>
        <p:spPr bwMode="auto">
          <a:xfrm>
            <a:off x="1354504" y="4018365"/>
            <a:ext cx="2363283" cy="864748"/>
          </a:xfrm>
          <a:custGeom>
            <a:avLst/>
            <a:gdLst>
              <a:gd name="T0" fmla="*/ 1307 w 1307"/>
              <a:gd name="T1" fmla="*/ 0 h 479"/>
              <a:gd name="T2" fmla="*/ 913 w 1307"/>
              <a:gd name="T3" fmla="*/ 71 h 479"/>
              <a:gd name="T4" fmla="*/ 706 w 1307"/>
              <a:gd name="T5" fmla="*/ 184 h 479"/>
              <a:gd name="T6" fmla="*/ 567 w 1307"/>
              <a:gd name="T7" fmla="*/ 276 h 479"/>
              <a:gd name="T8" fmla="*/ 333 w 1307"/>
              <a:gd name="T9" fmla="*/ 394 h 479"/>
              <a:gd name="T10" fmla="*/ 0 w 1307"/>
              <a:gd name="T11" fmla="*/ 444 h 479"/>
              <a:gd name="T12" fmla="*/ 0 w 1307"/>
              <a:gd name="T13" fmla="*/ 479 h 479"/>
              <a:gd name="T14" fmla="*/ 1 w 1307"/>
              <a:gd name="T15" fmla="*/ 479 h 479"/>
              <a:gd name="T16" fmla="*/ 395 w 1307"/>
              <a:gd name="T17" fmla="*/ 408 h 479"/>
              <a:gd name="T18" fmla="*/ 602 w 1307"/>
              <a:gd name="T19" fmla="*/ 295 h 479"/>
              <a:gd name="T20" fmla="*/ 741 w 1307"/>
              <a:gd name="T21" fmla="*/ 203 h 479"/>
              <a:gd name="T22" fmla="*/ 975 w 1307"/>
              <a:gd name="T23" fmla="*/ 85 h 479"/>
              <a:gd name="T24" fmla="*/ 1307 w 1307"/>
              <a:gd name="T25" fmla="*/ 35 h 479"/>
              <a:gd name="T26" fmla="*/ 1307 w 1307"/>
              <a:gd name="T27" fmla="*/ 0 h 479"/>
              <a:gd name="T28" fmla="*/ 1307 w 1307"/>
              <a:gd name="T29" fmla="*/ 0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07" h="479">
                <a:moveTo>
                  <a:pt x="1307" y="0"/>
                </a:moveTo>
                <a:cubicBezTo>
                  <a:pt x="1142" y="0"/>
                  <a:pt x="1017" y="29"/>
                  <a:pt x="913" y="71"/>
                </a:cubicBezTo>
                <a:cubicBezTo>
                  <a:pt x="835" y="103"/>
                  <a:pt x="769" y="142"/>
                  <a:pt x="706" y="184"/>
                </a:cubicBezTo>
                <a:cubicBezTo>
                  <a:pt x="659" y="214"/>
                  <a:pt x="614" y="246"/>
                  <a:pt x="567" y="276"/>
                </a:cubicBezTo>
                <a:cubicBezTo>
                  <a:pt x="497" y="322"/>
                  <a:pt x="424" y="363"/>
                  <a:pt x="333" y="394"/>
                </a:cubicBezTo>
                <a:cubicBezTo>
                  <a:pt x="243" y="424"/>
                  <a:pt x="137" y="444"/>
                  <a:pt x="0" y="444"/>
                </a:cubicBezTo>
                <a:cubicBezTo>
                  <a:pt x="0" y="479"/>
                  <a:pt x="0" y="479"/>
                  <a:pt x="0" y="479"/>
                </a:cubicBezTo>
                <a:cubicBezTo>
                  <a:pt x="1" y="479"/>
                  <a:pt x="1" y="479"/>
                  <a:pt x="1" y="479"/>
                </a:cubicBezTo>
                <a:cubicBezTo>
                  <a:pt x="166" y="479"/>
                  <a:pt x="291" y="450"/>
                  <a:pt x="395" y="408"/>
                </a:cubicBezTo>
                <a:cubicBezTo>
                  <a:pt x="473" y="376"/>
                  <a:pt x="539" y="337"/>
                  <a:pt x="602" y="295"/>
                </a:cubicBezTo>
                <a:cubicBezTo>
                  <a:pt x="649" y="265"/>
                  <a:pt x="694" y="233"/>
                  <a:pt x="741" y="203"/>
                </a:cubicBezTo>
                <a:cubicBezTo>
                  <a:pt x="811" y="158"/>
                  <a:pt x="884" y="116"/>
                  <a:pt x="975" y="85"/>
                </a:cubicBezTo>
                <a:cubicBezTo>
                  <a:pt x="1065" y="55"/>
                  <a:pt x="1171" y="35"/>
                  <a:pt x="1307" y="35"/>
                </a:cubicBezTo>
                <a:cubicBezTo>
                  <a:pt x="1307" y="0"/>
                  <a:pt x="1307" y="0"/>
                  <a:pt x="1307" y="0"/>
                </a:cubicBezTo>
                <a:cubicBezTo>
                  <a:pt x="1307" y="0"/>
                  <a:pt x="1307" y="0"/>
                  <a:pt x="1307" y="0"/>
                </a:cubicBezTo>
              </a:path>
            </a:pathLst>
          </a:custGeom>
          <a:solidFill>
            <a:srgbClr val="C4D600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5" name="Freeform 333">
            <a:extLst>
              <a:ext uri="{FF2B5EF4-FFF2-40B4-BE49-F238E27FC236}">
                <a16:creationId xmlns:a16="http://schemas.microsoft.com/office/drawing/2014/main" id="{E82FA323-6E48-408D-B33D-35C1A4675198}"/>
              </a:ext>
            </a:extLst>
          </p:cNvPr>
          <p:cNvSpPr>
            <a:spLocks/>
          </p:cNvSpPr>
          <p:nvPr/>
        </p:nvSpPr>
        <p:spPr bwMode="auto">
          <a:xfrm>
            <a:off x="1354504" y="3201958"/>
            <a:ext cx="2352540" cy="2245119"/>
          </a:xfrm>
          <a:custGeom>
            <a:avLst/>
            <a:gdLst>
              <a:gd name="T0" fmla="*/ 0 w 1303"/>
              <a:gd name="T1" fmla="*/ 0 h 1240"/>
              <a:gd name="T2" fmla="*/ 0 w 1303"/>
              <a:gd name="T3" fmla="*/ 0 h 1240"/>
              <a:gd name="T4" fmla="*/ 0 w 1303"/>
              <a:gd name="T5" fmla="*/ 30 h 1240"/>
              <a:gd name="T6" fmla="*/ 209 w 1303"/>
              <a:gd name="T7" fmla="*/ 80 h 1240"/>
              <a:gd name="T8" fmla="*/ 357 w 1303"/>
              <a:gd name="T9" fmla="*/ 194 h 1240"/>
              <a:gd name="T10" fmla="*/ 565 w 1303"/>
              <a:gd name="T11" fmla="*/ 494 h 1240"/>
              <a:gd name="T12" fmla="*/ 707 w 1303"/>
              <a:gd name="T13" fmla="*/ 752 h 1240"/>
              <a:gd name="T14" fmla="*/ 949 w 1303"/>
              <a:gd name="T15" fmla="*/ 1092 h 1240"/>
              <a:gd name="T16" fmla="*/ 1107 w 1303"/>
              <a:gd name="T17" fmla="*/ 1200 h 1240"/>
              <a:gd name="T18" fmla="*/ 1303 w 1303"/>
              <a:gd name="T19" fmla="*/ 1240 h 1240"/>
              <a:gd name="T20" fmla="*/ 1303 w 1303"/>
              <a:gd name="T21" fmla="*/ 1240 h 1240"/>
              <a:gd name="T22" fmla="*/ 1303 w 1303"/>
              <a:gd name="T23" fmla="*/ 1210 h 1240"/>
              <a:gd name="T24" fmla="*/ 1093 w 1303"/>
              <a:gd name="T25" fmla="*/ 1160 h 1240"/>
              <a:gd name="T26" fmla="*/ 946 w 1303"/>
              <a:gd name="T27" fmla="*/ 1047 h 1240"/>
              <a:gd name="T28" fmla="*/ 737 w 1303"/>
              <a:gd name="T29" fmla="*/ 747 h 1240"/>
              <a:gd name="T30" fmla="*/ 596 w 1303"/>
              <a:gd name="T31" fmla="*/ 488 h 1240"/>
              <a:gd name="T32" fmla="*/ 353 w 1303"/>
              <a:gd name="T33" fmla="*/ 149 h 1240"/>
              <a:gd name="T34" fmla="*/ 195 w 1303"/>
              <a:gd name="T35" fmla="*/ 41 h 1240"/>
              <a:gd name="T36" fmla="*/ 0 w 1303"/>
              <a:gd name="T37" fmla="*/ 0 h 1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303" h="124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"/>
                  <a:pt x="0" y="30"/>
                  <a:pt x="0" y="30"/>
                </a:cubicBezTo>
                <a:cubicBezTo>
                  <a:pt x="79" y="30"/>
                  <a:pt x="147" y="48"/>
                  <a:pt x="209" y="80"/>
                </a:cubicBezTo>
                <a:cubicBezTo>
                  <a:pt x="263" y="109"/>
                  <a:pt x="312" y="147"/>
                  <a:pt x="357" y="194"/>
                </a:cubicBezTo>
                <a:cubicBezTo>
                  <a:pt x="435" y="275"/>
                  <a:pt x="502" y="381"/>
                  <a:pt x="565" y="494"/>
                </a:cubicBezTo>
                <a:cubicBezTo>
                  <a:pt x="613" y="578"/>
                  <a:pt x="659" y="667"/>
                  <a:pt x="707" y="752"/>
                </a:cubicBezTo>
                <a:cubicBezTo>
                  <a:pt x="778" y="881"/>
                  <a:pt x="855" y="1002"/>
                  <a:pt x="949" y="1092"/>
                </a:cubicBezTo>
                <a:cubicBezTo>
                  <a:pt x="997" y="1137"/>
                  <a:pt x="1049" y="1174"/>
                  <a:pt x="1107" y="1200"/>
                </a:cubicBezTo>
                <a:cubicBezTo>
                  <a:pt x="1166" y="1225"/>
                  <a:pt x="1231" y="1240"/>
                  <a:pt x="1303" y="1240"/>
                </a:cubicBezTo>
                <a:cubicBezTo>
                  <a:pt x="1303" y="1240"/>
                  <a:pt x="1303" y="1240"/>
                  <a:pt x="1303" y="1240"/>
                </a:cubicBezTo>
                <a:cubicBezTo>
                  <a:pt x="1303" y="1210"/>
                  <a:pt x="1303" y="1210"/>
                  <a:pt x="1303" y="1210"/>
                </a:cubicBezTo>
                <a:cubicBezTo>
                  <a:pt x="1224" y="1210"/>
                  <a:pt x="1155" y="1192"/>
                  <a:pt x="1093" y="1160"/>
                </a:cubicBezTo>
                <a:cubicBezTo>
                  <a:pt x="1039" y="1132"/>
                  <a:pt x="991" y="1093"/>
                  <a:pt x="946" y="1047"/>
                </a:cubicBezTo>
                <a:cubicBezTo>
                  <a:pt x="868" y="965"/>
                  <a:pt x="801" y="859"/>
                  <a:pt x="737" y="747"/>
                </a:cubicBezTo>
                <a:cubicBezTo>
                  <a:pt x="690" y="662"/>
                  <a:pt x="644" y="573"/>
                  <a:pt x="596" y="488"/>
                </a:cubicBezTo>
                <a:cubicBezTo>
                  <a:pt x="524" y="360"/>
                  <a:pt x="448" y="239"/>
                  <a:pt x="353" y="149"/>
                </a:cubicBezTo>
                <a:cubicBezTo>
                  <a:pt x="306" y="104"/>
                  <a:pt x="254" y="67"/>
                  <a:pt x="195" y="41"/>
                </a:cubicBezTo>
                <a:cubicBezTo>
                  <a:pt x="137" y="15"/>
                  <a:pt x="72" y="0"/>
                  <a:pt x="0" y="0"/>
                </a:cubicBezTo>
              </a:path>
            </a:pathLst>
          </a:custGeom>
          <a:solidFill>
            <a:srgbClr val="009A4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6" name="Freeform 334">
            <a:extLst>
              <a:ext uri="{FF2B5EF4-FFF2-40B4-BE49-F238E27FC236}">
                <a16:creationId xmlns:a16="http://schemas.microsoft.com/office/drawing/2014/main" id="{32F6A469-13F8-4DFC-9F60-6F5740E19D71}"/>
              </a:ext>
            </a:extLst>
          </p:cNvPr>
          <p:cNvSpPr>
            <a:spLocks/>
          </p:cNvSpPr>
          <p:nvPr/>
        </p:nvSpPr>
        <p:spPr bwMode="auto">
          <a:xfrm>
            <a:off x="3891035" y="4716608"/>
            <a:ext cx="2594242" cy="1471681"/>
          </a:xfrm>
          <a:custGeom>
            <a:avLst/>
            <a:gdLst>
              <a:gd name="T0" fmla="*/ 1432 w 1433"/>
              <a:gd name="T1" fmla="*/ 0 h 812"/>
              <a:gd name="T2" fmla="*/ 1002 w 1433"/>
              <a:gd name="T3" fmla="*/ 125 h 812"/>
              <a:gd name="T4" fmla="*/ 777 w 1433"/>
              <a:gd name="T5" fmla="*/ 325 h 812"/>
              <a:gd name="T6" fmla="*/ 460 w 1433"/>
              <a:gd name="T7" fmla="*/ 642 h 812"/>
              <a:gd name="T8" fmla="*/ 261 w 1433"/>
              <a:gd name="T9" fmla="*/ 750 h 812"/>
              <a:gd name="T10" fmla="*/ 0 w 1433"/>
              <a:gd name="T11" fmla="*/ 792 h 812"/>
              <a:gd name="T12" fmla="*/ 0 w 1433"/>
              <a:gd name="T13" fmla="*/ 812 h 812"/>
              <a:gd name="T14" fmla="*/ 1 w 1433"/>
              <a:gd name="T15" fmla="*/ 812 h 812"/>
              <a:gd name="T16" fmla="*/ 431 w 1433"/>
              <a:gd name="T17" fmla="*/ 687 h 812"/>
              <a:gd name="T18" fmla="*/ 656 w 1433"/>
              <a:gd name="T19" fmla="*/ 487 h 812"/>
              <a:gd name="T20" fmla="*/ 972 w 1433"/>
              <a:gd name="T21" fmla="*/ 171 h 812"/>
              <a:gd name="T22" fmla="*/ 1172 w 1433"/>
              <a:gd name="T23" fmla="*/ 62 h 812"/>
              <a:gd name="T24" fmla="*/ 1433 w 1433"/>
              <a:gd name="T25" fmla="*/ 20 h 812"/>
              <a:gd name="T26" fmla="*/ 1433 w 1433"/>
              <a:gd name="T27" fmla="*/ 0 h 812"/>
              <a:gd name="T28" fmla="*/ 1432 w 1433"/>
              <a:gd name="T29" fmla="*/ 0 h 8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33" h="812">
                <a:moveTo>
                  <a:pt x="1432" y="0"/>
                </a:moveTo>
                <a:cubicBezTo>
                  <a:pt x="1252" y="0"/>
                  <a:pt x="1115" y="50"/>
                  <a:pt x="1002" y="125"/>
                </a:cubicBezTo>
                <a:cubicBezTo>
                  <a:pt x="917" y="182"/>
                  <a:pt x="845" y="252"/>
                  <a:pt x="777" y="325"/>
                </a:cubicBezTo>
                <a:cubicBezTo>
                  <a:pt x="674" y="435"/>
                  <a:pt x="579" y="552"/>
                  <a:pt x="460" y="642"/>
                </a:cubicBezTo>
                <a:cubicBezTo>
                  <a:pt x="401" y="686"/>
                  <a:pt x="336" y="724"/>
                  <a:pt x="261" y="750"/>
                </a:cubicBezTo>
                <a:cubicBezTo>
                  <a:pt x="185" y="777"/>
                  <a:pt x="100" y="792"/>
                  <a:pt x="0" y="792"/>
                </a:cubicBezTo>
                <a:cubicBezTo>
                  <a:pt x="0" y="812"/>
                  <a:pt x="0" y="812"/>
                  <a:pt x="0" y="812"/>
                </a:cubicBezTo>
                <a:cubicBezTo>
                  <a:pt x="0" y="812"/>
                  <a:pt x="0" y="812"/>
                  <a:pt x="1" y="812"/>
                </a:cubicBezTo>
                <a:cubicBezTo>
                  <a:pt x="181" y="812"/>
                  <a:pt x="318" y="762"/>
                  <a:pt x="431" y="687"/>
                </a:cubicBezTo>
                <a:cubicBezTo>
                  <a:pt x="516" y="630"/>
                  <a:pt x="588" y="560"/>
                  <a:pt x="656" y="487"/>
                </a:cubicBezTo>
                <a:cubicBezTo>
                  <a:pt x="759" y="377"/>
                  <a:pt x="854" y="260"/>
                  <a:pt x="972" y="171"/>
                </a:cubicBezTo>
                <a:cubicBezTo>
                  <a:pt x="1032" y="126"/>
                  <a:pt x="1097" y="88"/>
                  <a:pt x="1172" y="62"/>
                </a:cubicBezTo>
                <a:cubicBezTo>
                  <a:pt x="1248" y="35"/>
                  <a:pt x="1333" y="20"/>
                  <a:pt x="1433" y="20"/>
                </a:cubicBezTo>
                <a:cubicBezTo>
                  <a:pt x="1433" y="0"/>
                  <a:pt x="1433" y="0"/>
                  <a:pt x="1433" y="0"/>
                </a:cubicBezTo>
                <a:cubicBezTo>
                  <a:pt x="1433" y="0"/>
                  <a:pt x="1432" y="0"/>
                  <a:pt x="1432" y="0"/>
                </a:cubicBezTo>
              </a:path>
            </a:pathLst>
          </a:custGeom>
          <a:solidFill>
            <a:srgbClr val="00ABAB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9" name="Rectangle 337">
            <a:extLst>
              <a:ext uri="{FF2B5EF4-FFF2-40B4-BE49-F238E27FC236}">
                <a16:creationId xmlns:a16="http://schemas.microsoft.com/office/drawing/2014/main" id="{2CC0A793-FEBA-4516-8C18-1E81A1A9A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143" y="3449029"/>
            <a:ext cx="85938" cy="370607"/>
          </a:xfrm>
          <a:prstGeom prst="rect">
            <a:avLst/>
          </a:prstGeom>
          <a:solidFill>
            <a:srgbClr val="43B0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0" name="Rectangle 338">
            <a:extLst>
              <a:ext uri="{FF2B5EF4-FFF2-40B4-BE49-F238E27FC236}">
                <a16:creationId xmlns:a16="http://schemas.microsoft.com/office/drawing/2014/main" id="{C58BADB5-17B4-49E0-B35E-BED01EA34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2390924"/>
            <a:ext cx="85938" cy="623047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1" name="Rectangle 339">
            <a:extLst>
              <a:ext uri="{FF2B5EF4-FFF2-40B4-BE49-F238E27FC236}">
                <a16:creationId xmlns:a16="http://schemas.microsoft.com/office/drawing/2014/main" id="{3F4F5C48-E930-4A7F-9EA9-9FD03670C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3604792"/>
            <a:ext cx="91310" cy="47818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2" name="Rectangle 340">
            <a:extLst>
              <a:ext uri="{FF2B5EF4-FFF2-40B4-BE49-F238E27FC236}">
                <a16:creationId xmlns:a16="http://schemas.microsoft.com/office/drawing/2014/main" id="{3A15C35B-6FBA-4475-A40C-519794931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4233209"/>
            <a:ext cx="85938" cy="418946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3" name="Rectangle 341">
            <a:extLst>
              <a:ext uri="{FF2B5EF4-FFF2-40B4-BE49-F238E27FC236}">
                <a16:creationId xmlns:a16="http://schemas.microsoft.com/office/drawing/2014/main" id="{28646F73-1D88-4909-B214-F3AD096D5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143" y="2074028"/>
            <a:ext cx="85938" cy="537110"/>
          </a:xfrm>
          <a:prstGeom prst="rect">
            <a:avLst/>
          </a:prstGeom>
          <a:solidFill>
            <a:srgbClr val="2C52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4" name="Rectangle 342">
            <a:extLst>
              <a:ext uri="{FF2B5EF4-FFF2-40B4-BE49-F238E27FC236}">
                <a16:creationId xmlns:a16="http://schemas.microsoft.com/office/drawing/2014/main" id="{5C1AC4F8-3898-45BF-B7F8-CA577F5C4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143" y="2858208"/>
            <a:ext cx="85938" cy="397461"/>
          </a:xfrm>
          <a:prstGeom prst="rect">
            <a:avLst/>
          </a:prstGeom>
          <a:solidFill>
            <a:srgbClr val="009A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5" name="Rectangle 343">
            <a:extLst>
              <a:ext uri="{FF2B5EF4-FFF2-40B4-BE49-F238E27FC236}">
                <a16:creationId xmlns:a16="http://schemas.microsoft.com/office/drawing/2014/main" id="{948605BD-F7F4-4AEB-82BE-A2ACF0139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5393366"/>
            <a:ext cx="85938" cy="5371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6" name="Rectangle 344">
            <a:extLst>
              <a:ext uri="{FF2B5EF4-FFF2-40B4-BE49-F238E27FC236}">
                <a16:creationId xmlns:a16="http://schemas.microsoft.com/office/drawing/2014/main" id="{13D93F30-9480-49F8-928E-FDF6E1B5E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143" y="4179498"/>
            <a:ext cx="85938" cy="295412"/>
          </a:xfrm>
          <a:prstGeom prst="rect">
            <a:avLst/>
          </a:prstGeom>
          <a:solidFill>
            <a:srgbClr val="86BC2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7" name="Rectangle 345">
            <a:extLst>
              <a:ext uri="{FF2B5EF4-FFF2-40B4-BE49-F238E27FC236}">
                <a16:creationId xmlns:a16="http://schemas.microsoft.com/office/drawing/2014/main" id="{BFD6268E-65F5-4190-AAD7-7FE85B25B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4743465"/>
            <a:ext cx="85938" cy="9668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8" name="Rectangle 346">
            <a:extLst>
              <a:ext uri="{FF2B5EF4-FFF2-40B4-BE49-F238E27FC236}">
                <a16:creationId xmlns:a16="http://schemas.microsoft.com/office/drawing/2014/main" id="{50A1ADD2-7F71-478E-8F36-F655C3E28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143" y="4820220"/>
            <a:ext cx="85938" cy="214844"/>
          </a:xfrm>
          <a:prstGeom prst="rect">
            <a:avLst/>
          </a:prstGeom>
          <a:solidFill>
            <a:srgbClr val="C4D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9" name="Rectangle 347">
            <a:extLst>
              <a:ext uri="{FF2B5EF4-FFF2-40B4-BE49-F238E27FC236}">
                <a16:creationId xmlns:a16="http://schemas.microsoft.com/office/drawing/2014/main" id="{C48019D3-5ABF-40BC-B0D8-5E181EC28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4963678"/>
            <a:ext cx="85938" cy="8056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0" name="Rectangle 348">
            <a:extLst>
              <a:ext uri="{FF2B5EF4-FFF2-40B4-BE49-F238E27FC236}">
                <a16:creationId xmlns:a16="http://schemas.microsoft.com/office/drawing/2014/main" id="{1806F230-7CAA-4111-9408-FF078239E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5162411"/>
            <a:ext cx="85938" cy="7519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414" name="Freeform 411">
            <a:extLst>
              <a:ext uri="{FF2B5EF4-FFF2-40B4-BE49-F238E27FC236}">
                <a16:creationId xmlns:a16="http://schemas.microsoft.com/office/drawing/2014/main" id="{551E4F44-23A7-45DB-BD67-705B6767EC11}"/>
              </a:ext>
            </a:extLst>
          </p:cNvPr>
          <p:cNvSpPr>
            <a:spLocks/>
          </p:cNvSpPr>
          <p:nvPr/>
        </p:nvSpPr>
        <p:spPr bwMode="auto">
          <a:xfrm>
            <a:off x="3891295" y="3445997"/>
            <a:ext cx="2593981" cy="1206597"/>
          </a:xfrm>
          <a:custGeom>
            <a:avLst/>
            <a:gdLst>
              <a:gd name="T0" fmla="*/ 1428 w 1428"/>
              <a:gd name="T1" fmla="*/ 0 h 665"/>
              <a:gd name="T2" fmla="*/ 1000 w 1428"/>
              <a:gd name="T3" fmla="*/ 102 h 665"/>
              <a:gd name="T4" fmla="*/ 776 w 1428"/>
              <a:gd name="T5" fmla="*/ 266 h 665"/>
              <a:gd name="T6" fmla="*/ 461 w 1428"/>
              <a:gd name="T7" fmla="*/ 526 h 665"/>
              <a:gd name="T8" fmla="*/ 0 w 1428"/>
              <a:gd name="T9" fmla="*/ 650 h 665"/>
              <a:gd name="T10" fmla="*/ 0 w 1428"/>
              <a:gd name="T11" fmla="*/ 665 h 665"/>
              <a:gd name="T12" fmla="*/ 0 w 1428"/>
              <a:gd name="T13" fmla="*/ 665 h 665"/>
              <a:gd name="T14" fmla="*/ 427 w 1428"/>
              <a:gd name="T15" fmla="*/ 563 h 665"/>
              <a:gd name="T16" fmla="*/ 652 w 1428"/>
              <a:gd name="T17" fmla="*/ 399 h 665"/>
              <a:gd name="T18" fmla="*/ 967 w 1428"/>
              <a:gd name="T19" fmla="*/ 139 h 665"/>
              <a:gd name="T20" fmla="*/ 1428 w 1428"/>
              <a:gd name="T21" fmla="*/ 15 h 665"/>
              <a:gd name="T22" fmla="*/ 1428 w 1428"/>
              <a:gd name="T23" fmla="*/ 0 h 665"/>
              <a:gd name="T24" fmla="*/ 1428 w 1428"/>
              <a:gd name="T25" fmla="*/ 0 h 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28" h="665">
                <a:moveTo>
                  <a:pt x="1428" y="0"/>
                </a:moveTo>
                <a:cubicBezTo>
                  <a:pt x="1248" y="0"/>
                  <a:pt x="1113" y="41"/>
                  <a:pt x="1000" y="102"/>
                </a:cubicBezTo>
                <a:cubicBezTo>
                  <a:pt x="916" y="148"/>
                  <a:pt x="844" y="206"/>
                  <a:pt x="776" y="266"/>
                </a:cubicBezTo>
                <a:cubicBezTo>
                  <a:pt x="674" y="356"/>
                  <a:pt x="579" y="452"/>
                  <a:pt x="461" y="526"/>
                </a:cubicBezTo>
                <a:cubicBezTo>
                  <a:pt x="342" y="599"/>
                  <a:pt x="199" y="650"/>
                  <a:pt x="0" y="650"/>
                </a:cubicBezTo>
                <a:cubicBezTo>
                  <a:pt x="0" y="665"/>
                  <a:pt x="0" y="665"/>
                  <a:pt x="0" y="665"/>
                </a:cubicBezTo>
                <a:cubicBezTo>
                  <a:pt x="0" y="665"/>
                  <a:pt x="0" y="665"/>
                  <a:pt x="0" y="665"/>
                </a:cubicBezTo>
                <a:cubicBezTo>
                  <a:pt x="179" y="665"/>
                  <a:pt x="315" y="624"/>
                  <a:pt x="427" y="563"/>
                </a:cubicBezTo>
                <a:cubicBezTo>
                  <a:pt x="512" y="516"/>
                  <a:pt x="583" y="459"/>
                  <a:pt x="652" y="399"/>
                </a:cubicBezTo>
                <a:cubicBezTo>
                  <a:pt x="754" y="308"/>
                  <a:pt x="849" y="212"/>
                  <a:pt x="967" y="139"/>
                </a:cubicBezTo>
                <a:cubicBezTo>
                  <a:pt x="1086" y="66"/>
                  <a:pt x="1229" y="15"/>
                  <a:pt x="1428" y="15"/>
                </a:cubicBezTo>
                <a:cubicBezTo>
                  <a:pt x="1428" y="0"/>
                  <a:pt x="1428" y="0"/>
                  <a:pt x="1428" y="0"/>
                </a:cubicBezTo>
                <a:cubicBezTo>
                  <a:pt x="1428" y="0"/>
                  <a:pt x="1428" y="0"/>
                  <a:pt x="1428" y="0"/>
                </a:cubicBezTo>
              </a:path>
            </a:pathLst>
          </a:custGeom>
          <a:solidFill>
            <a:srgbClr val="007680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86" name="Rectangle 384">
            <a:extLst>
              <a:ext uri="{FF2B5EF4-FFF2-40B4-BE49-F238E27FC236}">
                <a16:creationId xmlns:a16="http://schemas.microsoft.com/office/drawing/2014/main" id="{71CB3968-C2F1-48A8-95D9-2C93E7D20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795" y="2213677"/>
            <a:ext cx="296333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3.44</a:t>
            </a:r>
          </a:p>
        </p:txBody>
      </p:sp>
      <p:sp>
        <p:nvSpPr>
          <p:cNvPr id="392" name="Rectangle 390">
            <a:extLst>
              <a:ext uri="{FF2B5EF4-FFF2-40B4-BE49-F238E27FC236}">
                <a16:creationId xmlns:a16="http://schemas.microsoft.com/office/drawing/2014/main" id="{C266ABDC-F0B8-4B08-8750-632CC9CE7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795" y="5019269"/>
            <a:ext cx="296333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2.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77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94" name="Rectangle 392">
            <a:extLst>
              <a:ext uri="{FF2B5EF4-FFF2-40B4-BE49-F238E27FC236}">
                <a16:creationId xmlns:a16="http://schemas.microsoft.com/office/drawing/2014/main" id="{8AFCF586-210A-4ED2-BB02-BE0458FF8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795" y="3865292"/>
            <a:ext cx="296333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2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45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02" name="Rectangle 400">
            <a:extLst>
              <a:ext uri="{FF2B5EF4-FFF2-40B4-BE49-F238E27FC236}">
                <a16:creationId xmlns:a16="http://schemas.microsoft.com/office/drawing/2014/main" id="{E38C8694-7228-4D58-8873-B0E4852A1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795" y="4464165"/>
            <a:ext cx="296333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2.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88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00" name="Rectangle 398">
            <a:extLst>
              <a:ext uri="{FF2B5EF4-FFF2-40B4-BE49-F238E27FC236}">
                <a16:creationId xmlns:a16="http://schemas.microsoft.com/office/drawing/2014/main" id="{E85A7444-8256-46A8-ACE7-3F81959C9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795" y="3299503"/>
            <a:ext cx="236869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3.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68" name="Rectangle 366">
            <a:extLst>
              <a:ext uri="{FF2B5EF4-FFF2-40B4-BE49-F238E27FC236}">
                <a16:creationId xmlns:a16="http://schemas.microsoft.com/office/drawing/2014/main" id="{5A0F3750-FEE6-40DA-B581-6EA8B5CF1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7364" y="4100226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3.0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6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78" name="Rectangle 376">
            <a:extLst>
              <a:ext uri="{FF2B5EF4-FFF2-40B4-BE49-F238E27FC236}">
                <a16:creationId xmlns:a16="http://schemas.microsoft.com/office/drawing/2014/main" id="{09A80186-DE7B-424A-B59C-4892308EE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2062900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65" name="Rectangle 363">
            <a:extLst>
              <a:ext uri="{FF2B5EF4-FFF2-40B4-BE49-F238E27FC236}">
                <a16:creationId xmlns:a16="http://schemas.microsoft.com/office/drawing/2014/main" id="{8C98BBD5-F04E-453F-A166-72B1622DC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0968" y="2165914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4.5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6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66" name="Rectangle 364">
            <a:extLst>
              <a:ext uri="{FF2B5EF4-FFF2-40B4-BE49-F238E27FC236}">
                <a16:creationId xmlns:a16="http://schemas.microsoft.com/office/drawing/2014/main" id="{62D0E512-3B57-433A-A534-D5345C1F8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108" y="3450753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3.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35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89" name="Rectangle 387">
            <a:extLst>
              <a:ext uri="{FF2B5EF4-FFF2-40B4-BE49-F238E27FC236}">
                <a16:creationId xmlns:a16="http://schemas.microsoft.com/office/drawing/2014/main" id="{86BEC95D-D82B-4105-BE1B-64CE84AE8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190" y="3081010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6.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26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51" name="Rectangle 349">
            <a:extLst>
              <a:ext uri="{FF2B5EF4-FFF2-40B4-BE49-F238E27FC236}">
                <a16:creationId xmlns:a16="http://schemas.microsoft.com/office/drawing/2014/main" id="{BAF9D26C-E270-4DD7-8DCC-A1F265AE0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567" y="2074028"/>
            <a:ext cx="85938" cy="472657"/>
          </a:xfrm>
          <a:prstGeom prst="rect">
            <a:avLst/>
          </a:prstGeom>
          <a:solidFill>
            <a:srgbClr val="004F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5" name="Rectangle 353">
            <a:extLst>
              <a:ext uri="{FF2B5EF4-FFF2-40B4-BE49-F238E27FC236}">
                <a16:creationId xmlns:a16="http://schemas.microsoft.com/office/drawing/2014/main" id="{3A21C303-AB5D-41F5-90A4-5D7E7717D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567" y="4840145"/>
            <a:ext cx="85938" cy="359865"/>
          </a:xfrm>
          <a:prstGeom prst="rect">
            <a:avLst/>
          </a:prstGeom>
          <a:solidFill>
            <a:srgbClr val="6FC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6" name="Rectangle 354">
            <a:extLst>
              <a:ext uri="{FF2B5EF4-FFF2-40B4-BE49-F238E27FC236}">
                <a16:creationId xmlns:a16="http://schemas.microsoft.com/office/drawing/2014/main" id="{55CC3350-C8FC-4CB9-97D7-3099CE6EA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567" y="3701472"/>
            <a:ext cx="85938" cy="418946"/>
          </a:xfrm>
          <a:prstGeom prst="rect">
            <a:avLst/>
          </a:prstGeom>
          <a:solidFill>
            <a:srgbClr val="0097A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8" name="Rectangle 356">
            <a:extLst>
              <a:ext uri="{FF2B5EF4-FFF2-40B4-BE49-F238E27FC236}">
                <a16:creationId xmlns:a16="http://schemas.microsoft.com/office/drawing/2014/main" id="{E4A9BCE7-B25F-489A-8A0F-ABFB9CC66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567" y="3046198"/>
            <a:ext cx="85938" cy="424318"/>
          </a:xfrm>
          <a:prstGeom prst="rect">
            <a:avLst/>
          </a:prstGeom>
          <a:solidFill>
            <a:srgbClr val="0076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9" name="Rectangle 357">
            <a:extLst>
              <a:ext uri="{FF2B5EF4-FFF2-40B4-BE49-F238E27FC236}">
                <a16:creationId xmlns:a16="http://schemas.microsoft.com/office/drawing/2014/main" id="{2989ED8E-BDCB-4550-9B92-F1747567C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567" y="4351373"/>
            <a:ext cx="85938" cy="397461"/>
          </a:xfrm>
          <a:prstGeom prst="rect">
            <a:avLst/>
          </a:prstGeom>
          <a:solidFill>
            <a:srgbClr val="00AB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417" name="Rectangle 362">
            <a:extLst>
              <a:ext uri="{FF2B5EF4-FFF2-40B4-BE49-F238E27FC236}">
                <a16:creationId xmlns:a16="http://schemas.microsoft.com/office/drawing/2014/main" id="{3EF4981C-22B1-4752-BA27-320694246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146" y="3497370"/>
            <a:ext cx="5255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Russia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18" name="Rectangle 368">
            <a:extLst>
              <a:ext uri="{FF2B5EF4-FFF2-40B4-BE49-F238E27FC236}">
                <a16:creationId xmlns:a16="http://schemas.microsoft.com/office/drawing/2014/main" id="{330D2D61-5FED-4328-AB67-5DE938BBF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232" y="2145999"/>
            <a:ext cx="387469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Qatar</a:t>
            </a:r>
            <a:endParaRPr kumimoji="0" lang="ru-RU" altLang="ru-RU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19" name="Rectangle 370">
            <a:extLst>
              <a:ext uri="{FF2B5EF4-FFF2-40B4-BE49-F238E27FC236}">
                <a16:creationId xmlns:a16="http://schemas.microsoft.com/office/drawing/2014/main" id="{E2C36A5C-C39B-4EAA-9E78-0A29DFE51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094" y="2868412"/>
            <a:ext cx="29960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b="1">
                <a:solidFill>
                  <a:srgbClr val="000000"/>
                </a:solidFill>
                <a:latin typeface="+mj-lt"/>
              </a:rPr>
              <a:t>Iran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20" name="Rectangle 374">
            <a:extLst>
              <a:ext uri="{FF2B5EF4-FFF2-40B4-BE49-F238E27FC236}">
                <a16:creationId xmlns:a16="http://schemas.microsoft.com/office/drawing/2014/main" id="{F25A8CF2-51E8-4C1D-8CE7-637B928F8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946" y="4147813"/>
            <a:ext cx="8557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Saudi Arabia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21" name="Rectangle 378">
            <a:extLst>
              <a:ext uri="{FF2B5EF4-FFF2-40B4-BE49-F238E27FC236}">
                <a16:creationId xmlns:a16="http://schemas.microsoft.com/office/drawing/2014/main" id="{6848884D-6B03-4664-839E-5EB39D52C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146" y="4770322"/>
            <a:ext cx="5255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Egypt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22" name="Rectangle 362">
            <a:extLst>
              <a:ext uri="{FF2B5EF4-FFF2-40B4-BE49-F238E27FC236}">
                <a16:creationId xmlns:a16="http://schemas.microsoft.com/office/drawing/2014/main" id="{F58C7722-1A5C-4816-9E30-91E63661C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01" y="3151668"/>
            <a:ext cx="5255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Russia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24" name="Rectangle 370">
            <a:extLst>
              <a:ext uri="{FF2B5EF4-FFF2-40B4-BE49-F238E27FC236}">
                <a16:creationId xmlns:a16="http://schemas.microsoft.com/office/drawing/2014/main" id="{A8C1661D-B461-491D-81E3-F72EFB87B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01" y="2087857"/>
            <a:ext cx="72992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Morocco</a:t>
            </a:r>
            <a:endParaRPr kumimoji="0" lang="ru-RU" altLang="ru-RU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25" name="Rectangle 374">
            <a:extLst>
              <a:ext uri="{FF2B5EF4-FFF2-40B4-BE49-F238E27FC236}">
                <a16:creationId xmlns:a16="http://schemas.microsoft.com/office/drawing/2014/main" id="{E102F751-67F3-4AE3-98D7-DE3BF76C0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01" y="3711474"/>
            <a:ext cx="8557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Saudi Arabia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26" name="Rectangle 378">
            <a:extLst>
              <a:ext uri="{FF2B5EF4-FFF2-40B4-BE49-F238E27FC236}">
                <a16:creationId xmlns:a16="http://schemas.microsoft.com/office/drawing/2014/main" id="{339FF65F-AA34-46F6-BA79-D375E9ACF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01" y="4888636"/>
            <a:ext cx="5255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China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52" name="Rectangle 350">
            <a:extLst>
              <a:ext uri="{FF2B5EF4-FFF2-40B4-BE49-F238E27FC236}">
                <a16:creationId xmlns:a16="http://schemas.microsoft.com/office/drawing/2014/main" id="{4F607598-6F65-40ED-B9DB-1E651648E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213" y="2345743"/>
            <a:ext cx="85938" cy="6724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3" name="Rectangle 351">
            <a:extLst>
              <a:ext uri="{FF2B5EF4-FFF2-40B4-BE49-F238E27FC236}">
                <a16:creationId xmlns:a16="http://schemas.microsoft.com/office/drawing/2014/main" id="{8C7E463D-9002-4881-93B0-C9780CFA4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213" y="3212701"/>
            <a:ext cx="85938" cy="87040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4" name="Rectangle 352">
            <a:extLst>
              <a:ext uri="{FF2B5EF4-FFF2-40B4-BE49-F238E27FC236}">
                <a16:creationId xmlns:a16="http://schemas.microsoft.com/office/drawing/2014/main" id="{1372FB30-7CD8-460B-AE71-04CFBA8E0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840" y="5962703"/>
            <a:ext cx="85938" cy="1503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7" name="Rectangle 355">
            <a:extLst>
              <a:ext uri="{FF2B5EF4-FFF2-40B4-BE49-F238E27FC236}">
                <a16:creationId xmlns:a16="http://schemas.microsoft.com/office/drawing/2014/main" id="{613400D2-3AAE-4588-B65B-513D24FF7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213" y="4550106"/>
            <a:ext cx="85938" cy="10205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60" name="Rectangle 358">
            <a:extLst>
              <a:ext uri="{FF2B5EF4-FFF2-40B4-BE49-F238E27FC236}">
                <a16:creationId xmlns:a16="http://schemas.microsoft.com/office/drawing/2014/main" id="{AFE248A6-6CF3-47FF-8A32-7A7D559BD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840" y="5624325"/>
            <a:ext cx="85938" cy="2578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61" name="Rectangle 359">
            <a:extLst>
              <a:ext uri="{FF2B5EF4-FFF2-40B4-BE49-F238E27FC236}">
                <a16:creationId xmlns:a16="http://schemas.microsoft.com/office/drawing/2014/main" id="{6B4AFEC7-76A4-4A5F-A4FE-7D74E6AD8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840" y="6150693"/>
            <a:ext cx="85938" cy="375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62" name="Rectangle 360">
            <a:extLst>
              <a:ext uri="{FF2B5EF4-FFF2-40B4-BE49-F238E27FC236}">
                <a16:creationId xmlns:a16="http://schemas.microsoft.com/office/drawing/2014/main" id="{2179502D-8B39-4E06-9749-AAD8015B9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840" y="6150693"/>
            <a:ext cx="85938" cy="375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87" name="Rectangle 385">
            <a:extLst>
              <a:ext uri="{FF2B5EF4-FFF2-40B4-BE49-F238E27FC236}">
                <a16:creationId xmlns:a16="http://schemas.microsoft.com/office/drawing/2014/main" id="{DE033E2A-F865-4D7A-9E12-512DCC44F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729" y="2136177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4.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88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28" name="Rectangle 378">
            <a:extLst>
              <a:ext uri="{FF2B5EF4-FFF2-40B4-BE49-F238E27FC236}">
                <a16:creationId xmlns:a16="http://schemas.microsoft.com/office/drawing/2014/main" id="{21B7E912-251E-4ED3-8C64-A665BD974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01" y="4340092"/>
            <a:ext cx="5255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USA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329745A5-1700-4EF4-9E93-68D9483E1A8E}"/>
              </a:ext>
            </a:extLst>
          </p:cNvPr>
          <p:cNvSpPr txBox="1"/>
          <p:nvPr/>
        </p:nvSpPr>
        <p:spPr>
          <a:xfrm>
            <a:off x="3502259" y="2659337"/>
            <a:ext cx="556916" cy="238195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txBody>
          <a:bodyPr vert="horz" wrap="square" lIns="0" tIns="36000" rIns="0" bIns="0" rtlCol="0">
            <a:noAutofit/>
          </a:bodyPr>
          <a:lstStyle/>
          <a:p>
            <a:pPr algn="ctr"/>
            <a:r>
              <a:rPr lang="en-US" sz="900" dirty="0">
                <a:latin typeface="+mj-lt"/>
              </a:rPr>
              <a:t>Brazil</a:t>
            </a:r>
            <a:endParaRPr lang="ru-RU" sz="900" dirty="0" err="1">
              <a:latin typeface="+mj-lt"/>
            </a:endParaRP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27E2A750-2188-4156-BD75-3AA3EEA95525}"/>
              </a:ext>
            </a:extLst>
          </p:cNvPr>
          <p:cNvSpPr txBox="1"/>
          <p:nvPr/>
        </p:nvSpPr>
        <p:spPr>
          <a:xfrm>
            <a:off x="3502259" y="3735909"/>
            <a:ext cx="556916" cy="238195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txBody>
          <a:bodyPr vert="horz" wrap="square" lIns="0" tIns="36000" rIns="0" bIns="0" rtlCol="0">
            <a:noAutofit/>
          </a:bodyPr>
          <a:lstStyle/>
          <a:p>
            <a:pPr algn="ctr"/>
            <a:r>
              <a:rPr lang="en-US" sz="900" dirty="0">
                <a:latin typeface="+mj-lt"/>
              </a:rPr>
              <a:t>India</a:t>
            </a:r>
            <a:endParaRPr lang="ru-RU" sz="900" dirty="0" err="1">
              <a:latin typeface="+mj-lt"/>
            </a:endParaRP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41EFC0AB-B645-40B3-A6A6-422707A184E1}"/>
              </a:ext>
            </a:extLst>
          </p:cNvPr>
          <p:cNvSpPr txBox="1"/>
          <p:nvPr/>
        </p:nvSpPr>
        <p:spPr>
          <a:xfrm>
            <a:off x="3502259" y="4262744"/>
            <a:ext cx="556916" cy="238195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txBody>
          <a:bodyPr vert="horz" wrap="square" lIns="0" tIns="36000" rIns="0" bIns="0" rtlCol="0">
            <a:noAutofit/>
          </a:bodyPr>
          <a:lstStyle/>
          <a:p>
            <a:pPr algn="ctr"/>
            <a:r>
              <a:rPr lang="en-US" sz="900" dirty="0">
                <a:latin typeface="+mj-lt"/>
              </a:rPr>
              <a:t>USA</a:t>
            </a:r>
            <a:endParaRPr lang="ru-RU" sz="900" dirty="0" err="1">
              <a:latin typeface="+mj-lt"/>
            </a:endParaRPr>
          </a:p>
        </p:txBody>
      </p:sp>
      <p:sp>
        <p:nvSpPr>
          <p:cNvPr id="396" name="Rectangle 394">
            <a:extLst>
              <a:ext uri="{FF2B5EF4-FFF2-40B4-BE49-F238E27FC236}">
                <a16:creationId xmlns:a16="http://schemas.microsoft.com/office/drawing/2014/main" id="{90464AA4-1E39-4EFD-9250-3D28C9BA5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669" y="4418965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840CFE9D-C789-4E56-9B2D-55943C35AED4}"/>
              </a:ext>
            </a:extLst>
          </p:cNvPr>
          <p:cNvSpPr txBox="1"/>
          <p:nvPr/>
        </p:nvSpPr>
        <p:spPr>
          <a:xfrm>
            <a:off x="3847846" y="4673097"/>
            <a:ext cx="556916" cy="238195"/>
          </a:xfrm>
          <a:prstGeom prst="roundRect">
            <a:avLst/>
          </a:prstGeom>
          <a:noFill/>
        </p:spPr>
        <p:txBody>
          <a:bodyPr vert="horz" wrap="square" lIns="0" tIns="36000" rIns="0" bIns="0" rtlCol="0">
            <a:noAutofit/>
          </a:bodyPr>
          <a:lstStyle/>
          <a:p>
            <a:r>
              <a:rPr lang="en-US" sz="900" dirty="0">
                <a:latin typeface="+mj-lt"/>
              </a:rPr>
              <a:t>Australia</a:t>
            </a:r>
            <a:endParaRPr lang="ru-RU" sz="900" dirty="0" err="1">
              <a:latin typeface="+mj-lt"/>
            </a:endParaRP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568C481F-7A80-4F7C-A177-EFB1C72B838F}"/>
              </a:ext>
            </a:extLst>
          </p:cNvPr>
          <p:cNvSpPr txBox="1"/>
          <p:nvPr/>
        </p:nvSpPr>
        <p:spPr>
          <a:xfrm>
            <a:off x="3847846" y="4882751"/>
            <a:ext cx="556916" cy="238195"/>
          </a:xfrm>
          <a:prstGeom prst="roundRect">
            <a:avLst/>
          </a:prstGeom>
          <a:noFill/>
        </p:spPr>
        <p:txBody>
          <a:bodyPr vert="horz" wrap="square" lIns="0" tIns="36000" rIns="0" bIns="0" rtlCol="0">
            <a:noAutofit/>
          </a:bodyPr>
          <a:lstStyle/>
          <a:p>
            <a:r>
              <a:rPr lang="en-US" sz="900" dirty="0">
                <a:latin typeface="+mj-lt"/>
              </a:rPr>
              <a:t>France</a:t>
            </a:r>
            <a:endParaRPr lang="ru-RU" sz="900" dirty="0" err="1">
              <a:latin typeface="+mj-lt"/>
            </a:endParaRP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F0B663E2-BF1D-4A37-93A0-DDAEF5EF6058}"/>
              </a:ext>
            </a:extLst>
          </p:cNvPr>
          <p:cNvSpPr txBox="1"/>
          <p:nvPr/>
        </p:nvSpPr>
        <p:spPr>
          <a:xfrm>
            <a:off x="3847846" y="5092405"/>
            <a:ext cx="556916" cy="238195"/>
          </a:xfrm>
          <a:prstGeom prst="roundRect">
            <a:avLst/>
          </a:prstGeom>
          <a:noFill/>
        </p:spPr>
        <p:txBody>
          <a:bodyPr vert="horz" wrap="square" lIns="0" tIns="36000" rIns="0" bIns="0" rtlCol="0">
            <a:noAutofit/>
          </a:bodyPr>
          <a:lstStyle/>
          <a:p>
            <a:r>
              <a:rPr lang="en-US" sz="900" dirty="0">
                <a:latin typeface="+mj-lt"/>
              </a:rPr>
              <a:t>UK</a:t>
            </a:r>
            <a:endParaRPr lang="ru-RU" sz="900" dirty="0" err="1">
              <a:latin typeface="+mj-lt"/>
            </a:endParaRP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C000A465-17ED-4BA4-8920-843542B24326}"/>
              </a:ext>
            </a:extLst>
          </p:cNvPr>
          <p:cNvSpPr txBox="1"/>
          <p:nvPr/>
        </p:nvSpPr>
        <p:spPr>
          <a:xfrm>
            <a:off x="3847846" y="5302059"/>
            <a:ext cx="556916" cy="238195"/>
          </a:xfrm>
          <a:prstGeom prst="roundRect">
            <a:avLst/>
          </a:prstGeom>
          <a:noFill/>
        </p:spPr>
        <p:txBody>
          <a:bodyPr vert="horz" wrap="square" lIns="0" tIns="36000" rIns="0" bIns="0" rtlCol="0">
            <a:noAutofit/>
          </a:bodyPr>
          <a:lstStyle/>
          <a:p>
            <a:r>
              <a:rPr lang="en-US" sz="900" dirty="0">
                <a:latin typeface="+mj-lt"/>
              </a:rPr>
              <a:t>Turkey</a:t>
            </a:r>
            <a:endParaRPr lang="ru-RU" sz="900" dirty="0" err="1">
              <a:latin typeface="+mj-lt"/>
            </a:endParaRP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AA06EA9D-4E66-448B-B0A1-8553461339B0}"/>
              </a:ext>
            </a:extLst>
          </p:cNvPr>
          <p:cNvSpPr txBox="1"/>
          <p:nvPr/>
        </p:nvSpPr>
        <p:spPr>
          <a:xfrm>
            <a:off x="3297972" y="5626832"/>
            <a:ext cx="556916" cy="238195"/>
          </a:xfrm>
          <a:prstGeom prst="roundRect">
            <a:avLst/>
          </a:prstGeom>
          <a:noFill/>
        </p:spPr>
        <p:txBody>
          <a:bodyPr vert="horz" wrap="square" lIns="0" tIns="36000" rIns="0" bIns="0" rtlCol="0">
            <a:noAutofit/>
          </a:bodyPr>
          <a:lstStyle/>
          <a:p>
            <a:r>
              <a:rPr lang="en-US" sz="900" dirty="0">
                <a:latin typeface="+mj-lt"/>
              </a:rPr>
              <a:t>Canada</a:t>
            </a:r>
            <a:endParaRPr lang="ru-RU" sz="900" dirty="0" err="1">
              <a:latin typeface="+mj-lt"/>
            </a:endParaRP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098688CC-B799-466F-87F3-7B2478034203}"/>
              </a:ext>
            </a:extLst>
          </p:cNvPr>
          <p:cNvSpPr txBox="1"/>
          <p:nvPr/>
        </p:nvSpPr>
        <p:spPr>
          <a:xfrm>
            <a:off x="3048466" y="5941698"/>
            <a:ext cx="829282" cy="123690"/>
          </a:xfrm>
          <a:prstGeom prst="round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900">
                <a:latin typeface="+mj-lt"/>
              </a:defRPr>
            </a:lvl1pPr>
          </a:lstStyle>
          <a:p>
            <a:r>
              <a:rPr lang="en-US" dirty="0"/>
              <a:t>Bangladesh</a:t>
            </a:r>
            <a:endParaRPr lang="ru-RU" dirty="0" err="1"/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154D8CC6-6135-4623-A91B-2642D3D64F3E}"/>
              </a:ext>
            </a:extLst>
          </p:cNvPr>
          <p:cNvSpPr txBox="1"/>
          <p:nvPr/>
        </p:nvSpPr>
        <p:spPr>
          <a:xfrm>
            <a:off x="3162766" y="6096982"/>
            <a:ext cx="829282" cy="142756"/>
          </a:xfrm>
          <a:prstGeom prst="round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dirty="0">
                <a:latin typeface="+mj-lt"/>
              </a:rPr>
              <a:t>Argentina</a:t>
            </a:r>
            <a:endParaRPr lang="ru-RU" sz="900" dirty="0" err="1">
              <a:latin typeface="+mj-lt"/>
            </a:endParaRPr>
          </a:p>
        </p:txBody>
      </p:sp>
      <p:sp>
        <p:nvSpPr>
          <p:cNvPr id="442" name="Isosceles Triangle 441">
            <a:extLst>
              <a:ext uri="{FF2B5EF4-FFF2-40B4-BE49-F238E27FC236}">
                <a16:creationId xmlns:a16="http://schemas.microsoft.com/office/drawing/2014/main" id="{5D24F98E-9924-4BA8-A989-59889D68107A}"/>
              </a:ext>
            </a:extLst>
          </p:cNvPr>
          <p:cNvSpPr/>
          <p:nvPr/>
        </p:nvSpPr>
        <p:spPr bwMode="gray">
          <a:xfrm rot="16200000">
            <a:off x="6334085" y="2265096"/>
            <a:ext cx="197770" cy="90519"/>
          </a:xfrm>
          <a:prstGeom prst="triangle">
            <a:avLst/>
          </a:prstGeom>
          <a:solidFill>
            <a:srgbClr val="004F59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3" name="Isosceles Triangle 442">
            <a:extLst>
              <a:ext uri="{FF2B5EF4-FFF2-40B4-BE49-F238E27FC236}">
                <a16:creationId xmlns:a16="http://schemas.microsoft.com/office/drawing/2014/main" id="{706B123E-001C-4B4D-92E2-CBA9112B1CD4}"/>
              </a:ext>
            </a:extLst>
          </p:cNvPr>
          <p:cNvSpPr/>
          <p:nvPr/>
        </p:nvSpPr>
        <p:spPr bwMode="gray">
          <a:xfrm rot="16200000">
            <a:off x="6334085" y="3219271"/>
            <a:ext cx="197770" cy="90519"/>
          </a:xfrm>
          <a:prstGeom prst="triangle">
            <a:avLst/>
          </a:prstGeom>
          <a:solidFill>
            <a:srgbClr val="00768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4" name="Isosceles Triangle 443">
            <a:extLst>
              <a:ext uri="{FF2B5EF4-FFF2-40B4-BE49-F238E27FC236}">
                <a16:creationId xmlns:a16="http://schemas.microsoft.com/office/drawing/2014/main" id="{F4DBCCA4-26C4-4C64-AC21-09E6D8CD1949}"/>
              </a:ext>
            </a:extLst>
          </p:cNvPr>
          <p:cNvSpPr/>
          <p:nvPr/>
        </p:nvSpPr>
        <p:spPr bwMode="gray">
          <a:xfrm rot="16200000">
            <a:off x="6334086" y="3863713"/>
            <a:ext cx="197770" cy="90519"/>
          </a:xfrm>
          <a:prstGeom prst="triangle">
            <a:avLst/>
          </a:prstGeom>
          <a:solidFill>
            <a:srgbClr val="0097A9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5" name="Isosceles Triangle 444">
            <a:extLst>
              <a:ext uri="{FF2B5EF4-FFF2-40B4-BE49-F238E27FC236}">
                <a16:creationId xmlns:a16="http://schemas.microsoft.com/office/drawing/2014/main" id="{8B20724E-777E-448C-B5CD-AB0B1A97CCB3}"/>
              </a:ext>
            </a:extLst>
          </p:cNvPr>
          <p:cNvSpPr/>
          <p:nvPr/>
        </p:nvSpPr>
        <p:spPr bwMode="gray">
          <a:xfrm rot="16200000">
            <a:off x="6334087" y="4516847"/>
            <a:ext cx="197770" cy="90519"/>
          </a:xfrm>
          <a:prstGeom prst="triangle">
            <a:avLst/>
          </a:prstGeom>
          <a:solidFill>
            <a:srgbClr val="00ABAB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6" name="Isosceles Triangle 445">
            <a:extLst>
              <a:ext uri="{FF2B5EF4-FFF2-40B4-BE49-F238E27FC236}">
                <a16:creationId xmlns:a16="http://schemas.microsoft.com/office/drawing/2014/main" id="{1B598FE7-9379-4279-A229-B931F024A493}"/>
              </a:ext>
            </a:extLst>
          </p:cNvPr>
          <p:cNvSpPr/>
          <p:nvPr/>
        </p:nvSpPr>
        <p:spPr bwMode="gray">
          <a:xfrm rot="16200000">
            <a:off x="6334088" y="4980872"/>
            <a:ext cx="197770" cy="90519"/>
          </a:xfrm>
          <a:prstGeom prst="triangle">
            <a:avLst/>
          </a:prstGeom>
          <a:solidFill>
            <a:srgbClr val="6FC2B4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7" name="Rectangle 376">
            <a:extLst>
              <a:ext uri="{FF2B5EF4-FFF2-40B4-BE49-F238E27FC236}">
                <a16:creationId xmlns:a16="http://schemas.microsoft.com/office/drawing/2014/main" id="{A573B226-C55E-474A-B23C-99C6335AB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2282733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2.06</a:t>
            </a:r>
          </a:p>
        </p:txBody>
      </p:sp>
      <p:sp>
        <p:nvSpPr>
          <p:cNvPr id="452" name="Rectangle 376">
            <a:extLst>
              <a:ext uri="{FF2B5EF4-FFF2-40B4-BE49-F238E27FC236}">
                <a16:creationId xmlns:a16="http://schemas.microsoft.com/office/drawing/2014/main" id="{47382EDF-ACFE-44A2-BEBC-BC7E19714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2486197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0.51</a:t>
            </a:r>
          </a:p>
        </p:txBody>
      </p:sp>
      <p:sp>
        <p:nvSpPr>
          <p:cNvPr id="453" name="Rectangle 376">
            <a:extLst>
              <a:ext uri="{FF2B5EF4-FFF2-40B4-BE49-F238E27FC236}">
                <a16:creationId xmlns:a16="http://schemas.microsoft.com/office/drawing/2014/main" id="{93046DF7-EB5E-4FD9-A13D-CF77F471F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3120648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4" name="Rectangle 376">
            <a:extLst>
              <a:ext uri="{FF2B5EF4-FFF2-40B4-BE49-F238E27FC236}">
                <a16:creationId xmlns:a16="http://schemas.microsoft.com/office/drawing/2014/main" id="{939E60F3-B47D-4401-8DCF-6D28D53BC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3298571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.0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3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5" name="Rectangle 376">
            <a:extLst>
              <a:ext uri="{FF2B5EF4-FFF2-40B4-BE49-F238E27FC236}">
                <a16:creationId xmlns:a16="http://schemas.microsoft.com/office/drawing/2014/main" id="{D3848721-F0E7-4A8E-A79C-780EE7FEA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3441075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25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6" name="Rectangle 376">
            <a:extLst>
              <a:ext uri="{FF2B5EF4-FFF2-40B4-BE49-F238E27FC236}">
                <a16:creationId xmlns:a16="http://schemas.microsoft.com/office/drawing/2014/main" id="{B368AB75-E00E-4564-8A99-78B147373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3680379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67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7" name="Rectangle 376">
            <a:extLst>
              <a:ext uri="{FF2B5EF4-FFF2-40B4-BE49-F238E27FC236}">
                <a16:creationId xmlns:a16="http://schemas.microsoft.com/office/drawing/2014/main" id="{67B661AC-B98E-4B99-94DC-E4F812249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3858302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8" name="Rectangle 376">
            <a:extLst>
              <a:ext uri="{FF2B5EF4-FFF2-40B4-BE49-F238E27FC236}">
                <a16:creationId xmlns:a16="http://schemas.microsoft.com/office/drawing/2014/main" id="{DC0E3780-7D66-489A-9B77-E164882ED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4000806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6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9" name="Rectangle 376">
            <a:extLst>
              <a:ext uri="{FF2B5EF4-FFF2-40B4-BE49-F238E27FC236}">
                <a16:creationId xmlns:a16="http://schemas.microsoft.com/office/drawing/2014/main" id="{9C7D3183-35E5-417F-97ED-1825CD7EB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4330749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77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0" name="Rectangle 376">
            <a:extLst>
              <a:ext uri="{FF2B5EF4-FFF2-40B4-BE49-F238E27FC236}">
                <a16:creationId xmlns:a16="http://schemas.microsoft.com/office/drawing/2014/main" id="{DD94766C-02EB-4DB5-8DE8-4353082EA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4508672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89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1" name="Rectangle 376">
            <a:extLst>
              <a:ext uri="{FF2B5EF4-FFF2-40B4-BE49-F238E27FC236}">
                <a16:creationId xmlns:a16="http://schemas.microsoft.com/office/drawing/2014/main" id="{4712A76D-5D75-42DA-B5CF-7C2072E00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4651176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22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2" name="Rectangle 376">
            <a:extLst>
              <a:ext uri="{FF2B5EF4-FFF2-40B4-BE49-F238E27FC236}">
                <a16:creationId xmlns:a16="http://schemas.microsoft.com/office/drawing/2014/main" id="{47441000-AF24-4639-B289-B6090ED9A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4804388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75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3" name="Rectangle 376">
            <a:extLst>
              <a:ext uri="{FF2B5EF4-FFF2-40B4-BE49-F238E27FC236}">
                <a16:creationId xmlns:a16="http://schemas.microsoft.com/office/drawing/2014/main" id="{07290084-9370-44F0-AB91-D039C7566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4982311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32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4" name="Rectangle 376">
            <a:extLst>
              <a:ext uri="{FF2B5EF4-FFF2-40B4-BE49-F238E27FC236}">
                <a16:creationId xmlns:a16="http://schemas.microsoft.com/office/drawing/2014/main" id="{A932258D-4A88-4734-85A7-D17A46BF4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5124815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5" name="Rectangle 363">
            <a:extLst>
              <a:ext uri="{FF2B5EF4-FFF2-40B4-BE49-F238E27FC236}">
                <a16:creationId xmlns:a16="http://schemas.microsoft.com/office/drawing/2014/main" id="{B6646509-5589-4ACB-82F6-C224033A5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2117041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45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6" name="Isosceles Triangle 465">
            <a:extLst>
              <a:ext uri="{FF2B5EF4-FFF2-40B4-BE49-F238E27FC236}">
                <a16:creationId xmlns:a16="http://schemas.microsoft.com/office/drawing/2014/main" id="{C3A17E74-3D35-4331-B1A0-6C1A2EBBD3DE}"/>
              </a:ext>
            </a:extLst>
          </p:cNvPr>
          <p:cNvSpPr/>
          <p:nvPr/>
        </p:nvSpPr>
        <p:spPr bwMode="gray">
          <a:xfrm rot="5400000" flipH="1">
            <a:off x="1268657" y="2294159"/>
            <a:ext cx="197770" cy="90519"/>
          </a:xfrm>
          <a:prstGeom prst="triangle">
            <a:avLst/>
          </a:prstGeom>
          <a:solidFill>
            <a:srgbClr val="2C5234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67" name="Isosceles Triangle 466">
            <a:extLst>
              <a:ext uri="{FF2B5EF4-FFF2-40B4-BE49-F238E27FC236}">
                <a16:creationId xmlns:a16="http://schemas.microsoft.com/office/drawing/2014/main" id="{691CD40D-CE22-4781-8C46-4F43B8B5D08F}"/>
              </a:ext>
            </a:extLst>
          </p:cNvPr>
          <p:cNvSpPr/>
          <p:nvPr/>
        </p:nvSpPr>
        <p:spPr bwMode="gray">
          <a:xfrm rot="5400000" flipH="1">
            <a:off x="1268657" y="3014806"/>
            <a:ext cx="197770" cy="90519"/>
          </a:xfrm>
          <a:prstGeom prst="triangle">
            <a:avLst/>
          </a:prstGeom>
          <a:solidFill>
            <a:srgbClr val="009A44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68" name="Isosceles Triangle 467">
            <a:extLst>
              <a:ext uri="{FF2B5EF4-FFF2-40B4-BE49-F238E27FC236}">
                <a16:creationId xmlns:a16="http://schemas.microsoft.com/office/drawing/2014/main" id="{17973141-C5B2-499F-A3DB-AA74829AFA82}"/>
              </a:ext>
            </a:extLst>
          </p:cNvPr>
          <p:cNvSpPr/>
          <p:nvPr/>
        </p:nvSpPr>
        <p:spPr bwMode="gray">
          <a:xfrm rot="5400000" flipH="1">
            <a:off x="1268657" y="3599503"/>
            <a:ext cx="197770" cy="90519"/>
          </a:xfrm>
          <a:prstGeom prst="triangle">
            <a:avLst/>
          </a:prstGeom>
          <a:solidFill>
            <a:srgbClr val="43B02A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69" name="Isosceles Triangle 468">
            <a:extLst>
              <a:ext uri="{FF2B5EF4-FFF2-40B4-BE49-F238E27FC236}">
                <a16:creationId xmlns:a16="http://schemas.microsoft.com/office/drawing/2014/main" id="{3831606C-29A4-4825-8B6E-FD2BD57D8CCB}"/>
              </a:ext>
            </a:extLst>
          </p:cNvPr>
          <p:cNvSpPr/>
          <p:nvPr/>
        </p:nvSpPr>
        <p:spPr bwMode="gray">
          <a:xfrm rot="5400000" flipH="1">
            <a:off x="1268657" y="4287212"/>
            <a:ext cx="197770" cy="90519"/>
          </a:xfrm>
          <a:prstGeom prst="triangle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70" name="Isosceles Triangle 469">
            <a:extLst>
              <a:ext uri="{FF2B5EF4-FFF2-40B4-BE49-F238E27FC236}">
                <a16:creationId xmlns:a16="http://schemas.microsoft.com/office/drawing/2014/main" id="{F2663CC5-8E63-412E-994B-F478DBA5A151}"/>
              </a:ext>
            </a:extLst>
          </p:cNvPr>
          <p:cNvSpPr/>
          <p:nvPr/>
        </p:nvSpPr>
        <p:spPr bwMode="gray">
          <a:xfrm rot="5400000" flipH="1">
            <a:off x="1268657" y="4886192"/>
            <a:ext cx="197770" cy="90519"/>
          </a:xfrm>
          <a:prstGeom prst="triangle">
            <a:avLst/>
          </a:prstGeom>
          <a:solidFill>
            <a:srgbClr val="C4D60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71" name="Rectangle 363">
            <a:extLst>
              <a:ext uri="{FF2B5EF4-FFF2-40B4-BE49-F238E27FC236}">
                <a16:creationId xmlns:a16="http://schemas.microsoft.com/office/drawing/2014/main" id="{86B56808-912F-4D8E-93C7-B1462B262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2291961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0.98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2" name="Rectangle 363">
            <a:extLst>
              <a:ext uri="{FF2B5EF4-FFF2-40B4-BE49-F238E27FC236}">
                <a16:creationId xmlns:a16="http://schemas.microsoft.com/office/drawing/2014/main" id="{4786DB5D-F482-4C18-A042-D2162C32E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2464277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1.57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3" name="Rectangle 363">
            <a:extLst>
              <a:ext uri="{FF2B5EF4-FFF2-40B4-BE49-F238E27FC236}">
                <a16:creationId xmlns:a16="http://schemas.microsoft.com/office/drawing/2014/main" id="{85CBCF3B-225A-4411-A147-FE3B550BB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2934309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96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4" name="Rectangle 363">
            <a:extLst>
              <a:ext uri="{FF2B5EF4-FFF2-40B4-BE49-F238E27FC236}">
                <a16:creationId xmlns:a16="http://schemas.microsoft.com/office/drawing/2014/main" id="{3879FDC5-0C39-43AF-8035-5E3054CB4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3096908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0.52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5" name="Rectangle 363">
            <a:extLst>
              <a:ext uri="{FF2B5EF4-FFF2-40B4-BE49-F238E27FC236}">
                <a16:creationId xmlns:a16="http://schemas.microsoft.com/office/drawing/2014/main" id="{B35C580C-5DE8-4EA3-AC27-627DA8E7A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84" y="3232656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0.42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6" name="Rectangle 363">
            <a:extLst>
              <a:ext uri="{FF2B5EF4-FFF2-40B4-BE49-F238E27FC236}">
                <a16:creationId xmlns:a16="http://schemas.microsoft.com/office/drawing/2014/main" id="{6A488CD0-D86A-42B6-B8FE-102F1A22E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3441075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7" name="Rectangle 363">
            <a:extLst>
              <a:ext uri="{FF2B5EF4-FFF2-40B4-BE49-F238E27FC236}">
                <a16:creationId xmlns:a16="http://schemas.microsoft.com/office/drawing/2014/main" id="{CB18708B-8677-4455-8691-CA2A27E7A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3599101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0.80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8" name="Rectangle 363">
            <a:extLst>
              <a:ext uri="{FF2B5EF4-FFF2-40B4-BE49-F238E27FC236}">
                <a16:creationId xmlns:a16="http://schemas.microsoft.com/office/drawing/2014/main" id="{97110A91-8497-42D6-8CC2-390B40D7F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84" y="3734849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0.77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9" name="Rectangle 363">
            <a:extLst>
              <a:ext uri="{FF2B5EF4-FFF2-40B4-BE49-F238E27FC236}">
                <a16:creationId xmlns:a16="http://schemas.microsoft.com/office/drawing/2014/main" id="{895D2801-6BD6-49CA-8419-C1355DB4A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4153220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0.63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0" name="Rectangle 363">
            <a:extLst>
              <a:ext uri="{FF2B5EF4-FFF2-40B4-BE49-F238E27FC236}">
                <a16:creationId xmlns:a16="http://schemas.microsoft.com/office/drawing/2014/main" id="{80A29787-096E-4F60-BF25-8F21C82C2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4273146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0.72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1" name="Rectangle 363">
            <a:extLst>
              <a:ext uri="{FF2B5EF4-FFF2-40B4-BE49-F238E27FC236}">
                <a16:creationId xmlns:a16="http://schemas.microsoft.com/office/drawing/2014/main" id="{F25E6A77-04FD-47AF-92F4-0F5408B84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84" y="4391114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0.70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2" name="Rectangle 363">
            <a:extLst>
              <a:ext uri="{FF2B5EF4-FFF2-40B4-BE49-F238E27FC236}">
                <a16:creationId xmlns:a16="http://schemas.microsoft.com/office/drawing/2014/main" id="{AFC1BA6D-25E6-4A4C-8E24-1371DAD92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84" y="4760971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0.42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3" name="Rectangle 363">
            <a:extLst>
              <a:ext uri="{FF2B5EF4-FFF2-40B4-BE49-F238E27FC236}">
                <a16:creationId xmlns:a16="http://schemas.microsoft.com/office/drawing/2014/main" id="{9EDE7EAC-E4A7-45A2-B663-1FEA2387D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84" y="4875817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0.59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4" name="Rectangle 363">
            <a:extLst>
              <a:ext uri="{FF2B5EF4-FFF2-40B4-BE49-F238E27FC236}">
                <a16:creationId xmlns:a16="http://schemas.microsoft.com/office/drawing/2014/main" id="{75D79DAC-15DE-4DE9-83FF-8C8EA3660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84" y="4991245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0.56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6" name="Rectangle 376">
            <a:extLst>
              <a:ext uri="{FF2B5EF4-FFF2-40B4-BE49-F238E27FC236}">
                <a16:creationId xmlns:a16="http://schemas.microsoft.com/office/drawing/2014/main" id="{2269E6BB-7F25-44FF-825E-C5B1155C6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6313" y="5958239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1.21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34" name="Rectangle 363">
            <a:extLst>
              <a:ext uri="{FF2B5EF4-FFF2-40B4-BE49-F238E27FC236}">
                <a16:creationId xmlns:a16="http://schemas.microsoft.com/office/drawing/2014/main" id="{4AF702FA-5053-4FC9-9861-0809356DC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991" y="1819694"/>
            <a:ext cx="175666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Top importers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E0AB564-76EF-4A5E-97D8-D10088608691}"/>
              </a:ext>
            </a:extLst>
          </p:cNvPr>
          <p:cNvCxnSpPr>
            <a:cxnSpLocks/>
          </p:cNvCxnSpPr>
          <p:nvPr/>
        </p:nvCxnSpPr>
        <p:spPr>
          <a:xfrm>
            <a:off x="3807841" y="2011987"/>
            <a:ext cx="0" cy="14562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363">
            <a:extLst>
              <a:ext uri="{FF2B5EF4-FFF2-40B4-BE49-F238E27FC236}">
                <a16:creationId xmlns:a16="http://schemas.microsoft.com/office/drawing/2014/main" id="{7A386E7C-F72B-4132-A0CF-8AD8B5B23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862" y="1698619"/>
            <a:ext cx="175666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Carbamide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38" name="Rectangle 363">
            <a:extLst>
              <a:ext uri="{FF2B5EF4-FFF2-40B4-BE49-F238E27FC236}">
                <a16:creationId xmlns:a16="http://schemas.microsoft.com/office/drawing/2014/main" id="{BD9C00E7-C41F-4ADF-847D-1D1B14373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2704" y="1698619"/>
            <a:ext cx="175666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DAP/MAP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40" name="Rectangle 363">
            <a:extLst>
              <a:ext uri="{FF2B5EF4-FFF2-40B4-BE49-F238E27FC236}">
                <a16:creationId xmlns:a16="http://schemas.microsoft.com/office/drawing/2014/main" id="{F4748F30-B464-4722-A612-0CFB56801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792" y="1274838"/>
            <a:ext cx="455672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Carbamide and DAP</a:t>
            </a:r>
            <a:r>
              <a:rPr lang="ru-RU" altLang="ru-RU" sz="900" b="1" baseline="30000" dirty="0">
                <a:solidFill>
                  <a:srgbClr val="000000"/>
                </a:solidFill>
                <a:latin typeface="+mj-lt"/>
              </a:rPr>
              <a:t>1</a:t>
            </a:r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/MAP</a:t>
            </a:r>
            <a:r>
              <a:rPr lang="ru-RU" altLang="ru-RU" sz="900" b="1" baseline="30000" dirty="0">
                <a:solidFill>
                  <a:srgbClr val="000000"/>
                </a:solidFill>
                <a:latin typeface="+mj-lt"/>
              </a:rPr>
              <a:t>2</a:t>
            </a:r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 top exporters and importers in 2022, M tonnes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1833369-6DB7-4078-87C4-1FDBE35800C9}"/>
              </a:ext>
            </a:extLst>
          </p:cNvPr>
          <p:cNvSpPr/>
          <p:nvPr/>
        </p:nvSpPr>
        <p:spPr>
          <a:xfrm>
            <a:off x="381000" y="5673147"/>
            <a:ext cx="2083642" cy="51514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aseline="30000" dirty="0"/>
              <a:t>1</a:t>
            </a:r>
            <a:r>
              <a:rPr lang="ru-RU" sz="800" baseline="30000" dirty="0"/>
              <a:t> </a:t>
            </a:r>
            <a:r>
              <a:rPr lang="de-DE" sz="800" dirty="0"/>
              <a:t>Di-ammonium Phosphate</a:t>
            </a:r>
            <a:endParaRPr lang="ru-RU" sz="800" dirty="0"/>
          </a:p>
          <a:p>
            <a:r>
              <a:rPr lang="ru-RU" sz="800" baseline="30000" dirty="0"/>
              <a:t>2 </a:t>
            </a:r>
            <a:r>
              <a:rPr lang="de-DE" sz="800" dirty="0"/>
              <a:t>Monoammonium </a:t>
            </a:r>
            <a:r>
              <a:rPr lang="de-DE" sz="800" dirty="0" err="1"/>
              <a:t>phosphate</a:t>
            </a:r>
            <a:endParaRPr lang="de-DE" sz="800" dirty="0"/>
          </a:p>
          <a:p>
            <a:r>
              <a:rPr lang="de-DE" sz="800" dirty="0"/>
              <a:t>Source: Business Solutions and Technologies (all </a:t>
            </a:r>
            <a:r>
              <a:rPr lang="de-DE" sz="800" dirty="0" err="1"/>
              <a:t>figures</a:t>
            </a:r>
            <a:r>
              <a:rPr lang="de-DE" sz="800" dirty="0"/>
              <a:t> </a:t>
            </a:r>
            <a:r>
              <a:rPr lang="de-DE" sz="800" dirty="0" err="1"/>
              <a:t>are</a:t>
            </a:r>
            <a:r>
              <a:rPr lang="de-DE" sz="800" dirty="0"/>
              <a:t> </a:t>
            </a:r>
            <a:r>
              <a:rPr lang="de-DE" sz="800" dirty="0" err="1"/>
              <a:t>random</a:t>
            </a:r>
            <a:r>
              <a:rPr lang="de-DE" sz="800" dirty="0"/>
              <a:t>)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5459BF21-A604-40CB-A8F0-E0A7F262DD8B}"/>
              </a:ext>
            </a:extLst>
          </p:cNvPr>
          <p:cNvSpPr/>
          <p:nvPr/>
        </p:nvSpPr>
        <p:spPr bwMode="gray">
          <a:xfrm>
            <a:off x="8134313" y="729137"/>
            <a:ext cx="1178216" cy="2857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ED8B00"/>
                </a:solidFill>
                <a:latin typeface="+mj-lt"/>
                <a:cs typeface="Calibri Light" panose="020F0302020204030204" pitchFamily="34" charset="0"/>
              </a:rPr>
              <a:t>Illustrator</a:t>
            </a:r>
            <a:endParaRPr lang="ru-RU" sz="1300" b="1" dirty="0" err="1">
              <a:solidFill>
                <a:srgbClr val="ED8B00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1CE98C1-C9A4-4946-82BA-4393256D7240}"/>
              </a:ext>
            </a:extLst>
          </p:cNvPr>
          <p:cNvSpPr/>
          <p:nvPr/>
        </p:nvSpPr>
        <p:spPr>
          <a:xfrm>
            <a:off x="379402" y="6199131"/>
            <a:ext cx="113653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sz="800" dirty="0">
                <a:solidFill>
                  <a:prstClr val="black"/>
                </a:solidFill>
              </a:rPr>
              <a:t>Chart design: I. Daraev</a:t>
            </a:r>
          </a:p>
        </p:txBody>
      </p:sp>
    </p:spTree>
    <p:extLst>
      <p:ext uri="{BB962C8B-B14F-4D97-AF65-F5344CB8AC3E}">
        <p14:creationId xmlns:p14="http://schemas.microsoft.com/office/powerpoint/2010/main" val="14594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02D8B32-BD1B-4249-955D-B4B9602A92A1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6A96C4-3064-40F5-A7E2-555CE46BB866}"/>
              </a:ext>
            </a:extLst>
          </p:cNvPr>
          <p:cNvSpPr/>
          <p:nvPr/>
        </p:nvSpPr>
        <p:spPr>
          <a:xfrm>
            <a:off x="379402" y="6183492"/>
            <a:ext cx="165429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sz="800" dirty="0">
                <a:solidFill>
                  <a:prstClr val="black"/>
                </a:solidFill>
              </a:rPr>
              <a:t>Data research &amp; design: I. Daraev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0AE9BA-7C33-4FE4-9DCB-51FB4E420B68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Sankey</a:t>
            </a:r>
            <a:endParaRPr lang="ru-RU" dirty="0" err="1"/>
          </a:p>
        </p:txBody>
      </p:sp>
      <p:sp>
        <p:nvSpPr>
          <p:cNvPr id="8" name="Rectangle 363">
            <a:extLst>
              <a:ext uri="{FF2B5EF4-FFF2-40B4-BE49-F238E27FC236}">
                <a16:creationId xmlns:a16="http://schemas.microsoft.com/office/drawing/2014/main" id="{37A29E6E-B757-45A6-8158-FCB416AB2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792" y="1274838"/>
            <a:ext cx="455672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Volkswagen Group Income statement 2023, M Euro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FC209372-9A49-494F-8090-8523285DFE99}"/>
              </a:ext>
            </a:extLst>
          </p:cNvPr>
          <p:cNvSpPr/>
          <p:nvPr/>
        </p:nvSpPr>
        <p:spPr>
          <a:xfrm>
            <a:off x="379792" y="6037281"/>
            <a:ext cx="2688790" cy="156890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Volkswagen</a:t>
            </a:r>
            <a:r>
              <a:rPr lang="en-US" altLang="ru-RU" sz="800" dirty="0">
                <a:solidFill>
                  <a:srgbClr val="000000"/>
                </a:solidFill>
              </a:rPr>
              <a:t> Group</a:t>
            </a:r>
            <a:r>
              <a:rPr lang="en-US" sz="800" dirty="0"/>
              <a:t> 2023 annual report</a:t>
            </a:r>
            <a:endParaRPr lang="ru-RU" sz="8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58247E-0304-4D36-869F-379943431BD8}"/>
              </a:ext>
            </a:extLst>
          </p:cNvPr>
          <p:cNvSpPr/>
          <p:nvPr/>
        </p:nvSpPr>
        <p:spPr bwMode="gray">
          <a:xfrm>
            <a:off x="8134313" y="729137"/>
            <a:ext cx="1178216" cy="2857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ED8B00"/>
                </a:solidFill>
                <a:latin typeface="+mj-lt"/>
                <a:cs typeface="Calibri Light" panose="020F0302020204030204" pitchFamily="34" charset="0"/>
              </a:rPr>
              <a:t>Illustrator</a:t>
            </a:r>
            <a:endParaRPr lang="ru-RU" sz="1300" b="1" dirty="0" err="1">
              <a:solidFill>
                <a:srgbClr val="ED8B00"/>
              </a:solidFill>
              <a:latin typeface="+mj-lt"/>
              <a:cs typeface="Calibri Light" panose="020F03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879B3-5407-49CB-907A-AF7B5DC8AB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34" y="2020531"/>
            <a:ext cx="8638741" cy="370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74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E4B2854-F5F9-40E1-9718-261DAE03BA2C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3E79F71-1B41-4C57-BE81-CBD1B3D7047B}"/>
              </a:ext>
            </a:extLst>
          </p:cNvPr>
          <p:cNvSpPr/>
          <p:nvPr/>
        </p:nvSpPr>
        <p:spPr>
          <a:xfrm>
            <a:off x="381001" y="6354206"/>
            <a:ext cx="165429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sz="800" dirty="0">
                <a:solidFill>
                  <a:prstClr val="black"/>
                </a:solidFill>
              </a:rPr>
              <a:t>Data research &amp; design: I. Daraev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0A5042-B07F-4C2D-94AB-A5C25CD56F4D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Alluvial </a:t>
            </a:r>
            <a:endParaRPr lang="ru-RU" dirty="0" err="1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FB3A1A4-A8E5-4359-AF50-D71FAA51F260}"/>
              </a:ext>
            </a:extLst>
          </p:cNvPr>
          <p:cNvSpPr/>
          <p:nvPr/>
        </p:nvSpPr>
        <p:spPr bwMode="gray">
          <a:xfrm>
            <a:off x="8134313" y="729137"/>
            <a:ext cx="1178216" cy="2857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ED8B00"/>
                </a:solidFill>
                <a:latin typeface="+mj-lt"/>
                <a:cs typeface="Calibri Light" panose="020F0302020204030204" pitchFamily="34" charset="0"/>
              </a:rPr>
              <a:t>Illustrator</a:t>
            </a:r>
            <a:endParaRPr lang="ru-RU" sz="1300" b="1" dirty="0" err="1">
              <a:solidFill>
                <a:srgbClr val="ED8B00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7" name="Rectangle 126">
            <a:hlinkClick r:id="rId2"/>
            <a:extLst>
              <a:ext uri="{FF2B5EF4-FFF2-40B4-BE49-F238E27FC236}">
                <a16:creationId xmlns:a16="http://schemas.microsoft.com/office/drawing/2014/main" id="{0E11E9F0-1A12-4C50-B4D4-B0B3E6C21D19}"/>
              </a:ext>
            </a:extLst>
          </p:cNvPr>
          <p:cNvSpPr/>
          <p:nvPr/>
        </p:nvSpPr>
        <p:spPr>
          <a:xfrm>
            <a:off x="381001" y="5946402"/>
            <a:ext cx="2667628" cy="4616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de-DE" sz="800" baseline="30000" dirty="0"/>
              <a:t>1 </a:t>
            </a:r>
            <a:r>
              <a:rPr lang="de-DE" sz="800" dirty="0" err="1"/>
              <a:t>Liquefied</a:t>
            </a:r>
            <a:r>
              <a:rPr lang="de-DE" sz="800" dirty="0"/>
              <a:t> </a:t>
            </a:r>
            <a:r>
              <a:rPr lang="de-DE" sz="800" dirty="0" err="1"/>
              <a:t>natural</a:t>
            </a:r>
            <a:r>
              <a:rPr lang="de-DE" sz="800" dirty="0"/>
              <a:t> gas </a:t>
            </a:r>
          </a:p>
          <a:p>
            <a:r>
              <a:rPr lang="de-DE" sz="800" baseline="30000" dirty="0"/>
              <a:t>2 </a:t>
            </a:r>
            <a:r>
              <a:rPr lang="de-DE" sz="800" dirty="0"/>
              <a:t>Sale and </a:t>
            </a:r>
            <a:r>
              <a:rPr lang="de-DE" sz="800" dirty="0" err="1"/>
              <a:t>purchase</a:t>
            </a:r>
            <a:r>
              <a:rPr lang="de-DE" sz="800" dirty="0"/>
              <a:t> </a:t>
            </a:r>
            <a:r>
              <a:rPr lang="de-DE" sz="800" dirty="0" err="1"/>
              <a:t>agreement</a:t>
            </a:r>
            <a:endParaRPr lang="de-DE" sz="800" dirty="0"/>
          </a:p>
          <a:p>
            <a:r>
              <a:rPr lang="de-DE" sz="800" dirty="0"/>
              <a:t>Source: Shell – LNG Outlook 2023</a:t>
            </a:r>
            <a:endParaRPr lang="ru-RU" sz="8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54E573A-D533-48F7-8BD2-E04DA3C75936}"/>
              </a:ext>
            </a:extLst>
          </p:cNvPr>
          <p:cNvSpPr txBox="1"/>
          <p:nvPr/>
        </p:nvSpPr>
        <p:spPr>
          <a:xfrm>
            <a:off x="385138" y="1271016"/>
            <a:ext cx="4326009" cy="17557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Long-term LNG</a:t>
            </a:r>
            <a:r>
              <a:rPr lang="en-US" sz="900" b="1" baseline="30000" dirty="0">
                <a:latin typeface="+mj-lt"/>
              </a:rPr>
              <a:t>1</a:t>
            </a:r>
            <a:r>
              <a:rPr lang="en-US" sz="900" b="1" dirty="0">
                <a:latin typeface="+mj-lt"/>
              </a:rPr>
              <a:t> SPA</a:t>
            </a:r>
            <a:r>
              <a:rPr lang="en-US" sz="900" b="1" baseline="30000" dirty="0">
                <a:latin typeface="+mj-lt"/>
              </a:rPr>
              <a:t>2</a:t>
            </a:r>
            <a:r>
              <a:rPr lang="en-US" sz="900" b="1" dirty="0">
                <a:latin typeface="+mj-lt"/>
              </a:rPr>
              <a:t> signings, M tonnes per annum</a:t>
            </a:r>
          </a:p>
          <a:p>
            <a:endParaRPr lang="en-US" sz="900" b="1" dirty="0">
              <a:latin typeface="+mj-lt"/>
            </a:endParaRPr>
          </a:p>
          <a:p>
            <a:r>
              <a:rPr lang="en-US" sz="900" b="1" dirty="0">
                <a:latin typeface="+mj-lt"/>
              </a:rPr>
              <a:t> </a:t>
            </a:r>
            <a:endParaRPr lang="ru-RU" sz="900" b="1" dirty="0" err="1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AD46ED5-371E-483B-AB66-1209B6DEE5F5}"/>
              </a:ext>
            </a:extLst>
          </p:cNvPr>
          <p:cNvGrpSpPr/>
          <p:nvPr/>
        </p:nvGrpSpPr>
        <p:grpSpPr>
          <a:xfrm>
            <a:off x="1507787" y="1652090"/>
            <a:ext cx="1322961" cy="4002846"/>
            <a:chOff x="1661513" y="1652090"/>
            <a:chExt cx="1602526" cy="400284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051DEAA-9668-4791-A77C-DBFACEBEEADD}"/>
                </a:ext>
              </a:extLst>
            </p:cNvPr>
            <p:cNvSpPr/>
            <p:nvPr/>
          </p:nvSpPr>
          <p:spPr>
            <a:xfrm>
              <a:off x="1661513" y="1652090"/>
              <a:ext cx="1602526" cy="2956692"/>
            </a:xfrm>
            <a:custGeom>
              <a:avLst/>
              <a:gdLst>
                <a:gd name="connsiteX0" fmla="*/ 7144 w 1009650"/>
                <a:gd name="connsiteY0" fmla="*/ 7144 h 2514600"/>
                <a:gd name="connsiteX1" fmla="*/ 1008507 w 1009650"/>
                <a:gd name="connsiteY1" fmla="*/ 1657255 h 2514600"/>
                <a:gd name="connsiteX2" fmla="*/ 1008507 w 1009650"/>
                <a:gd name="connsiteY2" fmla="*/ 2506409 h 2514600"/>
                <a:gd name="connsiteX3" fmla="*/ 7144 w 1009650"/>
                <a:gd name="connsiteY3" fmla="*/ 1387031 h 2514600"/>
                <a:gd name="connsiteX4" fmla="*/ 7144 w 1009650"/>
                <a:gd name="connsiteY4" fmla="*/ 7144 h 251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9650" h="2514600">
                  <a:moveTo>
                    <a:pt x="7144" y="7144"/>
                  </a:moveTo>
                  <a:cubicBezTo>
                    <a:pt x="340900" y="107347"/>
                    <a:pt x="674751" y="1557147"/>
                    <a:pt x="1008507" y="1657255"/>
                  </a:cubicBezTo>
                  <a:lnTo>
                    <a:pt x="1008507" y="2506409"/>
                  </a:lnTo>
                  <a:cubicBezTo>
                    <a:pt x="674751" y="2583180"/>
                    <a:pt x="340900" y="1310259"/>
                    <a:pt x="7144" y="1387031"/>
                  </a:cubicBezTo>
                  <a:lnTo>
                    <a:pt x="7144" y="7144"/>
                  </a:lnTo>
                  <a:close/>
                </a:path>
              </a:pathLst>
            </a:custGeom>
            <a:solidFill>
              <a:srgbClr val="404040">
                <a:alpha val="55000"/>
              </a:srgbClr>
            </a:solidFill>
            <a:ln w="6350" cap="flat">
              <a:solidFill>
                <a:schemeClr val="bg1">
                  <a:alpha val="64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C29C4BC-C8AE-4C74-A656-2C6DB3797AF2}"/>
                </a:ext>
              </a:extLst>
            </p:cNvPr>
            <p:cNvSpPr/>
            <p:nvPr/>
          </p:nvSpPr>
          <p:spPr>
            <a:xfrm>
              <a:off x="1661513" y="1652090"/>
              <a:ext cx="1602526" cy="3023890"/>
            </a:xfrm>
            <a:custGeom>
              <a:avLst/>
              <a:gdLst>
                <a:gd name="connsiteX0" fmla="*/ 7144 w 1009650"/>
                <a:gd name="connsiteY0" fmla="*/ 1387126 h 2571750"/>
                <a:gd name="connsiteX1" fmla="*/ 1008507 w 1009650"/>
                <a:gd name="connsiteY1" fmla="*/ 7144 h 2571750"/>
                <a:gd name="connsiteX2" fmla="*/ 1008507 w 1009650"/>
                <a:gd name="connsiteY2" fmla="*/ 1657255 h 2571750"/>
                <a:gd name="connsiteX3" fmla="*/ 7144 w 1009650"/>
                <a:gd name="connsiteY3" fmla="*/ 2569178 h 2571750"/>
                <a:gd name="connsiteX4" fmla="*/ 7144 w 1009650"/>
                <a:gd name="connsiteY4" fmla="*/ 1387031 h 2571750"/>
                <a:gd name="connsiteX5" fmla="*/ 7144 w 1009650"/>
                <a:gd name="connsiteY5" fmla="*/ 1387031 h 257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9650" h="2571750">
                  <a:moveTo>
                    <a:pt x="7144" y="1387126"/>
                  </a:moveTo>
                  <a:cubicBezTo>
                    <a:pt x="340900" y="1285780"/>
                    <a:pt x="674751" y="108395"/>
                    <a:pt x="1008507" y="7144"/>
                  </a:cubicBezTo>
                  <a:lnTo>
                    <a:pt x="1008507" y="1657255"/>
                  </a:lnTo>
                  <a:cubicBezTo>
                    <a:pt x="674751" y="1602581"/>
                    <a:pt x="340900" y="2623852"/>
                    <a:pt x="7144" y="2569178"/>
                  </a:cubicBezTo>
                  <a:lnTo>
                    <a:pt x="7144" y="1387031"/>
                  </a:lnTo>
                  <a:lnTo>
                    <a:pt x="7144" y="1387031"/>
                  </a:lnTo>
                  <a:close/>
                </a:path>
              </a:pathLst>
            </a:custGeom>
            <a:solidFill>
              <a:srgbClr val="43B02A">
                <a:alpha val="55000"/>
              </a:srgbClr>
            </a:solidFill>
            <a:ln w="6350" cap="flat">
              <a:solidFill>
                <a:schemeClr val="bg1">
                  <a:alpha val="64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996D4DE-30C5-4BF9-9665-079492927645}"/>
                </a:ext>
              </a:extLst>
            </p:cNvPr>
            <p:cNvSpPr/>
            <p:nvPr/>
          </p:nvSpPr>
          <p:spPr>
            <a:xfrm>
              <a:off x="1661513" y="4664445"/>
              <a:ext cx="1602526" cy="990491"/>
            </a:xfrm>
            <a:custGeom>
              <a:avLst/>
              <a:gdLst>
                <a:gd name="connsiteX0" fmla="*/ 7144 w 1009650"/>
                <a:gd name="connsiteY0" fmla="*/ 7239 h 847725"/>
                <a:gd name="connsiteX1" fmla="*/ 1008507 w 1009650"/>
                <a:gd name="connsiteY1" fmla="*/ 793718 h 847725"/>
                <a:gd name="connsiteX2" fmla="*/ 1008507 w 1009650"/>
                <a:gd name="connsiteY2" fmla="*/ 846772 h 847725"/>
                <a:gd name="connsiteX3" fmla="*/ 7144 w 1009650"/>
                <a:gd name="connsiteY3" fmla="*/ 378714 h 847725"/>
                <a:gd name="connsiteX4" fmla="*/ 7144 w 1009650"/>
                <a:gd name="connsiteY4" fmla="*/ 7144 h 847725"/>
                <a:gd name="connsiteX5" fmla="*/ 7144 w 1009650"/>
                <a:gd name="connsiteY5" fmla="*/ 7144 h 84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9650" h="847725">
                  <a:moveTo>
                    <a:pt x="7144" y="7239"/>
                  </a:moveTo>
                  <a:cubicBezTo>
                    <a:pt x="340900" y="84677"/>
                    <a:pt x="674751" y="716280"/>
                    <a:pt x="1008507" y="793718"/>
                  </a:cubicBezTo>
                  <a:lnTo>
                    <a:pt x="1008507" y="846772"/>
                  </a:lnTo>
                  <a:cubicBezTo>
                    <a:pt x="674751" y="875443"/>
                    <a:pt x="340900" y="350044"/>
                    <a:pt x="7144" y="378714"/>
                  </a:cubicBezTo>
                  <a:lnTo>
                    <a:pt x="7144" y="7144"/>
                  </a:lnTo>
                  <a:lnTo>
                    <a:pt x="7144" y="7144"/>
                  </a:lnTo>
                  <a:close/>
                </a:path>
              </a:pathLst>
            </a:custGeom>
            <a:solidFill>
              <a:srgbClr val="86BC25">
                <a:alpha val="55000"/>
              </a:srgbClr>
            </a:solidFill>
            <a:ln w="6350" cap="flat">
              <a:solidFill>
                <a:schemeClr val="bg1">
                  <a:alpha val="64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7024A14-AF34-4706-AFAB-B1248F11B352}"/>
                </a:ext>
              </a:extLst>
            </p:cNvPr>
            <p:cNvSpPr/>
            <p:nvPr/>
          </p:nvSpPr>
          <p:spPr>
            <a:xfrm>
              <a:off x="1661513" y="5091357"/>
              <a:ext cx="1602526" cy="549235"/>
            </a:xfrm>
            <a:custGeom>
              <a:avLst/>
              <a:gdLst>
                <a:gd name="connsiteX0" fmla="*/ 7144 w 1009650"/>
                <a:gd name="connsiteY0" fmla="*/ 15729 h 457200"/>
                <a:gd name="connsiteX1" fmla="*/ 1008507 w 1009650"/>
                <a:gd name="connsiteY1" fmla="*/ 199085 h 457200"/>
                <a:gd name="connsiteX2" fmla="*/ 1008507 w 1009650"/>
                <a:gd name="connsiteY2" fmla="*/ 430733 h 457200"/>
                <a:gd name="connsiteX3" fmla="*/ 7144 w 1009650"/>
                <a:gd name="connsiteY3" fmla="*/ 358343 h 457200"/>
                <a:gd name="connsiteX4" fmla="*/ 7144 w 1009650"/>
                <a:gd name="connsiteY4" fmla="*/ 15729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9650" h="457200">
                  <a:moveTo>
                    <a:pt x="7144" y="15729"/>
                  </a:moveTo>
                  <a:cubicBezTo>
                    <a:pt x="340900" y="-47612"/>
                    <a:pt x="674751" y="262427"/>
                    <a:pt x="1008507" y="199085"/>
                  </a:cubicBezTo>
                  <a:lnTo>
                    <a:pt x="1008507" y="430733"/>
                  </a:lnTo>
                  <a:cubicBezTo>
                    <a:pt x="674751" y="531127"/>
                    <a:pt x="340900" y="258045"/>
                    <a:pt x="7144" y="358343"/>
                  </a:cubicBezTo>
                  <a:lnTo>
                    <a:pt x="7144" y="15729"/>
                  </a:lnTo>
                  <a:close/>
                </a:path>
              </a:pathLst>
            </a:custGeom>
            <a:solidFill>
              <a:srgbClr val="C2D216">
                <a:alpha val="54000"/>
              </a:srgbClr>
            </a:solidFill>
            <a:ln w="6350" cap="flat">
              <a:solidFill>
                <a:schemeClr val="bg1">
                  <a:alpha val="64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48ABD86-BD60-4E20-9DA1-DD0BC65E194B}"/>
                </a:ext>
              </a:extLst>
            </p:cNvPr>
            <p:cNvSpPr/>
            <p:nvPr/>
          </p:nvSpPr>
          <p:spPr>
            <a:xfrm>
              <a:off x="1672852" y="4599264"/>
              <a:ext cx="1589373" cy="1055672"/>
            </a:xfrm>
            <a:custGeom>
              <a:avLst/>
              <a:gdLst>
                <a:gd name="connsiteX0" fmla="*/ 7144 w 1009650"/>
                <a:gd name="connsiteY0" fmla="*/ 784003 h 933450"/>
                <a:gd name="connsiteX1" fmla="*/ 1008507 w 1009650"/>
                <a:gd name="connsiteY1" fmla="*/ 7144 h 933450"/>
                <a:gd name="connsiteX2" fmla="*/ 1008507 w 1009650"/>
                <a:gd name="connsiteY2" fmla="*/ 624745 h 933450"/>
                <a:gd name="connsiteX3" fmla="*/ 7144 w 1009650"/>
                <a:gd name="connsiteY3" fmla="*/ 909447 h 933450"/>
                <a:gd name="connsiteX4" fmla="*/ 7144 w 1009650"/>
                <a:gd name="connsiteY4" fmla="*/ 784003 h 933450"/>
                <a:gd name="connsiteX0" fmla="*/ 0 w 1001363"/>
                <a:gd name="connsiteY0" fmla="*/ 776859 h 902440"/>
                <a:gd name="connsiteX1" fmla="*/ 1001363 w 1001363"/>
                <a:gd name="connsiteY1" fmla="*/ 0 h 902440"/>
                <a:gd name="connsiteX2" fmla="*/ 1001363 w 1001363"/>
                <a:gd name="connsiteY2" fmla="*/ 617601 h 902440"/>
                <a:gd name="connsiteX3" fmla="*/ 0 w 1001363"/>
                <a:gd name="connsiteY3" fmla="*/ 902303 h 902440"/>
                <a:gd name="connsiteX4" fmla="*/ 0 w 1001363"/>
                <a:gd name="connsiteY4" fmla="*/ 776859 h 90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363" h="902440">
                  <a:moveTo>
                    <a:pt x="0" y="776859"/>
                  </a:moveTo>
                  <a:cubicBezTo>
                    <a:pt x="333756" y="734473"/>
                    <a:pt x="667607" y="42386"/>
                    <a:pt x="1001363" y="0"/>
                  </a:cubicBezTo>
                  <a:lnTo>
                    <a:pt x="1001363" y="617601"/>
                  </a:lnTo>
                  <a:cubicBezTo>
                    <a:pt x="667607" y="495967"/>
                    <a:pt x="356349" y="911099"/>
                    <a:pt x="0" y="902303"/>
                  </a:cubicBezTo>
                  <a:lnTo>
                    <a:pt x="0" y="776859"/>
                  </a:lnTo>
                  <a:close/>
                </a:path>
              </a:pathLst>
            </a:custGeom>
            <a:solidFill>
              <a:srgbClr val="6FC2B4">
                <a:alpha val="55000"/>
              </a:srgbClr>
            </a:solidFill>
            <a:ln w="6350" cap="flat">
              <a:solidFill>
                <a:schemeClr val="bg1">
                  <a:alpha val="64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13EB49-C94E-44C5-8443-C2B729BC3D3B}"/>
              </a:ext>
            </a:extLst>
          </p:cNvPr>
          <p:cNvGrpSpPr/>
          <p:nvPr/>
        </p:nvGrpSpPr>
        <p:grpSpPr>
          <a:xfrm>
            <a:off x="408614" y="2230770"/>
            <a:ext cx="544249" cy="3471305"/>
            <a:chOff x="381001" y="2275414"/>
            <a:chExt cx="971144" cy="3692647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28B66E5-B36F-4C33-8E35-3112688F1DB9}"/>
                </a:ext>
              </a:extLst>
            </p:cNvPr>
            <p:cNvSpPr txBox="1"/>
            <p:nvPr/>
          </p:nvSpPr>
          <p:spPr>
            <a:xfrm>
              <a:off x="381001" y="2275414"/>
              <a:ext cx="971144" cy="230832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sz="900" dirty="0"/>
                <a:t>China</a:t>
              </a:r>
              <a:endParaRPr lang="ru-RU" sz="900" dirty="0" err="1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F4307BB-F331-4A8A-B19F-B767EC18ED32}"/>
                </a:ext>
              </a:extLst>
            </p:cNvPr>
            <p:cNvSpPr txBox="1"/>
            <p:nvPr/>
          </p:nvSpPr>
          <p:spPr>
            <a:xfrm>
              <a:off x="381001" y="3929158"/>
              <a:ext cx="971144" cy="230832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sz="900" dirty="0"/>
                <a:t>Portfolio player </a:t>
              </a:r>
              <a:endParaRPr lang="ru-RU" sz="900" dirty="0" err="1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7709DD0B-26E9-45CC-B1B4-ACC7A428C8C8}"/>
                </a:ext>
              </a:extLst>
            </p:cNvPr>
            <p:cNvSpPr txBox="1"/>
            <p:nvPr/>
          </p:nvSpPr>
          <p:spPr>
            <a:xfrm>
              <a:off x="381001" y="5467486"/>
              <a:ext cx="971144" cy="230832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sz="900" dirty="0"/>
                <a:t>NE Asia</a:t>
              </a:r>
              <a:endParaRPr lang="ru-RU" sz="900" dirty="0" err="1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67E3A50-24CB-4A44-97F2-3F2E241698EA}"/>
                </a:ext>
              </a:extLst>
            </p:cNvPr>
            <p:cNvSpPr txBox="1"/>
            <p:nvPr/>
          </p:nvSpPr>
          <p:spPr>
            <a:xfrm>
              <a:off x="381001" y="5737229"/>
              <a:ext cx="971144" cy="230832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sz="900" dirty="0"/>
                <a:t>Europe</a:t>
              </a:r>
              <a:endParaRPr lang="ru-RU" sz="900" dirty="0" err="1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E73C159F-FD56-4850-8BE3-3CA20E44F883}"/>
                </a:ext>
              </a:extLst>
            </p:cNvPr>
            <p:cNvSpPr txBox="1"/>
            <p:nvPr/>
          </p:nvSpPr>
          <p:spPr>
            <a:xfrm>
              <a:off x="381001" y="4979703"/>
              <a:ext cx="971144" cy="230832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sz="900" dirty="0"/>
                <a:t>Other</a:t>
              </a:r>
              <a:endParaRPr lang="ru-RU" sz="900" dirty="0" err="1"/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66DC502F-B74F-4D67-BF9C-24F869079CF8}"/>
              </a:ext>
            </a:extLst>
          </p:cNvPr>
          <p:cNvSpPr txBox="1"/>
          <p:nvPr/>
        </p:nvSpPr>
        <p:spPr>
          <a:xfrm>
            <a:off x="1051923" y="5763103"/>
            <a:ext cx="544249" cy="17552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900" dirty="0"/>
              <a:t>2021</a:t>
            </a:r>
          </a:p>
          <a:p>
            <a:pPr algn="ctr"/>
            <a:endParaRPr lang="en-US" sz="900" dirty="0"/>
          </a:p>
          <a:p>
            <a:pPr algn="ctr"/>
            <a:r>
              <a:rPr lang="en-US" sz="900" dirty="0"/>
              <a:t> </a:t>
            </a:r>
            <a:endParaRPr lang="ru-RU" sz="900" dirty="0" err="1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771C135-A6BF-47A6-A0AA-2E943F206EA1}"/>
              </a:ext>
            </a:extLst>
          </p:cNvPr>
          <p:cNvSpPr txBox="1"/>
          <p:nvPr/>
        </p:nvSpPr>
        <p:spPr>
          <a:xfrm>
            <a:off x="2760923" y="5763103"/>
            <a:ext cx="544249" cy="17552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900" dirty="0"/>
              <a:t>2022</a:t>
            </a:r>
          </a:p>
          <a:p>
            <a:pPr algn="ctr"/>
            <a:endParaRPr lang="en-US" sz="900" dirty="0"/>
          </a:p>
          <a:p>
            <a:pPr algn="ctr"/>
            <a:r>
              <a:rPr lang="en-US" sz="900" dirty="0"/>
              <a:t> </a:t>
            </a:r>
            <a:endParaRPr lang="ru-RU" sz="900" dirty="0" err="1"/>
          </a:p>
        </p:txBody>
      </p:sp>
      <p:graphicFrame>
        <p:nvGraphicFramePr>
          <p:cNvPr id="322" name="Chart 321">
            <a:extLst>
              <a:ext uri="{FF2B5EF4-FFF2-40B4-BE49-F238E27FC236}">
                <a16:creationId xmlns:a16="http://schemas.microsoft.com/office/drawing/2014/main" id="{23FBA03C-480E-4A87-99E8-B7A346A567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7652367"/>
              </p:ext>
            </p:extLst>
          </p:nvPr>
        </p:nvGraphicFramePr>
        <p:xfrm>
          <a:off x="381001" y="1530626"/>
          <a:ext cx="3597612" cy="42605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46CED9C-4143-46B4-9F45-31A87EF3CB57}"/>
              </a:ext>
            </a:extLst>
          </p:cNvPr>
          <p:cNvSpPr/>
          <p:nvPr/>
        </p:nvSpPr>
        <p:spPr>
          <a:xfrm>
            <a:off x="3415129" y="1681151"/>
            <a:ext cx="1914354" cy="58553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ru-RU" sz="900" dirty="0"/>
              <a:t>Term LNG </a:t>
            </a:r>
            <a:r>
              <a:rPr lang="ru-RU" sz="900" dirty="0" err="1"/>
              <a:t>contracts</a:t>
            </a:r>
            <a:r>
              <a:rPr lang="ru-RU" sz="900" dirty="0"/>
              <a:t> </a:t>
            </a:r>
            <a:r>
              <a:rPr lang="ru-RU" sz="900" dirty="0" err="1"/>
              <a:t>reduce</a:t>
            </a:r>
            <a:r>
              <a:rPr lang="ru-RU" sz="900" dirty="0"/>
              <a:t> </a:t>
            </a:r>
            <a:r>
              <a:rPr lang="ru-RU" sz="900" dirty="0" err="1"/>
              <a:t>exposure</a:t>
            </a:r>
            <a:r>
              <a:rPr lang="ru-RU" sz="900" dirty="0"/>
              <a:t> </a:t>
            </a:r>
            <a:r>
              <a:rPr lang="ru-RU" sz="900" dirty="0" err="1"/>
              <a:t>to</a:t>
            </a:r>
            <a:r>
              <a:rPr lang="ru-RU" sz="900" dirty="0"/>
              <a:t> </a:t>
            </a:r>
            <a:r>
              <a:rPr lang="ru-RU" sz="900" dirty="0" err="1"/>
              <a:t>price</a:t>
            </a:r>
            <a:r>
              <a:rPr lang="ru-RU" sz="900" dirty="0"/>
              <a:t> </a:t>
            </a:r>
            <a:r>
              <a:rPr lang="ru-RU" sz="900" dirty="0" err="1"/>
              <a:t>volatility</a:t>
            </a:r>
            <a:r>
              <a:rPr lang="en-US" sz="900" dirty="0"/>
              <a:t>. </a:t>
            </a:r>
            <a:r>
              <a:rPr lang="ru-RU" sz="900" dirty="0" err="1"/>
              <a:t>Portfolio</a:t>
            </a:r>
            <a:r>
              <a:rPr lang="ru-RU" sz="900" dirty="0"/>
              <a:t> </a:t>
            </a:r>
            <a:r>
              <a:rPr lang="ru-RU" sz="900" dirty="0" err="1"/>
              <a:t>players</a:t>
            </a:r>
            <a:r>
              <a:rPr lang="ru-RU" sz="900" dirty="0"/>
              <a:t> </a:t>
            </a:r>
            <a:r>
              <a:rPr lang="ru-RU" sz="900" dirty="0" err="1"/>
              <a:t>stepping</a:t>
            </a:r>
            <a:r>
              <a:rPr lang="ru-RU" sz="900" dirty="0"/>
              <a:t> </a:t>
            </a:r>
            <a:r>
              <a:rPr lang="ru-RU" sz="900" dirty="0" err="1"/>
              <a:t>up</a:t>
            </a:r>
            <a:r>
              <a:rPr lang="ru-RU" sz="900" dirty="0"/>
              <a:t> </a:t>
            </a:r>
            <a:r>
              <a:rPr lang="ru-RU" sz="900" dirty="0" err="1"/>
              <a:t>to</a:t>
            </a:r>
            <a:r>
              <a:rPr lang="ru-RU" sz="900" dirty="0"/>
              <a:t> </a:t>
            </a:r>
            <a:r>
              <a:rPr lang="ru-RU" sz="900" dirty="0" err="1"/>
              <a:t>secure</a:t>
            </a:r>
            <a:r>
              <a:rPr lang="ru-RU" sz="900" dirty="0"/>
              <a:t> </a:t>
            </a:r>
            <a:r>
              <a:rPr lang="ru-RU" sz="900" dirty="0" err="1"/>
              <a:t>future</a:t>
            </a:r>
            <a:r>
              <a:rPr lang="ru-RU" sz="900" dirty="0"/>
              <a:t> </a:t>
            </a:r>
            <a:r>
              <a:rPr lang="ru-RU" sz="900" dirty="0" err="1"/>
              <a:t>supply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38735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4D6E635-9D76-4B85-8D2A-46B9769FB262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9AB80CFE-5A75-4AA6-9CD0-4A36BC96836B}"/>
              </a:ext>
            </a:extLst>
          </p:cNvPr>
          <p:cNvSpPr/>
          <p:nvPr/>
        </p:nvSpPr>
        <p:spPr>
          <a:xfrm>
            <a:off x="381001" y="1271016"/>
            <a:ext cx="6154158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Government RD&amp;D</a:t>
            </a:r>
            <a:r>
              <a:rPr lang="en-US" sz="900" b="1" baseline="30000" dirty="0">
                <a:latin typeface="+mj-lt"/>
              </a:rPr>
              <a:t>1</a:t>
            </a:r>
            <a:r>
              <a:rPr lang="en-US" sz="900" b="1" dirty="0">
                <a:latin typeface="+mj-lt"/>
              </a:rPr>
              <a:t> spending for hydrogen technologies by region, 2018-</a:t>
            </a:r>
            <a:r>
              <a:rPr lang="ru-RU" sz="900" b="1" dirty="0">
                <a:latin typeface="+mj-lt"/>
              </a:rPr>
              <a:t>2022</a:t>
            </a:r>
            <a:r>
              <a:rPr lang="en-US" sz="900" b="1" dirty="0">
                <a:latin typeface="+mj-lt"/>
              </a:rPr>
              <a:t>, USD m</a:t>
            </a:r>
            <a:endParaRPr lang="ru-RU" sz="900" dirty="0">
              <a:latin typeface="+mj-lt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B265ED9B-9CB6-430F-B5B8-EFD3B0972418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Alluvial</a:t>
            </a:r>
            <a:endParaRPr lang="ru-RU" dirty="0" err="1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25D58E4-97B5-4728-971C-B3FB7B774C39}"/>
              </a:ext>
            </a:extLst>
          </p:cNvPr>
          <p:cNvSpPr>
            <a:spLocks/>
          </p:cNvSpPr>
          <p:nvPr/>
        </p:nvSpPr>
        <p:spPr bwMode="auto">
          <a:xfrm>
            <a:off x="1009328" y="2346884"/>
            <a:ext cx="4120536" cy="1900062"/>
          </a:xfrm>
          <a:custGeom>
            <a:avLst/>
            <a:gdLst>
              <a:gd name="T0" fmla="*/ 0 w 947"/>
              <a:gd name="T1" fmla="*/ 4 h 438"/>
              <a:gd name="T2" fmla="*/ 1 w 947"/>
              <a:gd name="T3" fmla="*/ 0 h 438"/>
              <a:gd name="T4" fmla="*/ 39 w 947"/>
              <a:gd name="T5" fmla="*/ 0 h 438"/>
              <a:gd name="T6" fmla="*/ 165 w 947"/>
              <a:gd name="T7" fmla="*/ 0 h 438"/>
              <a:gd name="T8" fmla="*/ 418 w 947"/>
              <a:gd name="T9" fmla="*/ 0 h 438"/>
              <a:gd name="T10" fmla="*/ 924 w 947"/>
              <a:gd name="T11" fmla="*/ 0 h 438"/>
              <a:gd name="T12" fmla="*/ 947 w 947"/>
              <a:gd name="T13" fmla="*/ 0 h 438"/>
              <a:gd name="T14" fmla="*/ 947 w 947"/>
              <a:gd name="T15" fmla="*/ 438 h 438"/>
              <a:gd name="T16" fmla="*/ 682 w 947"/>
              <a:gd name="T17" fmla="*/ 374 h 438"/>
              <a:gd name="T18" fmla="*/ 482 w 947"/>
              <a:gd name="T19" fmla="*/ 271 h 438"/>
              <a:gd name="T20" fmla="*/ 0 w 947"/>
              <a:gd name="T21" fmla="*/ 103 h 438"/>
              <a:gd name="T22" fmla="*/ 1 w 947"/>
              <a:gd name="T23" fmla="*/ 27 h 438"/>
              <a:gd name="T24" fmla="*/ 0 w 947"/>
              <a:gd name="T25" fmla="*/ 4 h 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47" h="438">
                <a:moveTo>
                  <a:pt x="0" y="4"/>
                </a:moveTo>
                <a:cubicBezTo>
                  <a:pt x="0" y="2"/>
                  <a:pt x="0" y="0"/>
                  <a:pt x="1" y="0"/>
                </a:cubicBezTo>
                <a:cubicBezTo>
                  <a:pt x="9" y="0"/>
                  <a:pt x="30" y="0"/>
                  <a:pt x="39" y="0"/>
                </a:cubicBezTo>
                <a:cubicBezTo>
                  <a:pt x="81" y="0"/>
                  <a:pt x="123" y="0"/>
                  <a:pt x="165" y="0"/>
                </a:cubicBezTo>
                <a:cubicBezTo>
                  <a:pt x="250" y="0"/>
                  <a:pt x="334" y="0"/>
                  <a:pt x="418" y="0"/>
                </a:cubicBezTo>
                <a:cubicBezTo>
                  <a:pt x="587" y="0"/>
                  <a:pt x="756" y="0"/>
                  <a:pt x="924" y="0"/>
                </a:cubicBezTo>
                <a:cubicBezTo>
                  <a:pt x="932" y="0"/>
                  <a:pt x="939" y="0"/>
                  <a:pt x="947" y="0"/>
                </a:cubicBezTo>
                <a:cubicBezTo>
                  <a:pt x="947" y="146"/>
                  <a:pt x="947" y="293"/>
                  <a:pt x="947" y="438"/>
                </a:cubicBezTo>
                <a:cubicBezTo>
                  <a:pt x="855" y="438"/>
                  <a:pt x="766" y="417"/>
                  <a:pt x="682" y="374"/>
                </a:cubicBezTo>
                <a:cubicBezTo>
                  <a:pt x="639" y="351"/>
                  <a:pt x="525" y="295"/>
                  <a:pt x="482" y="271"/>
                </a:cubicBezTo>
                <a:cubicBezTo>
                  <a:pt x="310" y="174"/>
                  <a:pt x="179" y="103"/>
                  <a:pt x="0" y="103"/>
                </a:cubicBezTo>
                <a:cubicBezTo>
                  <a:pt x="0" y="98"/>
                  <a:pt x="1" y="34"/>
                  <a:pt x="1" y="27"/>
                </a:cubicBezTo>
                <a:cubicBezTo>
                  <a:pt x="1" y="17"/>
                  <a:pt x="0" y="8"/>
                  <a:pt x="0" y="4"/>
                </a:cubicBezTo>
                <a:close/>
              </a:path>
            </a:pathLst>
          </a:custGeom>
          <a:solidFill>
            <a:schemeClr val="bg2">
              <a:lumMod val="40000"/>
              <a:lumOff val="60000"/>
              <a:alpha val="42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0128BF-FF69-4A36-91F5-E87CF5561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9864" y="2346884"/>
            <a:ext cx="557522" cy="1900062"/>
          </a:xfrm>
          <a:prstGeom prst="rect">
            <a:avLst/>
          </a:prstGeom>
          <a:solidFill>
            <a:srgbClr val="2F2F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90000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+mj-lt"/>
              </a:rPr>
              <a:t>1000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9150AB-85DF-4BB7-93D0-EC5C72586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6" y="2346884"/>
            <a:ext cx="557522" cy="447042"/>
          </a:xfrm>
          <a:prstGeom prst="rect">
            <a:avLst/>
          </a:prstGeom>
          <a:solidFill>
            <a:srgbClr val="2F2F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14400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+mj-lt"/>
              </a:rPr>
              <a:t>220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CFEAC9-D97B-4E94-B338-272A8062A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9864" y="4339865"/>
            <a:ext cx="557522" cy="788221"/>
          </a:xfrm>
          <a:prstGeom prst="rect">
            <a:avLst/>
          </a:prstGeom>
          <a:solidFill>
            <a:srgbClr val="0076A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2400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+mj-lt"/>
              </a:rPr>
              <a:t>420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5BE4C5-D636-4B83-B520-A031E6AC6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6" y="2875568"/>
            <a:ext cx="557522" cy="419745"/>
          </a:xfrm>
          <a:prstGeom prst="rect">
            <a:avLst/>
          </a:prstGeom>
          <a:solidFill>
            <a:srgbClr val="0076A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14400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+mj-lt"/>
              </a:rPr>
              <a:t>220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BFEF76-B057-49EA-A774-1673A5F9E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9864" y="5245397"/>
            <a:ext cx="557522" cy="672871"/>
          </a:xfrm>
          <a:prstGeom prst="rect">
            <a:avLst/>
          </a:prstGeom>
          <a:solidFill>
            <a:srgbClr val="62B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25200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+mj-lt"/>
              </a:rPr>
              <a:t>350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3EE1BC-7B44-43C4-9F05-315E6C3C5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6" y="3412623"/>
            <a:ext cx="557522" cy="281965"/>
          </a:xfrm>
          <a:prstGeom prst="rect">
            <a:avLst/>
          </a:prstGeom>
          <a:solidFill>
            <a:srgbClr val="62B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7200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+mj-lt"/>
              </a:rPr>
              <a:t>170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A9CBE86-955A-414C-99DE-1E1E61F8A571}"/>
              </a:ext>
            </a:extLst>
          </p:cNvPr>
          <p:cNvSpPr>
            <a:spLocks/>
          </p:cNvSpPr>
          <p:nvPr/>
        </p:nvSpPr>
        <p:spPr bwMode="auto">
          <a:xfrm>
            <a:off x="1009328" y="2824301"/>
            <a:ext cx="4120536" cy="2303784"/>
          </a:xfrm>
          <a:custGeom>
            <a:avLst/>
            <a:gdLst>
              <a:gd name="T0" fmla="*/ 0 w 947"/>
              <a:gd name="T1" fmla="*/ 12 h 531"/>
              <a:gd name="T2" fmla="*/ 947 w 947"/>
              <a:gd name="T3" fmla="*/ 349 h 531"/>
              <a:gd name="T4" fmla="*/ 947 w 947"/>
              <a:gd name="T5" fmla="*/ 531 h 531"/>
              <a:gd name="T6" fmla="*/ 0 w 947"/>
              <a:gd name="T7" fmla="*/ 109 h 531"/>
              <a:gd name="T8" fmla="*/ 0 w 947"/>
              <a:gd name="T9" fmla="*/ 12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47" h="531">
                <a:moveTo>
                  <a:pt x="0" y="12"/>
                </a:moveTo>
                <a:cubicBezTo>
                  <a:pt x="316" y="0"/>
                  <a:pt x="631" y="361"/>
                  <a:pt x="947" y="349"/>
                </a:cubicBezTo>
                <a:cubicBezTo>
                  <a:pt x="947" y="409"/>
                  <a:pt x="947" y="470"/>
                  <a:pt x="947" y="531"/>
                </a:cubicBezTo>
                <a:cubicBezTo>
                  <a:pt x="631" y="515"/>
                  <a:pt x="316" y="125"/>
                  <a:pt x="0" y="109"/>
                </a:cubicBezTo>
                <a:cubicBezTo>
                  <a:pt x="0" y="77"/>
                  <a:pt x="0" y="44"/>
                  <a:pt x="0" y="12"/>
                </a:cubicBezTo>
                <a:close/>
              </a:path>
            </a:pathLst>
          </a:custGeom>
          <a:solidFill>
            <a:srgbClr val="0076A8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348E708-0481-430D-861B-4D6C96FD26AC}"/>
              </a:ext>
            </a:extLst>
          </p:cNvPr>
          <p:cNvSpPr>
            <a:spLocks/>
          </p:cNvSpPr>
          <p:nvPr/>
        </p:nvSpPr>
        <p:spPr bwMode="auto">
          <a:xfrm>
            <a:off x="1009328" y="3412623"/>
            <a:ext cx="4120536" cy="2505645"/>
          </a:xfrm>
          <a:custGeom>
            <a:avLst/>
            <a:gdLst>
              <a:gd name="T0" fmla="*/ 0 w 947"/>
              <a:gd name="T1" fmla="*/ 0 h 577"/>
              <a:gd name="T2" fmla="*/ 947 w 947"/>
              <a:gd name="T3" fmla="*/ 422 h 577"/>
              <a:gd name="T4" fmla="*/ 947 w 947"/>
              <a:gd name="T5" fmla="*/ 577 h 577"/>
              <a:gd name="T6" fmla="*/ 0 w 947"/>
              <a:gd name="T7" fmla="*/ 65 h 577"/>
              <a:gd name="T8" fmla="*/ 0 w 947"/>
              <a:gd name="T9" fmla="*/ 0 h 5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47" h="577">
                <a:moveTo>
                  <a:pt x="0" y="0"/>
                </a:moveTo>
                <a:cubicBezTo>
                  <a:pt x="316" y="13"/>
                  <a:pt x="631" y="408"/>
                  <a:pt x="947" y="422"/>
                </a:cubicBezTo>
                <a:cubicBezTo>
                  <a:pt x="947" y="474"/>
                  <a:pt x="947" y="525"/>
                  <a:pt x="947" y="577"/>
                </a:cubicBezTo>
                <a:cubicBezTo>
                  <a:pt x="631" y="533"/>
                  <a:pt x="316" y="108"/>
                  <a:pt x="0" y="65"/>
                </a:cubicBezTo>
                <a:cubicBezTo>
                  <a:pt x="0" y="43"/>
                  <a:pt x="0" y="21"/>
                  <a:pt x="0" y="0"/>
                </a:cubicBezTo>
                <a:close/>
              </a:path>
            </a:pathLst>
          </a:custGeom>
          <a:solidFill>
            <a:srgbClr val="A0DCFF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D513D522-747E-406A-A2E9-BCB620FC0881}"/>
              </a:ext>
            </a:extLst>
          </p:cNvPr>
          <p:cNvSpPr/>
          <p:nvPr/>
        </p:nvSpPr>
        <p:spPr>
          <a:xfrm>
            <a:off x="5956640" y="3184272"/>
            <a:ext cx="653143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dirty="0"/>
              <a:t>Europe</a:t>
            </a:r>
            <a:endParaRPr lang="ru-RU" sz="900" dirty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624DF822-F522-4E18-97BA-A7F335DEDDE8}"/>
              </a:ext>
            </a:extLst>
          </p:cNvPr>
          <p:cNvSpPr/>
          <p:nvPr/>
        </p:nvSpPr>
        <p:spPr>
          <a:xfrm>
            <a:off x="381001" y="5645649"/>
            <a:ext cx="2667628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de-DE" sz="1000" baseline="30000" dirty="0"/>
              <a:t>1</a:t>
            </a:r>
            <a:r>
              <a:rPr lang="de-DE" sz="800" dirty="0"/>
              <a:t> Research, </a:t>
            </a:r>
            <a:r>
              <a:rPr lang="de-DE" sz="800" dirty="0" err="1"/>
              <a:t>development</a:t>
            </a:r>
            <a:r>
              <a:rPr lang="de-DE" sz="800" dirty="0"/>
              <a:t> and </a:t>
            </a:r>
            <a:r>
              <a:rPr lang="de-DE" sz="800" dirty="0" err="1"/>
              <a:t>demonstration</a:t>
            </a:r>
            <a:endParaRPr lang="ru-RU" sz="80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8EA5CBF-EA20-4A34-B020-CDD6AB23F174}"/>
              </a:ext>
            </a:extLst>
          </p:cNvPr>
          <p:cNvSpPr/>
          <p:nvPr/>
        </p:nvSpPr>
        <p:spPr>
          <a:xfrm>
            <a:off x="5956640" y="5397166"/>
            <a:ext cx="653143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dirty="0"/>
              <a:t>Americas</a:t>
            </a:r>
            <a:endParaRPr lang="ru-RU" sz="90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4FAD40E7-4797-45A9-958E-75DC37EAD879}"/>
              </a:ext>
            </a:extLst>
          </p:cNvPr>
          <p:cNvSpPr/>
          <p:nvPr/>
        </p:nvSpPr>
        <p:spPr>
          <a:xfrm>
            <a:off x="614749" y="1688046"/>
            <a:ext cx="451039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dirty="0"/>
              <a:t>2018</a:t>
            </a:r>
            <a:endParaRPr lang="ru-RU" sz="90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A9A597C5-2E98-48F6-AAE2-7D514FECD4AC}"/>
              </a:ext>
            </a:extLst>
          </p:cNvPr>
          <p:cNvSpPr/>
          <p:nvPr/>
        </p:nvSpPr>
        <p:spPr>
          <a:xfrm>
            <a:off x="5291203" y="1688046"/>
            <a:ext cx="451039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dirty="0"/>
              <a:t>2022</a:t>
            </a:r>
            <a:endParaRPr lang="ru-RU" sz="900" dirty="0"/>
          </a:p>
        </p:txBody>
      </p:sp>
      <p:sp>
        <p:nvSpPr>
          <p:cNvPr id="182" name="Rectangle 181">
            <a:hlinkClick r:id="rId2"/>
            <a:extLst>
              <a:ext uri="{FF2B5EF4-FFF2-40B4-BE49-F238E27FC236}">
                <a16:creationId xmlns:a16="http://schemas.microsoft.com/office/drawing/2014/main" id="{BACC3ABA-7703-4E25-BC1E-194646D8B0C6}"/>
              </a:ext>
            </a:extLst>
          </p:cNvPr>
          <p:cNvSpPr/>
          <p:nvPr/>
        </p:nvSpPr>
        <p:spPr>
          <a:xfrm>
            <a:off x="455625" y="5800675"/>
            <a:ext cx="2593011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800" dirty="0"/>
              <a:t>Source: IEA – Global Hydrogen Review, 2023</a:t>
            </a:r>
            <a:endParaRPr lang="ru-RU" sz="800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3BFE2231-9D73-4BDE-9F8D-97B86642B20B}"/>
              </a:ext>
            </a:extLst>
          </p:cNvPr>
          <p:cNvGrpSpPr/>
          <p:nvPr/>
        </p:nvGrpSpPr>
        <p:grpSpPr>
          <a:xfrm>
            <a:off x="1017077" y="2346884"/>
            <a:ext cx="4112787" cy="3674052"/>
            <a:chOff x="1522524" y="2038771"/>
            <a:chExt cx="4112787" cy="3674052"/>
          </a:xfrm>
        </p:grpSpPr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8FEE9393-D8FB-4773-AE2E-8AADF1DBF4B6}"/>
                </a:ext>
              </a:extLst>
            </p:cNvPr>
            <p:cNvCxnSpPr>
              <a:cxnSpLocks/>
            </p:cNvCxnSpPr>
            <p:nvPr/>
          </p:nvCxnSpPr>
          <p:spPr>
            <a:xfrm>
              <a:off x="5635311" y="2038771"/>
              <a:ext cx="0" cy="367405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8B4B0FBD-DAE7-4160-BF60-BA473461D3BE}"/>
                </a:ext>
              </a:extLst>
            </p:cNvPr>
            <p:cNvCxnSpPr>
              <a:cxnSpLocks/>
            </p:cNvCxnSpPr>
            <p:nvPr/>
          </p:nvCxnSpPr>
          <p:spPr>
            <a:xfrm>
              <a:off x="1522524" y="2038771"/>
              <a:ext cx="0" cy="1453366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0" name="Rectangle 189">
            <a:extLst>
              <a:ext uri="{FF2B5EF4-FFF2-40B4-BE49-F238E27FC236}">
                <a16:creationId xmlns:a16="http://schemas.microsoft.com/office/drawing/2014/main" id="{8F9FE7D9-15D4-4087-9531-F5D9CA9C37A9}"/>
              </a:ext>
            </a:extLst>
          </p:cNvPr>
          <p:cNvSpPr/>
          <p:nvPr/>
        </p:nvSpPr>
        <p:spPr>
          <a:xfrm>
            <a:off x="639443" y="2138549"/>
            <a:ext cx="35972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b="1" dirty="0">
                <a:latin typeface="+mj-lt"/>
              </a:rPr>
              <a:t>610</a:t>
            </a:r>
            <a:endParaRPr lang="ru-RU" sz="900" dirty="0">
              <a:latin typeface="+mj-lt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3993E59D-E7D7-40C9-872B-34831A18C48E}"/>
              </a:ext>
            </a:extLst>
          </p:cNvPr>
          <p:cNvSpPr/>
          <p:nvPr/>
        </p:nvSpPr>
        <p:spPr>
          <a:xfrm>
            <a:off x="5291203" y="2138549"/>
            <a:ext cx="35972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b="1" dirty="0">
                <a:latin typeface="+mj-lt"/>
              </a:rPr>
              <a:t>1770</a:t>
            </a:r>
            <a:endParaRPr lang="ru-RU" sz="900" dirty="0">
              <a:latin typeface="+mj-lt"/>
            </a:endParaRP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980C31B0-4865-4C68-8FC2-BE0047FFFE5C}"/>
              </a:ext>
            </a:extLst>
          </p:cNvPr>
          <p:cNvCxnSpPr>
            <a:cxnSpLocks/>
          </p:cNvCxnSpPr>
          <p:nvPr/>
        </p:nvCxnSpPr>
        <p:spPr>
          <a:xfrm>
            <a:off x="707127" y="2068587"/>
            <a:ext cx="470815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Rectangle 221">
            <a:extLst>
              <a:ext uri="{FF2B5EF4-FFF2-40B4-BE49-F238E27FC236}">
                <a16:creationId xmlns:a16="http://schemas.microsoft.com/office/drawing/2014/main" id="{182BCA5E-4D67-4C93-B960-AB07440F0A2B}"/>
              </a:ext>
            </a:extLst>
          </p:cNvPr>
          <p:cNvSpPr/>
          <p:nvPr/>
        </p:nvSpPr>
        <p:spPr>
          <a:xfrm>
            <a:off x="446595" y="1945053"/>
            <a:ext cx="35972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3%</a:t>
            </a:r>
            <a:endParaRPr lang="ru-RU" sz="9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953D1824-6C19-4EED-AAC8-AC0FC61E0E34}"/>
              </a:ext>
            </a:extLst>
          </p:cNvPr>
          <p:cNvSpPr/>
          <p:nvPr/>
        </p:nvSpPr>
        <p:spPr>
          <a:xfrm>
            <a:off x="5554599" y="1945053"/>
            <a:ext cx="35972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7.5%</a:t>
            </a:r>
            <a:endParaRPr lang="ru-RU" sz="9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0CEE15F2-7789-4F18-A680-6A1EF0A81E86}"/>
              </a:ext>
            </a:extLst>
          </p:cNvPr>
          <p:cNvSpPr/>
          <p:nvPr/>
        </p:nvSpPr>
        <p:spPr>
          <a:xfrm>
            <a:off x="5903580" y="1906121"/>
            <a:ext cx="796843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de-DE" sz="900" dirty="0"/>
              <a:t>Clean energy</a:t>
            </a:r>
          </a:p>
          <a:p>
            <a:r>
              <a:rPr lang="de-DE" sz="900" dirty="0"/>
              <a:t>RD&amp;D </a:t>
            </a:r>
            <a:r>
              <a:rPr lang="de-DE" sz="900" dirty="0" err="1"/>
              <a:t>share</a:t>
            </a:r>
            <a:r>
              <a:rPr lang="de-DE" sz="900" dirty="0"/>
              <a:t> </a:t>
            </a:r>
            <a:endParaRPr lang="ru-RU" sz="900" dirty="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AC7D87A1-C06F-4AE3-A87C-C1852CACF010}"/>
              </a:ext>
            </a:extLst>
          </p:cNvPr>
          <p:cNvSpPr/>
          <p:nvPr/>
        </p:nvSpPr>
        <p:spPr>
          <a:xfrm>
            <a:off x="5956640" y="4550029"/>
            <a:ext cx="653143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dirty="0"/>
              <a:t>Asia &amp; Oceania</a:t>
            </a:r>
            <a:endParaRPr lang="ru-RU" sz="900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506B936-9677-4558-B845-F66A1B70F909}"/>
              </a:ext>
            </a:extLst>
          </p:cNvPr>
          <p:cNvSpPr/>
          <p:nvPr/>
        </p:nvSpPr>
        <p:spPr bwMode="gray">
          <a:xfrm>
            <a:off x="8134313" y="729137"/>
            <a:ext cx="1178216" cy="2857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ED8B00"/>
                </a:solidFill>
                <a:latin typeface="+mj-lt"/>
                <a:cs typeface="Calibri Light" panose="020F0302020204030204" pitchFamily="34" charset="0"/>
              </a:rPr>
              <a:t>Illustrator</a:t>
            </a:r>
            <a:endParaRPr lang="ru-RU" sz="1300" b="1" dirty="0" err="1">
              <a:solidFill>
                <a:srgbClr val="ED8B00"/>
              </a:solidFill>
              <a:latin typeface="+mj-lt"/>
              <a:cs typeface="Calibri Light" panose="020F03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7A94D19-972E-4F48-9CC2-B196F79AF13A}"/>
              </a:ext>
            </a:extLst>
          </p:cNvPr>
          <p:cNvGrpSpPr/>
          <p:nvPr/>
        </p:nvGrpSpPr>
        <p:grpSpPr>
          <a:xfrm>
            <a:off x="4371578" y="2341220"/>
            <a:ext cx="666974" cy="3275237"/>
            <a:chOff x="4397719" y="2341220"/>
            <a:chExt cx="666974" cy="3275237"/>
          </a:xfrm>
        </p:grpSpPr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6CB4CB31-3F38-4667-A95D-008ECFCFA27F}"/>
                </a:ext>
              </a:extLst>
            </p:cNvPr>
            <p:cNvGrpSpPr/>
            <p:nvPr/>
          </p:nvGrpSpPr>
          <p:grpSpPr>
            <a:xfrm>
              <a:off x="4397719" y="2341220"/>
              <a:ext cx="666974" cy="613823"/>
              <a:chOff x="5016186" y="2007415"/>
              <a:chExt cx="666974" cy="613823"/>
            </a:xfrm>
          </p:grpSpPr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A0727F7B-ED5E-478A-9879-C6CC2C33CDD9}"/>
                  </a:ext>
                </a:extLst>
              </p:cNvPr>
              <p:cNvSpPr/>
              <p:nvPr/>
            </p:nvSpPr>
            <p:spPr>
              <a:xfrm>
                <a:off x="5307936" y="2262299"/>
                <a:ext cx="359726" cy="230832"/>
              </a:xfrm>
              <a:prstGeom prst="rect">
                <a:avLst/>
              </a:prstGeom>
            </p:spPr>
            <p:txBody>
              <a:bodyPr wrap="square" lIns="0" rIns="0">
                <a:spAutoFit/>
              </a:bodyPr>
              <a:lstStyle/>
              <a:p>
                <a:pPr algn="r"/>
                <a:r>
                  <a:rPr lang="en-US" sz="9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lt"/>
                  </a:rPr>
                  <a:t>CAGR</a:t>
                </a:r>
                <a:endParaRPr lang="ru-RU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A5C30B63-7F22-4E2E-A433-09E9A53302F5}"/>
                  </a:ext>
                </a:extLst>
              </p:cNvPr>
              <p:cNvSpPr/>
              <p:nvPr/>
            </p:nvSpPr>
            <p:spPr>
              <a:xfrm>
                <a:off x="5016186" y="2405794"/>
                <a:ext cx="651476" cy="215444"/>
              </a:xfrm>
              <a:prstGeom prst="rect">
                <a:avLst/>
              </a:prstGeom>
            </p:spPr>
            <p:txBody>
              <a:bodyPr wrap="square" lIns="0" rIns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2018-2022</a:t>
                </a:r>
                <a:endParaRPr lang="ru-RU" sz="8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98C4F06E-0410-4C6B-A651-18E805586709}"/>
                  </a:ext>
                </a:extLst>
              </p:cNvPr>
              <p:cNvSpPr/>
              <p:nvPr/>
            </p:nvSpPr>
            <p:spPr>
              <a:xfrm>
                <a:off x="5125641" y="2007415"/>
                <a:ext cx="557519" cy="338554"/>
              </a:xfrm>
              <a:prstGeom prst="rect">
                <a:avLst/>
              </a:prstGeom>
            </p:spPr>
            <p:txBody>
              <a:bodyPr wrap="square" lIns="0" rIns="0">
                <a:spAutoFit/>
              </a:bodyPr>
              <a:lstStyle/>
              <a:p>
                <a:pPr algn="r"/>
                <a:r>
                  <a:rPr 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lt"/>
                  </a:rPr>
                  <a:t>35%</a:t>
                </a:r>
                <a:endPara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</a:endParaRPr>
              </a:p>
            </p:txBody>
          </p:sp>
        </p:grp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81F45919-D5DB-44EA-A6DD-49AB638EE1DE}"/>
                </a:ext>
              </a:extLst>
            </p:cNvPr>
            <p:cNvSpPr/>
            <p:nvPr/>
          </p:nvSpPr>
          <p:spPr>
            <a:xfrm>
              <a:off x="4507174" y="4358533"/>
              <a:ext cx="557519" cy="338554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algn="r"/>
              <a:r>
                <a:rPr 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</a:rPr>
                <a:t>14%</a:t>
              </a:r>
              <a:endPara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5599AAA5-5A35-430C-94A9-90FBD45EE310}"/>
                </a:ext>
              </a:extLst>
            </p:cNvPr>
            <p:cNvSpPr/>
            <p:nvPr/>
          </p:nvSpPr>
          <p:spPr>
            <a:xfrm>
              <a:off x="4507174" y="5277903"/>
              <a:ext cx="557519" cy="338554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algn="r"/>
              <a:r>
                <a:rPr 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</a:rPr>
                <a:t>16%</a:t>
              </a:r>
              <a:endPara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endParaRPr>
            </a:p>
          </p:txBody>
        </p: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939CDE3-4E77-4DAC-B486-FEB54A05B89F}"/>
                </a:ext>
              </a:extLst>
            </p:cNvPr>
            <p:cNvCxnSpPr>
              <a:cxnSpLocks/>
            </p:cNvCxnSpPr>
            <p:nvPr/>
          </p:nvCxnSpPr>
          <p:spPr>
            <a:xfrm>
              <a:off x="4558043" y="2621756"/>
              <a:ext cx="499110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B83BC15-485C-46FC-BB43-04274E9D1E98}"/>
              </a:ext>
            </a:extLst>
          </p:cNvPr>
          <p:cNvSpPr/>
          <p:nvPr/>
        </p:nvSpPr>
        <p:spPr>
          <a:xfrm>
            <a:off x="7339013" y="1961105"/>
            <a:ext cx="2185987" cy="18774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900" dirty="0">
                <a:solidFill>
                  <a:srgbClr val="000000"/>
                </a:solidFill>
              </a:rPr>
              <a:t>Government investment in RD&amp;D in hydrogen technologies increased strongly in 2022. This represents a continuation of the trend observed since the mid-2010s, which has accelerated in the past two years. </a:t>
            </a:r>
          </a:p>
          <a:p>
            <a:pPr>
              <a:spcBef>
                <a:spcPts val="600"/>
              </a:spcBef>
            </a:pPr>
            <a:r>
              <a:rPr lang="en-US" sz="900" dirty="0">
                <a:solidFill>
                  <a:srgbClr val="000000"/>
                </a:solidFill>
              </a:rPr>
              <a:t>The growing interest of governments in the development of hydrogen technologies is also represented by the increased share allocated to hydrogen in clean energy RD&amp;D budgets, which reached its historical maximum at 7.5% in 2022</a:t>
            </a:r>
            <a:endParaRPr lang="ru-RU" sz="9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41C2F0F-B13A-4E69-BBB6-BD9BDCFBFB85}"/>
              </a:ext>
            </a:extLst>
          </p:cNvPr>
          <p:cNvSpPr/>
          <p:nvPr/>
        </p:nvSpPr>
        <p:spPr>
          <a:xfrm>
            <a:off x="455625" y="5995639"/>
            <a:ext cx="165429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sz="800" dirty="0">
                <a:solidFill>
                  <a:prstClr val="black"/>
                </a:solidFill>
              </a:rPr>
              <a:t>Data research &amp; design: I. Daraev</a:t>
            </a:r>
          </a:p>
        </p:txBody>
      </p:sp>
    </p:spTree>
    <p:extLst>
      <p:ext uri="{BB962C8B-B14F-4D97-AF65-F5344CB8AC3E}">
        <p14:creationId xmlns:p14="http://schemas.microsoft.com/office/powerpoint/2010/main" val="316939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5E014E36-DDA6-464D-8B04-93BA26E215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86" y="381050"/>
            <a:ext cx="9410574" cy="60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5913674-C564-48FB-87B0-2B32F13B09D1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79E8F00-34EC-48BC-A1F8-8A3DB9237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248" y="322215"/>
            <a:ext cx="6605503" cy="616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74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08F659-13B5-4905-8096-9F6D0057B074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13FED5-DBB1-4EDB-97DE-B95BCD0A60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449" y="416668"/>
            <a:ext cx="7924293" cy="5913790"/>
          </a:xfrm>
          <a:prstGeom prst="rect">
            <a:avLst/>
          </a:prstGeom>
        </p:spPr>
      </p:pic>
      <p:sp>
        <p:nvSpPr>
          <p:cNvPr id="9" name="TextBox 8">
            <a:hlinkClick r:id="rId3"/>
            <a:extLst>
              <a:ext uri="{FF2B5EF4-FFF2-40B4-BE49-F238E27FC236}">
                <a16:creationId xmlns:a16="http://schemas.microsoft.com/office/drawing/2014/main" id="{ACA50A87-2EB7-4DE3-943A-AE44C26E618C}"/>
              </a:ext>
            </a:extLst>
          </p:cNvPr>
          <p:cNvSpPr txBox="1"/>
          <p:nvPr/>
        </p:nvSpPr>
        <p:spPr>
          <a:xfrm>
            <a:off x="1415436" y="6493015"/>
            <a:ext cx="2624067" cy="1492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dirty="0"/>
              <a:t>Source: Deloitte – Global powers of retailing 2022</a:t>
            </a:r>
            <a:endParaRPr lang="ru-RU" sz="800" dirty="0" err="1"/>
          </a:p>
        </p:txBody>
      </p:sp>
    </p:spTree>
    <p:extLst>
      <p:ext uri="{BB962C8B-B14F-4D97-AF65-F5344CB8AC3E}">
        <p14:creationId xmlns:p14="http://schemas.microsoft.com/office/powerpoint/2010/main" val="345533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D5521745-99AE-4308-B7DD-17E06BCFE4A8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CE8BE1C-223F-4EA2-A34B-E008D88380CE}"/>
              </a:ext>
            </a:extLst>
          </p:cNvPr>
          <p:cNvCxnSpPr>
            <a:cxnSpLocks/>
          </p:cNvCxnSpPr>
          <p:nvPr/>
        </p:nvCxnSpPr>
        <p:spPr>
          <a:xfrm>
            <a:off x="805675" y="2262927"/>
            <a:ext cx="46570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E23C9B77-109A-4974-81E5-77A6421289C7}"/>
              </a:ext>
            </a:extLst>
          </p:cNvPr>
          <p:cNvSpPr/>
          <p:nvPr/>
        </p:nvSpPr>
        <p:spPr bwMode="gray">
          <a:xfrm rot="16200000">
            <a:off x="738879" y="2230542"/>
            <a:ext cx="64770" cy="64770"/>
          </a:xfrm>
          <a:prstGeom prst="ellipse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DBD5D04-F578-4EFE-8057-0A490C3ED03F}"/>
              </a:ext>
            </a:extLst>
          </p:cNvPr>
          <p:cNvSpPr/>
          <p:nvPr/>
        </p:nvSpPr>
        <p:spPr bwMode="gray">
          <a:xfrm rot="16200000">
            <a:off x="5465265" y="2230542"/>
            <a:ext cx="64770" cy="64770"/>
          </a:xfrm>
          <a:prstGeom prst="ellipse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EC81EE-8706-4BAC-BC47-B2B1C146FAA0}"/>
              </a:ext>
            </a:extLst>
          </p:cNvPr>
          <p:cNvSpPr/>
          <p:nvPr/>
        </p:nvSpPr>
        <p:spPr bwMode="gray">
          <a:xfrm>
            <a:off x="383523" y="2012754"/>
            <a:ext cx="5432144" cy="3670134"/>
          </a:xfrm>
          <a:prstGeom prst="rect">
            <a:avLst/>
          </a:prstGeom>
          <a:solidFill>
            <a:srgbClr val="F9F9F9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5" name="Chart 4">
                <a:extLst>
                  <a:ext uri="{FF2B5EF4-FFF2-40B4-BE49-F238E27FC236}">
                    <a16:creationId xmlns:a16="http://schemas.microsoft.com/office/drawing/2014/main" id="{2C58A7E4-EE80-4564-A941-FCADA9FD1B8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56485826"/>
                  </p:ext>
                </p:extLst>
              </p:nvPr>
            </p:nvGraphicFramePr>
            <p:xfrm>
              <a:off x="325575" y="2534887"/>
              <a:ext cx="8892540" cy="270014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Chart 4">
                <a:extLst>
                  <a:ext uri="{FF2B5EF4-FFF2-40B4-BE49-F238E27FC236}">
                    <a16:creationId xmlns:a16="http://schemas.microsoft.com/office/drawing/2014/main" id="{2C58A7E4-EE80-4564-A941-FCADA9FD1B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5575" y="2534887"/>
                <a:ext cx="8892540" cy="2700149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24F2125-7E0E-4B39-A7AF-44394D30DF09}"/>
              </a:ext>
            </a:extLst>
          </p:cNvPr>
          <p:cNvSpPr txBox="1"/>
          <p:nvPr/>
        </p:nvSpPr>
        <p:spPr>
          <a:xfrm>
            <a:off x="530227" y="2476296"/>
            <a:ext cx="916908" cy="23938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900" b="1" dirty="0">
                <a:latin typeface="+mj-lt"/>
              </a:rPr>
              <a:t>USD 473 </a:t>
            </a:r>
            <a:r>
              <a:rPr lang="en-US" sz="900" b="1" dirty="0" err="1">
                <a:latin typeface="+mj-lt"/>
              </a:rPr>
              <a:t>bln</a:t>
            </a:r>
            <a:endParaRPr lang="ru-RU" sz="900" b="1" dirty="0" err="1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73AA0A-D2FF-416B-B9C2-35C8D50AD703}"/>
              </a:ext>
            </a:extLst>
          </p:cNvPr>
          <p:cNvSpPr/>
          <p:nvPr/>
        </p:nvSpPr>
        <p:spPr>
          <a:xfrm>
            <a:off x="1858016" y="24762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00000"/>
                </a:solidFill>
                <a:latin typeface="+mj-lt"/>
              </a:rPr>
              <a:t>-88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36579A-0135-4BCA-B494-5A177661DDEC}"/>
              </a:ext>
            </a:extLst>
          </p:cNvPr>
          <p:cNvSpPr/>
          <p:nvPr/>
        </p:nvSpPr>
        <p:spPr>
          <a:xfrm>
            <a:off x="2949308" y="2918663"/>
            <a:ext cx="41389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00000"/>
                </a:solidFill>
                <a:latin typeface="+mj-lt"/>
              </a:rPr>
              <a:t>-47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F7FE6E-F5DA-4BE1-8E74-2CECD75B9DDE}"/>
              </a:ext>
            </a:extLst>
          </p:cNvPr>
          <p:cNvSpPr/>
          <p:nvPr/>
        </p:nvSpPr>
        <p:spPr>
          <a:xfrm>
            <a:off x="4083827" y="3048790"/>
            <a:ext cx="36260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00000"/>
                </a:solidFill>
                <a:latin typeface="+mj-lt"/>
              </a:rPr>
              <a:t>20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309D57-ABA5-4B69-A90F-F0577BC41B40}"/>
              </a:ext>
            </a:extLst>
          </p:cNvPr>
          <p:cNvSpPr/>
          <p:nvPr/>
        </p:nvSpPr>
        <p:spPr>
          <a:xfrm>
            <a:off x="5140361" y="3010831"/>
            <a:ext cx="43152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00000"/>
                </a:solidFill>
                <a:latin typeface="+mj-lt"/>
              </a:rPr>
              <a:t>358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F1539D-0461-47A6-9F0F-AF7AC32567A9}"/>
              </a:ext>
            </a:extLst>
          </p:cNvPr>
          <p:cNvSpPr/>
          <p:nvPr/>
        </p:nvSpPr>
        <p:spPr>
          <a:xfrm>
            <a:off x="6205745" y="3076808"/>
            <a:ext cx="44755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00000"/>
                </a:solidFill>
                <a:latin typeface="+mj-lt"/>
              </a:rPr>
              <a:t>-157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072039-0E34-4F96-BCB0-B58FD90A8416}"/>
              </a:ext>
            </a:extLst>
          </p:cNvPr>
          <p:cNvSpPr/>
          <p:nvPr/>
        </p:nvSpPr>
        <p:spPr>
          <a:xfrm>
            <a:off x="7328487" y="2722162"/>
            <a:ext cx="40267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00000"/>
                </a:solidFill>
                <a:latin typeface="+mj-lt"/>
              </a:rPr>
              <a:t>219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209DB0-F467-403D-BE83-39620BE84580}"/>
              </a:ext>
            </a:extLst>
          </p:cNvPr>
          <p:cNvSpPr/>
          <p:nvPr/>
        </p:nvSpPr>
        <p:spPr>
          <a:xfrm>
            <a:off x="8390623" y="3068200"/>
            <a:ext cx="4427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chemeClr val="bg1"/>
                </a:solidFill>
                <a:latin typeface="+mj-lt"/>
              </a:rPr>
              <a:t>420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BD81A9-41FE-4A4E-8FF5-8093130C77E2}"/>
              </a:ext>
            </a:extLst>
          </p:cNvPr>
          <p:cNvSpPr/>
          <p:nvPr/>
        </p:nvSpPr>
        <p:spPr>
          <a:xfrm>
            <a:off x="638648" y="5250787"/>
            <a:ext cx="65434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</a:rPr>
              <a:t>EBITDA</a:t>
            </a:r>
            <a:r>
              <a:rPr lang="ru-RU" sz="900" dirty="0"/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6D9E5C-B716-4013-A8F2-ED07F460EE91}"/>
              </a:ext>
            </a:extLst>
          </p:cNvPr>
          <p:cNvSpPr/>
          <p:nvPr/>
        </p:nvSpPr>
        <p:spPr>
          <a:xfrm>
            <a:off x="1867216" y="5250787"/>
            <a:ext cx="37702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</a:rPr>
              <a:t>Tax</a:t>
            </a:r>
            <a:endParaRPr lang="ru-RU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3E969B-8ED8-4F30-9012-5B2CC6C46473}"/>
              </a:ext>
            </a:extLst>
          </p:cNvPr>
          <p:cNvSpPr/>
          <p:nvPr/>
        </p:nvSpPr>
        <p:spPr>
          <a:xfrm>
            <a:off x="2855114" y="5250787"/>
            <a:ext cx="58221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</a:rPr>
              <a:t>CAPEX</a:t>
            </a:r>
            <a:endParaRPr lang="ru-RU" sz="9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F5B3E2-AECE-4532-935A-713EE38EA019}"/>
              </a:ext>
            </a:extLst>
          </p:cNvPr>
          <p:cNvSpPr/>
          <p:nvPr/>
        </p:nvSpPr>
        <p:spPr>
          <a:xfrm>
            <a:off x="3713818" y="5250787"/>
            <a:ext cx="1059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</a:rPr>
              <a:t>Change in working capital</a:t>
            </a:r>
            <a:r>
              <a:rPr lang="ru-RU" sz="900" dirty="0"/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C55213-4B22-455E-A1E1-1BF37AF7DEF1}"/>
              </a:ext>
            </a:extLst>
          </p:cNvPr>
          <p:cNvSpPr/>
          <p:nvPr/>
        </p:nvSpPr>
        <p:spPr>
          <a:xfrm>
            <a:off x="4939929" y="5250787"/>
            <a:ext cx="813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</a:rPr>
              <a:t>Free cash flow</a:t>
            </a:r>
            <a:r>
              <a:rPr lang="ru-RU" sz="900" dirty="0"/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359BBE-AD1E-41D4-AAF2-C6B365B9A271}"/>
              </a:ext>
            </a:extLst>
          </p:cNvPr>
          <p:cNvSpPr/>
          <p:nvPr/>
        </p:nvSpPr>
        <p:spPr>
          <a:xfrm>
            <a:off x="5982442" y="5250787"/>
            <a:ext cx="8789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</a:rPr>
              <a:t>Discounting effect</a:t>
            </a:r>
            <a:endParaRPr lang="ru-RU" sz="9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34A4A1-C688-4216-9FC5-6C622FA38539}"/>
              </a:ext>
            </a:extLst>
          </p:cNvPr>
          <p:cNvSpPr/>
          <p:nvPr/>
        </p:nvSpPr>
        <p:spPr>
          <a:xfrm>
            <a:off x="7080366" y="5250787"/>
            <a:ext cx="89408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</a:rPr>
              <a:t>Discounted terminal value</a:t>
            </a:r>
            <a:r>
              <a:rPr lang="ru-RU" sz="900" dirty="0"/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93F9DD-F3AD-4034-BD02-884EE6980FCB}"/>
              </a:ext>
            </a:extLst>
          </p:cNvPr>
          <p:cNvSpPr/>
          <p:nvPr/>
        </p:nvSpPr>
        <p:spPr>
          <a:xfrm>
            <a:off x="8141222" y="5250787"/>
            <a:ext cx="8274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</a:rPr>
              <a:t>Enterprise value</a:t>
            </a:r>
            <a:r>
              <a:rPr lang="ru-RU" sz="900" dirty="0"/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DA4658-D4D0-4EC4-B17C-67720552D845}"/>
              </a:ext>
            </a:extLst>
          </p:cNvPr>
          <p:cNvSpPr/>
          <p:nvPr/>
        </p:nvSpPr>
        <p:spPr>
          <a:xfrm>
            <a:off x="1455185" y="3830191"/>
            <a:ext cx="12211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</a:rPr>
              <a:t>Adjusted for expected non-deductible expenses and utilization of USD XX </a:t>
            </a:r>
            <a:r>
              <a:rPr lang="en-US" sz="800" dirty="0" err="1">
                <a:solidFill>
                  <a:srgbClr val="000000"/>
                </a:solidFill>
              </a:rPr>
              <a:t>bln</a:t>
            </a:r>
            <a:endParaRPr lang="ru-RU" sz="800" dirty="0">
              <a:solidFill>
                <a:srgbClr val="0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FED4C9-DA6F-49AE-A6CC-046832A1F975}"/>
              </a:ext>
            </a:extLst>
          </p:cNvPr>
          <p:cNvSpPr/>
          <p:nvPr/>
        </p:nvSpPr>
        <p:spPr>
          <a:xfrm>
            <a:off x="3632906" y="3830191"/>
            <a:ext cx="12211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</a:rPr>
              <a:t>-1% WC/GMV </a:t>
            </a:r>
            <a:r>
              <a:rPr lang="en-US" sz="1000" baseline="30000" dirty="0">
                <a:solidFill>
                  <a:srgbClr val="000000"/>
                </a:solidFill>
              </a:rPr>
              <a:t>1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800" dirty="0">
                <a:solidFill>
                  <a:srgbClr val="000000"/>
                </a:solidFill>
              </a:rPr>
              <a:t>2023-2024 average</a:t>
            </a:r>
            <a:endParaRPr lang="ru-RU" sz="800" dirty="0">
              <a:solidFill>
                <a:srgbClr val="00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2611EA-5C76-494B-BD9A-6AB81CE364F9}"/>
              </a:ext>
            </a:extLst>
          </p:cNvPr>
          <p:cNvSpPr/>
          <p:nvPr/>
        </p:nvSpPr>
        <p:spPr>
          <a:xfrm>
            <a:off x="383522" y="5798000"/>
            <a:ext cx="2798677" cy="646331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en-US" sz="900" baseline="30000" dirty="0">
                <a:solidFill>
                  <a:srgbClr val="000000"/>
                </a:solidFill>
              </a:rPr>
              <a:t>1</a:t>
            </a:r>
            <a:r>
              <a:rPr lang="en-US" sz="700" dirty="0">
                <a:solidFill>
                  <a:srgbClr val="000000"/>
                </a:solidFill>
              </a:rPr>
              <a:t> Ratio of working capital to gross merchandise value</a:t>
            </a:r>
            <a:endParaRPr lang="en-US" sz="900" baseline="30000" dirty="0">
              <a:solidFill>
                <a:srgbClr val="000000"/>
              </a:solidFill>
            </a:endParaRPr>
          </a:p>
          <a:p>
            <a:r>
              <a:rPr lang="en-US" sz="900" baseline="30000" dirty="0">
                <a:solidFill>
                  <a:srgbClr val="000000"/>
                </a:solidFill>
              </a:rPr>
              <a:t>2 </a:t>
            </a:r>
            <a:r>
              <a:rPr lang="en-US" sz="700" dirty="0">
                <a:solidFill>
                  <a:srgbClr val="000000"/>
                </a:solidFill>
              </a:rPr>
              <a:t>Weighted average cost of capital</a:t>
            </a:r>
          </a:p>
          <a:p>
            <a:r>
              <a:rPr lang="de-DE" sz="900" baseline="30000" dirty="0">
                <a:solidFill>
                  <a:srgbClr val="000000"/>
                </a:solidFill>
              </a:rPr>
              <a:t>3</a:t>
            </a:r>
            <a:r>
              <a:rPr lang="de-DE" sz="700" dirty="0">
                <a:solidFill>
                  <a:srgbClr val="000000"/>
                </a:solidFill>
              </a:rPr>
              <a:t> Terminal </a:t>
            </a:r>
            <a:r>
              <a:rPr lang="de-DE" sz="700" dirty="0" err="1">
                <a:solidFill>
                  <a:srgbClr val="000000"/>
                </a:solidFill>
              </a:rPr>
              <a:t>growth</a:t>
            </a:r>
            <a:r>
              <a:rPr lang="de-DE" sz="700" dirty="0">
                <a:solidFill>
                  <a:srgbClr val="000000"/>
                </a:solidFill>
              </a:rPr>
              <a:t> rate</a:t>
            </a:r>
          </a:p>
          <a:p>
            <a:r>
              <a:rPr lang="de-DE" sz="700" dirty="0">
                <a:solidFill>
                  <a:srgbClr val="000000"/>
                </a:solidFill>
              </a:rPr>
              <a:t>Source: </a:t>
            </a:r>
            <a:r>
              <a:rPr lang="de-DE" sz="700" dirty="0" err="1">
                <a:solidFill>
                  <a:srgbClr val="000000"/>
                </a:solidFill>
              </a:rPr>
              <a:t>random</a:t>
            </a:r>
            <a:r>
              <a:rPr lang="de-DE" sz="700" dirty="0">
                <a:solidFill>
                  <a:srgbClr val="000000"/>
                </a:solidFill>
              </a:rPr>
              <a:t> </a:t>
            </a:r>
            <a:r>
              <a:rPr lang="de-DE" sz="700" dirty="0" err="1">
                <a:solidFill>
                  <a:srgbClr val="000000"/>
                </a:solidFill>
              </a:rPr>
              <a:t>figures</a:t>
            </a:r>
            <a:endParaRPr lang="de-DE" sz="700" dirty="0">
              <a:solidFill>
                <a:srgbClr val="000000"/>
              </a:solidFill>
            </a:endParaRPr>
          </a:p>
          <a:p>
            <a:r>
              <a:rPr lang="de-DE" sz="700" dirty="0">
                <a:solidFill>
                  <a:srgbClr val="000000"/>
                </a:solidFill>
              </a:rPr>
              <a:t>Chart design: </a:t>
            </a:r>
            <a:r>
              <a:rPr lang="en-US" sz="700" dirty="0">
                <a:solidFill>
                  <a:prstClr val="black"/>
                </a:solidFill>
              </a:rPr>
              <a:t>I. Daraev</a:t>
            </a:r>
            <a:endParaRPr lang="ru-RU" sz="700" dirty="0">
              <a:solidFill>
                <a:srgbClr val="000000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688DDE1-0051-4C69-AC2A-1C135039E439}"/>
              </a:ext>
            </a:extLst>
          </p:cNvPr>
          <p:cNvGrpSpPr/>
          <p:nvPr/>
        </p:nvGrpSpPr>
        <p:grpSpPr>
          <a:xfrm>
            <a:off x="2026740" y="3323232"/>
            <a:ext cx="64770" cy="514708"/>
            <a:chOff x="2207895" y="2876192"/>
            <a:chExt cx="64770" cy="51470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1E38A93-060D-4C93-BEFE-35253BA8F14F}"/>
                </a:ext>
              </a:extLst>
            </p:cNvPr>
            <p:cNvCxnSpPr>
              <a:cxnSpLocks/>
            </p:cNvCxnSpPr>
            <p:nvPr/>
          </p:nvCxnSpPr>
          <p:spPr>
            <a:xfrm>
              <a:off x="2238375" y="2942988"/>
              <a:ext cx="0" cy="447912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2D044D1-BC48-4CFB-A710-8F3B69974FE2}"/>
                </a:ext>
              </a:extLst>
            </p:cNvPr>
            <p:cNvSpPr/>
            <p:nvPr/>
          </p:nvSpPr>
          <p:spPr bwMode="gray">
            <a:xfrm>
              <a:off x="2207895" y="2876192"/>
              <a:ext cx="64770" cy="64770"/>
            </a:xfrm>
            <a:prstGeom prst="ellipse">
              <a:avLst/>
            </a:prstGeom>
            <a:solidFill>
              <a:srgbClr val="00A3E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E257B4C-2121-4219-90AA-578E8CF86993}"/>
              </a:ext>
            </a:extLst>
          </p:cNvPr>
          <p:cNvGrpSpPr/>
          <p:nvPr/>
        </p:nvGrpSpPr>
        <p:grpSpPr>
          <a:xfrm>
            <a:off x="4178716" y="3517934"/>
            <a:ext cx="64770" cy="339056"/>
            <a:chOff x="2207895" y="2876192"/>
            <a:chExt cx="64770" cy="339056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6C570AF-763D-4F24-85CA-A5ED79C1E4B2}"/>
                </a:ext>
              </a:extLst>
            </p:cNvPr>
            <p:cNvCxnSpPr>
              <a:cxnSpLocks/>
            </p:cNvCxnSpPr>
            <p:nvPr/>
          </p:nvCxnSpPr>
          <p:spPr>
            <a:xfrm>
              <a:off x="2240280" y="2942988"/>
              <a:ext cx="0" cy="27226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EE125D6-7219-46CD-B46F-8E5C947823F3}"/>
                </a:ext>
              </a:extLst>
            </p:cNvPr>
            <p:cNvSpPr/>
            <p:nvPr/>
          </p:nvSpPr>
          <p:spPr bwMode="gray">
            <a:xfrm>
              <a:off x="2207895" y="2876192"/>
              <a:ext cx="64770" cy="64770"/>
            </a:xfrm>
            <a:prstGeom prst="ellipse">
              <a:avLst/>
            </a:prstGeom>
            <a:solidFill>
              <a:srgbClr val="00A3E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2703A87F-0CE5-44D6-9531-1DFD929DCEF5}"/>
              </a:ext>
            </a:extLst>
          </p:cNvPr>
          <p:cNvSpPr/>
          <p:nvPr/>
        </p:nvSpPr>
        <p:spPr>
          <a:xfrm>
            <a:off x="6042086" y="2362100"/>
            <a:ext cx="7185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</a:rPr>
              <a:t>-XX% USD WACC </a:t>
            </a:r>
            <a:r>
              <a:rPr lang="en-US" sz="1000" baseline="30000" dirty="0">
                <a:solidFill>
                  <a:srgbClr val="000000"/>
                </a:solidFill>
              </a:rPr>
              <a:t>2</a:t>
            </a:r>
            <a:endParaRPr lang="ru-RU" sz="800" dirty="0">
              <a:solidFill>
                <a:srgbClr val="000000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52B1961-F490-4F3C-B8A3-440407D5176E}"/>
              </a:ext>
            </a:extLst>
          </p:cNvPr>
          <p:cNvGrpSpPr/>
          <p:nvPr/>
        </p:nvGrpSpPr>
        <p:grpSpPr>
          <a:xfrm flipV="1">
            <a:off x="6386283" y="2720241"/>
            <a:ext cx="64770" cy="339056"/>
            <a:chOff x="2207895" y="2876192"/>
            <a:chExt cx="64770" cy="33905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8351634-6A5E-4727-B1ED-7F744D2468A4}"/>
                </a:ext>
              </a:extLst>
            </p:cNvPr>
            <p:cNvCxnSpPr>
              <a:cxnSpLocks/>
            </p:cNvCxnSpPr>
            <p:nvPr/>
          </p:nvCxnSpPr>
          <p:spPr>
            <a:xfrm>
              <a:off x="2240280" y="2942988"/>
              <a:ext cx="0" cy="27226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F27C474-A6D7-427B-98BA-E735FCEFB305}"/>
                </a:ext>
              </a:extLst>
            </p:cNvPr>
            <p:cNvSpPr/>
            <p:nvPr/>
          </p:nvSpPr>
          <p:spPr bwMode="gray">
            <a:xfrm>
              <a:off x="2207895" y="2876192"/>
              <a:ext cx="64770" cy="64770"/>
            </a:xfrm>
            <a:prstGeom prst="ellipse">
              <a:avLst/>
            </a:prstGeom>
            <a:solidFill>
              <a:srgbClr val="00A3E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D165EBF1-3036-4257-97A1-702CAEA8FBF2}"/>
              </a:ext>
            </a:extLst>
          </p:cNvPr>
          <p:cNvSpPr/>
          <p:nvPr/>
        </p:nvSpPr>
        <p:spPr>
          <a:xfrm>
            <a:off x="7168119" y="4517455"/>
            <a:ext cx="7185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</a:rPr>
              <a:t>% TGR </a:t>
            </a:r>
            <a:r>
              <a:rPr lang="en-US" sz="1000" baseline="30000" dirty="0">
                <a:solidFill>
                  <a:srgbClr val="000000"/>
                </a:solidFill>
              </a:rPr>
              <a:t>3</a:t>
            </a:r>
            <a:endParaRPr lang="ru-RU" sz="800" dirty="0">
              <a:solidFill>
                <a:srgbClr val="000000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D3078F4-5484-41D0-A407-8EF3AAA60E39}"/>
              </a:ext>
            </a:extLst>
          </p:cNvPr>
          <p:cNvGrpSpPr/>
          <p:nvPr/>
        </p:nvGrpSpPr>
        <p:grpSpPr>
          <a:xfrm>
            <a:off x="7481522" y="4194141"/>
            <a:ext cx="64770" cy="339056"/>
            <a:chOff x="2207895" y="2876192"/>
            <a:chExt cx="64770" cy="339056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4D42649-3748-4053-98B3-70A769EA1B66}"/>
                </a:ext>
              </a:extLst>
            </p:cNvPr>
            <p:cNvCxnSpPr>
              <a:cxnSpLocks/>
            </p:cNvCxnSpPr>
            <p:nvPr/>
          </p:nvCxnSpPr>
          <p:spPr>
            <a:xfrm>
              <a:off x="2240280" y="2942988"/>
              <a:ext cx="0" cy="27226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3655911-2F21-4303-8D91-C16839200D31}"/>
                </a:ext>
              </a:extLst>
            </p:cNvPr>
            <p:cNvSpPr/>
            <p:nvPr/>
          </p:nvSpPr>
          <p:spPr bwMode="gray">
            <a:xfrm>
              <a:off x="2207895" y="2876192"/>
              <a:ext cx="64770" cy="64770"/>
            </a:xfrm>
            <a:prstGeom prst="ellipse">
              <a:avLst/>
            </a:prstGeom>
            <a:solidFill>
              <a:srgbClr val="00A3E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D0A3B9F2-5B36-4741-B8A4-869EAAB11BE7}"/>
              </a:ext>
            </a:extLst>
          </p:cNvPr>
          <p:cNvSpPr/>
          <p:nvPr/>
        </p:nvSpPr>
        <p:spPr bwMode="gray">
          <a:xfrm>
            <a:off x="8384990" y="3279622"/>
            <a:ext cx="431528" cy="1875536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6541C0-C3EA-4200-9E13-A78C6DBD99EE}"/>
              </a:ext>
            </a:extLst>
          </p:cNvPr>
          <p:cNvSpPr/>
          <p:nvPr/>
        </p:nvSpPr>
        <p:spPr>
          <a:xfrm>
            <a:off x="520043" y="2125180"/>
            <a:ext cx="2588278" cy="217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</a:rPr>
              <a:t>Total amount for the 2020-2030 forecast period</a:t>
            </a:r>
            <a:endParaRPr lang="ru-RU" sz="800" dirty="0">
              <a:solidFill>
                <a:srgbClr val="00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42F8FFA-080D-4B16-B7C5-6CBB8C9FB555}"/>
              </a:ext>
            </a:extLst>
          </p:cNvPr>
          <p:cNvSpPr/>
          <p:nvPr/>
        </p:nvSpPr>
        <p:spPr>
          <a:xfrm>
            <a:off x="8794955" y="3509198"/>
            <a:ext cx="8226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Low case</a:t>
            </a:r>
            <a:r>
              <a:rPr lang="ru-RU" sz="9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3441A66-CECF-407C-A4B2-9860FE9C7CDD}"/>
              </a:ext>
            </a:extLst>
          </p:cNvPr>
          <p:cNvSpPr/>
          <p:nvPr/>
        </p:nvSpPr>
        <p:spPr>
          <a:xfrm>
            <a:off x="8794955" y="3068200"/>
            <a:ext cx="8226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000000"/>
                </a:solidFill>
                <a:latin typeface="+mj-lt"/>
              </a:rPr>
              <a:t>High case</a:t>
            </a:r>
            <a:endParaRPr lang="ru-RU" sz="900" b="1" dirty="0">
              <a:latin typeface="+mj-lt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D935D8C-7DD8-4F2D-A560-B18E04B83633}"/>
              </a:ext>
            </a:extLst>
          </p:cNvPr>
          <p:cNvSpPr/>
          <p:nvPr/>
        </p:nvSpPr>
        <p:spPr>
          <a:xfrm>
            <a:off x="8390623" y="3509198"/>
            <a:ext cx="44435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+mj-lt"/>
              </a:rPr>
              <a:t>370</a:t>
            </a:r>
            <a:r>
              <a:rPr lang="ru-RU" sz="900" b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53EF493-950D-4827-9C1C-9A2E211302CE}"/>
              </a:ext>
            </a:extLst>
          </p:cNvPr>
          <p:cNvSpPr/>
          <p:nvPr/>
        </p:nvSpPr>
        <p:spPr>
          <a:xfrm>
            <a:off x="383522" y="1753548"/>
            <a:ext cx="2588278" cy="2308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en-US" sz="900" b="1" dirty="0">
                <a:solidFill>
                  <a:srgbClr val="000000"/>
                </a:solidFill>
                <a:latin typeface="+mj-lt"/>
              </a:rPr>
              <a:t>Company X EV</a:t>
            </a:r>
            <a:endParaRPr 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0DF12E2-B8CB-41B0-8FC3-B138D548E682}"/>
              </a:ext>
            </a:extLst>
          </p:cNvPr>
          <p:cNvSpPr/>
          <p:nvPr/>
        </p:nvSpPr>
        <p:spPr>
          <a:xfrm>
            <a:off x="384048" y="576072"/>
            <a:ext cx="615221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000" dirty="0"/>
              <a:t>We estimate the enterprise value of Company X at USD 370-420 </a:t>
            </a:r>
            <a:r>
              <a:rPr lang="en-US" sz="2000" dirty="0" err="1"/>
              <a:t>bln</a:t>
            </a:r>
            <a:endParaRPr lang="en-US" sz="20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E52ECE7-C58C-48B3-9A98-037664D970E3}"/>
              </a:ext>
            </a:extLst>
          </p:cNvPr>
          <p:cNvCxnSpPr>
            <a:cxnSpLocks/>
          </p:cNvCxnSpPr>
          <p:nvPr/>
        </p:nvCxnSpPr>
        <p:spPr>
          <a:xfrm>
            <a:off x="429147" y="5155158"/>
            <a:ext cx="853956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6604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D6AAAD8A-8117-49D4-8650-96826A38B22A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260113B-C4EE-4732-9866-FC4CCCDAB658}"/>
              </a:ext>
            </a:extLst>
          </p:cNvPr>
          <p:cNvSpPr/>
          <p:nvPr/>
        </p:nvSpPr>
        <p:spPr bwMode="gray">
          <a:xfrm>
            <a:off x="7158782" y="4385765"/>
            <a:ext cx="1036254" cy="249592"/>
          </a:xfrm>
          <a:prstGeom prst="rect">
            <a:avLst/>
          </a:prstGeom>
          <a:solidFill>
            <a:srgbClr val="0076A8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4E2E429-A15D-469F-93C2-54815A7FD0C5}"/>
              </a:ext>
            </a:extLst>
          </p:cNvPr>
          <p:cNvSpPr/>
          <p:nvPr/>
        </p:nvSpPr>
        <p:spPr bwMode="gray">
          <a:xfrm>
            <a:off x="7158781" y="3746108"/>
            <a:ext cx="1173819" cy="249592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BB796A7-EB51-4F7B-90CD-C6A79BD4A6AA}"/>
              </a:ext>
            </a:extLst>
          </p:cNvPr>
          <p:cNvSpPr/>
          <p:nvPr/>
        </p:nvSpPr>
        <p:spPr bwMode="gray">
          <a:xfrm>
            <a:off x="8195664" y="3738060"/>
            <a:ext cx="144152" cy="262846"/>
          </a:xfrm>
          <a:prstGeom prst="rect">
            <a:avLst/>
          </a:prstGeom>
          <a:solidFill>
            <a:schemeClr val="bg1">
              <a:alpha val="4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AE2B1E-4FA5-427D-9885-C92194DFB7CB}"/>
              </a:ext>
            </a:extLst>
          </p:cNvPr>
          <p:cNvSpPr/>
          <p:nvPr/>
        </p:nvSpPr>
        <p:spPr bwMode="gray">
          <a:xfrm>
            <a:off x="3129925" y="3002774"/>
            <a:ext cx="2793586" cy="353269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BDDD1D-1D06-472D-8750-54BAF9304566}"/>
              </a:ext>
            </a:extLst>
          </p:cNvPr>
          <p:cNvSpPr/>
          <p:nvPr/>
        </p:nvSpPr>
        <p:spPr bwMode="gray">
          <a:xfrm>
            <a:off x="5923517" y="3002774"/>
            <a:ext cx="930480" cy="353269"/>
          </a:xfrm>
          <a:prstGeom prst="rect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512431-B689-4204-B8AF-735AF7E0FAA7}"/>
              </a:ext>
            </a:extLst>
          </p:cNvPr>
          <p:cNvSpPr/>
          <p:nvPr/>
        </p:nvSpPr>
        <p:spPr>
          <a:xfrm>
            <a:off x="3158622" y="2199041"/>
            <a:ext cx="1859483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Average headcount</a:t>
            </a:r>
            <a:r>
              <a:rPr lang="en-US" sz="900" dirty="0">
                <a:solidFill>
                  <a:srgbClr val="86BC25"/>
                </a:solidFill>
                <a:latin typeface="+mj-lt"/>
              </a:rPr>
              <a:t>, </a:t>
            </a:r>
            <a:r>
              <a:rPr lang="en-US" sz="900" dirty="0"/>
              <a:t>130 people</a:t>
            </a:r>
            <a:endParaRPr lang="ru-RU" sz="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E0DCBB-7D53-47A0-B197-E9F0248243A3}"/>
              </a:ext>
            </a:extLst>
          </p:cNvPr>
          <p:cNvSpPr/>
          <p:nvPr/>
        </p:nvSpPr>
        <p:spPr bwMode="gray">
          <a:xfrm>
            <a:off x="5466305" y="3746108"/>
            <a:ext cx="457192" cy="249592"/>
          </a:xfrm>
          <a:prstGeom prst="rect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853874-18F6-4622-A3E7-DB202517F61B}"/>
              </a:ext>
            </a:extLst>
          </p:cNvPr>
          <p:cNvSpPr/>
          <p:nvPr/>
        </p:nvSpPr>
        <p:spPr bwMode="gray">
          <a:xfrm>
            <a:off x="3129925" y="3746108"/>
            <a:ext cx="2336380" cy="249592"/>
          </a:xfrm>
          <a:prstGeom prst="rect">
            <a:avLst/>
          </a:prstGeom>
          <a:solidFill>
            <a:srgbClr val="0076A8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377B6D-BE74-4E6B-8507-73A4D9016829}"/>
              </a:ext>
            </a:extLst>
          </p:cNvPr>
          <p:cNvSpPr/>
          <p:nvPr/>
        </p:nvSpPr>
        <p:spPr bwMode="gray">
          <a:xfrm>
            <a:off x="3129925" y="4385765"/>
            <a:ext cx="2336380" cy="249592"/>
          </a:xfrm>
          <a:prstGeom prst="rect">
            <a:avLst/>
          </a:prstGeom>
          <a:solidFill>
            <a:srgbClr val="0076A8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D6E2A3-8C59-49B0-914A-71335022DF84}"/>
              </a:ext>
            </a:extLst>
          </p:cNvPr>
          <p:cNvSpPr/>
          <p:nvPr/>
        </p:nvSpPr>
        <p:spPr bwMode="gray">
          <a:xfrm>
            <a:off x="5923517" y="5646909"/>
            <a:ext cx="930480" cy="249592"/>
          </a:xfrm>
          <a:prstGeom prst="rect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757C6A-A463-4577-9ABD-B293CD35EA7B}"/>
              </a:ext>
            </a:extLst>
          </p:cNvPr>
          <p:cNvSpPr/>
          <p:nvPr/>
        </p:nvSpPr>
        <p:spPr bwMode="gray">
          <a:xfrm>
            <a:off x="5466305" y="5020917"/>
            <a:ext cx="457192" cy="249592"/>
          </a:xfrm>
          <a:prstGeom prst="rect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DA3D40-3841-4AAB-A645-44F26C2ED655}"/>
              </a:ext>
            </a:extLst>
          </p:cNvPr>
          <p:cNvSpPr/>
          <p:nvPr/>
        </p:nvSpPr>
        <p:spPr>
          <a:xfrm>
            <a:off x="3249815" y="3105368"/>
            <a:ext cx="99867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Current business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B2A585-122A-47DC-804B-919085F13177}"/>
              </a:ext>
            </a:extLst>
          </p:cNvPr>
          <p:cNvSpPr/>
          <p:nvPr/>
        </p:nvSpPr>
        <p:spPr>
          <a:xfrm>
            <a:off x="6014951" y="3117560"/>
            <a:ext cx="391133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>
                <a:latin typeface="Montserrat Medium" panose="00000600000000000000" pitchFamily="2" charset="-52"/>
              </a:rPr>
              <a:t>Grants</a:t>
            </a:r>
            <a:endParaRPr lang="ru-RU" sz="900" dirty="0">
              <a:latin typeface="Montserrat Medium" panose="00000600000000000000" pitchFamily="2" charset="-5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4D9412-0E3C-4729-AC65-039DBFDC5410}"/>
              </a:ext>
            </a:extLst>
          </p:cNvPr>
          <p:cNvSpPr/>
          <p:nvPr/>
        </p:nvSpPr>
        <p:spPr>
          <a:xfrm>
            <a:off x="3160915" y="3535962"/>
            <a:ext cx="99867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Current business</a:t>
            </a:r>
            <a:r>
              <a:rPr lang="ru-RU" sz="900" dirty="0"/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968743-62D8-4EB3-AFA5-86D70F91019F}"/>
              </a:ext>
            </a:extLst>
          </p:cNvPr>
          <p:cNvSpPr/>
          <p:nvPr/>
        </p:nvSpPr>
        <p:spPr>
          <a:xfrm>
            <a:off x="3173615" y="4180690"/>
            <a:ext cx="64120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Production</a:t>
            </a:r>
            <a:endParaRPr lang="ru-RU" sz="9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F93351-A5EF-4B8F-9510-BB1B48194022}"/>
              </a:ext>
            </a:extLst>
          </p:cNvPr>
          <p:cNvSpPr/>
          <p:nvPr/>
        </p:nvSpPr>
        <p:spPr>
          <a:xfrm>
            <a:off x="3160915" y="2463323"/>
            <a:ext cx="520976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Division 1</a:t>
            </a:r>
            <a:endParaRPr lang="ru-RU" sz="9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AA00835-4D74-42FC-90EE-065DC14E8753}"/>
              </a:ext>
            </a:extLst>
          </p:cNvPr>
          <p:cNvCxnSpPr>
            <a:cxnSpLocks/>
          </p:cNvCxnSpPr>
          <p:nvPr/>
        </p:nvCxnSpPr>
        <p:spPr>
          <a:xfrm>
            <a:off x="5044440" y="2274976"/>
            <a:ext cx="4373880" cy="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455E59F6-9171-4BC7-8F10-C9B065B68117}"/>
              </a:ext>
            </a:extLst>
          </p:cNvPr>
          <p:cNvSpPr/>
          <p:nvPr/>
        </p:nvSpPr>
        <p:spPr>
          <a:xfrm>
            <a:off x="3160915" y="2622532"/>
            <a:ext cx="18114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latin typeface="+mj-lt"/>
              </a:rPr>
              <a:t>78</a:t>
            </a:r>
            <a:endParaRPr lang="ru-RU" sz="1100" b="1" dirty="0"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16E22CD-AC2F-444D-80BC-269FDB08FE55}"/>
              </a:ext>
            </a:extLst>
          </p:cNvPr>
          <p:cNvSpPr/>
          <p:nvPr/>
        </p:nvSpPr>
        <p:spPr>
          <a:xfrm>
            <a:off x="3249815" y="3782304"/>
            <a:ext cx="17633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58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00F472-1462-49FF-A379-FCFC874EAB8A}"/>
              </a:ext>
            </a:extLst>
          </p:cNvPr>
          <p:cNvSpPr/>
          <p:nvPr/>
        </p:nvSpPr>
        <p:spPr>
          <a:xfrm>
            <a:off x="3249815" y="4419540"/>
            <a:ext cx="19075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48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D59DBA1-C860-4FA5-A1F1-F6FCFBC567B7}"/>
              </a:ext>
            </a:extLst>
          </p:cNvPr>
          <p:cNvSpPr/>
          <p:nvPr/>
        </p:nvSpPr>
        <p:spPr>
          <a:xfrm>
            <a:off x="5503159" y="5061074"/>
            <a:ext cx="150682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10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9D14A19-41FB-4B7F-8F59-58F715FDC67F}"/>
              </a:ext>
            </a:extLst>
          </p:cNvPr>
          <p:cNvSpPr/>
          <p:nvPr/>
        </p:nvSpPr>
        <p:spPr>
          <a:xfrm>
            <a:off x="6014951" y="5477675"/>
            <a:ext cx="379912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Grants</a:t>
            </a:r>
            <a:endParaRPr lang="ru-RU" sz="9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D609B9-CBF7-4FAD-90E2-D193760A9B0B}"/>
              </a:ext>
            </a:extLst>
          </p:cNvPr>
          <p:cNvSpPr/>
          <p:nvPr/>
        </p:nvSpPr>
        <p:spPr>
          <a:xfrm>
            <a:off x="6014951" y="5687066"/>
            <a:ext cx="179536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latin typeface="+mj-lt"/>
              </a:rPr>
              <a:t>20</a:t>
            </a:r>
            <a:endParaRPr lang="ru-RU" sz="1100" b="1" dirty="0">
              <a:latin typeface="+mj-lt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2FD89AB-A04C-449F-AD49-82F9A4A29685}"/>
              </a:ext>
            </a:extLst>
          </p:cNvPr>
          <p:cNvSpPr/>
          <p:nvPr/>
        </p:nvSpPr>
        <p:spPr>
          <a:xfrm>
            <a:off x="6002758" y="3398179"/>
            <a:ext cx="712353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700" i="1" dirty="0"/>
              <a:t>Are not taken into account in the valuation</a:t>
            </a:r>
            <a:endParaRPr lang="ru-RU" sz="700" i="1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40749C-354E-4FD9-9389-ABFA6E65C27C}"/>
              </a:ext>
            </a:extLst>
          </p:cNvPr>
          <p:cNvSpPr/>
          <p:nvPr/>
        </p:nvSpPr>
        <p:spPr>
          <a:xfrm>
            <a:off x="6449696" y="2622532"/>
            <a:ext cx="413110" cy="16927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j-lt"/>
              </a:rPr>
              <a:t>60%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D116F74-5E26-42A7-A39D-C05E43C655CB}"/>
              </a:ext>
            </a:extLst>
          </p:cNvPr>
          <p:cNvSpPr/>
          <p:nvPr/>
        </p:nvSpPr>
        <p:spPr>
          <a:xfrm>
            <a:off x="7189771" y="3535962"/>
            <a:ext cx="99867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Current business</a:t>
            </a:r>
            <a:r>
              <a:rPr lang="ru-RU" sz="900" dirty="0"/>
              <a:t>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879D6A8-0956-4E61-9574-CAA21B8C0FAC}"/>
              </a:ext>
            </a:extLst>
          </p:cNvPr>
          <p:cNvSpPr/>
          <p:nvPr/>
        </p:nvSpPr>
        <p:spPr>
          <a:xfrm>
            <a:off x="7202471" y="4180690"/>
            <a:ext cx="64120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Production</a:t>
            </a:r>
            <a:endParaRPr lang="ru-RU" sz="9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C0CCD41-65B9-4083-822A-551D77597B8F}"/>
              </a:ext>
            </a:extLst>
          </p:cNvPr>
          <p:cNvSpPr/>
          <p:nvPr/>
        </p:nvSpPr>
        <p:spPr>
          <a:xfrm>
            <a:off x="7325219" y="5072949"/>
            <a:ext cx="787075" cy="15553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noAutofit/>
          </a:bodyPr>
          <a:lstStyle/>
          <a:p>
            <a:r>
              <a:rPr lang="en-US" sz="900" dirty="0"/>
              <a:t>Management</a:t>
            </a:r>
            <a:endParaRPr lang="ru-RU" sz="9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5123E0-16C9-4A7E-8D55-CF4AF28A5636}"/>
              </a:ext>
            </a:extLst>
          </p:cNvPr>
          <p:cNvSpPr/>
          <p:nvPr/>
        </p:nvSpPr>
        <p:spPr>
          <a:xfrm>
            <a:off x="7189771" y="2463323"/>
            <a:ext cx="54662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Division 2</a:t>
            </a:r>
            <a:endParaRPr lang="ru-RU" sz="9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3D2B279-9C4B-4087-9452-EE80EA69127E}"/>
              </a:ext>
            </a:extLst>
          </p:cNvPr>
          <p:cNvSpPr/>
          <p:nvPr/>
        </p:nvSpPr>
        <p:spPr>
          <a:xfrm>
            <a:off x="7189771" y="2622532"/>
            <a:ext cx="173124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latin typeface="+mj-lt"/>
              </a:rPr>
              <a:t>33</a:t>
            </a:r>
            <a:endParaRPr lang="ru-RU" sz="1100" b="1" dirty="0">
              <a:latin typeface="+mj-lt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628DF04-FEF2-4D4B-B058-CCAC1187345D}"/>
              </a:ext>
            </a:extLst>
          </p:cNvPr>
          <p:cNvSpPr/>
          <p:nvPr/>
        </p:nvSpPr>
        <p:spPr>
          <a:xfrm>
            <a:off x="7202471" y="3782304"/>
            <a:ext cx="166712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33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B89119D-3723-4E26-9E4E-A85848445B72}"/>
              </a:ext>
            </a:extLst>
          </p:cNvPr>
          <p:cNvSpPr/>
          <p:nvPr/>
        </p:nvSpPr>
        <p:spPr>
          <a:xfrm>
            <a:off x="7202471" y="4419540"/>
            <a:ext cx="14427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19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DB8069B-BEA2-4303-A5DF-84555B17272C}"/>
              </a:ext>
            </a:extLst>
          </p:cNvPr>
          <p:cNvSpPr/>
          <p:nvPr/>
        </p:nvSpPr>
        <p:spPr>
          <a:xfrm>
            <a:off x="7968871" y="2622532"/>
            <a:ext cx="387424" cy="16927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j-lt"/>
              </a:rPr>
              <a:t>25%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BCE1B1C-E717-49C6-BA23-CF2ADBBEE5B7}"/>
              </a:ext>
            </a:extLst>
          </p:cNvPr>
          <p:cNvSpPr/>
          <p:nvPr/>
        </p:nvSpPr>
        <p:spPr bwMode="gray">
          <a:xfrm>
            <a:off x="8188442" y="5020917"/>
            <a:ext cx="144152" cy="249592"/>
          </a:xfrm>
          <a:prstGeom prst="rect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FBDF37B-32F0-4204-852C-4D365FEC078F}"/>
              </a:ext>
            </a:extLst>
          </p:cNvPr>
          <p:cNvCxnSpPr>
            <a:cxnSpLocks/>
          </p:cNvCxnSpPr>
          <p:nvPr/>
        </p:nvCxnSpPr>
        <p:spPr>
          <a:xfrm>
            <a:off x="8191487" y="3747541"/>
            <a:ext cx="0" cy="1519555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F85F2D9F-7848-485A-9B87-4C78016929C6}"/>
              </a:ext>
            </a:extLst>
          </p:cNvPr>
          <p:cNvSpPr/>
          <p:nvPr/>
        </p:nvSpPr>
        <p:spPr bwMode="gray">
          <a:xfrm>
            <a:off x="5466305" y="2983636"/>
            <a:ext cx="457191" cy="383540"/>
          </a:xfrm>
          <a:prstGeom prst="rect">
            <a:avLst/>
          </a:prstGeom>
          <a:solidFill>
            <a:schemeClr val="bg1">
              <a:alpha val="4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B3D6FD-87D3-4EFA-A255-8580FB046613}"/>
              </a:ext>
            </a:extLst>
          </p:cNvPr>
          <p:cNvCxnSpPr/>
          <p:nvPr/>
        </p:nvCxnSpPr>
        <p:spPr>
          <a:xfrm>
            <a:off x="6853997" y="3002774"/>
            <a:ext cx="0" cy="2893727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91653B-883A-4465-B04D-A6E736786E43}"/>
              </a:ext>
            </a:extLst>
          </p:cNvPr>
          <p:cNvCxnSpPr/>
          <p:nvPr/>
        </p:nvCxnSpPr>
        <p:spPr>
          <a:xfrm>
            <a:off x="5923511" y="3002774"/>
            <a:ext cx="0" cy="2893727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56B9B3-25AD-4D2B-B3AB-9E0550F93C0C}"/>
              </a:ext>
            </a:extLst>
          </p:cNvPr>
          <p:cNvCxnSpPr>
            <a:cxnSpLocks/>
          </p:cNvCxnSpPr>
          <p:nvPr/>
        </p:nvCxnSpPr>
        <p:spPr>
          <a:xfrm>
            <a:off x="5466311" y="3002774"/>
            <a:ext cx="0" cy="227956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457BBCF-DE11-4973-8E9A-80A0A59191EE}"/>
              </a:ext>
            </a:extLst>
          </p:cNvPr>
          <p:cNvCxnSpPr>
            <a:cxnSpLocks/>
          </p:cNvCxnSpPr>
          <p:nvPr/>
        </p:nvCxnSpPr>
        <p:spPr>
          <a:xfrm>
            <a:off x="8332277" y="3745636"/>
            <a:ext cx="0" cy="152019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16EA130-4D60-4224-85BF-A3482AB337E2}"/>
              </a:ext>
            </a:extLst>
          </p:cNvPr>
          <p:cNvSpPr/>
          <p:nvPr/>
        </p:nvSpPr>
        <p:spPr>
          <a:xfrm>
            <a:off x="5109415" y="4816917"/>
            <a:ext cx="787075" cy="15553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noAutofit/>
          </a:bodyPr>
          <a:lstStyle/>
          <a:p>
            <a:r>
              <a:rPr lang="en-US" sz="900" dirty="0"/>
              <a:t>Management</a:t>
            </a:r>
            <a:endParaRPr lang="ru-RU" sz="90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4BD57EE-D613-4411-8D92-E78EFB45CFD5}"/>
              </a:ext>
            </a:extLst>
          </p:cNvPr>
          <p:cNvSpPr/>
          <p:nvPr/>
        </p:nvSpPr>
        <p:spPr>
          <a:xfrm>
            <a:off x="8212505" y="5061074"/>
            <a:ext cx="97784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4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C6FEC87-1B9A-4555-BEC1-9028DE64B48D}"/>
              </a:ext>
            </a:extLst>
          </p:cNvPr>
          <p:cNvSpPr/>
          <p:nvPr/>
        </p:nvSpPr>
        <p:spPr>
          <a:xfrm>
            <a:off x="8665830" y="2463323"/>
            <a:ext cx="54502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Division 3</a:t>
            </a:r>
            <a:endParaRPr lang="ru-RU" sz="90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9AD2A63-BD5D-482B-8A14-2660487F0D76}"/>
              </a:ext>
            </a:extLst>
          </p:cNvPr>
          <p:cNvSpPr/>
          <p:nvPr/>
        </p:nvSpPr>
        <p:spPr>
          <a:xfrm>
            <a:off x="8665830" y="2622532"/>
            <a:ext cx="14427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latin typeface="+mj-lt"/>
              </a:rPr>
              <a:t>19</a:t>
            </a:r>
            <a:endParaRPr lang="ru-RU" sz="1100" b="1" dirty="0">
              <a:latin typeface="+mj-lt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A25C235-4082-423D-B648-E6799F0F7BA6}"/>
              </a:ext>
            </a:extLst>
          </p:cNvPr>
          <p:cNvSpPr/>
          <p:nvPr/>
        </p:nvSpPr>
        <p:spPr>
          <a:xfrm>
            <a:off x="9066999" y="2622532"/>
            <a:ext cx="348896" cy="16927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j-lt"/>
              </a:rPr>
              <a:t>15%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0D61C4E-B029-45F9-9E03-DCDCF3E3E4F8}"/>
              </a:ext>
            </a:extLst>
          </p:cNvPr>
          <p:cNvSpPr/>
          <p:nvPr/>
        </p:nvSpPr>
        <p:spPr bwMode="gray">
          <a:xfrm>
            <a:off x="8634842" y="4385765"/>
            <a:ext cx="556492" cy="249592"/>
          </a:xfrm>
          <a:prstGeom prst="rect">
            <a:avLst/>
          </a:prstGeom>
          <a:solidFill>
            <a:srgbClr val="0076A8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FCC92CE-6CC5-4E7B-A86E-64159C5C3952}"/>
              </a:ext>
            </a:extLst>
          </p:cNvPr>
          <p:cNvSpPr/>
          <p:nvPr/>
        </p:nvSpPr>
        <p:spPr bwMode="gray">
          <a:xfrm>
            <a:off x="8634841" y="3746108"/>
            <a:ext cx="778156" cy="249592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65C77DE-FF88-46A1-902B-1B57E74C9CA2}"/>
              </a:ext>
            </a:extLst>
          </p:cNvPr>
          <p:cNvSpPr/>
          <p:nvPr/>
        </p:nvSpPr>
        <p:spPr bwMode="gray">
          <a:xfrm>
            <a:off x="9191333" y="3738060"/>
            <a:ext cx="226448" cy="262846"/>
          </a:xfrm>
          <a:prstGeom prst="rect">
            <a:avLst/>
          </a:prstGeom>
          <a:solidFill>
            <a:schemeClr val="bg1">
              <a:alpha val="4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F866958-705C-4982-8B01-9C7EB9E7D3FF}"/>
              </a:ext>
            </a:extLst>
          </p:cNvPr>
          <p:cNvSpPr/>
          <p:nvPr/>
        </p:nvSpPr>
        <p:spPr bwMode="gray">
          <a:xfrm>
            <a:off x="9186546" y="5020917"/>
            <a:ext cx="226448" cy="249592"/>
          </a:xfrm>
          <a:prstGeom prst="rect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25E310B-3A55-49DB-A752-49DDEA48B191}"/>
              </a:ext>
            </a:extLst>
          </p:cNvPr>
          <p:cNvCxnSpPr>
            <a:cxnSpLocks/>
          </p:cNvCxnSpPr>
          <p:nvPr/>
        </p:nvCxnSpPr>
        <p:spPr>
          <a:xfrm>
            <a:off x="9407866" y="3745636"/>
            <a:ext cx="0" cy="152019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DFF0476-6B97-4356-98DD-8F1A96135A78}"/>
              </a:ext>
            </a:extLst>
          </p:cNvPr>
          <p:cNvCxnSpPr>
            <a:cxnSpLocks/>
          </p:cNvCxnSpPr>
          <p:nvPr/>
        </p:nvCxnSpPr>
        <p:spPr>
          <a:xfrm>
            <a:off x="9188451" y="3745636"/>
            <a:ext cx="0" cy="152019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25ACB87-EF38-4EE7-9303-08B7B291C9DB}"/>
              </a:ext>
            </a:extLst>
          </p:cNvPr>
          <p:cNvSpPr/>
          <p:nvPr/>
        </p:nvSpPr>
        <p:spPr>
          <a:xfrm>
            <a:off x="8670909" y="3535962"/>
            <a:ext cx="99867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Current business</a:t>
            </a:r>
            <a:r>
              <a:rPr lang="ru-RU" sz="900" dirty="0"/>
              <a:t> 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A523578-FCB2-4BF7-944B-0DBFE4D3258E}"/>
              </a:ext>
            </a:extLst>
          </p:cNvPr>
          <p:cNvSpPr/>
          <p:nvPr/>
        </p:nvSpPr>
        <p:spPr>
          <a:xfrm>
            <a:off x="8683609" y="4180690"/>
            <a:ext cx="641201" cy="1384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noAutofit/>
          </a:bodyPr>
          <a:lstStyle/>
          <a:p>
            <a:r>
              <a:rPr lang="en-US" sz="900" dirty="0"/>
              <a:t>Production</a:t>
            </a:r>
            <a:endParaRPr lang="ru-RU" sz="900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DB31E76-E1E5-4E84-8D5A-7126DBD10B51}"/>
              </a:ext>
            </a:extLst>
          </p:cNvPr>
          <p:cNvSpPr/>
          <p:nvPr/>
        </p:nvSpPr>
        <p:spPr>
          <a:xfrm>
            <a:off x="8683609" y="3782304"/>
            <a:ext cx="14427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19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D8018386-4A30-4791-BB4C-EF200D66A219}"/>
              </a:ext>
            </a:extLst>
          </p:cNvPr>
          <p:cNvSpPr/>
          <p:nvPr/>
        </p:nvSpPr>
        <p:spPr>
          <a:xfrm>
            <a:off x="8683609" y="4419540"/>
            <a:ext cx="13785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13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FAABDA0-5941-47B2-B357-1207E881F2A9}"/>
              </a:ext>
            </a:extLst>
          </p:cNvPr>
          <p:cNvSpPr/>
          <p:nvPr/>
        </p:nvSpPr>
        <p:spPr>
          <a:xfrm>
            <a:off x="8362923" y="5072949"/>
            <a:ext cx="787075" cy="15553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noAutofit/>
          </a:bodyPr>
          <a:lstStyle/>
          <a:p>
            <a:r>
              <a:rPr lang="en-US" sz="900" dirty="0"/>
              <a:t>Management</a:t>
            </a:r>
            <a:endParaRPr lang="ru-RU" sz="900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4DE72AB-BF55-4565-9265-5CE04EAEBA0C}"/>
              </a:ext>
            </a:extLst>
          </p:cNvPr>
          <p:cNvSpPr/>
          <p:nvPr/>
        </p:nvSpPr>
        <p:spPr>
          <a:xfrm>
            <a:off x="9259228" y="5061074"/>
            <a:ext cx="8976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6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2D3A40B-0BA0-4C3E-92B0-7BB9711B906D}"/>
              </a:ext>
            </a:extLst>
          </p:cNvPr>
          <p:cNvCxnSpPr>
            <a:cxnSpLocks/>
          </p:cNvCxnSpPr>
          <p:nvPr/>
        </p:nvCxnSpPr>
        <p:spPr>
          <a:xfrm>
            <a:off x="3221081" y="2892196"/>
            <a:ext cx="355663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Oval 121">
            <a:extLst>
              <a:ext uri="{FF2B5EF4-FFF2-40B4-BE49-F238E27FC236}">
                <a16:creationId xmlns:a16="http://schemas.microsoft.com/office/drawing/2014/main" id="{BE091414-649B-4EB3-8C70-0084232EDCB1}"/>
              </a:ext>
            </a:extLst>
          </p:cNvPr>
          <p:cNvSpPr/>
          <p:nvPr/>
        </p:nvSpPr>
        <p:spPr bwMode="gray">
          <a:xfrm rot="16200000">
            <a:off x="3139166" y="2857984"/>
            <a:ext cx="64770" cy="64770"/>
          </a:xfrm>
          <a:prstGeom prst="ellipse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5629E48F-9EAA-4273-AD8E-93ED8E5F0392}"/>
              </a:ext>
            </a:extLst>
          </p:cNvPr>
          <p:cNvSpPr/>
          <p:nvPr/>
        </p:nvSpPr>
        <p:spPr bwMode="gray">
          <a:xfrm rot="16200000">
            <a:off x="6801727" y="2857983"/>
            <a:ext cx="64770" cy="64770"/>
          </a:xfrm>
          <a:prstGeom prst="ellipse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F72286E-FCE9-41CA-9960-47EB19932B48}"/>
              </a:ext>
            </a:extLst>
          </p:cNvPr>
          <p:cNvCxnSpPr>
            <a:cxnSpLocks/>
          </p:cNvCxnSpPr>
          <p:nvPr/>
        </p:nvCxnSpPr>
        <p:spPr>
          <a:xfrm>
            <a:off x="7227538" y="2892196"/>
            <a:ext cx="103734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32">
            <a:extLst>
              <a:ext uri="{FF2B5EF4-FFF2-40B4-BE49-F238E27FC236}">
                <a16:creationId xmlns:a16="http://schemas.microsoft.com/office/drawing/2014/main" id="{44D358F7-DCE9-4DAD-990D-4B06586EA6E4}"/>
              </a:ext>
            </a:extLst>
          </p:cNvPr>
          <p:cNvSpPr/>
          <p:nvPr/>
        </p:nvSpPr>
        <p:spPr bwMode="gray">
          <a:xfrm rot="16200000">
            <a:off x="7140543" y="2857984"/>
            <a:ext cx="64770" cy="64770"/>
          </a:xfrm>
          <a:prstGeom prst="ellipse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53BAE646-3312-490F-AD1C-916F511397E9}"/>
              </a:ext>
            </a:extLst>
          </p:cNvPr>
          <p:cNvSpPr/>
          <p:nvPr/>
        </p:nvSpPr>
        <p:spPr bwMode="gray">
          <a:xfrm rot="16200000">
            <a:off x="8291552" y="2857983"/>
            <a:ext cx="64770" cy="64770"/>
          </a:xfrm>
          <a:prstGeom prst="ellipse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23D2513C-3ADF-415E-AB86-C024FBDE3B60}"/>
              </a:ext>
            </a:extLst>
          </p:cNvPr>
          <p:cNvCxnSpPr>
            <a:cxnSpLocks/>
          </p:cNvCxnSpPr>
          <p:nvPr/>
        </p:nvCxnSpPr>
        <p:spPr>
          <a:xfrm>
            <a:off x="8725508" y="2892196"/>
            <a:ext cx="610897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95EDAC2B-FD18-48FA-AF13-10677D83A02B}"/>
              </a:ext>
            </a:extLst>
          </p:cNvPr>
          <p:cNvSpPr/>
          <p:nvPr/>
        </p:nvSpPr>
        <p:spPr bwMode="gray">
          <a:xfrm rot="16200000">
            <a:off x="8638513" y="2857984"/>
            <a:ext cx="64770" cy="64770"/>
          </a:xfrm>
          <a:prstGeom prst="ellipse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28D61AD8-2D68-4546-A3B0-CB94DB8266D7}"/>
              </a:ext>
            </a:extLst>
          </p:cNvPr>
          <p:cNvSpPr/>
          <p:nvPr/>
        </p:nvSpPr>
        <p:spPr bwMode="gray">
          <a:xfrm rot="16200000">
            <a:off x="9351125" y="2857983"/>
            <a:ext cx="64770" cy="64770"/>
          </a:xfrm>
          <a:prstGeom prst="ellipse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D74065B-2E69-41D4-8A1D-06EB66500241}"/>
              </a:ext>
            </a:extLst>
          </p:cNvPr>
          <p:cNvSpPr/>
          <p:nvPr/>
        </p:nvSpPr>
        <p:spPr>
          <a:xfrm>
            <a:off x="384048" y="576072"/>
            <a:ext cx="87503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000" dirty="0"/>
              <a:t>T</a:t>
            </a:r>
            <a:r>
              <a:rPr lang="ru-RU" sz="2000" dirty="0" err="1"/>
              <a:t>he</a:t>
            </a:r>
            <a:r>
              <a:rPr lang="ru-RU" sz="2000" dirty="0"/>
              <a:t> </a:t>
            </a:r>
            <a:r>
              <a:rPr lang="ru-RU" sz="2000" dirty="0" err="1"/>
              <a:t>forecast</a:t>
            </a:r>
            <a:r>
              <a:rPr lang="ru-RU" sz="2000" dirty="0"/>
              <a:t> </a:t>
            </a:r>
            <a:r>
              <a:rPr lang="ru-RU" sz="2000" dirty="0" err="1"/>
              <a:t>of</a:t>
            </a:r>
            <a:r>
              <a:rPr lang="ru-RU" sz="2000" dirty="0"/>
              <a:t> </a:t>
            </a:r>
            <a:r>
              <a:rPr lang="ru-RU" sz="2000" dirty="0" err="1"/>
              <a:t>operating</a:t>
            </a:r>
            <a:r>
              <a:rPr lang="ru-RU" sz="2000" dirty="0"/>
              <a:t> </a:t>
            </a:r>
            <a:r>
              <a:rPr lang="ru-RU" sz="2000" dirty="0" err="1"/>
              <a:t>costs</a:t>
            </a:r>
            <a:r>
              <a:rPr lang="ru-RU" sz="2000" dirty="0"/>
              <a:t> </a:t>
            </a:r>
            <a:r>
              <a:rPr lang="ru-RU" sz="2000" dirty="0" err="1"/>
              <a:t>was</a:t>
            </a:r>
            <a:r>
              <a:rPr lang="ru-RU" sz="2000" dirty="0"/>
              <a:t> </a:t>
            </a:r>
            <a:r>
              <a:rPr lang="ru-RU" sz="2000" dirty="0" err="1"/>
              <a:t>based</a:t>
            </a:r>
            <a:r>
              <a:rPr lang="ru-RU" sz="2000" dirty="0"/>
              <a:t> </a:t>
            </a:r>
            <a:r>
              <a:rPr lang="ru-RU" sz="2000" dirty="0" err="1"/>
              <a:t>on</a:t>
            </a:r>
            <a:r>
              <a:rPr lang="ru-RU" sz="2000" dirty="0"/>
              <a:t> </a:t>
            </a:r>
            <a:r>
              <a:rPr lang="ru-RU" sz="2000" dirty="0" err="1"/>
              <a:t>the</a:t>
            </a:r>
            <a:r>
              <a:rPr lang="ru-RU" sz="2000" dirty="0"/>
              <a:t> </a:t>
            </a:r>
            <a:r>
              <a:rPr lang="ru-RU" sz="2000" dirty="0" err="1"/>
              <a:t>assumptions</a:t>
            </a:r>
            <a:r>
              <a:rPr lang="ru-RU" sz="2000" dirty="0"/>
              <a:t> </a:t>
            </a:r>
            <a:br>
              <a:rPr lang="en-US" sz="2000" dirty="0"/>
            </a:br>
            <a:r>
              <a:rPr lang="ru-RU" sz="2000" dirty="0" err="1"/>
              <a:t>that</a:t>
            </a:r>
            <a:r>
              <a:rPr lang="ru-RU" sz="2000" dirty="0"/>
              <a:t> </a:t>
            </a:r>
            <a:r>
              <a:rPr lang="ru-RU" sz="2000" dirty="0" err="1"/>
              <a:t>the</a:t>
            </a:r>
            <a:r>
              <a:rPr lang="ru-RU" sz="2000" dirty="0"/>
              <a:t> </a:t>
            </a:r>
            <a:r>
              <a:rPr lang="ru-RU" sz="2000" dirty="0" err="1"/>
              <a:t>indicators</a:t>
            </a:r>
            <a:r>
              <a:rPr lang="ru-RU" sz="2000" dirty="0"/>
              <a:t> </a:t>
            </a:r>
            <a:r>
              <a:rPr lang="ru-RU" sz="2000" dirty="0" err="1"/>
              <a:t>of</a:t>
            </a:r>
            <a:r>
              <a:rPr lang="ru-RU" sz="2000" dirty="0"/>
              <a:t> </a:t>
            </a:r>
            <a:r>
              <a:rPr lang="ru-RU" sz="2000" dirty="0" err="1"/>
              <a:t>material</a:t>
            </a:r>
            <a:r>
              <a:rPr lang="ru-RU" sz="2000" dirty="0"/>
              <a:t> </a:t>
            </a:r>
            <a:r>
              <a:rPr lang="ru-RU" sz="2000" dirty="0" err="1"/>
              <a:t>consumption</a:t>
            </a:r>
            <a:r>
              <a:rPr lang="ru-RU" sz="2000" dirty="0"/>
              <a:t> </a:t>
            </a:r>
            <a:r>
              <a:rPr lang="ru-RU" sz="2000" dirty="0" err="1"/>
              <a:t>and</a:t>
            </a:r>
            <a:r>
              <a:rPr lang="ru-RU" sz="2000" dirty="0"/>
              <a:t> </a:t>
            </a:r>
            <a:r>
              <a:rPr lang="ru-RU" sz="2000" dirty="0" err="1"/>
              <a:t>personnel</a:t>
            </a:r>
            <a:r>
              <a:rPr lang="ru-RU" sz="2000" dirty="0"/>
              <a:t> </a:t>
            </a:r>
            <a:r>
              <a:rPr lang="ru-RU" sz="2000" dirty="0" err="1"/>
              <a:t>numbers</a:t>
            </a:r>
            <a:r>
              <a:rPr lang="ru-RU" sz="2000" dirty="0"/>
              <a:t> </a:t>
            </a:r>
            <a:r>
              <a:rPr lang="ru-RU" sz="2000" dirty="0" err="1"/>
              <a:t>are</a:t>
            </a:r>
            <a:r>
              <a:rPr lang="ru-RU" sz="2000" dirty="0"/>
              <a:t> </a:t>
            </a:r>
            <a:r>
              <a:rPr lang="ru-RU" sz="2000" dirty="0" err="1"/>
              <a:t>not</a:t>
            </a:r>
            <a:r>
              <a:rPr lang="ru-RU" sz="2000" dirty="0"/>
              <a:t> </a:t>
            </a:r>
            <a:r>
              <a:rPr lang="ru-RU" sz="2000" dirty="0" err="1"/>
              <a:t>variable</a:t>
            </a:r>
            <a:endParaRPr lang="ru-RU" sz="200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7DD9772-A6C6-4E30-89D8-1FE230235AA4}"/>
              </a:ext>
            </a:extLst>
          </p:cNvPr>
          <p:cNvSpPr/>
          <p:nvPr/>
        </p:nvSpPr>
        <p:spPr>
          <a:xfrm>
            <a:off x="383522" y="6080103"/>
            <a:ext cx="2798677" cy="30777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de-DE" sz="700" dirty="0">
                <a:solidFill>
                  <a:srgbClr val="000000"/>
                </a:solidFill>
              </a:rPr>
              <a:t>Source: </a:t>
            </a:r>
            <a:r>
              <a:rPr lang="de-DE" sz="700" dirty="0" err="1">
                <a:solidFill>
                  <a:srgbClr val="000000"/>
                </a:solidFill>
              </a:rPr>
              <a:t>random</a:t>
            </a:r>
            <a:r>
              <a:rPr lang="de-DE" sz="700" dirty="0">
                <a:solidFill>
                  <a:srgbClr val="000000"/>
                </a:solidFill>
              </a:rPr>
              <a:t> </a:t>
            </a:r>
            <a:r>
              <a:rPr lang="de-DE" sz="700" dirty="0" err="1">
                <a:solidFill>
                  <a:srgbClr val="000000"/>
                </a:solidFill>
              </a:rPr>
              <a:t>figures</a:t>
            </a:r>
            <a:endParaRPr lang="de-DE" sz="700" dirty="0">
              <a:solidFill>
                <a:srgbClr val="000000"/>
              </a:solidFill>
            </a:endParaRPr>
          </a:p>
          <a:p>
            <a:r>
              <a:rPr lang="de-DE" sz="700" dirty="0">
                <a:solidFill>
                  <a:srgbClr val="000000"/>
                </a:solidFill>
              </a:rPr>
              <a:t>Chart design: </a:t>
            </a:r>
            <a:r>
              <a:rPr lang="en-US" sz="700" dirty="0">
                <a:solidFill>
                  <a:prstClr val="black"/>
                </a:solidFill>
              </a:rPr>
              <a:t>I. Daraev</a:t>
            </a:r>
            <a:endParaRPr lang="ru-RU" sz="700" dirty="0">
              <a:solidFill>
                <a:srgbClr val="000000"/>
              </a:solidFill>
            </a:endParaRPr>
          </a:p>
        </p:txBody>
      </p:sp>
      <p:graphicFrame>
        <p:nvGraphicFramePr>
          <p:cNvPr id="149" name="Table 148">
            <a:extLst>
              <a:ext uri="{FF2B5EF4-FFF2-40B4-BE49-F238E27FC236}">
                <a16:creationId xmlns:a16="http://schemas.microsoft.com/office/drawing/2014/main" id="{4828A5CF-B4C0-43F7-9E10-E827198E5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401595"/>
              </p:ext>
            </p:extLst>
          </p:nvPr>
        </p:nvGraphicFramePr>
        <p:xfrm>
          <a:off x="385786" y="2391701"/>
          <a:ext cx="2011680" cy="3576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34642218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713144552"/>
                    </a:ext>
                  </a:extLst>
                </a:gridCol>
              </a:tblGrid>
              <a:tr h="258628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00A3E0"/>
                          </a:solidFill>
                          <a:latin typeface="+mj-lt"/>
                        </a:rPr>
                        <a:t>Division</a:t>
                      </a:r>
                      <a:endParaRPr lang="ru-RU" sz="900" dirty="0">
                        <a:solidFill>
                          <a:srgbClr val="00A3E0"/>
                        </a:solidFill>
                        <a:latin typeface="+mj-lt"/>
                      </a:endParaRPr>
                    </a:p>
                  </a:txBody>
                  <a:tcPr anchor="ctr">
                    <a:lnT w="38100" cap="flat" cmpd="sng" algn="ctr">
                      <a:solidFill>
                        <a:srgbClr val="00A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900" dirty="0" err="1">
                          <a:solidFill>
                            <a:srgbClr val="00A3E0"/>
                          </a:solidFill>
                          <a:latin typeface="+mj-lt"/>
                        </a:rPr>
                        <a:t>Number</a:t>
                      </a:r>
                      <a:r>
                        <a:rPr lang="de-DE" sz="900" dirty="0">
                          <a:solidFill>
                            <a:srgbClr val="00A3E0"/>
                          </a:solidFill>
                          <a:latin typeface="+mj-lt"/>
                        </a:rPr>
                        <a:t> </a:t>
                      </a:r>
                      <a:r>
                        <a:rPr lang="de-DE" sz="900" dirty="0" err="1">
                          <a:solidFill>
                            <a:srgbClr val="00A3E0"/>
                          </a:solidFill>
                          <a:latin typeface="+mj-lt"/>
                        </a:rPr>
                        <a:t>of</a:t>
                      </a:r>
                      <a:r>
                        <a:rPr lang="de-DE" sz="900" dirty="0">
                          <a:solidFill>
                            <a:srgbClr val="00A3E0"/>
                          </a:solidFill>
                          <a:latin typeface="+mj-lt"/>
                        </a:rPr>
                        <a:t> </a:t>
                      </a:r>
                      <a:r>
                        <a:rPr lang="de-DE" sz="900" dirty="0" err="1">
                          <a:solidFill>
                            <a:srgbClr val="00A3E0"/>
                          </a:solidFill>
                          <a:latin typeface="+mj-lt"/>
                        </a:rPr>
                        <a:t>people</a:t>
                      </a:r>
                      <a:endParaRPr lang="ru-RU" sz="900" dirty="0">
                        <a:solidFill>
                          <a:srgbClr val="00A3E0"/>
                        </a:solidFill>
                        <a:latin typeface="+mj-lt"/>
                      </a:endParaRPr>
                    </a:p>
                  </a:txBody>
                  <a:tcPr anchor="ctr">
                    <a:lnT w="38100" cap="flat" cmpd="sng" algn="ctr">
                      <a:solidFill>
                        <a:srgbClr val="00A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584623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pPr marL="0" marR="0" lvl="0" indent="0" algn="l" defTabSz="7301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+mj-lt"/>
                        </a:rPr>
                        <a:t>Division 1</a:t>
                      </a:r>
                      <a:endParaRPr lang="ru-RU" sz="900" b="1" dirty="0">
                        <a:latin typeface="+mj-lt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latin typeface="+mj-lt"/>
                        </a:rPr>
                        <a:t>78</a:t>
                      </a:r>
                      <a:endParaRPr lang="ru-RU" sz="900" b="1" dirty="0">
                        <a:latin typeface="+mj-lt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446794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de-DE" sz="900" dirty="0" err="1"/>
                        <a:t>Current</a:t>
                      </a:r>
                      <a:r>
                        <a:rPr lang="de-DE" sz="900" dirty="0"/>
                        <a:t> </a:t>
                      </a:r>
                      <a:r>
                        <a:rPr lang="de-DE" sz="900" dirty="0" err="1"/>
                        <a:t>business</a:t>
                      </a:r>
                      <a:r>
                        <a:rPr lang="de-DE" sz="900" dirty="0"/>
                        <a:t> </a:t>
                      </a:r>
                    </a:p>
                  </a:txBody>
                  <a:tcPr marL="199440"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58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117362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dirty="0"/>
                        <a:t>Production</a:t>
                      </a:r>
                      <a:endParaRPr lang="ru-RU" sz="900" dirty="0"/>
                    </a:p>
                  </a:txBody>
                  <a:tcPr marL="271440"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48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362333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dirty="0"/>
                        <a:t>Management</a:t>
                      </a:r>
                      <a:endParaRPr lang="ru-RU" sz="900" dirty="0"/>
                    </a:p>
                  </a:txBody>
                  <a:tcPr marL="271440"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Light"/>
                          <a:ea typeface="+mn-ea"/>
                          <a:cs typeface="+mn-cs"/>
                        </a:rPr>
                        <a:t>10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037172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pPr marL="58738" indent="0"/>
                      <a:r>
                        <a:rPr lang="en-US" sz="900" dirty="0"/>
                        <a:t>Grants</a:t>
                      </a:r>
                      <a:endParaRPr lang="ru-RU" sz="900" dirty="0"/>
                    </a:p>
                  </a:txBody>
                  <a:tcPr marL="127440"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Light"/>
                          <a:ea typeface="+mn-ea"/>
                          <a:cs typeface="+mn-cs"/>
                        </a:rPr>
                        <a:t>20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838362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pPr marL="0" marR="0" lvl="0" indent="0" algn="l" defTabSz="7301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Division 2</a:t>
                      </a:r>
                      <a:endParaRPr lang="ru-RU" sz="900" b="1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800000000000000" pitchFamily="2" charset="-52"/>
                          <a:ea typeface="+mn-ea"/>
                          <a:cs typeface="+mn-cs"/>
                        </a:rPr>
                        <a:t>33</a:t>
                      </a:r>
                      <a:endParaRPr lang="ru-RU" sz="900" b="1" dirty="0">
                        <a:latin typeface="Montserrat" panose="00000800000000000000" pitchFamily="2" charset="-52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500874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dirty="0"/>
                        <a:t>Production</a:t>
                      </a:r>
                      <a:endParaRPr lang="ru-RU" sz="900" dirty="0"/>
                    </a:p>
                  </a:txBody>
                  <a:tcPr marL="271440"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Light"/>
                          <a:ea typeface="+mn-ea"/>
                          <a:cs typeface="+mn-cs"/>
                        </a:rPr>
                        <a:t>19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966920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dirty="0"/>
                        <a:t>Management</a:t>
                      </a:r>
                      <a:endParaRPr lang="ru-RU" sz="900" dirty="0"/>
                    </a:p>
                  </a:txBody>
                  <a:tcPr marL="271440"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Light"/>
                          <a:ea typeface="+mn-ea"/>
                          <a:cs typeface="+mn-cs"/>
                        </a:rPr>
                        <a:t>4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06076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pPr marL="0" marR="0" lvl="0" indent="0" algn="l" defTabSz="7301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Division 3</a:t>
                      </a:r>
                      <a:endParaRPr lang="ru-RU" sz="900" b="1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800000000000000" pitchFamily="2" charset="-52"/>
                          <a:ea typeface="+mn-ea"/>
                          <a:cs typeface="+mn-cs"/>
                        </a:rPr>
                        <a:t>19</a:t>
                      </a:r>
                      <a:endParaRPr lang="ru-RU" sz="900" b="1" dirty="0">
                        <a:latin typeface="Montserrat" panose="00000800000000000000" pitchFamily="2" charset="-52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226182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dirty="0"/>
                        <a:t>Production</a:t>
                      </a:r>
                      <a:endParaRPr lang="ru-RU" sz="900" dirty="0"/>
                    </a:p>
                  </a:txBody>
                  <a:tcPr marL="271440"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Light"/>
                          <a:ea typeface="+mn-ea"/>
                          <a:cs typeface="+mn-cs"/>
                        </a:rPr>
                        <a:t>13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00562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dirty="0"/>
                        <a:t>Management</a:t>
                      </a:r>
                      <a:endParaRPr lang="ru-RU" sz="900" dirty="0"/>
                    </a:p>
                  </a:txBody>
                  <a:tcPr marL="271440"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Light"/>
                          <a:ea typeface="+mn-ea"/>
                          <a:cs typeface="+mn-cs"/>
                        </a:rPr>
                        <a:t>6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914391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+mj-lt"/>
                        </a:rPr>
                        <a:t>Total</a:t>
                      </a:r>
                      <a:endParaRPr lang="ru-RU" sz="900" b="1" dirty="0">
                        <a:latin typeface="+mj-lt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latin typeface="+mj-lt"/>
                        </a:rPr>
                        <a:t>130</a:t>
                      </a:r>
                      <a:endParaRPr lang="ru-RU" sz="900" b="1" dirty="0">
                        <a:latin typeface="+mj-lt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422469"/>
                  </a:ext>
                </a:extLst>
              </a:tr>
            </a:tbl>
          </a:graphicData>
        </a:graphic>
      </p:graphicFrame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7C09939-3110-4C7E-8EF2-CB9E7C9BDBCB}"/>
              </a:ext>
            </a:extLst>
          </p:cNvPr>
          <p:cNvGrpSpPr/>
          <p:nvPr/>
        </p:nvGrpSpPr>
        <p:grpSpPr>
          <a:xfrm>
            <a:off x="2530643" y="2338071"/>
            <a:ext cx="203420" cy="2815129"/>
            <a:chOff x="3547930" y="2331720"/>
            <a:chExt cx="203420" cy="2815129"/>
          </a:xfrm>
        </p:grpSpPr>
        <p:sp>
          <p:nvSpPr>
            <p:cNvPr id="151" name="Arrow: Chevron 150">
              <a:extLst>
                <a:ext uri="{FF2B5EF4-FFF2-40B4-BE49-F238E27FC236}">
                  <a16:creationId xmlns:a16="http://schemas.microsoft.com/office/drawing/2014/main" id="{A66017D4-FD70-448A-837D-99C1C7E3A04F}"/>
                </a:ext>
              </a:extLst>
            </p:cNvPr>
            <p:cNvSpPr/>
            <p:nvPr/>
          </p:nvSpPr>
          <p:spPr bwMode="gray">
            <a:xfrm>
              <a:off x="3547930" y="3550606"/>
              <a:ext cx="203420" cy="377356"/>
            </a:xfrm>
            <a:prstGeom prst="chevron">
              <a:avLst>
                <a:gd name="adj" fmla="val 62222"/>
              </a:avLst>
            </a:prstGeom>
            <a:solidFill>
              <a:schemeClr val="bg1">
                <a:lumMod val="65000"/>
              </a:schemeClr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6D4B83B-5F98-49A3-AE27-B8CBFD6D1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8765" y="2331720"/>
              <a:ext cx="0" cy="109728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6224E045-E05C-42E3-B09F-DE4E31B2438C}"/>
                </a:ext>
              </a:extLst>
            </p:cNvPr>
            <p:cNvCxnSpPr/>
            <p:nvPr/>
          </p:nvCxnSpPr>
          <p:spPr>
            <a:xfrm flipV="1">
              <a:off x="3638765" y="4049569"/>
              <a:ext cx="0" cy="109728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51A6BA50-0AB2-45C2-827E-88B5ACAC5B72}"/>
              </a:ext>
            </a:extLst>
          </p:cNvPr>
          <p:cNvSpPr txBox="1"/>
          <p:nvPr/>
        </p:nvSpPr>
        <p:spPr>
          <a:xfrm>
            <a:off x="1988376" y="1931080"/>
            <a:ext cx="478635" cy="19200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Before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8D7BF1FF-EA3E-4F72-B9F1-71F2A3BB8E03}"/>
              </a:ext>
            </a:extLst>
          </p:cNvPr>
          <p:cNvSpPr txBox="1"/>
          <p:nvPr/>
        </p:nvSpPr>
        <p:spPr>
          <a:xfrm>
            <a:off x="2790885" y="1931079"/>
            <a:ext cx="520975" cy="22142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After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F993618-8F3F-45ED-BF96-EA162D627020}"/>
              </a:ext>
            </a:extLst>
          </p:cNvPr>
          <p:cNvSpPr/>
          <p:nvPr/>
        </p:nvSpPr>
        <p:spPr bwMode="gray">
          <a:xfrm>
            <a:off x="6929408" y="2813058"/>
            <a:ext cx="141952" cy="141952"/>
          </a:xfrm>
          <a:prstGeom prst="ellipse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10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+</a:t>
            </a:r>
            <a:endParaRPr lang="ru-RU" sz="1100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24C8A87-3C19-4E7A-9955-373D3B194913}"/>
              </a:ext>
            </a:extLst>
          </p:cNvPr>
          <p:cNvSpPr/>
          <p:nvPr/>
        </p:nvSpPr>
        <p:spPr bwMode="gray">
          <a:xfrm>
            <a:off x="8425505" y="2813058"/>
            <a:ext cx="141952" cy="141952"/>
          </a:xfrm>
          <a:prstGeom prst="ellipse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10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+</a:t>
            </a:r>
            <a:endParaRPr lang="ru-RU" sz="1100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834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261F9B43-352F-425D-9EAC-5432572EC42D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701D5FA3-EFDF-469B-97E6-C06D420E1E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3305736"/>
              </p:ext>
            </p:extLst>
          </p:nvPr>
        </p:nvGraphicFramePr>
        <p:xfrm>
          <a:off x="7345697" y="1523999"/>
          <a:ext cx="1657228" cy="4960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BA7CDDF9-634D-4BCE-B701-5F94805B607E}"/>
              </a:ext>
            </a:extLst>
          </p:cNvPr>
          <p:cNvSpPr/>
          <p:nvPr/>
        </p:nvSpPr>
        <p:spPr bwMode="gray">
          <a:xfrm>
            <a:off x="3066679" y="5058709"/>
            <a:ext cx="182520" cy="135087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7DB4A46-A1E7-467E-8137-B0467F0D4C66}"/>
              </a:ext>
            </a:extLst>
          </p:cNvPr>
          <p:cNvSpPr/>
          <p:nvPr/>
        </p:nvSpPr>
        <p:spPr>
          <a:xfrm>
            <a:off x="3060585" y="4893918"/>
            <a:ext cx="255791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7%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8AF14ACE-1F38-4E40-8243-9CE1ADC3B967}"/>
              </a:ext>
            </a:extLst>
          </p:cNvPr>
          <p:cNvSpPr/>
          <p:nvPr/>
        </p:nvSpPr>
        <p:spPr bwMode="gray">
          <a:xfrm>
            <a:off x="2814408" y="5001857"/>
            <a:ext cx="182520" cy="19193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C3E52414-31FE-4611-9642-A8C151ABACED}"/>
              </a:ext>
            </a:extLst>
          </p:cNvPr>
          <p:cNvSpPr/>
          <p:nvPr/>
        </p:nvSpPr>
        <p:spPr>
          <a:xfrm>
            <a:off x="2741894" y="4841231"/>
            <a:ext cx="255791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8.1%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E16B095-B861-44F0-BEE3-0BDC811E5018}"/>
              </a:ext>
            </a:extLst>
          </p:cNvPr>
          <p:cNvSpPr/>
          <p:nvPr/>
        </p:nvSpPr>
        <p:spPr>
          <a:xfrm>
            <a:off x="1742076" y="5656492"/>
            <a:ext cx="91617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Convenience</a:t>
            </a:r>
            <a:endParaRPr lang="ru-RU" sz="900" b="1" dirty="0">
              <a:latin typeface="+mj-lt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0DB8624-16FE-40B2-B8B8-9D388E349F45}"/>
              </a:ext>
            </a:extLst>
          </p:cNvPr>
          <p:cNvSpPr/>
          <p:nvPr/>
        </p:nvSpPr>
        <p:spPr>
          <a:xfrm>
            <a:off x="1742076" y="4975516"/>
            <a:ext cx="91617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Ethics</a:t>
            </a:r>
            <a:endParaRPr lang="ru-RU" sz="900" b="1" dirty="0">
              <a:latin typeface="+mj-lt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8B5121F-CE2F-4C4C-ADE9-2F86435B783B}"/>
              </a:ext>
            </a:extLst>
          </p:cNvPr>
          <p:cNvGrpSpPr/>
          <p:nvPr/>
        </p:nvGrpSpPr>
        <p:grpSpPr>
          <a:xfrm>
            <a:off x="5189220" y="1958701"/>
            <a:ext cx="2766060" cy="4078379"/>
            <a:chOff x="5189220" y="1958701"/>
            <a:chExt cx="2766060" cy="4078379"/>
          </a:xfrm>
        </p:grpSpPr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429235D6-B36E-44D7-A5D3-85FA5E8F9E19}"/>
                </a:ext>
              </a:extLst>
            </p:cNvPr>
            <p:cNvCxnSpPr/>
            <p:nvPr/>
          </p:nvCxnSpPr>
          <p:spPr>
            <a:xfrm>
              <a:off x="5244700" y="6037080"/>
              <a:ext cx="271058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1532B156-281F-40C8-A300-A89EB6C821E4}"/>
                </a:ext>
              </a:extLst>
            </p:cNvPr>
            <p:cNvCxnSpPr/>
            <p:nvPr/>
          </p:nvCxnSpPr>
          <p:spPr>
            <a:xfrm>
              <a:off x="5244700" y="5744073"/>
              <a:ext cx="271058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DD5A2D25-177C-41BD-8C39-35DEBC7CBEEE}"/>
                </a:ext>
              </a:extLst>
            </p:cNvPr>
            <p:cNvCxnSpPr>
              <a:cxnSpLocks/>
            </p:cNvCxnSpPr>
            <p:nvPr/>
          </p:nvCxnSpPr>
          <p:spPr>
            <a:xfrm>
              <a:off x="5572294" y="5451062"/>
              <a:ext cx="2382986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4B61BD0B-B2EA-434F-A97F-DB0FEFC742EB}"/>
                </a:ext>
              </a:extLst>
            </p:cNvPr>
            <p:cNvCxnSpPr>
              <a:cxnSpLocks/>
            </p:cNvCxnSpPr>
            <p:nvPr/>
          </p:nvCxnSpPr>
          <p:spPr>
            <a:xfrm>
              <a:off x="5205071" y="5158051"/>
              <a:ext cx="2750209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7E58F164-49E7-44FF-B40A-1B8ABBF6BBE6}"/>
                </a:ext>
              </a:extLst>
            </p:cNvPr>
            <p:cNvCxnSpPr>
              <a:cxnSpLocks/>
            </p:cNvCxnSpPr>
            <p:nvPr/>
          </p:nvCxnSpPr>
          <p:spPr>
            <a:xfrm>
              <a:off x="5614564" y="4865040"/>
              <a:ext cx="2340716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EEF9B57B-24BD-48FA-BF0C-7500A497FC50}"/>
                </a:ext>
              </a:extLst>
            </p:cNvPr>
            <p:cNvCxnSpPr>
              <a:cxnSpLocks/>
            </p:cNvCxnSpPr>
            <p:nvPr/>
          </p:nvCxnSpPr>
          <p:spPr>
            <a:xfrm>
              <a:off x="5189220" y="4572029"/>
              <a:ext cx="260858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F798A223-C62B-48F7-9A12-B8975F6AF7C2}"/>
                </a:ext>
              </a:extLst>
            </p:cNvPr>
            <p:cNvCxnSpPr>
              <a:cxnSpLocks/>
            </p:cNvCxnSpPr>
            <p:nvPr/>
          </p:nvCxnSpPr>
          <p:spPr>
            <a:xfrm>
              <a:off x="5434916" y="4279018"/>
              <a:ext cx="252036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0745DB64-A399-40A1-9217-34F29AF637C8}"/>
                </a:ext>
              </a:extLst>
            </p:cNvPr>
            <p:cNvCxnSpPr>
              <a:cxnSpLocks/>
            </p:cNvCxnSpPr>
            <p:nvPr/>
          </p:nvCxnSpPr>
          <p:spPr>
            <a:xfrm>
              <a:off x="5545875" y="3986007"/>
              <a:ext cx="2409405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6939A8C5-D7D8-4599-A55B-FC0A90E0D917}"/>
                </a:ext>
              </a:extLst>
            </p:cNvPr>
            <p:cNvCxnSpPr>
              <a:cxnSpLocks/>
            </p:cNvCxnSpPr>
            <p:nvPr/>
          </p:nvCxnSpPr>
          <p:spPr>
            <a:xfrm>
              <a:off x="5656835" y="3692996"/>
              <a:ext cx="2298445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55CE513-40F9-4031-A7E8-F09343AFD954}"/>
                </a:ext>
              </a:extLst>
            </p:cNvPr>
            <p:cNvCxnSpPr>
              <a:cxnSpLocks/>
            </p:cNvCxnSpPr>
            <p:nvPr/>
          </p:nvCxnSpPr>
          <p:spPr>
            <a:xfrm>
              <a:off x="5799497" y="3399985"/>
              <a:ext cx="2155783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DD99D232-88A8-45E2-B3DA-4F031B4944E6}"/>
                </a:ext>
              </a:extLst>
            </p:cNvPr>
            <p:cNvCxnSpPr>
              <a:cxnSpLocks/>
            </p:cNvCxnSpPr>
            <p:nvPr/>
          </p:nvCxnSpPr>
          <p:spPr>
            <a:xfrm>
              <a:off x="6132375" y="3133644"/>
              <a:ext cx="1822905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F5741FB2-D29F-4C68-9934-F35D8FC67251}"/>
                </a:ext>
              </a:extLst>
            </p:cNvPr>
            <p:cNvCxnSpPr>
              <a:cxnSpLocks/>
            </p:cNvCxnSpPr>
            <p:nvPr/>
          </p:nvCxnSpPr>
          <p:spPr>
            <a:xfrm>
              <a:off x="5403213" y="2813963"/>
              <a:ext cx="2552067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2615331E-0327-493C-B3BF-093587B68C56}"/>
                </a:ext>
              </a:extLst>
            </p:cNvPr>
            <p:cNvCxnSpPr>
              <a:cxnSpLocks/>
            </p:cNvCxnSpPr>
            <p:nvPr/>
          </p:nvCxnSpPr>
          <p:spPr>
            <a:xfrm>
              <a:off x="5403213" y="2541272"/>
              <a:ext cx="2552067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AECAC329-3FCB-4F61-AD95-CF20C95169E4}"/>
                </a:ext>
              </a:extLst>
            </p:cNvPr>
            <p:cNvCxnSpPr>
              <a:cxnSpLocks/>
            </p:cNvCxnSpPr>
            <p:nvPr/>
          </p:nvCxnSpPr>
          <p:spPr>
            <a:xfrm>
              <a:off x="6465253" y="2227941"/>
              <a:ext cx="1490027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6814B74-1045-4027-8EB3-76DBB39FCD43}"/>
                </a:ext>
              </a:extLst>
            </p:cNvPr>
            <p:cNvCxnSpPr>
              <a:cxnSpLocks/>
            </p:cNvCxnSpPr>
            <p:nvPr/>
          </p:nvCxnSpPr>
          <p:spPr>
            <a:xfrm>
              <a:off x="7807960" y="1958701"/>
              <a:ext cx="14732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ECB0410-72BA-49ED-973F-F4EF325B67BB}"/>
              </a:ext>
            </a:extLst>
          </p:cNvPr>
          <p:cNvSpPr/>
          <p:nvPr/>
        </p:nvSpPr>
        <p:spPr>
          <a:xfrm>
            <a:off x="384048" y="576072"/>
            <a:ext cx="8050984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ru-RU" sz="2000" dirty="0" err="1"/>
              <a:t>Pleasure</a:t>
            </a:r>
            <a:r>
              <a:rPr lang="ru-RU" sz="2000" dirty="0"/>
              <a:t> </a:t>
            </a:r>
            <a:r>
              <a:rPr lang="ru-RU" sz="2000" dirty="0" err="1"/>
              <a:t>remains</a:t>
            </a:r>
            <a:r>
              <a:rPr lang="ru-RU" sz="2000" dirty="0"/>
              <a:t> </a:t>
            </a:r>
            <a:r>
              <a:rPr lang="ru-RU" sz="2000" dirty="0" err="1"/>
              <a:t>the</a:t>
            </a:r>
            <a:r>
              <a:rPr lang="ru-RU" sz="2000" dirty="0"/>
              <a:t> </a:t>
            </a:r>
            <a:r>
              <a:rPr lang="ru-RU" sz="2000" dirty="0" err="1"/>
              <a:t>leading</a:t>
            </a:r>
            <a:r>
              <a:rPr lang="ru-RU" sz="2000" dirty="0"/>
              <a:t> </a:t>
            </a:r>
            <a:r>
              <a:rPr lang="ru-RU" sz="2000" dirty="0" err="1"/>
              <a:t>driver</a:t>
            </a:r>
            <a:r>
              <a:rPr lang="ru-RU" sz="2000" dirty="0"/>
              <a:t> </a:t>
            </a:r>
            <a:r>
              <a:rPr lang="ru-RU" sz="2000" dirty="0" err="1"/>
              <a:t>of</a:t>
            </a:r>
            <a:r>
              <a:rPr lang="ru-RU" sz="2000" dirty="0"/>
              <a:t> </a:t>
            </a:r>
            <a:r>
              <a:rPr lang="ru-RU" sz="2000" dirty="0" err="1"/>
              <a:t>food</a:t>
            </a:r>
            <a:r>
              <a:rPr lang="ru-RU" sz="2000" dirty="0"/>
              <a:t> </a:t>
            </a:r>
            <a:r>
              <a:rPr lang="ru-RU" sz="2000" dirty="0" err="1"/>
              <a:t>innovation</a:t>
            </a:r>
            <a:r>
              <a:rPr lang="ru-RU" sz="2000" dirty="0"/>
              <a:t> </a:t>
            </a:r>
            <a:r>
              <a:rPr lang="ru-RU" sz="2000" dirty="0" err="1"/>
              <a:t>in</a:t>
            </a:r>
            <a:r>
              <a:rPr lang="ru-RU" sz="2000" dirty="0"/>
              <a:t> 2023</a:t>
            </a:r>
            <a:r>
              <a:rPr lang="en-US" sz="2000" dirty="0"/>
              <a:t> in EU</a:t>
            </a:r>
            <a:r>
              <a:rPr lang="ru-RU" sz="2000" dirty="0"/>
              <a:t> </a:t>
            </a:r>
            <a:r>
              <a:rPr lang="ru-RU" sz="2000" dirty="0" err="1"/>
              <a:t>with</a:t>
            </a:r>
            <a:r>
              <a:rPr lang="ru-RU" sz="2000" dirty="0"/>
              <a:t> а 53.</a:t>
            </a:r>
            <a:r>
              <a:rPr lang="en-US" sz="2000" dirty="0"/>
              <a:t>5</a:t>
            </a:r>
            <a:r>
              <a:rPr lang="ru-RU" sz="2000" dirty="0"/>
              <a:t>% </a:t>
            </a:r>
            <a:r>
              <a:rPr lang="ru-RU" sz="2000" dirty="0" err="1"/>
              <a:t>relative</a:t>
            </a:r>
            <a:r>
              <a:rPr lang="ru-RU" sz="2000" dirty="0"/>
              <a:t> </a:t>
            </a:r>
            <a:r>
              <a:rPr lang="ru-RU" sz="2000" dirty="0" err="1"/>
              <a:t>share</a:t>
            </a:r>
            <a:r>
              <a:rPr lang="ru-RU" sz="2000" dirty="0"/>
              <a:t> </a:t>
            </a:r>
            <a:r>
              <a:rPr lang="ru-RU" sz="2000" dirty="0" err="1"/>
              <a:t>of</a:t>
            </a:r>
            <a:r>
              <a:rPr lang="ru-RU" sz="2000" dirty="0"/>
              <a:t> </a:t>
            </a:r>
            <a:r>
              <a:rPr lang="ru-RU" sz="2000" dirty="0" err="1"/>
              <a:t>the</a:t>
            </a:r>
            <a:r>
              <a:rPr lang="ru-RU" sz="2000" dirty="0"/>
              <a:t> </a:t>
            </a:r>
            <a:r>
              <a:rPr lang="ru-RU" sz="2000" dirty="0" err="1"/>
              <a:t>innovative</a:t>
            </a:r>
            <a:r>
              <a:rPr lang="ru-RU" sz="2000" dirty="0"/>
              <a:t> </a:t>
            </a:r>
            <a:r>
              <a:rPr lang="ru-RU" sz="2000" dirty="0" err="1"/>
              <a:t>offering</a:t>
            </a:r>
            <a:endParaRPr lang="ru-RU" sz="20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54ABFA-A701-48BC-98B5-40F81E5CD120}"/>
              </a:ext>
            </a:extLst>
          </p:cNvPr>
          <p:cNvSpPr/>
          <p:nvPr/>
        </p:nvSpPr>
        <p:spPr>
          <a:xfrm>
            <a:off x="362922" y="1365673"/>
            <a:ext cx="729948" cy="234528"/>
          </a:xfrm>
          <a:prstGeom prst="rect">
            <a:avLst/>
          </a:prstGeom>
        </p:spPr>
        <p:txBody>
          <a:bodyPr wrap="square" lIns="0" tIns="45720" rIns="0" bIns="0">
            <a:noAutofit/>
          </a:bodyPr>
          <a:lstStyle/>
          <a:p>
            <a:r>
              <a:rPr lang="en-US" sz="900" b="1" dirty="0">
                <a:latin typeface="+mj-lt"/>
              </a:rPr>
              <a:t>Consumer</a:t>
            </a:r>
            <a:endParaRPr lang="ru-RU" sz="900" b="1" dirty="0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A3F737E-5EC9-4D6C-9260-90D22A60C3EF}"/>
              </a:ext>
            </a:extLst>
          </p:cNvPr>
          <p:cNvSpPr/>
          <p:nvPr/>
        </p:nvSpPr>
        <p:spPr>
          <a:xfrm>
            <a:off x="1731717" y="1365673"/>
            <a:ext cx="729948" cy="234528"/>
          </a:xfrm>
          <a:prstGeom prst="rect">
            <a:avLst/>
          </a:prstGeom>
        </p:spPr>
        <p:txBody>
          <a:bodyPr wrap="square" lIns="0" tIns="45720" rIns="0" bIns="0">
            <a:noAutofit/>
          </a:bodyPr>
          <a:lstStyle/>
          <a:p>
            <a:r>
              <a:rPr lang="en-US" sz="900" b="1" dirty="0">
                <a:latin typeface="+mj-lt"/>
              </a:rPr>
              <a:t>Axis</a:t>
            </a:r>
            <a:endParaRPr lang="ru-RU" sz="900" b="1" dirty="0">
              <a:latin typeface="+mj-l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92EAF3A-C45B-4426-ABAC-A39A800000E1}"/>
              </a:ext>
            </a:extLst>
          </p:cNvPr>
          <p:cNvSpPr/>
          <p:nvPr/>
        </p:nvSpPr>
        <p:spPr>
          <a:xfrm>
            <a:off x="3612696" y="1365673"/>
            <a:ext cx="2117544" cy="189745"/>
          </a:xfrm>
          <a:prstGeom prst="rect">
            <a:avLst/>
          </a:prstGeom>
        </p:spPr>
        <p:txBody>
          <a:bodyPr wrap="square" lIns="0" tIns="45720" rIns="0" bIns="0">
            <a:noAutofit/>
          </a:bodyPr>
          <a:lstStyle/>
          <a:p>
            <a:r>
              <a:rPr lang="en-US" sz="900" b="1" dirty="0">
                <a:latin typeface="+mj-lt"/>
              </a:rPr>
              <a:t>Food innovation trends</a:t>
            </a:r>
            <a:r>
              <a:rPr lang="ru-RU" sz="900" b="1" dirty="0">
                <a:latin typeface="+mj-lt"/>
              </a:rPr>
              <a:t> </a:t>
            </a:r>
            <a:r>
              <a:rPr lang="en-US" sz="900" b="1" dirty="0">
                <a:latin typeface="+mj-lt"/>
              </a:rPr>
              <a:t>in 2023</a:t>
            </a:r>
            <a:endParaRPr lang="ru-RU" sz="900" b="1" dirty="0">
              <a:latin typeface="+mj-lt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9809924-5DDF-4E13-9194-2F19017BA59F}"/>
              </a:ext>
            </a:extLst>
          </p:cNvPr>
          <p:cNvCxnSpPr>
            <a:cxnSpLocks/>
          </p:cNvCxnSpPr>
          <p:nvPr/>
        </p:nvCxnSpPr>
        <p:spPr>
          <a:xfrm>
            <a:off x="357808" y="1630017"/>
            <a:ext cx="71561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C5BA28D-6F9D-4B9A-8EFB-320C368F2474}"/>
              </a:ext>
            </a:extLst>
          </p:cNvPr>
          <p:cNvCxnSpPr>
            <a:cxnSpLocks/>
          </p:cNvCxnSpPr>
          <p:nvPr/>
        </p:nvCxnSpPr>
        <p:spPr>
          <a:xfrm>
            <a:off x="1723085" y="1630017"/>
            <a:ext cx="155682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B0D0F4D-0CB2-4521-B4E4-E2C4290E04C8}"/>
              </a:ext>
            </a:extLst>
          </p:cNvPr>
          <p:cNvCxnSpPr>
            <a:cxnSpLocks/>
          </p:cNvCxnSpPr>
          <p:nvPr/>
        </p:nvCxnSpPr>
        <p:spPr>
          <a:xfrm>
            <a:off x="3610092" y="1630017"/>
            <a:ext cx="375844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6DEDB31-8CD7-456B-9F46-A1DD03035BA8}"/>
              </a:ext>
            </a:extLst>
          </p:cNvPr>
          <p:cNvGrpSpPr/>
          <p:nvPr/>
        </p:nvGrpSpPr>
        <p:grpSpPr>
          <a:xfrm>
            <a:off x="1723087" y="2971801"/>
            <a:ext cx="2929910" cy="2346960"/>
            <a:chOff x="1920559" y="3031434"/>
            <a:chExt cx="7044537" cy="243508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6624927-4EBD-4744-A849-D9377222FBF6}"/>
                </a:ext>
              </a:extLst>
            </p:cNvPr>
            <p:cNvCxnSpPr>
              <a:cxnSpLocks/>
            </p:cNvCxnSpPr>
            <p:nvPr/>
          </p:nvCxnSpPr>
          <p:spPr>
            <a:xfrm>
              <a:off x="1920559" y="3031434"/>
              <a:ext cx="7044537" cy="0"/>
            </a:xfrm>
            <a:prstGeom prst="line">
              <a:avLst/>
            </a:prstGeom>
            <a:ln w="1905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6FE8CD4-5B19-4C07-8346-EE66D2876C3D}"/>
                </a:ext>
              </a:extLst>
            </p:cNvPr>
            <p:cNvCxnSpPr>
              <a:cxnSpLocks/>
            </p:cNvCxnSpPr>
            <p:nvPr/>
          </p:nvCxnSpPr>
          <p:spPr>
            <a:xfrm>
              <a:off x="1920559" y="3935895"/>
              <a:ext cx="7044537" cy="0"/>
            </a:xfrm>
            <a:prstGeom prst="line">
              <a:avLst/>
            </a:prstGeom>
            <a:ln w="1905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DB4F879-19F0-4292-A4FC-392AC78DF2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0559" y="4850295"/>
              <a:ext cx="7044537" cy="0"/>
            </a:xfrm>
            <a:prstGeom prst="line">
              <a:avLst/>
            </a:prstGeom>
            <a:ln w="1905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6FD522D-9FEB-4728-8DAE-07FBA7055508}"/>
                </a:ext>
              </a:extLst>
            </p:cNvPr>
            <p:cNvCxnSpPr>
              <a:cxnSpLocks/>
            </p:cNvCxnSpPr>
            <p:nvPr/>
          </p:nvCxnSpPr>
          <p:spPr>
            <a:xfrm>
              <a:off x="1920559" y="5466521"/>
              <a:ext cx="7044537" cy="0"/>
            </a:xfrm>
            <a:prstGeom prst="line">
              <a:avLst/>
            </a:prstGeom>
            <a:ln w="1905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ADBEAC24-D286-4B14-8C62-219F7597395C}"/>
              </a:ext>
            </a:extLst>
          </p:cNvPr>
          <p:cNvSpPr/>
          <p:nvPr/>
        </p:nvSpPr>
        <p:spPr>
          <a:xfrm>
            <a:off x="3632653" y="1711217"/>
            <a:ext cx="996658" cy="446827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2300"/>
              </a:lnSpc>
            </a:pPr>
            <a:r>
              <a:rPr lang="de-DE" sz="800" dirty="0"/>
              <a:t>Variety </a:t>
            </a:r>
            <a:r>
              <a:rPr lang="de-DE" sz="800" dirty="0" err="1"/>
              <a:t>of</a:t>
            </a:r>
            <a:r>
              <a:rPr lang="de-DE" sz="800" dirty="0"/>
              <a:t> </a:t>
            </a:r>
            <a:r>
              <a:rPr lang="de-DE" sz="800" dirty="0" err="1"/>
              <a:t>senses</a:t>
            </a:r>
            <a:endParaRPr lang="de-DE" sz="800" dirty="0"/>
          </a:p>
          <a:p>
            <a:pPr>
              <a:lnSpc>
                <a:spcPts val="2300"/>
              </a:lnSpc>
            </a:pPr>
            <a:r>
              <a:rPr lang="de-DE" sz="800" dirty="0" err="1"/>
              <a:t>Sophistication</a:t>
            </a:r>
            <a:endParaRPr lang="de-DE" sz="800" dirty="0"/>
          </a:p>
          <a:p>
            <a:pPr>
              <a:lnSpc>
                <a:spcPts val="2300"/>
              </a:lnSpc>
            </a:pPr>
            <a:r>
              <a:rPr lang="de-DE" sz="800" dirty="0" err="1"/>
              <a:t>Exoticism</a:t>
            </a:r>
            <a:endParaRPr lang="de-DE" sz="800" dirty="0"/>
          </a:p>
          <a:p>
            <a:pPr>
              <a:lnSpc>
                <a:spcPts val="2300"/>
              </a:lnSpc>
            </a:pPr>
            <a:r>
              <a:rPr lang="de-DE" sz="800" dirty="0"/>
              <a:t>Fun</a:t>
            </a:r>
          </a:p>
          <a:p>
            <a:pPr>
              <a:lnSpc>
                <a:spcPts val="2300"/>
              </a:lnSpc>
            </a:pPr>
            <a:r>
              <a:rPr lang="de-DE" sz="800" dirty="0" err="1"/>
              <a:t>Vegelal</a:t>
            </a:r>
            <a:endParaRPr lang="de-DE" sz="800" dirty="0"/>
          </a:p>
          <a:p>
            <a:pPr>
              <a:lnSpc>
                <a:spcPts val="2300"/>
              </a:lnSpc>
            </a:pPr>
            <a:r>
              <a:rPr lang="de-DE" sz="800" dirty="0"/>
              <a:t>Natural</a:t>
            </a:r>
          </a:p>
          <a:p>
            <a:pPr>
              <a:lnSpc>
                <a:spcPts val="2300"/>
              </a:lnSpc>
            </a:pPr>
            <a:r>
              <a:rPr lang="de-DE" sz="800" dirty="0"/>
              <a:t>Medical</a:t>
            </a:r>
          </a:p>
          <a:p>
            <a:pPr>
              <a:lnSpc>
                <a:spcPts val="2300"/>
              </a:lnSpc>
            </a:pPr>
            <a:r>
              <a:rPr lang="de-DE" sz="800" dirty="0"/>
              <a:t>Energy, well-</a:t>
            </a:r>
            <a:r>
              <a:rPr lang="de-DE" sz="800" dirty="0" err="1"/>
              <a:t>being</a:t>
            </a:r>
            <a:endParaRPr lang="de-DE" sz="800" dirty="0"/>
          </a:p>
          <a:p>
            <a:pPr>
              <a:lnSpc>
                <a:spcPts val="2300"/>
              </a:lnSpc>
            </a:pPr>
            <a:r>
              <a:rPr lang="de-DE" sz="800" dirty="0" err="1"/>
              <a:t>Slimness</a:t>
            </a:r>
            <a:r>
              <a:rPr lang="de-DE" sz="800" dirty="0"/>
              <a:t>	</a:t>
            </a:r>
          </a:p>
          <a:p>
            <a:pPr>
              <a:lnSpc>
                <a:spcPts val="2300"/>
              </a:lnSpc>
            </a:pPr>
            <a:r>
              <a:rPr lang="de-DE" sz="800" dirty="0"/>
              <a:t>Cosmetic	</a:t>
            </a:r>
          </a:p>
          <a:p>
            <a:pPr>
              <a:lnSpc>
                <a:spcPts val="2300"/>
              </a:lnSpc>
            </a:pPr>
            <a:r>
              <a:rPr lang="de-DE" sz="800" dirty="0"/>
              <a:t>Ecology	</a:t>
            </a:r>
          </a:p>
          <a:p>
            <a:pPr>
              <a:lnSpc>
                <a:spcPts val="2300"/>
              </a:lnSpc>
            </a:pPr>
            <a:r>
              <a:rPr lang="de-DE" sz="800" dirty="0" err="1"/>
              <a:t>Solidarity</a:t>
            </a:r>
            <a:r>
              <a:rPr lang="de-DE" sz="800" dirty="0"/>
              <a:t>	</a:t>
            </a:r>
          </a:p>
          <a:p>
            <a:pPr>
              <a:lnSpc>
                <a:spcPts val="2300"/>
              </a:lnSpc>
            </a:pPr>
            <a:r>
              <a:rPr lang="de-DE" sz="800" dirty="0"/>
              <a:t>Easy </a:t>
            </a:r>
            <a:r>
              <a:rPr lang="de-DE" sz="800" dirty="0" err="1"/>
              <a:t>to</a:t>
            </a:r>
            <a:r>
              <a:rPr lang="de-DE" sz="800" dirty="0"/>
              <a:t> handle</a:t>
            </a:r>
          </a:p>
          <a:p>
            <a:pPr>
              <a:lnSpc>
                <a:spcPts val="2300"/>
              </a:lnSpc>
            </a:pPr>
            <a:r>
              <a:rPr lang="de-DE" sz="800" dirty="0"/>
              <a:t>Time </a:t>
            </a:r>
            <a:r>
              <a:rPr lang="de-DE" sz="800" dirty="0" err="1"/>
              <a:t>saving</a:t>
            </a:r>
            <a:endParaRPr lang="de-DE" sz="800" dirty="0"/>
          </a:p>
          <a:p>
            <a:pPr>
              <a:lnSpc>
                <a:spcPts val="2300"/>
              </a:lnSpc>
            </a:pPr>
            <a:r>
              <a:rPr lang="de-DE" sz="800" dirty="0" err="1"/>
              <a:t>Nomadism</a:t>
            </a:r>
            <a:r>
              <a:rPr lang="de-DE" sz="800" dirty="0"/>
              <a:t>	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A32D41-2409-4CC6-BACB-D4894E9C62C9}"/>
              </a:ext>
            </a:extLst>
          </p:cNvPr>
          <p:cNvSpPr/>
          <p:nvPr/>
        </p:nvSpPr>
        <p:spPr>
          <a:xfrm>
            <a:off x="3053843" y="1719231"/>
            <a:ext cx="584694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ru-RU" sz="900" b="1" dirty="0">
                <a:solidFill>
                  <a:srgbClr val="62B5E5"/>
                </a:solidFill>
                <a:latin typeface="+mj-lt"/>
              </a:rPr>
              <a:t>53.5</a:t>
            </a:r>
            <a:r>
              <a:rPr lang="en-US" sz="900" b="1" dirty="0">
                <a:solidFill>
                  <a:srgbClr val="62B5E5"/>
                </a:solidFill>
                <a:latin typeface="+mj-lt"/>
              </a:rPr>
              <a:t>%</a:t>
            </a:r>
            <a:r>
              <a:rPr lang="ru-RU" sz="900" b="1" dirty="0">
                <a:solidFill>
                  <a:srgbClr val="62B5E5"/>
                </a:solidFill>
                <a:latin typeface="+mj-lt"/>
              </a:rPr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FF69A8-2383-4FFE-8912-A1E121D854D4}"/>
              </a:ext>
            </a:extLst>
          </p:cNvPr>
          <p:cNvSpPr/>
          <p:nvPr/>
        </p:nvSpPr>
        <p:spPr bwMode="gray">
          <a:xfrm>
            <a:off x="3066679" y="1886202"/>
            <a:ext cx="182520" cy="1027385"/>
          </a:xfrm>
          <a:prstGeom prst="rect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049051-2342-4136-81E6-6F6ED677C328}"/>
              </a:ext>
            </a:extLst>
          </p:cNvPr>
          <p:cNvSpPr/>
          <p:nvPr/>
        </p:nvSpPr>
        <p:spPr bwMode="gray">
          <a:xfrm>
            <a:off x="3066679" y="3312965"/>
            <a:ext cx="182520" cy="464214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463341-8D46-4CF2-B1A5-E1F11A75FC2F}"/>
              </a:ext>
            </a:extLst>
          </p:cNvPr>
          <p:cNvSpPr/>
          <p:nvPr/>
        </p:nvSpPr>
        <p:spPr bwMode="gray">
          <a:xfrm>
            <a:off x="3066679" y="4258612"/>
            <a:ext cx="182520" cy="157028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CB9907-FC41-48F9-BA3F-E84FED2C0789}"/>
              </a:ext>
            </a:extLst>
          </p:cNvPr>
          <p:cNvSpPr/>
          <p:nvPr/>
        </p:nvSpPr>
        <p:spPr>
          <a:xfrm>
            <a:off x="3064113" y="3142254"/>
            <a:ext cx="584694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24</a:t>
            </a:r>
            <a:r>
              <a:rPr lang="ru-RU" sz="900" b="1" dirty="0">
                <a:latin typeface="+mj-lt"/>
              </a:rPr>
              <a:t>.</a:t>
            </a:r>
            <a:r>
              <a:rPr lang="en-US" sz="900" b="1" dirty="0">
                <a:latin typeface="+mj-lt"/>
              </a:rPr>
              <a:t>2%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5179B7-4ACA-445A-AA82-43619AC6A321}"/>
              </a:ext>
            </a:extLst>
          </p:cNvPr>
          <p:cNvSpPr/>
          <p:nvPr/>
        </p:nvSpPr>
        <p:spPr>
          <a:xfrm>
            <a:off x="3070680" y="4086820"/>
            <a:ext cx="33528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8</a:t>
            </a:r>
            <a:r>
              <a:rPr lang="ru-RU" sz="900" b="1" dirty="0">
                <a:latin typeface="+mj-lt"/>
              </a:rPr>
              <a:t>.</a:t>
            </a:r>
            <a:r>
              <a:rPr lang="en-US" sz="900" b="1" dirty="0">
                <a:latin typeface="+mj-lt"/>
              </a:rPr>
              <a:t>3%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10F089-1636-4234-AB49-9D1B42BBBB27}"/>
              </a:ext>
            </a:extLst>
          </p:cNvPr>
          <p:cNvSpPr/>
          <p:nvPr/>
        </p:nvSpPr>
        <p:spPr>
          <a:xfrm>
            <a:off x="1742076" y="2297410"/>
            <a:ext cx="729948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ru-RU" sz="900" b="1" dirty="0" err="1">
                <a:solidFill>
                  <a:srgbClr val="00A3E0"/>
                </a:solidFill>
                <a:latin typeface="+mj-lt"/>
              </a:rPr>
              <a:t>Pleasure</a:t>
            </a:r>
            <a:endParaRPr lang="ru-RU" sz="900" b="1" dirty="0">
              <a:solidFill>
                <a:srgbClr val="00A3E0"/>
              </a:solidFill>
              <a:latin typeface="+mj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32B7611-88F3-442C-B3E6-DC8936E8B88E}"/>
              </a:ext>
            </a:extLst>
          </p:cNvPr>
          <p:cNvSpPr/>
          <p:nvPr/>
        </p:nvSpPr>
        <p:spPr>
          <a:xfrm>
            <a:off x="1742076" y="3392624"/>
            <a:ext cx="729948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Health</a:t>
            </a:r>
            <a:endParaRPr lang="ru-RU" sz="900" b="1" dirty="0">
              <a:latin typeface="+mj-lt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DA30859-ED8C-41E2-B128-AA5F8A9C8BF3}"/>
              </a:ext>
            </a:extLst>
          </p:cNvPr>
          <p:cNvSpPr/>
          <p:nvPr/>
        </p:nvSpPr>
        <p:spPr>
          <a:xfrm>
            <a:off x="1742076" y="4224681"/>
            <a:ext cx="729948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Physical</a:t>
            </a:r>
            <a:endParaRPr lang="ru-RU" sz="900" b="1" dirty="0">
              <a:latin typeface="+mj-lt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F5B2F21E-5A3C-46EB-8FDD-60FA25F8A842}"/>
              </a:ext>
            </a:extLst>
          </p:cNvPr>
          <p:cNvSpPr/>
          <p:nvPr/>
        </p:nvSpPr>
        <p:spPr bwMode="gray">
          <a:xfrm>
            <a:off x="1248012" y="2376274"/>
            <a:ext cx="335280" cy="3357088"/>
          </a:xfrm>
          <a:custGeom>
            <a:avLst/>
            <a:gdLst>
              <a:gd name="connsiteX0" fmla="*/ 335280 w 335280"/>
              <a:gd name="connsiteY0" fmla="*/ 0 h 3497580"/>
              <a:gd name="connsiteX1" fmla="*/ 0 w 335280"/>
              <a:gd name="connsiteY1" fmla="*/ 0 h 3497580"/>
              <a:gd name="connsiteX2" fmla="*/ 0 w 335280"/>
              <a:gd name="connsiteY2" fmla="*/ 3497580 h 3497580"/>
              <a:gd name="connsiteX3" fmla="*/ 335280 w 335280"/>
              <a:gd name="connsiteY3" fmla="*/ 3497580 h 349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280" h="3497580">
                <a:moveTo>
                  <a:pt x="335280" y="0"/>
                </a:moveTo>
                <a:lnTo>
                  <a:pt x="0" y="0"/>
                </a:lnTo>
                <a:lnTo>
                  <a:pt x="0" y="3497580"/>
                </a:lnTo>
                <a:lnTo>
                  <a:pt x="335280" y="3497580"/>
                </a:lnTo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rtlCol="0" anchor="ctr"/>
          <a:lstStyle/>
          <a:p>
            <a:pPr algn="ctr"/>
            <a:endParaRPr lang="ru-RU" sz="90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73E8998-2BC7-4581-A8F3-9CF20F513D59}"/>
              </a:ext>
            </a:extLst>
          </p:cNvPr>
          <p:cNvCxnSpPr>
            <a:cxnSpLocks/>
          </p:cNvCxnSpPr>
          <p:nvPr/>
        </p:nvCxnSpPr>
        <p:spPr>
          <a:xfrm>
            <a:off x="1246469" y="3455595"/>
            <a:ext cx="335268" cy="0"/>
          </a:xfrm>
          <a:prstGeom prst="line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719011B-57AD-4098-B12F-07458E317AAC}"/>
              </a:ext>
            </a:extLst>
          </p:cNvPr>
          <p:cNvCxnSpPr>
            <a:cxnSpLocks/>
          </p:cNvCxnSpPr>
          <p:nvPr/>
        </p:nvCxnSpPr>
        <p:spPr>
          <a:xfrm>
            <a:off x="1246469" y="4292810"/>
            <a:ext cx="335268" cy="0"/>
          </a:xfrm>
          <a:prstGeom prst="line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47E2937-D822-4215-AF55-AAACDF662E1A}"/>
              </a:ext>
            </a:extLst>
          </p:cNvPr>
          <p:cNvCxnSpPr>
            <a:cxnSpLocks/>
          </p:cNvCxnSpPr>
          <p:nvPr/>
        </p:nvCxnSpPr>
        <p:spPr>
          <a:xfrm>
            <a:off x="1246469" y="5042674"/>
            <a:ext cx="335268" cy="0"/>
          </a:xfrm>
          <a:prstGeom prst="line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4810F9C-CD33-4FB8-A874-3BB7CB8EAC74}"/>
              </a:ext>
            </a:extLst>
          </p:cNvPr>
          <p:cNvCxnSpPr>
            <a:cxnSpLocks/>
          </p:cNvCxnSpPr>
          <p:nvPr/>
        </p:nvCxnSpPr>
        <p:spPr>
          <a:xfrm>
            <a:off x="911201" y="3942960"/>
            <a:ext cx="335268" cy="0"/>
          </a:xfrm>
          <a:prstGeom prst="line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</p:cxn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3C26F7FA-2F58-4E56-B5F9-CEEE1F4BBB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3926396"/>
              </p:ext>
            </p:extLst>
          </p:nvPr>
        </p:nvGraphicFramePr>
        <p:xfrm>
          <a:off x="4528468" y="1620078"/>
          <a:ext cx="3604296" cy="4676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672BF4F-BAD2-4753-B6A8-CBF548CC13EC}"/>
              </a:ext>
            </a:extLst>
          </p:cNvPr>
          <p:cNvCxnSpPr>
            <a:cxnSpLocks/>
          </p:cNvCxnSpPr>
          <p:nvPr/>
        </p:nvCxnSpPr>
        <p:spPr>
          <a:xfrm>
            <a:off x="4697027" y="1763176"/>
            <a:ext cx="0" cy="4416971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A902414-A305-4281-AE76-9791CD4E4DE5}"/>
              </a:ext>
            </a:extLst>
          </p:cNvPr>
          <p:cNvGrpSpPr/>
          <p:nvPr/>
        </p:nvGrpSpPr>
        <p:grpSpPr>
          <a:xfrm>
            <a:off x="533895" y="3787888"/>
            <a:ext cx="285620" cy="340836"/>
            <a:chOff x="-2683386" y="1977692"/>
            <a:chExt cx="3038475" cy="3777615"/>
          </a:xfrm>
          <a:noFill/>
        </p:grpSpPr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33C70DAA-31D0-4A67-9545-2E56EAD1E04F}"/>
                </a:ext>
              </a:extLst>
            </p:cNvPr>
            <p:cNvSpPr/>
            <p:nvPr/>
          </p:nvSpPr>
          <p:spPr>
            <a:xfrm>
              <a:off x="-2073786" y="1977692"/>
              <a:ext cx="1828800" cy="1828800"/>
            </a:xfrm>
            <a:custGeom>
              <a:avLst/>
              <a:gdLst>
                <a:gd name="connsiteX0" fmla="*/ 1645920 w 1828800"/>
                <a:gd name="connsiteY0" fmla="*/ 914400 h 1828800"/>
                <a:gd name="connsiteX1" fmla="*/ 914400 w 1828800"/>
                <a:gd name="connsiteY1" fmla="*/ 1645920 h 1828800"/>
                <a:gd name="connsiteX2" fmla="*/ 182880 w 1828800"/>
                <a:gd name="connsiteY2" fmla="*/ 914400 h 1828800"/>
                <a:gd name="connsiteX3" fmla="*/ 914400 w 1828800"/>
                <a:gd name="connsiteY3" fmla="*/ 182880 h 1828800"/>
                <a:gd name="connsiteX4" fmla="*/ 1645920 w 1828800"/>
                <a:gd name="connsiteY4" fmla="*/ 91440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8800" h="1828800">
                  <a:moveTo>
                    <a:pt x="1645920" y="914400"/>
                  </a:moveTo>
                  <a:cubicBezTo>
                    <a:pt x="1645920" y="1318407"/>
                    <a:pt x="1318407" y="1645920"/>
                    <a:pt x="914400" y="1645920"/>
                  </a:cubicBezTo>
                  <a:cubicBezTo>
                    <a:pt x="510393" y="1645920"/>
                    <a:pt x="182880" y="1318407"/>
                    <a:pt x="182880" y="914400"/>
                  </a:cubicBezTo>
                  <a:cubicBezTo>
                    <a:pt x="182880" y="510393"/>
                    <a:pt x="510393" y="182880"/>
                    <a:pt x="914400" y="182880"/>
                  </a:cubicBezTo>
                  <a:cubicBezTo>
                    <a:pt x="1318407" y="182880"/>
                    <a:pt x="1645920" y="510393"/>
                    <a:pt x="1645920" y="914400"/>
                  </a:cubicBezTo>
                  <a:close/>
                </a:path>
              </a:pathLst>
            </a:custGeom>
            <a:grpFill/>
            <a:ln w="19050" cap="rnd">
              <a:solidFill>
                <a:srgbClr val="00A3E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44B3E127-7F74-48AA-AE5C-AE8DC7F33E30}"/>
                </a:ext>
              </a:extLst>
            </p:cNvPr>
            <p:cNvSpPr/>
            <p:nvPr/>
          </p:nvSpPr>
          <p:spPr>
            <a:xfrm>
              <a:off x="-2683386" y="3440732"/>
              <a:ext cx="3038475" cy="2314575"/>
            </a:xfrm>
            <a:custGeom>
              <a:avLst/>
              <a:gdLst>
                <a:gd name="connsiteX0" fmla="*/ 2865120 w 3038475"/>
                <a:gd name="connsiteY0" fmla="*/ 2133600 h 2314575"/>
                <a:gd name="connsiteX1" fmla="*/ 2865120 w 3038475"/>
                <a:gd name="connsiteY1" fmla="*/ 1645920 h 2314575"/>
                <a:gd name="connsiteX2" fmla="*/ 1524000 w 3038475"/>
                <a:gd name="connsiteY2" fmla="*/ 182880 h 2314575"/>
                <a:gd name="connsiteX3" fmla="*/ 182880 w 3038475"/>
                <a:gd name="connsiteY3" fmla="*/ 1645920 h 2314575"/>
                <a:gd name="connsiteX4" fmla="*/ 182880 w 3038475"/>
                <a:gd name="connsiteY4" fmla="*/ 2133600 h 2314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8475" h="2314575">
                  <a:moveTo>
                    <a:pt x="2865120" y="2133600"/>
                  </a:moveTo>
                  <a:lnTo>
                    <a:pt x="2865120" y="1645920"/>
                  </a:lnTo>
                  <a:cubicBezTo>
                    <a:pt x="2865120" y="890492"/>
                    <a:pt x="2256758" y="182880"/>
                    <a:pt x="1524000" y="182880"/>
                  </a:cubicBezTo>
                  <a:cubicBezTo>
                    <a:pt x="791242" y="182880"/>
                    <a:pt x="182880" y="890492"/>
                    <a:pt x="182880" y="1645920"/>
                  </a:cubicBezTo>
                  <a:lnTo>
                    <a:pt x="182880" y="2133600"/>
                  </a:lnTo>
                </a:path>
              </a:pathLst>
            </a:custGeom>
            <a:grpFill/>
            <a:ln w="19050" cap="rnd">
              <a:solidFill>
                <a:srgbClr val="00A3E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36" name="Isosceles Triangle 135">
            <a:extLst>
              <a:ext uri="{FF2B5EF4-FFF2-40B4-BE49-F238E27FC236}">
                <a16:creationId xmlns:a16="http://schemas.microsoft.com/office/drawing/2014/main" id="{8B0A5A02-C8D9-4CF7-9DA7-964AB986927C}"/>
              </a:ext>
            </a:extLst>
          </p:cNvPr>
          <p:cNvSpPr/>
          <p:nvPr/>
        </p:nvSpPr>
        <p:spPr bwMode="gray">
          <a:xfrm>
            <a:off x="8866121" y="1918587"/>
            <a:ext cx="123110" cy="74043"/>
          </a:xfrm>
          <a:prstGeom prst="triangle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38" name="Isosceles Triangle 137">
            <a:extLst>
              <a:ext uri="{FF2B5EF4-FFF2-40B4-BE49-F238E27FC236}">
                <a16:creationId xmlns:a16="http://schemas.microsoft.com/office/drawing/2014/main" id="{B1574F7E-D7DE-4FE8-9710-C790141B0714}"/>
              </a:ext>
            </a:extLst>
          </p:cNvPr>
          <p:cNvSpPr/>
          <p:nvPr/>
        </p:nvSpPr>
        <p:spPr bwMode="gray">
          <a:xfrm>
            <a:off x="8866121" y="2183970"/>
            <a:ext cx="123110" cy="74043"/>
          </a:xfrm>
          <a:prstGeom prst="triangle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40" name="Isosceles Triangle 139">
            <a:extLst>
              <a:ext uri="{FF2B5EF4-FFF2-40B4-BE49-F238E27FC236}">
                <a16:creationId xmlns:a16="http://schemas.microsoft.com/office/drawing/2014/main" id="{2EAA0F2F-CB8C-4D46-9918-985A60153D28}"/>
              </a:ext>
            </a:extLst>
          </p:cNvPr>
          <p:cNvSpPr/>
          <p:nvPr/>
        </p:nvSpPr>
        <p:spPr bwMode="gray">
          <a:xfrm flipV="1">
            <a:off x="8866121" y="3079222"/>
            <a:ext cx="123110" cy="74043"/>
          </a:xfrm>
          <a:prstGeom prst="triangle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42" name="Isosceles Triangle 141">
            <a:extLst>
              <a:ext uri="{FF2B5EF4-FFF2-40B4-BE49-F238E27FC236}">
                <a16:creationId xmlns:a16="http://schemas.microsoft.com/office/drawing/2014/main" id="{FEE76D81-C6F4-4828-9875-88555FB212CD}"/>
              </a:ext>
            </a:extLst>
          </p:cNvPr>
          <p:cNvSpPr/>
          <p:nvPr/>
        </p:nvSpPr>
        <p:spPr bwMode="gray">
          <a:xfrm flipV="1">
            <a:off x="8866121" y="3373977"/>
            <a:ext cx="123110" cy="74043"/>
          </a:xfrm>
          <a:prstGeom prst="triangle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46" name="Isosceles Triangle 145">
            <a:extLst>
              <a:ext uri="{FF2B5EF4-FFF2-40B4-BE49-F238E27FC236}">
                <a16:creationId xmlns:a16="http://schemas.microsoft.com/office/drawing/2014/main" id="{E0CED7D3-DEDD-4786-86BD-AF69537C758C}"/>
              </a:ext>
            </a:extLst>
          </p:cNvPr>
          <p:cNvSpPr/>
          <p:nvPr/>
        </p:nvSpPr>
        <p:spPr bwMode="gray">
          <a:xfrm flipV="1">
            <a:off x="8866121" y="3682515"/>
            <a:ext cx="123110" cy="74043"/>
          </a:xfrm>
          <a:prstGeom prst="triangle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48" name="Isosceles Triangle 147">
            <a:extLst>
              <a:ext uri="{FF2B5EF4-FFF2-40B4-BE49-F238E27FC236}">
                <a16:creationId xmlns:a16="http://schemas.microsoft.com/office/drawing/2014/main" id="{D891AF23-C8D6-4093-8CE5-2C470084CC3F}"/>
              </a:ext>
            </a:extLst>
          </p:cNvPr>
          <p:cNvSpPr/>
          <p:nvPr/>
        </p:nvSpPr>
        <p:spPr bwMode="gray">
          <a:xfrm>
            <a:off x="8866121" y="2763611"/>
            <a:ext cx="123110" cy="74043"/>
          </a:xfrm>
          <a:prstGeom prst="triangle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50" name="Isosceles Triangle 149">
            <a:extLst>
              <a:ext uri="{FF2B5EF4-FFF2-40B4-BE49-F238E27FC236}">
                <a16:creationId xmlns:a16="http://schemas.microsoft.com/office/drawing/2014/main" id="{4D5F1D32-5E1E-4C93-B0F8-5386C4F4A373}"/>
              </a:ext>
            </a:extLst>
          </p:cNvPr>
          <p:cNvSpPr/>
          <p:nvPr/>
        </p:nvSpPr>
        <p:spPr bwMode="gray">
          <a:xfrm>
            <a:off x="8866121" y="2489455"/>
            <a:ext cx="123110" cy="74043"/>
          </a:xfrm>
          <a:prstGeom prst="triangle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52" name="Isosceles Triangle 151">
            <a:extLst>
              <a:ext uri="{FF2B5EF4-FFF2-40B4-BE49-F238E27FC236}">
                <a16:creationId xmlns:a16="http://schemas.microsoft.com/office/drawing/2014/main" id="{0AA56989-B735-446F-AFB0-A4596E9F0B1A}"/>
              </a:ext>
            </a:extLst>
          </p:cNvPr>
          <p:cNvSpPr/>
          <p:nvPr/>
        </p:nvSpPr>
        <p:spPr bwMode="gray">
          <a:xfrm>
            <a:off x="8866121" y="3986056"/>
            <a:ext cx="123110" cy="74043"/>
          </a:xfrm>
          <a:prstGeom prst="triangle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54" name="Isosceles Triangle 153">
            <a:extLst>
              <a:ext uri="{FF2B5EF4-FFF2-40B4-BE49-F238E27FC236}">
                <a16:creationId xmlns:a16="http://schemas.microsoft.com/office/drawing/2014/main" id="{ECD9A258-19F8-49C2-BD9A-B7D602F44A05}"/>
              </a:ext>
            </a:extLst>
          </p:cNvPr>
          <p:cNvSpPr/>
          <p:nvPr/>
        </p:nvSpPr>
        <p:spPr bwMode="gray">
          <a:xfrm flipV="1">
            <a:off x="8866121" y="4251439"/>
            <a:ext cx="123110" cy="74043"/>
          </a:xfrm>
          <a:prstGeom prst="triangle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56" name="Isosceles Triangle 155">
            <a:extLst>
              <a:ext uri="{FF2B5EF4-FFF2-40B4-BE49-F238E27FC236}">
                <a16:creationId xmlns:a16="http://schemas.microsoft.com/office/drawing/2014/main" id="{F707031A-6F54-4DBB-AD18-D3B34B10B399}"/>
              </a:ext>
            </a:extLst>
          </p:cNvPr>
          <p:cNvSpPr/>
          <p:nvPr/>
        </p:nvSpPr>
        <p:spPr bwMode="gray">
          <a:xfrm>
            <a:off x="8866121" y="4535946"/>
            <a:ext cx="123110" cy="74043"/>
          </a:xfrm>
          <a:prstGeom prst="triangle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58" name="Isosceles Triangle 157">
            <a:extLst>
              <a:ext uri="{FF2B5EF4-FFF2-40B4-BE49-F238E27FC236}">
                <a16:creationId xmlns:a16="http://schemas.microsoft.com/office/drawing/2014/main" id="{F3037ECD-5412-47D4-8C56-FB8FF0126962}"/>
              </a:ext>
            </a:extLst>
          </p:cNvPr>
          <p:cNvSpPr/>
          <p:nvPr/>
        </p:nvSpPr>
        <p:spPr bwMode="gray">
          <a:xfrm flipV="1">
            <a:off x="8866121" y="4817429"/>
            <a:ext cx="123110" cy="74043"/>
          </a:xfrm>
          <a:prstGeom prst="triangle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60" name="Isosceles Triangle 159">
            <a:extLst>
              <a:ext uri="{FF2B5EF4-FFF2-40B4-BE49-F238E27FC236}">
                <a16:creationId xmlns:a16="http://schemas.microsoft.com/office/drawing/2014/main" id="{2D583A2E-8725-436D-BA1F-37B33447E7B2}"/>
              </a:ext>
            </a:extLst>
          </p:cNvPr>
          <p:cNvSpPr/>
          <p:nvPr/>
        </p:nvSpPr>
        <p:spPr bwMode="gray">
          <a:xfrm>
            <a:off x="8866121" y="5129934"/>
            <a:ext cx="123110" cy="74043"/>
          </a:xfrm>
          <a:prstGeom prst="triangle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63" name="Isosceles Triangle 162">
            <a:extLst>
              <a:ext uri="{FF2B5EF4-FFF2-40B4-BE49-F238E27FC236}">
                <a16:creationId xmlns:a16="http://schemas.microsoft.com/office/drawing/2014/main" id="{1115A74B-D4AC-4F64-8186-27FB39983E7C}"/>
              </a:ext>
            </a:extLst>
          </p:cNvPr>
          <p:cNvSpPr/>
          <p:nvPr/>
        </p:nvSpPr>
        <p:spPr bwMode="gray">
          <a:xfrm>
            <a:off x="8866121" y="5405695"/>
            <a:ext cx="123110" cy="74043"/>
          </a:xfrm>
          <a:prstGeom prst="triangle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65" name="Isosceles Triangle 164">
            <a:extLst>
              <a:ext uri="{FF2B5EF4-FFF2-40B4-BE49-F238E27FC236}">
                <a16:creationId xmlns:a16="http://schemas.microsoft.com/office/drawing/2014/main" id="{95ECC341-D224-4586-92B6-770ECA5F44BF}"/>
              </a:ext>
            </a:extLst>
          </p:cNvPr>
          <p:cNvSpPr/>
          <p:nvPr/>
        </p:nvSpPr>
        <p:spPr bwMode="gray">
          <a:xfrm>
            <a:off x="8866121" y="5721253"/>
            <a:ext cx="123110" cy="74043"/>
          </a:xfrm>
          <a:prstGeom prst="triangle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67" name="Isosceles Triangle 166">
            <a:extLst>
              <a:ext uri="{FF2B5EF4-FFF2-40B4-BE49-F238E27FC236}">
                <a16:creationId xmlns:a16="http://schemas.microsoft.com/office/drawing/2014/main" id="{A4970DBA-E8EC-49A9-9091-CF31BB2A8973}"/>
              </a:ext>
            </a:extLst>
          </p:cNvPr>
          <p:cNvSpPr/>
          <p:nvPr/>
        </p:nvSpPr>
        <p:spPr bwMode="gray">
          <a:xfrm>
            <a:off x="8866121" y="6002663"/>
            <a:ext cx="123110" cy="74043"/>
          </a:xfrm>
          <a:prstGeom prst="triangle">
            <a:avLst/>
          </a:prstGeom>
          <a:solidFill>
            <a:srgbClr val="62B5E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F3AC9E4-C467-422A-B579-9CC46BD7D6AE}"/>
              </a:ext>
            </a:extLst>
          </p:cNvPr>
          <p:cNvGrpSpPr/>
          <p:nvPr/>
        </p:nvGrpSpPr>
        <p:grpSpPr>
          <a:xfrm>
            <a:off x="8406560" y="1885461"/>
            <a:ext cx="405572" cy="4222575"/>
            <a:chOff x="8163243" y="1885461"/>
            <a:chExt cx="405572" cy="4222575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18566A1E-8BF4-497D-A357-0CB6B8BFF3CD}"/>
                </a:ext>
              </a:extLst>
            </p:cNvPr>
            <p:cNvSpPr/>
            <p:nvPr/>
          </p:nvSpPr>
          <p:spPr>
            <a:xfrm>
              <a:off x="8163243" y="1885461"/>
              <a:ext cx="405572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ru-RU" sz="900" dirty="0">
                  <a:solidFill>
                    <a:srgbClr val="222222"/>
                  </a:solidFill>
                </a:rPr>
                <a:t>9.3</a:t>
              </a:r>
              <a:r>
                <a:rPr lang="en-US" sz="900" dirty="0">
                  <a:solidFill>
                    <a:srgbClr val="222222"/>
                  </a:solidFill>
                </a:rPr>
                <a:t>%</a:t>
              </a:r>
              <a:endParaRPr lang="ru-RU" sz="900" dirty="0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76D4339E-4DEB-43EE-B9BF-2766D5736776}"/>
                </a:ext>
              </a:extLst>
            </p:cNvPr>
            <p:cNvSpPr/>
            <p:nvPr/>
          </p:nvSpPr>
          <p:spPr>
            <a:xfrm>
              <a:off x="8219099" y="2150844"/>
              <a:ext cx="349715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>
                  <a:solidFill>
                    <a:srgbClr val="222222"/>
                  </a:solidFill>
                </a:rPr>
                <a:t>6</a:t>
              </a:r>
              <a:r>
                <a:rPr lang="ru-RU" sz="900" dirty="0">
                  <a:solidFill>
                    <a:srgbClr val="222222"/>
                  </a:solidFill>
                </a:rPr>
                <a:t>.</a:t>
              </a:r>
              <a:r>
                <a:rPr lang="en-US" sz="900" dirty="0">
                  <a:solidFill>
                    <a:srgbClr val="222222"/>
                  </a:solidFill>
                </a:rPr>
                <a:t>6%</a:t>
              </a:r>
              <a:endParaRPr lang="ru-RU" sz="900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91D08497-CE80-407C-8947-FB1E88CA86C8}"/>
                </a:ext>
              </a:extLst>
            </p:cNvPr>
            <p:cNvSpPr/>
            <p:nvPr/>
          </p:nvSpPr>
          <p:spPr>
            <a:xfrm>
              <a:off x="8185549" y="3046096"/>
              <a:ext cx="383266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>
                  <a:solidFill>
                    <a:srgbClr val="222222"/>
                  </a:solidFill>
                </a:rPr>
                <a:t>(16</a:t>
              </a:r>
              <a:r>
                <a:rPr lang="ru-RU" sz="900" dirty="0">
                  <a:solidFill>
                    <a:srgbClr val="222222"/>
                  </a:solidFill>
                </a:rPr>
                <a:t>.</a:t>
              </a:r>
              <a:r>
                <a:rPr lang="en-US" sz="900" dirty="0">
                  <a:solidFill>
                    <a:srgbClr val="222222"/>
                  </a:solidFill>
                </a:rPr>
                <a:t>2%)</a:t>
              </a:r>
              <a:endParaRPr lang="ru-RU" sz="900" dirty="0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3BA0AF65-BAB2-4928-B39C-7FA5F28D6E63}"/>
                </a:ext>
              </a:extLst>
            </p:cNvPr>
            <p:cNvSpPr/>
            <p:nvPr/>
          </p:nvSpPr>
          <p:spPr>
            <a:xfrm>
              <a:off x="8190917" y="3340851"/>
              <a:ext cx="377898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>
                  <a:solidFill>
                    <a:srgbClr val="222222"/>
                  </a:solidFill>
                </a:rPr>
                <a:t>(15</a:t>
              </a:r>
              <a:r>
                <a:rPr lang="ru-RU" sz="900" dirty="0">
                  <a:solidFill>
                    <a:srgbClr val="222222"/>
                  </a:solidFill>
                </a:rPr>
                <a:t>.</a:t>
              </a:r>
              <a:r>
                <a:rPr lang="en-US" sz="900" dirty="0">
                  <a:solidFill>
                    <a:srgbClr val="222222"/>
                  </a:solidFill>
                </a:rPr>
                <a:t>3%)</a:t>
              </a:r>
              <a:endParaRPr lang="ru-RU" sz="900" dirty="0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3CB6EE0F-17A8-4C7B-AC18-C752073DFB74}"/>
                </a:ext>
              </a:extLst>
            </p:cNvPr>
            <p:cNvSpPr/>
            <p:nvPr/>
          </p:nvSpPr>
          <p:spPr>
            <a:xfrm>
              <a:off x="8219099" y="2730485"/>
              <a:ext cx="349716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>
                  <a:solidFill>
                    <a:srgbClr val="222222"/>
                  </a:solidFill>
                </a:rPr>
                <a:t>20</a:t>
              </a:r>
              <a:r>
                <a:rPr lang="ru-RU" sz="900" dirty="0">
                  <a:solidFill>
                    <a:srgbClr val="222222"/>
                  </a:solidFill>
                </a:rPr>
                <a:t>.</a:t>
              </a:r>
              <a:r>
                <a:rPr lang="en-US" sz="900" dirty="0">
                  <a:solidFill>
                    <a:srgbClr val="222222"/>
                  </a:solidFill>
                </a:rPr>
                <a:t>7%</a:t>
              </a:r>
              <a:endParaRPr lang="ru-RU" sz="900" dirty="0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E0FF4918-F9A0-4E1D-8CC9-2380F9F6D5C6}"/>
                </a:ext>
              </a:extLst>
            </p:cNvPr>
            <p:cNvSpPr/>
            <p:nvPr/>
          </p:nvSpPr>
          <p:spPr>
            <a:xfrm>
              <a:off x="8248621" y="2456329"/>
              <a:ext cx="320193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>
                  <a:solidFill>
                    <a:srgbClr val="222222"/>
                  </a:solidFill>
                </a:rPr>
                <a:t>15</a:t>
              </a:r>
              <a:r>
                <a:rPr lang="ru-RU" sz="900" dirty="0">
                  <a:solidFill>
                    <a:srgbClr val="222222"/>
                  </a:solidFill>
                </a:rPr>
                <a:t>.</a:t>
              </a:r>
              <a:r>
                <a:rPr lang="en-US" sz="900" dirty="0">
                  <a:solidFill>
                    <a:srgbClr val="222222"/>
                  </a:solidFill>
                </a:rPr>
                <a:t>6%</a:t>
              </a:r>
              <a:endParaRPr lang="ru-RU" sz="900" dirty="0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83C39309-5E36-46FE-9D0A-511E0E5737EE}"/>
                </a:ext>
              </a:extLst>
            </p:cNvPr>
            <p:cNvSpPr/>
            <p:nvPr/>
          </p:nvSpPr>
          <p:spPr>
            <a:xfrm>
              <a:off x="8163243" y="3649389"/>
              <a:ext cx="405571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>
                  <a:solidFill>
                    <a:srgbClr val="222222"/>
                  </a:solidFill>
                </a:rPr>
                <a:t>(25</a:t>
              </a:r>
              <a:r>
                <a:rPr lang="ru-RU" sz="900" dirty="0">
                  <a:solidFill>
                    <a:srgbClr val="222222"/>
                  </a:solidFill>
                </a:rPr>
                <a:t>.</a:t>
              </a:r>
              <a:r>
                <a:rPr lang="en-US" sz="900" dirty="0">
                  <a:solidFill>
                    <a:srgbClr val="222222"/>
                  </a:solidFill>
                </a:rPr>
                <a:t>6%)</a:t>
              </a:r>
              <a:endParaRPr lang="ru-RU" sz="900" dirty="0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4BCC640B-F19B-4BCE-90DF-F31BEF1C299C}"/>
                </a:ext>
              </a:extLst>
            </p:cNvPr>
            <p:cNvSpPr/>
            <p:nvPr/>
          </p:nvSpPr>
          <p:spPr>
            <a:xfrm>
              <a:off x="8163244" y="3952930"/>
              <a:ext cx="405570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28</a:t>
              </a:r>
              <a:r>
                <a:rPr lang="ru-RU" sz="900" dirty="0"/>
                <a:t>.</a:t>
              </a:r>
              <a:r>
                <a:rPr lang="en-US" sz="900" dirty="0"/>
                <a:t>9%</a:t>
              </a:r>
              <a:endParaRPr lang="ru-RU" sz="900" dirty="0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9994AC43-4078-4B89-A174-BDFE0EF55D51}"/>
                </a:ext>
              </a:extLst>
            </p:cNvPr>
            <p:cNvSpPr/>
            <p:nvPr/>
          </p:nvSpPr>
          <p:spPr>
            <a:xfrm>
              <a:off x="8163244" y="4218313"/>
              <a:ext cx="405570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(14</a:t>
              </a:r>
              <a:r>
                <a:rPr lang="ru-RU" sz="900" dirty="0"/>
                <a:t>.</a:t>
              </a:r>
              <a:r>
                <a:rPr lang="en-US" sz="900" dirty="0"/>
                <a:t>3%)</a:t>
              </a:r>
              <a:endParaRPr lang="ru-RU" sz="900" dirty="0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585F7B3D-F02E-458D-B348-FA6852A5691B}"/>
                </a:ext>
              </a:extLst>
            </p:cNvPr>
            <p:cNvSpPr/>
            <p:nvPr/>
          </p:nvSpPr>
          <p:spPr>
            <a:xfrm>
              <a:off x="8163244" y="4502820"/>
              <a:ext cx="405570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100%</a:t>
              </a:r>
              <a:endParaRPr lang="ru-RU" sz="900" dirty="0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91377E5-8587-4796-86B6-7ED1997FEBCB}"/>
                </a:ext>
              </a:extLst>
            </p:cNvPr>
            <p:cNvSpPr/>
            <p:nvPr/>
          </p:nvSpPr>
          <p:spPr>
            <a:xfrm>
              <a:off x="8163244" y="4784303"/>
              <a:ext cx="405570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(18</a:t>
              </a:r>
              <a:r>
                <a:rPr lang="ru-RU" sz="900" dirty="0"/>
                <a:t>.</a:t>
              </a:r>
              <a:r>
                <a:rPr lang="en-US" sz="900" dirty="0"/>
                <a:t>6%)</a:t>
              </a:r>
              <a:endParaRPr lang="ru-RU" sz="900" dirty="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AFCB0782-277D-4385-A6E4-6F1D4FB30AE9}"/>
                </a:ext>
              </a:extLst>
            </p:cNvPr>
            <p:cNvSpPr/>
            <p:nvPr/>
          </p:nvSpPr>
          <p:spPr>
            <a:xfrm>
              <a:off x="8235276" y="5096808"/>
              <a:ext cx="333538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8</a:t>
              </a:r>
              <a:r>
                <a:rPr lang="ru-RU" sz="900" dirty="0"/>
                <a:t>.</a:t>
              </a:r>
              <a:r>
                <a:rPr lang="en-US" sz="900" dirty="0"/>
                <a:t>3%</a:t>
              </a:r>
              <a:endParaRPr lang="ru-RU" sz="900" dirty="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4785D5E6-5818-42E4-82BC-1B59BDBFE732}"/>
                </a:ext>
              </a:extLst>
            </p:cNvPr>
            <p:cNvSpPr/>
            <p:nvPr/>
          </p:nvSpPr>
          <p:spPr>
            <a:xfrm>
              <a:off x="8163244" y="5372569"/>
              <a:ext cx="405570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14</a:t>
              </a:r>
              <a:r>
                <a:rPr lang="ru-RU" sz="900" dirty="0"/>
                <a:t>.</a:t>
              </a:r>
              <a:r>
                <a:rPr lang="en-US" sz="900" dirty="0"/>
                <a:t>6%</a:t>
              </a:r>
              <a:endParaRPr lang="ru-RU" sz="900" dirty="0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FB02E3B0-FA49-41EA-8B93-BC900E653534}"/>
                </a:ext>
              </a:extLst>
            </p:cNvPr>
            <p:cNvSpPr/>
            <p:nvPr/>
          </p:nvSpPr>
          <p:spPr>
            <a:xfrm>
              <a:off x="8235276" y="5688128"/>
              <a:ext cx="333537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38</a:t>
              </a:r>
              <a:r>
                <a:rPr lang="ru-RU" sz="900" dirty="0"/>
                <a:t>.</a:t>
              </a:r>
              <a:r>
                <a:rPr lang="en-US" sz="900" dirty="0"/>
                <a:t>5%</a:t>
              </a:r>
              <a:endParaRPr lang="ru-RU" sz="900" dirty="0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024521EA-5D0B-406F-81FC-1BC482F71E93}"/>
                </a:ext>
              </a:extLst>
            </p:cNvPr>
            <p:cNvSpPr/>
            <p:nvPr/>
          </p:nvSpPr>
          <p:spPr>
            <a:xfrm>
              <a:off x="8298348" y="5969537"/>
              <a:ext cx="270466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25%</a:t>
              </a:r>
              <a:endParaRPr lang="ru-RU" sz="900" dirty="0"/>
            </a:p>
          </p:txBody>
        </p:sp>
      </p:grpSp>
      <p:sp>
        <p:nvSpPr>
          <p:cNvPr id="107" name="Rectangle 106">
            <a:hlinkClick r:id="rId4"/>
            <a:extLst>
              <a:ext uri="{FF2B5EF4-FFF2-40B4-BE49-F238E27FC236}">
                <a16:creationId xmlns:a16="http://schemas.microsoft.com/office/drawing/2014/main" id="{9549448B-597F-4635-A0B5-CA8D90C0BE1F}"/>
              </a:ext>
            </a:extLst>
          </p:cNvPr>
          <p:cNvSpPr/>
          <p:nvPr/>
        </p:nvSpPr>
        <p:spPr>
          <a:xfrm>
            <a:off x="384048" y="6199017"/>
            <a:ext cx="3603047" cy="219579"/>
          </a:xfrm>
          <a:prstGeom prst="rect">
            <a:avLst/>
          </a:prstGeom>
        </p:spPr>
        <p:txBody>
          <a:bodyPr wrap="square" lIns="0" tIns="45720" rIns="0" bIns="0">
            <a:noAutofit/>
          </a:bodyPr>
          <a:lstStyle/>
          <a:p>
            <a:r>
              <a:rPr lang="en-US" sz="700" dirty="0"/>
              <a:t>Source: </a:t>
            </a:r>
            <a:r>
              <a:rPr lang="en-US" sz="700" dirty="0" err="1"/>
              <a:t>FoodDrinkEurope</a:t>
            </a:r>
            <a:r>
              <a:rPr lang="en-US" sz="700" dirty="0"/>
              <a:t> – Data &amp; Trends, EU Food and drink industry, 2024 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4569F2A-17C3-45A7-A4C7-91FA6EF72436}"/>
              </a:ext>
            </a:extLst>
          </p:cNvPr>
          <p:cNvSpPr/>
          <p:nvPr/>
        </p:nvSpPr>
        <p:spPr>
          <a:xfrm>
            <a:off x="7985124" y="1346884"/>
            <a:ext cx="1165442" cy="285257"/>
          </a:xfrm>
          <a:prstGeom prst="rect">
            <a:avLst/>
          </a:prstGeom>
        </p:spPr>
        <p:txBody>
          <a:bodyPr wrap="square" tIns="0" rIns="0" bIns="0">
            <a:noAutofit/>
          </a:bodyPr>
          <a:lstStyle/>
          <a:p>
            <a:r>
              <a:rPr lang="en-US" sz="900" b="1" dirty="0">
                <a:latin typeface="+mj-lt"/>
              </a:rPr>
              <a:t>YoY change, %</a:t>
            </a:r>
            <a:br>
              <a:rPr lang="en-US" sz="900" b="1" dirty="0">
                <a:latin typeface="+mj-lt"/>
              </a:rPr>
            </a:br>
            <a:r>
              <a:rPr lang="en-US" sz="900" b="1" dirty="0">
                <a:latin typeface="+mj-lt"/>
              </a:rPr>
              <a:t>2023/2022 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FAF6F888-1206-4B75-B17A-38FD0730AED3}"/>
              </a:ext>
            </a:extLst>
          </p:cNvPr>
          <p:cNvCxnSpPr>
            <a:cxnSpLocks/>
          </p:cNvCxnSpPr>
          <p:nvPr/>
        </p:nvCxnSpPr>
        <p:spPr>
          <a:xfrm>
            <a:off x="8085006" y="1630017"/>
            <a:ext cx="105137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F9FE154-155A-47CE-B9DC-1BA29FFD0EF5}"/>
              </a:ext>
            </a:extLst>
          </p:cNvPr>
          <p:cNvSpPr/>
          <p:nvPr/>
        </p:nvSpPr>
        <p:spPr bwMode="gray">
          <a:xfrm>
            <a:off x="2814408" y="1991675"/>
            <a:ext cx="182520" cy="921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17F402C-2ABC-4E18-8BB0-686936ECCC97}"/>
              </a:ext>
            </a:extLst>
          </p:cNvPr>
          <p:cNvSpPr/>
          <p:nvPr/>
        </p:nvSpPr>
        <p:spPr bwMode="gray">
          <a:xfrm>
            <a:off x="2814408" y="3192755"/>
            <a:ext cx="182520" cy="58442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175FB154-F8CA-4FF7-8133-216076C2B162}"/>
              </a:ext>
            </a:extLst>
          </p:cNvPr>
          <p:cNvSpPr/>
          <p:nvPr/>
        </p:nvSpPr>
        <p:spPr bwMode="gray">
          <a:xfrm>
            <a:off x="2814408" y="4302266"/>
            <a:ext cx="182520" cy="11337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72A95B85-DD73-4107-B155-B15FBFE93BD9}"/>
              </a:ext>
            </a:extLst>
          </p:cNvPr>
          <p:cNvSpPr/>
          <p:nvPr/>
        </p:nvSpPr>
        <p:spPr>
          <a:xfrm>
            <a:off x="2613178" y="1837726"/>
            <a:ext cx="416813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48</a:t>
            </a:r>
            <a:r>
              <a:rPr lang="ru-RU" sz="9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.</a:t>
            </a:r>
            <a:r>
              <a:rPr lang="en-US" sz="9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8%</a:t>
            </a:r>
            <a:r>
              <a:rPr lang="ru-RU" sz="9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6D51A23-6E64-4B91-BA22-07B187A60E24}"/>
              </a:ext>
            </a:extLst>
          </p:cNvPr>
          <p:cNvSpPr/>
          <p:nvPr/>
        </p:nvSpPr>
        <p:spPr>
          <a:xfrm>
            <a:off x="2621666" y="3036461"/>
            <a:ext cx="385484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29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.</a:t>
            </a:r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7%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F3BAE215-25C7-4CF3-A049-F6D5AF67DB90}"/>
              </a:ext>
            </a:extLst>
          </p:cNvPr>
          <p:cNvSpPr/>
          <p:nvPr/>
        </p:nvSpPr>
        <p:spPr>
          <a:xfrm>
            <a:off x="2696010" y="4148931"/>
            <a:ext cx="305502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7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.</a:t>
            </a:r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5%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CA7D06-1C40-4AD8-8DC0-7AF2897BBD45}"/>
              </a:ext>
            </a:extLst>
          </p:cNvPr>
          <p:cNvSpPr/>
          <p:nvPr/>
        </p:nvSpPr>
        <p:spPr bwMode="gray">
          <a:xfrm>
            <a:off x="3066679" y="5652263"/>
            <a:ext cx="182520" cy="135087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5BB4C9-1A88-4F2F-A3A2-FA778CFC0690}"/>
              </a:ext>
            </a:extLst>
          </p:cNvPr>
          <p:cNvSpPr/>
          <p:nvPr/>
        </p:nvSpPr>
        <p:spPr>
          <a:xfrm>
            <a:off x="3060585" y="5500040"/>
            <a:ext cx="255791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7%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D9CE6F94-8375-4677-A198-7C8759FD6368}"/>
              </a:ext>
            </a:extLst>
          </p:cNvPr>
          <p:cNvSpPr/>
          <p:nvPr/>
        </p:nvSpPr>
        <p:spPr bwMode="gray">
          <a:xfrm>
            <a:off x="2814408" y="5710094"/>
            <a:ext cx="182520" cy="7725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203670F-B0C6-4584-9D89-BBC1F37D186F}"/>
              </a:ext>
            </a:extLst>
          </p:cNvPr>
          <p:cNvSpPr/>
          <p:nvPr/>
        </p:nvSpPr>
        <p:spPr>
          <a:xfrm>
            <a:off x="2700976" y="5564018"/>
            <a:ext cx="305502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5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.</a:t>
            </a:r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8%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1E5D5A4-4B92-408A-9C57-B27F3D4AA017}"/>
              </a:ext>
            </a:extLst>
          </p:cNvPr>
          <p:cNvSpPr/>
          <p:nvPr/>
        </p:nvSpPr>
        <p:spPr>
          <a:xfrm>
            <a:off x="3066662" y="5840752"/>
            <a:ext cx="29636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dirty="0"/>
              <a:t>2023</a:t>
            </a:r>
            <a:r>
              <a:rPr lang="ru-RU" sz="800" dirty="0"/>
              <a:t> 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79F3DCFE-FA2D-4ED6-AEC5-F9423896BE88}"/>
              </a:ext>
            </a:extLst>
          </p:cNvPr>
          <p:cNvSpPr/>
          <p:nvPr/>
        </p:nvSpPr>
        <p:spPr>
          <a:xfrm>
            <a:off x="2761254" y="5840752"/>
            <a:ext cx="26873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dirty="0"/>
              <a:t>2022</a:t>
            </a:r>
            <a:r>
              <a:rPr lang="ru-RU" sz="800" dirty="0"/>
              <a:t> 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5C099CC-1E20-42BF-918D-D6A784811C3D}"/>
              </a:ext>
            </a:extLst>
          </p:cNvPr>
          <p:cNvCxnSpPr/>
          <p:nvPr/>
        </p:nvCxnSpPr>
        <p:spPr>
          <a:xfrm>
            <a:off x="2740336" y="5789910"/>
            <a:ext cx="583660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8EC6046-4B63-4E03-A5D6-D190DB2006EC}"/>
              </a:ext>
            </a:extLst>
          </p:cNvPr>
          <p:cNvSpPr/>
          <p:nvPr/>
        </p:nvSpPr>
        <p:spPr>
          <a:xfrm>
            <a:off x="384048" y="6319352"/>
            <a:ext cx="3603047" cy="141099"/>
          </a:xfrm>
          <a:prstGeom prst="rect">
            <a:avLst/>
          </a:prstGeom>
        </p:spPr>
        <p:txBody>
          <a:bodyPr wrap="square" lIns="0" tIns="45720" rIns="0" bIns="0">
            <a:noAutofit/>
          </a:bodyPr>
          <a:lstStyle/>
          <a:p>
            <a:r>
              <a:rPr lang="en-US" sz="700" dirty="0"/>
              <a:t>Data research &amp; chart design: </a:t>
            </a:r>
            <a:r>
              <a:rPr lang="en-US" sz="700" dirty="0">
                <a:solidFill>
                  <a:prstClr val="black"/>
                </a:solidFill>
              </a:rPr>
              <a:t>I. Daraev</a:t>
            </a:r>
            <a:endParaRPr lang="ru-RU" sz="700" dirty="0"/>
          </a:p>
        </p:txBody>
      </p:sp>
    </p:spTree>
    <p:extLst>
      <p:ext uri="{BB962C8B-B14F-4D97-AF65-F5344CB8AC3E}">
        <p14:creationId xmlns:p14="http://schemas.microsoft.com/office/powerpoint/2010/main" val="356222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 Slides">
  <a:themeElements>
    <a:clrScheme name="Deloitte 2020">
      <a:dk1>
        <a:sysClr val="windowText" lastClr="000000"/>
      </a:dk1>
      <a:lt1>
        <a:sysClr val="window" lastClr="FFFFFF"/>
      </a:lt1>
      <a:dk2>
        <a:srgbClr val="D0D0CE"/>
      </a:dk2>
      <a:lt2>
        <a:srgbClr val="53565A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3">
      <a:majorFont>
        <a:latin typeface="Montserrat"/>
        <a:ea typeface=""/>
        <a:cs typeface=""/>
      </a:majorFont>
      <a:minorFont>
        <a:latin typeface="Montserra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tx2"/>
        </a:solidFill>
      </a:spPr>
      <a:bodyPr vert="horz" lIns="36000" tIns="36000" rIns="36000" bIns="36000" rtlCol="0">
        <a:noAutofit/>
      </a:bodyPr>
      <a:lstStyle>
        <a:defPPr defTabSz="990571">
          <a:spcAft>
            <a:spcPts val="600"/>
          </a:spcAft>
          <a:buSzPct val="100000"/>
          <a:buFont typeface="Arial" panose="020B0604020202020204" pitchFamily="34" charset="0"/>
          <a:buNone/>
          <a:defRPr sz="1300" dirty="0" err="1">
            <a:latin typeface="+mj-lt"/>
            <a:cs typeface="Calibri Light" panose="020F0302020204030204" pitchFamily="34" charset="0"/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>
          <a:defRPr sz="1300" dirty="0" err="1" smtClean="0"/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3 Print AO RUS.potx" id="{8FDC8DB6-C675-4E64-A0AA-8D39CC48C7AB}" vid="{2A7CD69D-4FCA-4ECF-A625-89C08DF192B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33284</TotalTime>
  <Words>2698</Words>
  <Application>Microsoft Office PowerPoint</Application>
  <PresentationFormat>A4 Paper (210x297 mm)</PresentationFormat>
  <Paragraphs>771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Montserrat</vt:lpstr>
      <vt:lpstr>Montserrat Light</vt:lpstr>
      <vt:lpstr>Montserrat Medium</vt:lpstr>
      <vt:lpstr>Verdana</vt:lpstr>
      <vt:lpstr>2 Slides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Business Solutions and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Iskander Daraev</dc:creator>
  <cp:lastModifiedBy>Iskander Daraev</cp:lastModifiedBy>
  <cp:revision>7915</cp:revision>
  <dcterms:created xsi:type="dcterms:W3CDTF">2023-06-08T13:37:33Z</dcterms:created>
  <dcterms:modified xsi:type="dcterms:W3CDTF">2026-03-06T17:18:02Z</dcterms:modified>
</cp:coreProperties>
</file>